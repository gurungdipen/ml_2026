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2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58D0E-2185-00B7-687A-C115961DA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F4A290-1380-B8EF-4EDD-DF65D0259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3B736-D008-308A-DF71-C2E22AABA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DBDF-F394-40D1-8D97-3E08D2CA477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C23BD-2707-2AA8-47E1-D717AE42E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65F30-B9AC-BB90-6027-76F0C1B89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FBA-0F1A-4234-A0D0-C55F0439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07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1DFAD-3A82-B050-ECBF-E0B40109C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66046-CE76-536E-1C17-A99BADD7F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6D695-09B3-1DAE-70DD-0B00EDEBD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DBDF-F394-40D1-8D97-3E08D2CA477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A330D-FB01-D3C6-C3F6-6669DA4F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FB1E1-7728-CC32-56C5-68E25076B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FBA-0F1A-4234-A0D0-C55F0439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431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4276-62DD-682A-E13C-3A388237F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E2743-3C91-571C-0284-5835C75FC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1346F-EAB9-AB3D-9165-DEB4BB64B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DBDF-F394-40D1-8D97-3E08D2CA477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68477-8C7F-AE90-3D22-0C6EF424A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687AC-1450-8063-2674-C32E76669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FBA-0F1A-4234-A0D0-C55F0439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59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8FAAC-87CB-0949-20C0-711803D9A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0FD45-5E2D-C354-9F3A-8014EDD29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7B5C5-15E2-1E7E-9878-A0F6BF701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5E2B6-8432-99B1-64E6-8FDDAE60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DBDF-F394-40D1-8D97-3E08D2CA477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4A2E4-C197-F07A-6B9A-405215A6B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5866C-D48C-79C7-EC84-297384E1A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FBA-0F1A-4234-A0D0-C55F0439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17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86B7-6BE4-882C-2B76-B539DBC96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26C8B-80BA-A736-0CAE-C960EBEA2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17220-C6DD-FCEB-26F9-C2A79B34A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12CEFB-F280-4D0E-7D29-4D1CB17F4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16148-D51A-C80F-DB1E-101CED4495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CBBE70-605F-83E5-2868-5DD71FE54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DBDF-F394-40D1-8D97-3E08D2CA477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AD291A-6A78-C0FB-DDBB-1F672153D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7BC7D0-C3E9-0DE1-9C9A-9341D428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FBA-0F1A-4234-A0D0-C55F0439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185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E00CE-FB31-4457-C708-2F27561C4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948C29-4B86-463D-178D-53A227367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DBDF-F394-40D1-8D97-3E08D2CA477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711D2C-43A6-4C1D-2414-09CDD57F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52B6B-2BE2-40CE-A615-4A8637117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FBA-0F1A-4234-A0D0-C55F0439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44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512C37-4047-9F91-582E-E4AF0DDC4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DBDF-F394-40D1-8D97-3E08D2CA477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5EA0A9-C315-A123-A3AA-E8758C196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8D00A-E65E-8351-3F76-F6FE0FC18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FBA-0F1A-4234-A0D0-C55F0439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753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341D-82F9-55A6-6C0E-727228966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B5E9D-1F26-8880-C77F-09510CC24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0C3D8-400B-49E1-8C1E-6B83DD961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DDF79-F1A1-8981-82D3-57E3898E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DBDF-F394-40D1-8D97-3E08D2CA477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BE39F-89AC-FDEC-7A59-265C028B1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87E39-257A-5FCE-785E-04E661DEF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FBA-0F1A-4234-A0D0-C55F0439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880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8B26-61D1-38CD-7956-A8F8DDC65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AABFEE-9969-3CC4-727B-5C9747765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A50AC-DB4C-8AEE-CCD2-924E52ABD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5DEC1-6BB9-8C60-3072-779FD310C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DBDF-F394-40D1-8D97-3E08D2CA477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03B3C-5A9F-F856-5E19-20080A530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5229D-E338-8A20-C8BF-1D71B1434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FBA-0F1A-4234-A0D0-C55F0439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680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719ED-4AD4-6CA9-F03F-F205542B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2B6EA-D079-B456-159D-E9093D7EF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DB402-A2D1-9900-1313-CFAB45877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DBDF-F394-40D1-8D97-3E08D2CA477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4C6D4-6E1B-0408-0D09-E81BE0E55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B97C5-76C2-C28E-4606-513775B9C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FBA-0F1A-4234-A0D0-C55F0439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024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C2A825-07D7-045D-B723-6F0F4488EB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E72CF-CC48-61BB-B35B-DBD1D4114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B083F-C41F-111B-2733-F5D7B239A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8DBDF-F394-40D1-8D97-3E08D2CA477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F2D22-AB8C-0B0E-3A3D-F0873CD14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B7C50-B771-2AC6-5302-44659036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E7FBA-0F1A-4234-A0D0-C55F0439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071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05E367-8CFC-A502-CBF7-311A4D69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BC13A-0FEC-9B80-3411-AA1AFBE59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5E9A9-A79D-FB43-981C-3E70B1AC4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8DBDF-F394-40D1-8D97-3E08D2CA477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88972-D3EF-CEF3-2383-BB1DA044D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C5F29-F7DE-5E20-3DD3-74C84AD57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7E7FBA-0F1A-4234-A0D0-C55F0439D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624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towards-artificial-intelligence/backpropagation-2eeb25201095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EB79F-A383-993D-16D0-1618FADDFA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2DD7E3-5BE4-E97D-E133-8CAD32A223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24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35315-D0F8-CC52-EE86-4DF53121A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5525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Cross-Entropy Loss Calculation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EF9D8-8BD2-36B1-E547-03441DC6A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L=−[</a:t>
            </a: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ylog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(y’​)+(1−y)log(1−y’)]</a:t>
            </a:r>
          </a:p>
          <a:p>
            <a:pPr marL="0" indent="0">
              <a:buNone/>
            </a:pP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– actual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y’ –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predicted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= 3</a:t>
            </a:r>
          </a:p>
          <a:p>
            <a:pPr marL="0" indent="0">
              <a:buNone/>
            </a:pP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y’ = 0.64, y = 0</a:t>
            </a:r>
          </a:p>
          <a:p>
            <a:pPr marL="0" indent="0">
              <a:buNone/>
            </a:pP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−[0⋅log(0.64)+1⋅log(1−0.64)] = −log(0.36) = 0.444</a:t>
            </a:r>
          </a:p>
          <a:p>
            <a:pPr marL="0" indent="0">
              <a:buNone/>
            </a:pP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</a:t>
            </a:r>
          </a:p>
        </p:txBody>
      </p:sp>
    </p:spTree>
    <p:extLst>
      <p:ext uri="{BB962C8B-B14F-4D97-AF65-F5344CB8AC3E}">
        <p14:creationId xmlns:p14="http://schemas.microsoft.com/office/powerpoint/2010/main" val="2944163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9A761-4B6B-F0E4-D3D8-48B292294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77799"/>
            <a:ext cx="7829550" cy="100647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73DFB-79AC-D401-BD88-12325495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9725"/>
            <a:ext cx="7362825" cy="4567238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are a specialized type of neural network designed to process and classify images.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images are grids of tiny units called pixels. 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pixel represents the smallest unit of an image and holds information about the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intensity at that point.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image, each pixel is composed of three values corresponding to the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red, green, and blue (RGB)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channels.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grayscale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image, each pixel carries a single value that represents the intensity of light at that point.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1F66D-59C6-F06C-6F9F-ABE3F0130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5143" y="486425"/>
            <a:ext cx="2781058" cy="2513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A20403-AA37-391D-4449-E8AEF7B45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7168" y="3429000"/>
            <a:ext cx="2397007" cy="317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13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D760E-A5DD-915B-3295-19BE70BB0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Neural Network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935AC3-482D-3A9E-1EE9-ACAC970F0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275" y="1993216"/>
            <a:ext cx="7539641" cy="350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410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E6C82-7678-23EA-A880-915E4D631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4151"/>
            <a:ext cx="10515600" cy="99695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in a classification task with digits from 0 to 9, the output layer would have 10 neurons.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D57594-8393-D405-41D5-C021DABA74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198" y="1181101"/>
            <a:ext cx="7749601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8401A6-835D-46DC-40E8-B2B8091E46FC}"/>
              </a:ext>
            </a:extLst>
          </p:cNvPr>
          <p:cNvSpPr txBox="1"/>
          <p:nvPr/>
        </p:nvSpPr>
        <p:spPr>
          <a:xfrm>
            <a:off x="714375" y="5606059"/>
            <a:ext cx="11125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 prediction is made, a loss is calculated and the weights are adjusted with </a:t>
            </a:r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backpropagation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this error.</a:t>
            </a:r>
          </a:p>
        </p:txBody>
      </p:sp>
    </p:spTree>
    <p:extLst>
      <p:ext uri="{BB962C8B-B14F-4D97-AF65-F5344CB8AC3E}">
        <p14:creationId xmlns:p14="http://schemas.microsoft.com/office/powerpoint/2010/main" val="3575125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AFB74-EBEA-3AC2-B593-27793A7B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86CA22-647E-98ED-2CFB-35EDB3430A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72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4CBC-DBCB-FF3F-C50C-1BA9591D3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17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57332-9A22-2714-48DD-9519DBCB0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taken as input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Layer: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filters to extract features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non linearity, 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converted to 0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Pooling layer: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size of feature maps, keeps important information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steps 2 to 4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Flattening: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2D feature maps to 1D vector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878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CC84D-1DC2-B554-0606-CF4841A2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layers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9FB24-4FB2-C89A-44AC-AA339F918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700"/>
            <a:ext cx="10515600" cy="4767263"/>
          </a:xfrm>
        </p:spPr>
        <p:txBody>
          <a:bodyPr>
            <a:norm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employ a convolutional layer that perform a critical mathematical operation known as convolution.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involves the application of specialized filters known as kernels, that traverse through the input image.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Kernels</a:t>
            </a:r>
          </a:p>
          <a:p>
            <a:pPr lvl="1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matrices of numbers. </a:t>
            </a:r>
          </a:p>
          <a:p>
            <a:pPr lvl="1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 move across the image performing element-wise multiplication with the part of the image they cover, </a:t>
            </a:r>
          </a:p>
          <a:p>
            <a:pPr lvl="1"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extract features such as edges, textures, and shapes.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A9DBCF-80AC-248C-5E62-B89ED4CBE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484302"/>
              </p:ext>
            </p:extLst>
          </p:nvPr>
        </p:nvGraphicFramePr>
        <p:xfrm>
          <a:off x="5146675" y="5267853"/>
          <a:ext cx="1673226" cy="90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613">
                  <a:extLst>
                    <a:ext uri="{9D8B030D-6E8A-4147-A177-3AD203B41FA5}">
                      <a16:colId xmlns:a16="http://schemas.microsoft.com/office/drawing/2014/main" val="2814657824"/>
                    </a:ext>
                  </a:extLst>
                </a:gridCol>
                <a:gridCol w="836613">
                  <a:extLst>
                    <a:ext uri="{9D8B030D-6E8A-4147-A177-3AD203B41FA5}">
                      <a16:colId xmlns:a16="http://schemas.microsoft.com/office/drawing/2014/main" val="412419951"/>
                    </a:ext>
                  </a:extLst>
                </a:gridCol>
              </a:tblGrid>
              <a:tr h="45455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366528"/>
                  </a:ext>
                </a:extLst>
              </a:tr>
              <a:tr h="45455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61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4415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9296-5589-B83A-96B3-4F2A42FA6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50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078226-7505-E42E-E4EF-5A579BACD0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2376394"/>
              </p:ext>
            </p:extLst>
          </p:nvPr>
        </p:nvGraphicFramePr>
        <p:xfrm>
          <a:off x="1009650" y="1549399"/>
          <a:ext cx="2790824" cy="1603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706">
                  <a:extLst>
                    <a:ext uri="{9D8B030D-6E8A-4147-A177-3AD203B41FA5}">
                      <a16:colId xmlns:a16="http://schemas.microsoft.com/office/drawing/2014/main" val="708475946"/>
                    </a:ext>
                  </a:extLst>
                </a:gridCol>
                <a:gridCol w="697706">
                  <a:extLst>
                    <a:ext uri="{9D8B030D-6E8A-4147-A177-3AD203B41FA5}">
                      <a16:colId xmlns:a16="http://schemas.microsoft.com/office/drawing/2014/main" val="2376499161"/>
                    </a:ext>
                  </a:extLst>
                </a:gridCol>
                <a:gridCol w="697706">
                  <a:extLst>
                    <a:ext uri="{9D8B030D-6E8A-4147-A177-3AD203B41FA5}">
                      <a16:colId xmlns:a16="http://schemas.microsoft.com/office/drawing/2014/main" val="107410368"/>
                    </a:ext>
                  </a:extLst>
                </a:gridCol>
                <a:gridCol w="697706">
                  <a:extLst>
                    <a:ext uri="{9D8B030D-6E8A-4147-A177-3AD203B41FA5}">
                      <a16:colId xmlns:a16="http://schemas.microsoft.com/office/drawing/2014/main" val="3844146549"/>
                    </a:ext>
                  </a:extLst>
                </a:gridCol>
              </a:tblGrid>
              <a:tr h="400844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833577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579279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534710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49776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D061F7-9165-68AC-657C-A5B072AA1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056326"/>
              </p:ext>
            </p:extLst>
          </p:nvPr>
        </p:nvGraphicFramePr>
        <p:xfrm>
          <a:off x="1396999" y="4399491"/>
          <a:ext cx="1673226" cy="90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613">
                  <a:extLst>
                    <a:ext uri="{9D8B030D-6E8A-4147-A177-3AD203B41FA5}">
                      <a16:colId xmlns:a16="http://schemas.microsoft.com/office/drawing/2014/main" val="2814657824"/>
                    </a:ext>
                  </a:extLst>
                </a:gridCol>
                <a:gridCol w="836613">
                  <a:extLst>
                    <a:ext uri="{9D8B030D-6E8A-4147-A177-3AD203B41FA5}">
                      <a16:colId xmlns:a16="http://schemas.microsoft.com/office/drawing/2014/main" val="412419951"/>
                    </a:ext>
                  </a:extLst>
                </a:gridCol>
              </a:tblGrid>
              <a:tr h="45455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366528"/>
                  </a:ext>
                </a:extLst>
              </a:tr>
              <a:tr h="45455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616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ABFC3C6-441E-1718-CCD8-BE2F3EE0D3E4}"/>
              </a:ext>
            </a:extLst>
          </p:cNvPr>
          <p:cNvSpPr txBox="1"/>
          <p:nvPr/>
        </p:nvSpPr>
        <p:spPr>
          <a:xfrm>
            <a:off x="1568449" y="3429000"/>
            <a:ext cx="177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EFD25D-3B6C-380A-CDCD-D6BA78617110}"/>
              </a:ext>
            </a:extLst>
          </p:cNvPr>
          <p:cNvSpPr txBox="1"/>
          <p:nvPr/>
        </p:nvSpPr>
        <p:spPr>
          <a:xfrm>
            <a:off x="1644649" y="5725094"/>
            <a:ext cx="177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</a:p>
        </p:txBody>
      </p:sp>
    </p:spTree>
    <p:extLst>
      <p:ext uri="{BB962C8B-B14F-4D97-AF65-F5344CB8AC3E}">
        <p14:creationId xmlns:p14="http://schemas.microsoft.com/office/powerpoint/2010/main" val="1301853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B9B39-87CF-DBCD-61D0-7189834E6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/>
          <a:lstStyle/>
          <a:p>
            <a:r>
              <a:rPr lang="en-IN" dirty="0"/>
              <a:t>CNN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3DB9D-FE86-1781-2B04-8636BFA6F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Convolution – detects features</a:t>
            </a:r>
          </a:p>
          <a:p>
            <a:r>
              <a:rPr lang="en-IN" dirty="0" err="1"/>
              <a:t>ReLU</a:t>
            </a:r>
            <a:r>
              <a:rPr lang="en-IN" dirty="0"/>
              <a:t> – keeps important signals</a:t>
            </a:r>
          </a:p>
          <a:p>
            <a:r>
              <a:rPr lang="en-IN" dirty="0"/>
              <a:t>Pooling – reduces size of feature map while preserving key features</a:t>
            </a:r>
          </a:p>
          <a:p>
            <a:endParaRPr lang="en-IN" dirty="0"/>
          </a:p>
          <a:p>
            <a:r>
              <a:rPr lang="en-IN" dirty="0"/>
              <a:t>Convolution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 err="1">
                <a:sym typeface="Wingdings" panose="05000000000000000000" pitchFamily="2" charset="2"/>
              </a:rPr>
              <a:t>ReLU</a:t>
            </a:r>
            <a:r>
              <a:rPr lang="en-IN" dirty="0">
                <a:sym typeface="Wingdings" panose="05000000000000000000" pitchFamily="2" charset="2"/>
              </a:rPr>
              <a:t>  Pooling (Repeated multiple times)</a:t>
            </a:r>
          </a:p>
          <a:p>
            <a:r>
              <a:rPr lang="en-IN" dirty="0">
                <a:sym typeface="Wingdings" panose="05000000000000000000" pitchFamily="2" charset="2"/>
              </a:rPr>
              <a:t>Layer 1: detects edges</a:t>
            </a:r>
          </a:p>
          <a:p>
            <a:r>
              <a:rPr lang="en-IN" dirty="0">
                <a:sym typeface="Wingdings" panose="05000000000000000000" pitchFamily="2" charset="2"/>
              </a:rPr>
              <a:t>Layer 2: detects shapes</a:t>
            </a:r>
          </a:p>
          <a:p>
            <a:r>
              <a:rPr lang="en-IN" dirty="0">
                <a:sym typeface="Wingdings" panose="05000000000000000000" pitchFamily="2" charset="2"/>
              </a:rPr>
              <a:t>Layer 3: detects objects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8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F1A4E-05FD-0540-B7E9-EE7574BCF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78A09-F6D5-3D3A-E4F6-07B5B4FFB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/>
          <a:lstStyle/>
          <a:p>
            <a:r>
              <a:rPr lang="en-IN" dirty="0"/>
              <a:t>Filters (kernels) in convolution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F206D-9912-ACB5-D679-D8D18E9DA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575"/>
            <a:ext cx="10515600" cy="4624388"/>
          </a:xfrm>
        </p:spPr>
        <p:txBody>
          <a:bodyPr>
            <a:normAutofit/>
          </a:bodyPr>
          <a:lstStyle/>
          <a:p>
            <a:r>
              <a:rPr lang="en-IN" dirty="0"/>
              <a:t>Initially a kernel with random values is taken.</a:t>
            </a:r>
          </a:p>
          <a:p>
            <a:r>
              <a:rPr lang="en-IN" dirty="0"/>
              <a:t>No useful feature may be detected</a:t>
            </a:r>
          </a:p>
          <a:p>
            <a:r>
              <a:rPr lang="en-IN" dirty="0"/>
              <a:t>Network starts adjusting the weights and the kernel values over </a:t>
            </a:r>
            <a:r>
              <a:rPr lang="en-IN"/>
              <a:t>multiple iterations.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2927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467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Wingdings</vt:lpstr>
      <vt:lpstr>Office Theme</vt:lpstr>
      <vt:lpstr>Neural Networks</vt:lpstr>
      <vt:lpstr>Cross-Entropy Loss Calculation</vt:lpstr>
      <vt:lpstr>Convolutional Neural Networks (CNN)</vt:lpstr>
      <vt:lpstr>Basic Neural Network</vt:lpstr>
      <vt:lpstr>For example, in a classification task with digits from 0 to 9, the output layer would have 10 neurons.</vt:lpstr>
      <vt:lpstr>CNN architecture</vt:lpstr>
      <vt:lpstr>CNN phases</vt:lpstr>
      <vt:lpstr>Convolutional layers</vt:lpstr>
      <vt:lpstr>Convolution example</vt:lpstr>
      <vt:lpstr>CNN workflow</vt:lpstr>
      <vt:lpstr>Filters (kernels) in convolution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Dipendra Gurung</dc:creator>
  <cp:lastModifiedBy>Dipendra Gurung</cp:lastModifiedBy>
  <cp:revision>15</cp:revision>
  <dcterms:created xsi:type="dcterms:W3CDTF">2026-03-29T16:40:42Z</dcterms:created>
  <dcterms:modified xsi:type="dcterms:W3CDTF">2026-04-13T04:21:02Z</dcterms:modified>
</cp:coreProperties>
</file>