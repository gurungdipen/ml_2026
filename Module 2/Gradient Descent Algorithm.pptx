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2"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57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61AD-0E1D-EEAD-5E26-25AA6CED31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39CD340-C2E4-E43D-AD6D-2A98AF15D5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3594F6-15E4-6378-2527-641422D990C6}"/>
              </a:ext>
            </a:extLst>
          </p:cNvPr>
          <p:cNvSpPr>
            <a:spLocks noGrp="1"/>
          </p:cNvSpPr>
          <p:nvPr>
            <p:ph type="dt" sz="half" idx="10"/>
          </p:nvPr>
        </p:nvSpPr>
        <p:spPr/>
        <p:txBody>
          <a:bodyPr/>
          <a:lstStyle/>
          <a:p>
            <a:fld id="{38862CD8-F23F-4FBE-B4C2-1A574F837505}" type="datetimeFigureOut">
              <a:rPr lang="en-IN" smtClean="0"/>
              <a:t>26-02-2026</a:t>
            </a:fld>
            <a:endParaRPr lang="en-IN"/>
          </a:p>
        </p:txBody>
      </p:sp>
      <p:sp>
        <p:nvSpPr>
          <p:cNvPr id="5" name="Footer Placeholder 4">
            <a:extLst>
              <a:ext uri="{FF2B5EF4-FFF2-40B4-BE49-F238E27FC236}">
                <a16:creationId xmlns:a16="http://schemas.microsoft.com/office/drawing/2014/main" id="{CDD19A1D-FCB7-2040-2E21-D3DBBA6D47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2B4437-6DDD-292C-7C1F-BF0C9A06664E}"/>
              </a:ext>
            </a:extLst>
          </p:cNvPr>
          <p:cNvSpPr>
            <a:spLocks noGrp="1"/>
          </p:cNvSpPr>
          <p:nvPr>
            <p:ph type="sldNum" sz="quarter" idx="12"/>
          </p:nvPr>
        </p:nvSpPr>
        <p:spPr/>
        <p:txBody>
          <a:bodyPr/>
          <a:lstStyle/>
          <a:p>
            <a:fld id="{EA49E95B-E73E-456B-9B6A-CEF4FA6A9AEE}" type="slidenum">
              <a:rPr lang="en-IN" smtClean="0"/>
              <a:t>‹#›</a:t>
            </a:fld>
            <a:endParaRPr lang="en-IN"/>
          </a:p>
        </p:txBody>
      </p:sp>
    </p:spTree>
    <p:extLst>
      <p:ext uri="{BB962C8B-B14F-4D97-AF65-F5344CB8AC3E}">
        <p14:creationId xmlns:p14="http://schemas.microsoft.com/office/powerpoint/2010/main" val="1545453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FA384-64A0-DCE4-75E0-54DA7CC2B0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1DEFAB-1E37-B3EE-7C9F-2914BF3766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1293C4-5175-2A21-2292-BA43DEDCF187}"/>
              </a:ext>
            </a:extLst>
          </p:cNvPr>
          <p:cNvSpPr>
            <a:spLocks noGrp="1"/>
          </p:cNvSpPr>
          <p:nvPr>
            <p:ph type="dt" sz="half" idx="10"/>
          </p:nvPr>
        </p:nvSpPr>
        <p:spPr/>
        <p:txBody>
          <a:bodyPr/>
          <a:lstStyle/>
          <a:p>
            <a:fld id="{38862CD8-F23F-4FBE-B4C2-1A574F837505}" type="datetimeFigureOut">
              <a:rPr lang="en-IN" smtClean="0"/>
              <a:t>26-02-2026</a:t>
            </a:fld>
            <a:endParaRPr lang="en-IN"/>
          </a:p>
        </p:txBody>
      </p:sp>
      <p:sp>
        <p:nvSpPr>
          <p:cNvPr id="5" name="Footer Placeholder 4">
            <a:extLst>
              <a:ext uri="{FF2B5EF4-FFF2-40B4-BE49-F238E27FC236}">
                <a16:creationId xmlns:a16="http://schemas.microsoft.com/office/drawing/2014/main" id="{E503A1CA-F463-FC56-0591-0E82EB62CF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AC8FEA-710E-9F9B-CD66-6B1F08CB47F1}"/>
              </a:ext>
            </a:extLst>
          </p:cNvPr>
          <p:cNvSpPr>
            <a:spLocks noGrp="1"/>
          </p:cNvSpPr>
          <p:nvPr>
            <p:ph type="sldNum" sz="quarter" idx="12"/>
          </p:nvPr>
        </p:nvSpPr>
        <p:spPr/>
        <p:txBody>
          <a:bodyPr/>
          <a:lstStyle/>
          <a:p>
            <a:fld id="{EA49E95B-E73E-456B-9B6A-CEF4FA6A9AEE}" type="slidenum">
              <a:rPr lang="en-IN" smtClean="0"/>
              <a:t>‹#›</a:t>
            </a:fld>
            <a:endParaRPr lang="en-IN"/>
          </a:p>
        </p:txBody>
      </p:sp>
    </p:spTree>
    <p:extLst>
      <p:ext uri="{BB962C8B-B14F-4D97-AF65-F5344CB8AC3E}">
        <p14:creationId xmlns:p14="http://schemas.microsoft.com/office/powerpoint/2010/main" val="3232556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DF84E-459E-1431-4EA9-FDFCF325BE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767A939-A788-959D-3566-1106666094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30C4DC-C7A8-C665-F24C-0AD7A5301102}"/>
              </a:ext>
            </a:extLst>
          </p:cNvPr>
          <p:cNvSpPr>
            <a:spLocks noGrp="1"/>
          </p:cNvSpPr>
          <p:nvPr>
            <p:ph type="dt" sz="half" idx="10"/>
          </p:nvPr>
        </p:nvSpPr>
        <p:spPr/>
        <p:txBody>
          <a:bodyPr/>
          <a:lstStyle/>
          <a:p>
            <a:fld id="{38862CD8-F23F-4FBE-B4C2-1A574F837505}" type="datetimeFigureOut">
              <a:rPr lang="en-IN" smtClean="0"/>
              <a:t>26-02-2026</a:t>
            </a:fld>
            <a:endParaRPr lang="en-IN"/>
          </a:p>
        </p:txBody>
      </p:sp>
      <p:sp>
        <p:nvSpPr>
          <p:cNvPr id="5" name="Footer Placeholder 4">
            <a:extLst>
              <a:ext uri="{FF2B5EF4-FFF2-40B4-BE49-F238E27FC236}">
                <a16:creationId xmlns:a16="http://schemas.microsoft.com/office/drawing/2014/main" id="{3EF31D90-19C7-21A3-A6FF-B171A13678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CBDFA3-1AE5-9955-6A91-DA9808836212}"/>
              </a:ext>
            </a:extLst>
          </p:cNvPr>
          <p:cNvSpPr>
            <a:spLocks noGrp="1"/>
          </p:cNvSpPr>
          <p:nvPr>
            <p:ph type="sldNum" sz="quarter" idx="12"/>
          </p:nvPr>
        </p:nvSpPr>
        <p:spPr/>
        <p:txBody>
          <a:bodyPr/>
          <a:lstStyle/>
          <a:p>
            <a:fld id="{EA49E95B-E73E-456B-9B6A-CEF4FA6A9AEE}" type="slidenum">
              <a:rPr lang="en-IN" smtClean="0"/>
              <a:t>‹#›</a:t>
            </a:fld>
            <a:endParaRPr lang="en-IN"/>
          </a:p>
        </p:txBody>
      </p:sp>
    </p:spTree>
    <p:extLst>
      <p:ext uri="{BB962C8B-B14F-4D97-AF65-F5344CB8AC3E}">
        <p14:creationId xmlns:p14="http://schemas.microsoft.com/office/powerpoint/2010/main" val="2331632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4B685-0AF3-1200-E3A4-A74CE575F1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2D773B-D82E-3E44-DB24-FA7247214B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24CE408-8737-61EC-252D-3632738203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490FED8-98C8-AAC5-C46F-AE9EC83F7A1E}"/>
              </a:ext>
            </a:extLst>
          </p:cNvPr>
          <p:cNvSpPr>
            <a:spLocks noGrp="1"/>
          </p:cNvSpPr>
          <p:nvPr>
            <p:ph type="dt" sz="half" idx="10"/>
          </p:nvPr>
        </p:nvSpPr>
        <p:spPr/>
        <p:txBody>
          <a:bodyPr/>
          <a:lstStyle/>
          <a:p>
            <a:fld id="{38862CD8-F23F-4FBE-B4C2-1A574F837505}" type="datetimeFigureOut">
              <a:rPr lang="en-IN" smtClean="0"/>
              <a:t>26-02-2026</a:t>
            </a:fld>
            <a:endParaRPr lang="en-IN"/>
          </a:p>
        </p:txBody>
      </p:sp>
      <p:sp>
        <p:nvSpPr>
          <p:cNvPr id="6" name="Footer Placeholder 5">
            <a:extLst>
              <a:ext uri="{FF2B5EF4-FFF2-40B4-BE49-F238E27FC236}">
                <a16:creationId xmlns:a16="http://schemas.microsoft.com/office/drawing/2014/main" id="{FFFCE1E8-7E9E-E695-1B66-B707322DA0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E798FD-3F2A-D9AE-93AC-D277AB5A15B3}"/>
              </a:ext>
            </a:extLst>
          </p:cNvPr>
          <p:cNvSpPr>
            <a:spLocks noGrp="1"/>
          </p:cNvSpPr>
          <p:nvPr>
            <p:ph type="sldNum" sz="quarter" idx="12"/>
          </p:nvPr>
        </p:nvSpPr>
        <p:spPr/>
        <p:txBody>
          <a:bodyPr/>
          <a:lstStyle/>
          <a:p>
            <a:fld id="{EA49E95B-E73E-456B-9B6A-CEF4FA6A9AEE}" type="slidenum">
              <a:rPr lang="en-IN" smtClean="0"/>
              <a:t>‹#›</a:t>
            </a:fld>
            <a:endParaRPr lang="en-IN"/>
          </a:p>
        </p:txBody>
      </p:sp>
    </p:spTree>
    <p:extLst>
      <p:ext uri="{BB962C8B-B14F-4D97-AF65-F5344CB8AC3E}">
        <p14:creationId xmlns:p14="http://schemas.microsoft.com/office/powerpoint/2010/main" val="3946870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7056E-68AB-4381-F3FD-8B8F849A8D7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B4A611-2ECF-4999-76FB-3A9C9A7E0B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9E0A83-72CF-D92C-8A22-225D00F3C5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BE92B44-5C0D-1F11-281D-82BBCBC040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62D57D-B701-D351-B605-3AC04EA6D6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FC29AEA-974E-0D5D-FA56-A2EB4BFDAC14}"/>
              </a:ext>
            </a:extLst>
          </p:cNvPr>
          <p:cNvSpPr>
            <a:spLocks noGrp="1"/>
          </p:cNvSpPr>
          <p:nvPr>
            <p:ph type="dt" sz="half" idx="10"/>
          </p:nvPr>
        </p:nvSpPr>
        <p:spPr/>
        <p:txBody>
          <a:bodyPr/>
          <a:lstStyle/>
          <a:p>
            <a:fld id="{38862CD8-F23F-4FBE-B4C2-1A574F837505}" type="datetimeFigureOut">
              <a:rPr lang="en-IN" smtClean="0"/>
              <a:t>26-02-2026</a:t>
            </a:fld>
            <a:endParaRPr lang="en-IN"/>
          </a:p>
        </p:txBody>
      </p:sp>
      <p:sp>
        <p:nvSpPr>
          <p:cNvPr id="8" name="Footer Placeholder 7">
            <a:extLst>
              <a:ext uri="{FF2B5EF4-FFF2-40B4-BE49-F238E27FC236}">
                <a16:creationId xmlns:a16="http://schemas.microsoft.com/office/drawing/2014/main" id="{B2EA3E35-13F9-186D-9A82-7C35B50A58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FE0014-8461-413D-73AE-C5017CF90FFC}"/>
              </a:ext>
            </a:extLst>
          </p:cNvPr>
          <p:cNvSpPr>
            <a:spLocks noGrp="1"/>
          </p:cNvSpPr>
          <p:nvPr>
            <p:ph type="sldNum" sz="quarter" idx="12"/>
          </p:nvPr>
        </p:nvSpPr>
        <p:spPr/>
        <p:txBody>
          <a:bodyPr/>
          <a:lstStyle/>
          <a:p>
            <a:fld id="{EA49E95B-E73E-456B-9B6A-CEF4FA6A9AEE}" type="slidenum">
              <a:rPr lang="en-IN" smtClean="0"/>
              <a:t>‹#›</a:t>
            </a:fld>
            <a:endParaRPr lang="en-IN"/>
          </a:p>
        </p:txBody>
      </p:sp>
    </p:spTree>
    <p:extLst>
      <p:ext uri="{BB962C8B-B14F-4D97-AF65-F5344CB8AC3E}">
        <p14:creationId xmlns:p14="http://schemas.microsoft.com/office/powerpoint/2010/main" val="4092589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5ADAE-D72E-0212-946E-9838EE0146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9D0C9A7-80E6-4EC0-FE4A-850349735C45}"/>
              </a:ext>
            </a:extLst>
          </p:cNvPr>
          <p:cNvSpPr>
            <a:spLocks noGrp="1"/>
          </p:cNvSpPr>
          <p:nvPr>
            <p:ph type="dt" sz="half" idx="10"/>
          </p:nvPr>
        </p:nvSpPr>
        <p:spPr/>
        <p:txBody>
          <a:bodyPr/>
          <a:lstStyle/>
          <a:p>
            <a:fld id="{38862CD8-F23F-4FBE-B4C2-1A574F837505}" type="datetimeFigureOut">
              <a:rPr lang="en-IN" smtClean="0"/>
              <a:t>26-02-2026</a:t>
            </a:fld>
            <a:endParaRPr lang="en-IN"/>
          </a:p>
        </p:txBody>
      </p:sp>
      <p:sp>
        <p:nvSpPr>
          <p:cNvPr id="4" name="Footer Placeholder 3">
            <a:extLst>
              <a:ext uri="{FF2B5EF4-FFF2-40B4-BE49-F238E27FC236}">
                <a16:creationId xmlns:a16="http://schemas.microsoft.com/office/drawing/2014/main" id="{CA25B6C0-8CC8-38C8-373C-1AA989053BF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BC13B9-6DCC-26B4-BF22-29DE360883DB}"/>
              </a:ext>
            </a:extLst>
          </p:cNvPr>
          <p:cNvSpPr>
            <a:spLocks noGrp="1"/>
          </p:cNvSpPr>
          <p:nvPr>
            <p:ph type="sldNum" sz="quarter" idx="12"/>
          </p:nvPr>
        </p:nvSpPr>
        <p:spPr/>
        <p:txBody>
          <a:bodyPr/>
          <a:lstStyle/>
          <a:p>
            <a:fld id="{EA49E95B-E73E-456B-9B6A-CEF4FA6A9AEE}" type="slidenum">
              <a:rPr lang="en-IN" smtClean="0"/>
              <a:t>‹#›</a:t>
            </a:fld>
            <a:endParaRPr lang="en-IN"/>
          </a:p>
        </p:txBody>
      </p:sp>
    </p:spTree>
    <p:extLst>
      <p:ext uri="{BB962C8B-B14F-4D97-AF65-F5344CB8AC3E}">
        <p14:creationId xmlns:p14="http://schemas.microsoft.com/office/powerpoint/2010/main" val="1367624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17CF6C-BCFD-5267-BBCC-30435D16B8A0}"/>
              </a:ext>
            </a:extLst>
          </p:cNvPr>
          <p:cNvSpPr>
            <a:spLocks noGrp="1"/>
          </p:cNvSpPr>
          <p:nvPr>
            <p:ph type="dt" sz="half" idx="10"/>
          </p:nvPr>
        </p:nvSpPr>
        <p:spPr/>
        <p:txBody>
          <a:bodyPr/>
          <a:lstStyle/>
          <a:p>
            <a:fld id="{38862CD8-F23F-4FBE-B4C2-1A574F837505}" type="datetimeFigureOut">
              <a:rPr lang="en-IN" smtClean="0"/>
              <a:t>26-02-2026</a:t>
            </a:fld>
            <a:endParaRPr lang="en-IN"/>
          </a:p>
        </p:txBody>
      </p:sp>
      <p:sp>
        <p:nvSpPr>
          <p:cNvPr id="3" name="Footer Placeholder 2">
            <a:extLst>
              <a:ext uri="{FF2B5EF4-FFF2-40B4-BE49-F238E27FC236}">
                <a16:creationId xmlns:a16="http://schemas.microsoft.com/office/drawing/2014/main" id="{74273EBB-3258-1B20-24C5-FDCFFA22526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10197CB-E161-B926-7630-7A2BA7F407C2}"/>
              </a:ext>
            </a:extLst>
          </p:cNvPr>
          <p:cNvSpPr>
            <a:spLocks noGrp="1"/>
          </p:cNvSpPr>
          <p:nvPr>
            <p:ph type="sldNum" sz="quarter" idx="12"/>
          </p:nvPr>
        </p:nvSpPr>
        <p:spPr/>
        <p:txBody>
          <a:bodyPr/>
          <a:lstStyle/>
          <a:p>
            <a:fld id="{EA49E95B-E73E-456B-9B6A-CEF4FA6A9AEE}" type="slidenum">
              <a:rPr lang="en-IN" smtClean="0"/>
              <a:t>‹#›</a:t>
            </a:fld>
            <a:endParaRPr lang="en-IN"/>
          </a:p>
        </p:txBody>
      </p:sp>
    </p:spTree>
    <p:extLst>
      <p:ext uri="{BB962C8B-B14F-4D97-AF65-F5344CB8AC3E}">
        <p14:creationId xmlns:p14="http://schemas.microsoft.com/office/powerpoint/2010/main" val="1881834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0455E-F4AB-61AC-C7BC-CA8B6C734F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88FA2E-315E-101B-85AF-9B0344B1FE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FF6738E-8338-0868-416B-7500D1FFA3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7779B5-F1FB-1446-9796-8BA0E3FC8603}"/>
              </a:ext>
            </a:extLst>
          </p:cNvPr>
          <p:cNvSpPr>
            <a:spLocks noGrp="1"/>
          </p:cNvSpPr>
          <p:nvPr>
            <p:ph type="dt" sz="half" idx="10"/>
          </p:nvPr>
        </p:nvSpPr>
        <p:spPr/>
        <p:txBody>
          <a:bodyPr/>
          <a:lstStyle/>
          <a:p>
            <a:fld id="{38862CD8-F23F-4FBE-B4C2-1A574F837505}" type="datetimeFigureOut">
              <a:rPr lang="en-IN" smtClean="0"/>
              <a:t>26-02-2026</a:t>
            </a:fld>
            <a:endParaRPr lang="en-IN"/>
          </a:p>
        </p:txBody>
      </p:sp>
      <p:sp>
        <p:nvSpPr>
          <p:cNvPr id="6" name="Footer Placeholder 5">
            <a:extLst>
              <a:ext uri="{FF2B5EF4-FFF2-40B4-BE49-F238E27FC236}">
                <a16:creationId xmlns:a16="http://schemas.microsoft.com/office/drawing/2014/main" id="{4A64F2DB-F8EE-62D5-3EB3-68DF047F6D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AF48B0-8BDB-9907-5326-DB65305B9163}"/>
              </a:ext>
            </a:extLst>
          </p:cNvPr>
          <p:cNvSpPr>
            <a:spLocks noGrp="1"/>
          </p:cNvSpPr>
          <p:nvPr>
            <p:ph type="sldNum" sz="quarter" idx="12"/>
          </p:nvPr>
        </p:nvSpPr>
        <p:spPr/>
        <p:txBody>
          <a:bodyPr/>
          <a:lstStyle/>
          <a:p>
            <a:fld id="{EA49E95B-E73E-456B-9B6A-CEF4FA6A9AEE}" type="slidenum">
              <a:rPr lang="en-IN" smtClean="0"/>
              <a:t>‹#›</a:t>
            </a:fld>
            <a:endParaRPr lang="en-IN"/>
          </a:p>
        </p:txBody>
      </p:sp>
    </p:spTree>
    <p:extLst>
      <p:ext uri="{BB962C8B-B14F-4D97-AF65-F5344CB8AC3E}">
        <p14:creationId xmlns:p14="http://schemas.microsoft.com/office/powerpoint/2010/main" val="2185690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617D1-DE11-D871-4D4F-8F3DFE2B83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458D157-A8DA-A72C-B524-9CDEA65CE9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53E7D21-E8FC-FBC9-AB17-33DF13D64C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5CEE05-4FA0-AD81-9AD3-391F108361FA}"/>
              </a:ext>
            </a:extLst>
          </p:cNvPr>
          <p:cNvSpPr>
            <a:spLocks noGrp="1"/>
          </p:cNvSpPr>
          <p:nvPr>
            <p:ph type="dt" sz="half" idx="10"/>
          </p:nvPr>
        </p:nvSpPr>
        <p:spPr/>
        <p:txBody>
          <a:bodyPr/>
          <a:lstStyle/>
          <a:p>
            <a:fld id="{38862CD8-F23F-4FBE-B4C2-1A574F837505}" type="datetimeFigureOut">
              <a:rPr lang="en-IN" smtClean="0"/>
              <a:t>26-02-2026</a:t>
            </a:fld>
            <a:endParaRPr lang="en-IN"/>
          </a:p>
        </p:txBody>
      </p:sp>
      <p:sp>
        <p:nvSpPr>
          <p:cNvPr id="6" name="Footer Placeholder 5">
            <a:extLst>
              <a:ext uri="{FF2B5EF4-FFF2-40B4-BE49-F238E27FC236}">
                <a16:creationId xmlns:a16="http://schemas.microsoft.com/office/drawing/2014/main" id="{9CD99D93-C212-04A4-E6A2-8B5F099D13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BF7D49-81C9-B8AF-443A-B45F281751C4}"/>
              </a:ext>
            </a:extLst>
          </p:cNvPr>
          <p:cNvSpPr>
            <a:spLocks noGrp="1"/>
          </p:cNvSpPr>
          <p:nvPr>
            <p:ph type="sldNum" sz="quarter" idx="12"/>
          </p:nvPr>
        </p:nvSpPr>
        <p:spPr/>
        <p:txBody>
          <a:bodyPr/>
          <a:lstStyle/>
          <a:p>
            <a:fld id="{EA49E95B-E73E-456B-9B6A-CEF4FA6A9AEE}" type="slidenum">
              <a:rPr lang="en-IN" smtClean="0"/>
              <a:t>‹#›</a:t>
            </a:fld>
            <a:endParaRPr lang="en-IN"/>
          </a:p>
        </p:txBody>
      </p:sp>
    </p:spTree>
    <p:extLst>
      <p:ext uri="{BB962C8B-B14F-4D97-AF65-F5344CB8AC3E}">
        <p14:creationId xmlns:p14="http://schemas.microsoft.com/office/powerpoint/2010/main" val="1171617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81746-EA9C-889F-F3B1-73E7D58BB46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FF26AF-2AD3-5924-00CA-3FF11EB073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ABDF3-1C53-47A3-2D3E-64D60BAE370F}"/>
              </a:ext>
            </a:extLst>
          </p:cNvPr>
          <p:cNvSpPr>
            <a:spLocks noGrp="1"/>
          </p:cNvSpPr>
          <p:nvPr>
            <p:ph type="dt" sz="half" idx="10"/>
          </p:nvPr>
        </p:nvSpPr>
        <p:spPr/>
        <p:txBody>
          <a:bodyPr/>
          <a:lstStyle/>
          <a:p>
            <a:fld id="{38862CD8-F23F-4FBE-B4C2-1A574F837505}" type="datetimeFigureOut">
              <a:rPr lang="en-IN" smtClean="0"/>
              <a:t>26-02-2026</a:t>
            </a:fld>
            <a:endParaRPr lang="en-IN"/>
          </a:p>
        </p:txBody>
      </p:sp>
      <p:sp>
        <p:nvSpPr>
          <p:cNvPr id="5" name="Footer Placeholder 4">
            <a:extLst>
              <a:ext uri="{FF2B5EF4-FFF2-40B4-BE49-F238E27FC236}">
                <a16:creationId xmlns:a16="http://schemas.microsoft.com/office/drawing/2014/main" id="{78DF505C-1F30-207D-6EF5-22043BC7A3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5712D0-112C-8C93-F3B4-C0A9AE98AB8D}"/>
              </a:ext>
            </a:extLst>
          </p:cNvPr>
          <p:cNvSpPr>
            <a:spLocks noGrp="1"/>
          </p:cNvSpPr>
          <p:nvPr>
            <p:ph type="sldNum" sz="quarter" idx="12"/>
          </p:nvPr>
        </p:nvSpPr>
        <p:spPr/>
        <p:txBody>
          <a:bodyPr/>
          <a:lstStyle/>
          <a:p>
            <a:fld id="{EA49E95B-E73E-456B-9B6A-CEF4FA6A9AEE}" type="slidenum">
              <a:rPr lang="en-IN" smtClean="0"/>
              <a:t>‹#›</a:t>
            </a:fld>
            <a:endParaRPr lang="en-IN"/>
          </a:p>
        </p:txBody>
      </p:sp>
    </p:spTree>
    <p:extLst>
      <p:ext uri="{BB962C8B-B14F-4D97-AF65-F5344CB8AC3E}">
        <p14:creationId xmlns:p14="http://schemas.microsoft.com/office/powerpoint/2010/main" val="2684568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A5E1DB-1D30-49EE-031A-F5778AEB9E0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73C8D4-D347-6277-7DD3-9B491755D4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A25584-D055-8A23-7804-9D21292DFA37}"/>
              </a:ext>
            </a:extLst>
          </p:cNvPr>
          <p:cNvSpPr>
            <a:spLocks noGrp="1"/>
          </p:cNvSpPr>
          <p:nvPr>
            <p:ph type="dt" sz="half" idx="10"/>
          </p:nvPr>
        </p:nvSpPr>
        <p:spPr/>
        <p:txBody>
          <a:bodyPr/>
          <a:lstStyle/>
          <a:p>
            <a:fld id="{38862CD8-F23F-4FBE-B4C2-1A574F837505}" type="datetimeFigureOut">
              <a:rPr lang="en-IN" smtClean="0"/>
              <a:t>26-02-2026</a:t>
            </a:fld>
            <a:endParaRPr lang="en-IN"/>
          </a:p>
        </p:txBody>
      </p:sp>
      <p:sp>
        <p:nvSpPr>
          <p:cNvPr id="5" name="Footer Placeholder 4">
            <a:extLst>
              <a:ext uri="{FF2B5EF4-FFF2-40B4-BE49-F238E27FC236}">
                <a16:creationId xmlns:a16="http://schemas.microsoft.com/office/drawing/2014/main" id="{02E64570-AC63-A034-FE3D-6435559D10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7CAFC0-575E-2101-30E8-93CB988BBA64}"/>
              </a:ext>
            </a:extLst>
          </p:cNvPr>
          <p:cNvSpPr>
            <a:spLocks noGrp="1"/>
          </p:cNvSpPr>
          <p:nvPr>
            <p:ph type="sldNum" sz="quarter" idx="12"/>
          </p:nvPr>
        </p:nvSpPr>
        <p:spPr/>
        <p:txBody>
          <a:bodyPr/>
          <a:lstStyle/>
          <a:p>
            <a:fld id="{EA49E95B-E73E-456B-9B6A-CEF4FA6A9AEE}" type="slidenum">
              <a:rPr lang="en-IN" smtClean="0"/>
              <a:t>‹#›</a:t>
            </a:fld>
            <a:endParaRPr lang="en-IN"/>
          </a:p>
        </p:txBody>
      </p:sp>
    </p:spTree>
    <p:extLst>
      <p:ext uri="{BB962C8B-B14F-4D97-AF65-F5344CB8AC3E}">
        <p14:creationId xmlns:p14="http://schemas.microsoft.com/office/powerpoint/2010/main" val="3356638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512D74-6FCF-DDF1-7315-7948BE46A0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CE921E-A74B-A325-E9B8-9C2C3331FC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45186-269F-6972-E335-5186FC82A2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862CD8-F23F-4FBE-B4C2-1A574F837505}" type="datetimeFigureOut">
              <a:rPr lang="en-IN" smtClean="0"/>
              <a:t>26-02-2026</a:t>
            </a:fld>
            <a:endParaRPr lang="en-IN"/>
          </a:p>
        </p:txBody>
      </p:sp>
      <p:sp>
        <p:nvSpPr>
          <p:cNvPr id="5" name="Footer Placeholder 4">
            <a:extLst>
              <a:ext uri="{FF2B5EF4-FFF2-40B4-BE49-F238E27FC236}">
                <a16:creationId xmlns:a16="http://schemas.microsoft.com/office/drawing/2014/main" id="{1EB49248-1E21-4143-86C7-D69FD0403D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C2C0EB6-BFCA-8F91-B020-B0A22C6BB7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49E95B-E73E-456B-9B6A-CEF4FA6A9AEE}" type="slidenum">
              <a:rPr lang="en-IN" smtClean="0"/>
              <a:t>‹#›</a:t>
            </a:fld>
            <a:endParaRPr lang="en-IN"/>
          </a:p>
        </p:txBody>
      </p:sp>
    </p:spTree>
    <p:extLst>
      <p:ext uri="{BB962C8B-B14F-4D97-AF65-F5344CB8AC3E}">
        <p14:creationId xmlns:p14="http://schemas.microsoft.com/office/powerpoint/2010/main" val="29871297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B0DF4-C566-16DA-80F0-08CCEB2A9A20}"/>
              </a:ext>
            </a:extLst>
          </p:cNvPr>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Gradient Descent Algorithm</a:t>
            </a:r>
          </a:p>
        </p:txBody>
      </p:sp>
      <p:sp>
        <p:nvSpPr>
          <p:cNvPr id="3" name="Subtitle 2">
            <a:extLst>
              <a:ext uri="{FF2B5EF4-FFF2-40B4-BE49-F238E27FC236}">
                <a16:creationId xmlns:a16="http://schemas.microsoft.com/office/drawing/2014/main" id="{3D412154-2797-F43E-F958-4D288849553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312084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80871-D990-DB72-D652-592E5BBA2E17}"/>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Gradient descent (Basic idea)</a:t>
            </a:r>
          </a:p>
        </p:txBody>
      </p:sp>
      <p:sp>
        <p:nvSpPr>
          <p:cNvPr id="3" name="Content Placeholder 2">
            <a:extLst>
              <a:ext uri="{FF2B5EF4-FFF2-40B4-BE49-F238E27FC236}">
                <a16:creationId xmlns:a16="http://schemas.microsoft.com/office/drawing/2014/main" id="{75B81BCB-5858-FA8A-D424-89FB9BE9739D}"/>
              </a:ext>
            </a:extLst>
          </p:cNvPr>
          <p:cNvSpPr>
            <a:spLocks noGrp="1"/>
          </p:cNvSpPr>
          <p:nvPr>
            <p:ph idx="1"/>
          </p:nvPr>
        </p:nvSpPr>
        <p:spPr/>
        <p:txBody>
          <a:bodyPr>
            <a:normAutofit lnSpcReduction="10000"/>
          </a:bodyPr>
          <a:lstStyle/>
          <a:p>
            <a:pPr marL="0" indent="0" algn="just">
              <a:buNone/>
            </a:pPr>
            <a:r>
              <a:rPr lang="en-IN" dirty="0">
                <a:latin typeface="Times New Roman" panose="02020603050405020304" pitchFamily="18" charset="0"/>
                <a:cs typeface="Times New Roman" panose="02020603050405020304" pitchFamily="18" charset="0"/>
              </a:rPr>
              <a:t>Imagine standing on a hill blindfolded and trying to reach the lowest point.</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Steps taken</a:t>
            </a:r>
          </a:p>
          <a:p>
            <a:pPr algn="just"/>
            <a:r>
              <a:rPr lang="en-IN" dirty="0">
                <a:latin typeface="Times New Roman" panose="02020603050405020304" pitchFamily="18" charset="0"/>
                <a:cs typeface="Times New Roman" panose="02020603050405020304" pitchFamily="18" charset="0"/>
              </a:rPr>
              <a:t>Check slope direction.</a:t>
            </a:r>
          </a:p>
          <a:p>
            <a:pPr algn="just"/>
            <a:r>
              <a:rPr lang="en-IN" dirty="0">
                <a:latin typeface="Times New Roman" panose="02020603050405020304" pitchFamily="18" charset="0"/>
                <a:cs typeface="Times New Roman" panose="02020603050405020304" pitchFamily="18" charset="0"/>
              </a:rPr>
              <a:t>Take a small step downhill.</a:t>
            </a:r>
          </a:p>
          <a:p>
            <a:pPr algn="just"/>
            <a:r>
              <a:rPr lang="en-IN" dirty="0">
                <a:latin typeface="Times New Roman" panose="02020603050405020304" pitchFamily="18" charset="0"/>
                <a:cs typeface="Times New Roman" panose="02020603050405020304" pitchFamily="18" charset="0"/>
              </a:rPr>
              <a:t>Repeat until you reach the bottom.</a:t>
            </a:r>
          </a:p>
          <a:p>
            <a:pPr algn="just"/>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The downhill movement = gradient descent.</a:t>
            </a:r>
          </a:p>
          <a:p>
            <a:pPr algn="just"/>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CA41F52-D0F0-47D0-00A0-F4287FDD4A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7434" y="2790825"/>
            <a:ext cx="4164016" cy="2872019"/>
          </a:xfrm>
          <a:prstGeom prst="rect">
            <a:avLst/>
          </a:prstGeom>
        </p:spPr>
      </p:pic>
    </p:spTree>
    <p:extLst>
      <p:ext uri="{BB962C8B-B14F-4D97-AF65-F5344CB8AC3E}">
        <p14:creationId xmlns:p14="http://schemas.microsoft.com/office/powerpoint/2010/main" val="657858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D87E42F-27A3-D0A7-07A7-E7F76A709D01}"/>
              </a:ext>
            </a:extLst>
          </p:cNvPr>
          <p:cNvSpPr>
            <a:spLocks noGrp="1"/>
          </p:cNvSpPr>
          <p:nvPr>
            <p:ph type="title"/>
          </p:nvPr>
        </p:nvSpPr>
        <p:spPr>
          <a:xfrm>
            <a:off x="369769" y="223278"/>
            <a:ext cx="6237169" cy="1330840"/>
          </a:xfrm>
        </p:spPr>
        <p:txBody>
          <a:bodyPr>
            <a:normAutofit/>
          </a:bodyPr>
          <a:lstStyle/>
          <a:p>
            <a:r>
              <a:rPr lang="en-IN" sz="4000" b="1" dirty="0">
                <a:latin typeface="Times New Roman" panose="02020603050405020304" pitchFamily="18" charset="0"/>
                <a:cs typeface="Times New Roman" panose="02020603050405020304" pitchFamily="18" charset="0"/>
              </a:rPr>
              <a:t>Gradient descent algorithm</a:t>
            </a:r>
          </a:p>
        </p:txBody>
      </p:sp>
      <p:sp>
        <p:nvSpPr>
          <p:cNvPr id="3" name="Content Placeholder 2">
            <a:extLst>
              <a:ext uri="{FF2B5EF4-FFF2-40B4-BE49-F238E27FC236}">
                <a16:creationId xmlns:a16="http://schemas.microsoft.com/office/drawing/2014/main" id="{F0F2FC44-B69D-96D0-F90B-6EAB1D81050F}"/>
              </a:ext>
            </a:extLst>
          </p:cNvPr>
          <p:cNvSpPr>
            <a:spLocks noGrp="1"/>
          </p:cNvSpPr>
          <p:nvPr>
            <p:ph idx="1"/>
          </p:nvPr>
        </p:nvSpPr>
        <p:spPr>
          <a:xfrm>
            <a:off x="573740" y="1858918"/>
            <a:ext cx="5522260" cy="4694282"/>
          </a:xfrm>
        </p:spPr>
        <p:txBody>
          <a:bodyPr>
            <a:normAutofit/>
          </a:bodyPr>
          <a:lstStyle/>
          <a:p>
            <a:pPr algn="just"/>
            <a:r>
              <a:rPr lang="en-IN" sz="2400" dirty="0">
                <a:latin typeface="Times New Roman" panose="02020603050405020304" pitchFamily="18" charset="0"/>
                <a:cs typeface="Times New Roman" panose="02020603050405020304" pitchFamily="18" charset="0"/>
              </a:rPr>
              <a:t>Gradient descent is an optimization algorithm used in machine learning to minimize the cost function by iteratively adjusting parameters in the direction of the negative gradient, aiming to find the optimal set of parameters.</a:t>
            </a:r>
          </a:p>
          <a:p>
            <a:pPr algn="just"/>
            <a:r>
              <a:rPr lang="en-IN" sz="2400" dirty="0">
                <a:latin typeface="Times New Roman" panose="02020603050405020304" pitchFamily="18" charset="0"/>
                <a:cs typeface="Times New Roman" panose="02020603050405020304" pitchFamily="18" charset="0"/>
              </a:rPr>
              <a:t>The cost function represents the discrepancy between the predicted output of the model and the actual output i.e. the error.</a:t>
            </a:r>
          </a:p>
          <a:p>
            <a:pPr algn="just"/>
            <a:r>
              <a:rPr lang="en-IN" sz="2400" dirty="0">
                <a:latin typeface="Times New Roman" panose="02020603050405020304" pitchFamily="18" charset="0"/>
                <a:cs typeface="Times New Roman" panose="02020603050405020304" pitchFamily="18" charset="0"/>
              </a:rPr>
              <a:t>Gradient descent aims to find the parameters that minimize the error and improve the model’s performance.</a:t>
            </a:r>
          </a:p>
        </p:txBody>
      </p:sp>
      <p:pic>
        <p:nvPicPr>
          <p:cNvPr id="5" name="Picture 4">
            <a:extLst>
              <a:ext uri="{FF2B5EF4-FFF2-40B4-BE49-F238E27FC236}">
                <a16:creationId xmlns:a16="http://schemas.microsoft.com/office/drawing/2014/main" id="{706A2BF7-F4E8-574F-2F4A-51D387AC93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6300" y="1858917"/>
            <a:ext cx="5334544" cy="3560808"/>
          </a:xfrm>
          <a:prstGeom prst="rect">
            <a:avLst/>
          </a:prstGeom>
        </p:spPr>
      </p:pic>
    </p:spTree>
    <p:extLst>
      <p:ext uri="{BB962C8B-B14F-4D97-AF65-F5344CB8AC3E}">
        <p14:creationId xmlns:p14="http://schemas.microsoft.com/office/powerpoint/2010/main" val="1392896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0CE7F-BA5A-F34A-F51C-69D3FE9D0699}"/>
              </a:ext>
            </a:extLst>
          </p:cNvPr>
          <p:cNvSpPr>
            <a:spLocks noGrp="1"/>
          </p:cNvSpPr>
          <p:nvPr>
            <p:ph type="title"/>
          </p:nvPr>
        </p:nvSpPr>
        <p:spPr>
          <a:xfrm>
            <a:off x="838200" y="98425"/>
            <a:ext cx="10515600" cy="911225"/>
          </a:xfrm>
        </p:spPr>
        <p:txBody>
          <a:bodyPr>
            <a:normAutofit/>
          </a:bodyPr>
          <a:lstStyle/>
          <a:p>
            <a:r>
              <a:rPr lang="en-IN" sz="4000" b="1" dirty="0">
                <a:latin typeface="Times New Roman" panose="02020603050405020304" pitchFamily="18" charset="0"/>
                <a:cs typeface="Times New Roman" panose="02020603050405020304" pitchFamily="18" charset="0"/>
              </a:rPr>
              <a:t>Gradient descent algorithm</a:t>
            </a:r>
            <a:endParaRPr lang="en-IN"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7B38A2-094D-7E09-EEA3-432DF47C3988}"/>
                  </a:ext>
                </a:extLst>
              </p:cNvPr>
              <p:cNvSpPr>
                <a:spLocks noGrp="1"/>
              </p:cNvSpPr>
              <p:nvPr>
                <p:ph idx="1"/>
              </p:nvPr>
            </p:nvSpPr>
            <p:spPr>
              <a:xfrm>
                <a:off x="838200" y="1088230"/>
                <a:ext cx="10515600" cy="5369719"/>
              </a:xfrm>
            </p:spPr>
            <p:txBody>
              <a:bodyPr>
                <a:normAutofit/>
              </a:bodyPr>
              <a:lstStyle/>
              <a:p>
                <a:pPr marL="0" indent="0">
                  <a:buNone/>
                </a:pPr>
                <a:r>
                  <a:rPr lang="pt-BR" sz="2400" dirty="0">
                    <a:latin typeface="Times New Roman" panose="02020603050405020304" pitchFamily="18" charset="0"/>
                    <a:cs typeface="Times New Roman" panose="02020603050405020304" pitchFamily="18" charset="0"/>
                  </a:rPr>
                  <a:t>The cost/loss function is given as</a:t>
                </a:r>
              </a:p>
              <a:p>
                <a:pPr marL="2419350" indent="0">
                  <a:buNone/>
                </a:pPr>
                <a:r>
                  <a:rPr lang="pt-BR" sz="2400" i="1" dirty="0">
                    <a:latin typeface="Times New Roman" panose="02020603050405020304" pitchFamily="18" charset="0"/>
                    <a:cs typeface="Times New Roman" panose="02020603050405020304" pitchFamily="18" charset="0"/>
                  </a:rPr>
                  <a:t>J(θ)= </a:t>
                </a:r>
                <a14:m>
                  <m:oMath xmlns:m="http://schemas.openxmlformats.org/officeDocument/2006/math">
                    <m:f>
                      <m:fPr>
                        <m:ctrlPr>
                          <a:rPr lang="pt-BR" sz="2400" i="1" smtClean="0">
                            <a:latin typeface="Cambria Math" panose="02040503050406030204" pitchFamily="18" charset="0"/>
                          </a:rPr>
                        </m:ctrlPr>
                      </m:fPr>
                      <m:num>
                        <m:r>
                          <a:rPr lang="en-IN" sz="2400" b="0" i="1" smtClean="0">
                            <a:latin typeface="Cambria Math" panose="02040503050406030204" pitchFamily="18" charset="0"/>
                          </a:rPr>
                          <m:t>1</m:t>
                        </m:r>
                      </m:num>
                      <m:den>
                        <m:r>
                          <a:rPr lang="en-IN" sz="2400" b="0" i="1" smtClean="0">
                            <a:latin typeface="Cambria Math" panose="02040503050406030204" pitchFamily="18" charset="0"/>
                          </a:rPr>
                          <m:t>𝑛</m:t>
                        </m:r>
                      </m:den>
                    </m:f>
                    <m:nary>
                      <m:naryPr>
                        <m:chr m:val="∑"/>
                        <m:subHide m:val="on"/>
                        <m:supHide m:val="on"/>
                        <m:ctrlPr>
                          <a:rPr lang="pt-BR" sz="2400" i="1" smtClean="0">
                            <a:latin typeface="Cambria Math" panose="02040503050406030204" pitchFamily="18" charset="0"/>
                          </a:rPr>
                        </m:ctrlPr>
                      </m:naryPr>
                      <m:sub/>
                      <m:sup/>
                      <m:e>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𝑌</m:t>
                            </m:r>
                            <m:r>
                              <a:rPr lang="en-IN" sz="2400" b="0" i="1" smtClean="0">
                                <a:latin typeface="Cambria Math" panose="02040503050406030204" pitchFamily="18" charset="0"/>
                              </a:rPr>
                              <m:t> −</m:t>
                            </m:r>
                            <m:r>
                              <a:rPr lang="en-IN" sz="2400" b="0" i="1" smtClean="0">
                                <a:latin typeface="Cambria Math" panose="02040503050406030204" pitchFamily="18" charset="0"/>
                              </a:rPr>
                              <m:t>𝑌</m:t>
                            </m:r>
                            <m:r>
                              <a:rPr lang="en-IN" sz="2400" b="0" i="1" smtClean="0">
                                <a:latin typeface="Cambria Math" panose="02040503050406030204" pitchFamily="18" charset="0"/>
                              </a:rPr>
                              <m:t>′</m:t>
                            </m:r>
                          </m:e>
                        </m:d>
                        <m:r>
                          <a:rPr lang="en-IN" sz="2400" b="0" i="1" baseline="30000" smtClean="0">
                            <a:latin typeface="Cambria Math" panose="02040503050406030204" pitchFamily="18" charset="0"/>
                          </a:rPr>
                          <m:t>2</m:t>
                        </m:r>
                      </m:e>
                    </m:nary>
                  </m:oMath>
                </a14:m>
                <a:r>
                  <a:rPr lang="pt-BR"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          where, </a:t>
                </a:r>
                <a:r>
                  <a:rPr lang="pt-BR" sz="2400" dirty="0">
                    <a:latin typeface="Times New Roman" panose="02020603050405020304" pitchFamily="18" charset="0"/>
                    <a:cs typeface="Times New Roman" panose="02020603050405020304" pitchFamily="18" charset="0"/>
                  </a:rPr>
                  <a:t>J(θ) = loss function (error), θ = model parameters </a:t>
                </a:r>
              </a:p>
              <a:p>
                <a:endParaRPr lang="en-IN" dirty="0">
                  <a:latin typeface="Times New Roman" panose="02020603050405020304" pitchFamily="18" charset="0"/>
                  <a:cs typeface="Times New Roman" panose="02020603050405020304" pitchFamily="18" charset="0"/>
                </a:endParaRPr>
              </a:p>
              <a:p>
                <a:pPr marL="0" indent="0">
                  <a:buNone/>
                </a:pPr>
                <a:r>
                  <a:rPr lang="pt-BR" sz="2400" dirty="0">
                    <a:latin typeface="Times New Roman" panose="02020603050405020304" pitchFamily="18" charset="0"/>
                    <a:cs typeface="Times New Roman" panose="02020603050405020304" pitchFamily="18" charset="0"/>
                  </a:rPr>
                  <a:t>J(θ) is to be minimized. The following steps are taken: -</a:t>
                </a:r>
              </a:p>
              <a:p>
                <a:pPr marL="457200" indent="-457200">
                  <a:buFont typeface="+mj-lt"/>
                  <a:buAutoNum type="arabicPeriod"/>
                </a:pPr>
                <a:r>
                  <a:rPr lang="pt-BR" sz="2400" dirty="0">
                    <a:latin typeface="Times New Roman" panose="02020603050405020304" pitchFamily="18" charset="0"/>
                    <a:cs typeface="Times New Roman" panose="02020603050405020304" pitchFamily="18" charset="0"/>
                  </a:rPr>
                  <a:t>Start with random values for </a:t>
                </a:r>
                <a:r>
                  <a:rPr lang="pt-BR" sz="2400" i="1" dirty="0">
                    <a:latin typeface="Times New Roman" panose="02020603050405020304" pitchFamily="18" charset="0"/>
                    <a:cs typeface="Times New Roman" panose="02020603050405020304" pitchFamily="18" charset="0"/>
                  </a:rPr>
                  <a:t>b</a:t>
                </a:r>
                <a:r>
                  <a:rPr lang="pt-BR" sz="2400" i="1" baseline="-25000" dirty="0">
                    <a:latin typeface="Times New Roman" panose="02020603050405020304" pitchFamily="18" charset="0"/>
                    <a:cs typeface="Times New Roman" panose="02020603050405020304" pitchFamily="18" charset="0"/>
                  </a:rPr>
                  <a:t>0</a:t>
                </a:r>
                <a:r>
                  <a:rPr lang="pt-BR" sz="2400" i="1" dirty="0">
                    <a:latin typeface="Times New Roman" panose="02020603050405020304" pitchFamily="18" charset="0"/>
                    <a:cs typeface="Times New Roman" panose="02020603050405020304" pitchFamily="18" charset="0"/>
                  </a:rPr>
                  <a:t>, b</a:t>
                </a:r>
                <a:r>
                  <a:rPr lang="pt-BR" sz="2400" i="1" baseline="-25000" dirty="0">
                    <a:latin typeface="Times New Roman" panose="02020603050405020304" pitchFamily="18" charset="0"/>
                    <a:cs typeface="Times New Roman" panose="02020603050405020304" pitchFamily="18" charset="0"/>
                  </a:rPr>
                  <a:t>1</a:t>
                </a:r>
                <a:r>
                  <a:rPr lang="pt-BR" sz="2400" i="1" dirty="0">
                    <a:latin typeface="Times New Roman" panose="02020603050405020304" pitchFamily="18" charset="0"/>
                    <a:cs typeface="Times New Roman" panose="02020603050405020304" pitchFamily="18" charset="0"/>
                  </a:rPr>
                  <a:t>, b</a:t>
                </a:r>
                <a:r>
                  <a:rPr lang="pt-BR" sz="2400" i="1" baseline="-25000" dirty="0">
                    <a:latin typeface="Times New Roman" panose="02020603050405020304" pitchFamily="18" charset="0"/>
                    <a:cs typeface="Times New Roman" panose="02020603050405020304" pitchFamily="18" charset="0"/>
                  </a:rPr>
                  <a:t>2</a:t>
                </a:r>
                <a:r>
                  <a:rPr lang="pt-BR" sz="2400" baseline="30000" dirty="0">
                    <a:latin typeface="Times New Roman" panose="02020603050405020304" pitchFamily="18" charset="0"/>
                    <a:cs typeface="Times New Roman" panose="02020603050405020304" pitchFamily="18" charset="0"/>
                  </a:rPr>
                  <a:t>.</a:t>
                </a:r>
              </a:p>
              <a:p>
                <a:pPr marL="457200" indent="-457200">
                  <a:buFont typeface="+mj-lt"/>
                  <a:buAutoNum type="arabicPeriod"/>
                </a:pPr>
                <a:r>
                  <a:rPr lang="pt-BR" sz="2400" dirty="0">
                    <a:latin typeface="Times New Roman" panose="02020603050405020304" pitchFamily="18" charset="0"/>
                    <a:cs typeface="Times New Roman" panose="02020603050405020304" pitchFamily="18" charset="0"/>
                  </a:rPr>
                  <a:t>Make predictions: </a:t>
                </a:r>
                <a:r>
                  <a:rPr lang="pt-BR" sz="2400" i="1" dirty="0">
                    <a:latin typeface="Times New Roman" panose="02020603050405020304" pitchFamily="18" charset="0"/>
                    <a:cs typeface="Times New Roman" panose="02020603050405020304" pitchFamily="18" charset="0"/>
                  </a:rPr>
                  <a:t>Y’ = b</a:t>
                </a:r>
                <a:r>
                  <a:rPr lang="pt-BR" sz="2400" i="1" baseline="-25000" dirty="0">
                    <a:latin typeface="Times New Roman" panose="02020603050405020304" pitchFamily="18" charset="0"/>
                    <a:cs typeface="Times New Roman" panose="02020603050405020304" pitchFamily="18" charset="0"/>
                  </a:rPr>
                  <a:t>0</a:t>
                </a:r>
                <a:r>
                  <a:rPr lang="pt-BR" sz="2400" i="1" dirty="0">
                    <a:latin typeface="Times New Roman" panose="02020603050405020304" pitchFamily="18" charset="0"/>
                    <a:cs typeface="Times New Roman" panose="02020603050405020304" pitchFamily="18" charset="0"/>
                  </a:rPr>
                  <a:t> + b</a:t>
                </a:r>
                <a:r>
                  <a:rPr lang="pt-BR" sz="2400" i="1" baseline="-25000" dirty="0">
                    <a:latin typeface="Times New Roman" panose="02020603050405020304" pitchFamily="18" charset="0"/>
                    <a:cs typeface="Times New Roman" panose="02020603050405020304" pitchFamily="18" charset="0"/>
                  </a:rPr>
                  <a:t>1</a:t>
                </a:r>
                <a:r>
                  <a:rPr lang="pt-BR" sz="2400" i="1" dirty="0">
                    <a:latin typeface="Times New Roman" panose="02020603050405020304" pitchFamily="18" charset="0"/>
                    <a:cs typeface="Times New Roman" panose="02020603050405020304" pitchFamily="18" charset="0"/>
                  </a:rPr>
                  <a:t>X</a:t>
                </a:r>
                <a:r>
                  <a:rPr lang="pt-BR" sz="2400" i="1" baseline="-25000" dirty="0">
                    <a:latin typeface="Times New Roman" panose="02020603050405020304" pitchFamily="18" charset="0"/>
                    <a:cs typeface="Times New Roman" panose="02020603050405020304" pitchFamily="18" charset="0"/>
                  </a:rPr>
                  <a:t>1</a:t>
                </a:r>
                <a:r>
                  <a:rPr lang="pt-BR" sz="2400" i="1" dirty="0">
                    <a:latin typeface="Times New Roman" panose="02020603050405020304" pitchFamily="18" charset="0"/>
                    <a:cs typeface="Times New Roman" panose="02020603050405020304" pitchFamily="18" charset="0"/>
                  </a:rPr>
                  <a:t> + b</a:t>
                </a:r>
                <a:r>
                  <a:rPr lang="pt-BR" sz="2400" i="1" baseline="-25000" dirty="0">
                    <a:latin typeface="Times New Roman" panose="02020603050405020304" pitchFamily="18" charset="0"/>
                    <a:cs typeface="Times New Roman" panose="02020603050405020304" pitchFamily="18" charset="0"/>
                  </a:rPr>
                  <a:t>2</a:t>
                </a:r>
                <a:r>
                  <a:rPr lang="pt-BR" sz="2400" i="1" dirty="0">
                    <a:latin typeface="Times New Roman" panose="02020603050405020304" pitchFamily="18" charset="0"/>
                    <a:cs typeface="Times New Roman" panose="02020603050405020304" pitchFamily="18" charset="0"/>
                  </a:rPr>
                  <a:t>X</a:t>
                </a:r>
                <a:r>
                  <a:rPr lang="pt-BR" sz="2400" i="1" baseline="-25000" dirty="0">
                    <a:latin typeface="Times New Roman" panose="02020603050405020304" pitchFamily="18" charset="0"/>
                    <a:cs typeface="Times New Roman" panose="02020603050405020304" pitchFamily="18" charset="0"/>
                  </a:rPr>
                  <a:t>2</a:t>
                </a:r>
                <a:r>
                  <a:rPr lang="pt-BR" sz="2400" dirty="0">
                    <a:latin typeface="Times New Roman" panose="02020603050405020304" pitchFamily="18" charset="0"/>
                    <a:cs typeface="Times New Roman" panose="02020603050405020304" pitchFamily="18" charset="0"/>
                  </a:rPr>
                  <a:t> </a:t>
                </a:r>
              </a:p>
              <a:p>
                <a:pPr marL="457200" indent="-457200">
                  <a:buFont typeface="+mj-lt"/>
                  <a:buAutoNum type="arabicPeriod"/>
                </a:pPr>
                <a:r>
                  <a:rPr lang="pt-BR" sz="2400" dirty="0">
                    <a:latin typeface="Times New Roman" panose="02020603050405020304" pitchFamily="18" charset="0"/>
                    <a:cs typeface="Times New Roman" panose="02020603050405020304" pitchFamily="18" charset="0"/>
                  </a:rPr>
                  <a:t>Compute loss and then compute gradient = </a:t>
                </a:r>
                <a14:m>
                  <m:oMath xmlns:m="http://schemas.openxmlformats.org/officeDocument/2006/math">
                    <m:f>
                      <m:fPr>
                        <m:ctrlPr>
                          <a:rPr lang="pt-BR" sz="2400" i="1" smtClean="0">
                            <a:latin typeface="Cambria Math" panose="02040503050406030204" pitchFamily="18" charset="0"/>
                            <a:cs typeface="Times New Roman" panose="02020603050405020304" pitchFamily="18" charset="0"/>
                          </a:rPr>
                        </m:ctrlPr>
                      </m:fPr>
                      <m:num>
                        <m:r>
                          <a:rPr lang="pt-BR" sz="2400" i="1">
                            <a:latin typeface="Cambria Math" panose="02040503050406030204" pitchFamily="18" charset="0"/>
                            <a:ea typeface="Cambria Math" panose="02040503050406030204" pitchFamily="18" charset="0"/>
                            <a:cs typeface="Times New Roman" panose="02020603050405020304" pitchFamily="18" charset="0"/>
                          </a:rPr>
                          <m:t>𝜕</m:t>
                        </m:r>
                        <m:r>
                          <a:rPr lang="en-IN" sz="2400" b="0" i="1" smtClean="0">
                            <a:latin typeface="Cambria Math" panose="02040503050406030204" pitchFamily="18" charset="0"/>
                            <a:ea typeface="Cambria Math" panose="02040503050406030204" pitchFamily="18" charset="0"/>
                            <a:cs typeface="Times New Roman" panose="02020603050405020304" pitchFamily="18" charset="0"/>
                          </a:rPr>
                          <m:t>𝐽</m:t>
                        </m:r>
                      </m:num>
                      <m:den>
                        <m:r>
                          <a:rPr lang="pt-BR" sz="2400" i="1" smtClean="0">
                            <a:latin typeface="Cambria Math" panose="02040503050406030204" pitchFamily="18" charset="0"/>
                            <a:ea typeface="Cambria Math" panose="02040503050406030204" pitchFamily="18" charset="0"/>
                            <a:cs typeface="Times New Roman" panose="02020603050405020304" pitchFamily="18" charset="0"/>
                          </a:rPr>
                          <m:t>𝜕</m:t>
                        </m:r>
                        <m:r>
                          <a:rPr lang="en-IN" sz="2400" b="0" i="1" smtClean="0">
                            <a:latin typeface="Cambria Math" panose="02040503050406030204" pitchFamily="18" charset="0"/>
                            <a:ea typeface="Cambria Math" panose="02040503050406030204" pitchFamily="18" charset="0"/>
                            <a:cs typeface="Times New Roman" panose="02020603050405020304" pitchFamily="18" charset="0"/>
                          </a:rPr>
                          <m:t>𝑏</m:t>
                        </m:r>
                        <m:r>
                          <a:rPr lang="en-IN" sz="2400" b="0" i="1" baseline="-25000" smtClean="0">
                            <a:latin typeface="Cambria Math" panose="02040503050406030204" pitchFamily="18" charset="0"/>
                            <a:ea typeface="Cambria Math" panose="02040503050406030204" pitchFamily="18" charset="0"/>
                            <a:cs typeface="Times New Roman" panose="02020603050405020304" pitchFamily="18" charset="0"/>
                          </a:rPr>
                          <m:t>𝑗</m:t>
                        </m:r>
                      </m:den>
                    </m:f>
                  </m:oMath>
                </a14:m>
                <a:endParaRPr lang="pt-BR"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pt-BR" sz="2400" dirty="0">
                    <a:latin typeface="Times New Roman" panose="02020603050405020304" pitchFamily="18" charset="0"/>
                    <a:cs typeface="Times New Roman" panose="02020603050405020304" pitchFamily="18" charset="0"/>
                  </a:rPr>
                  <a:t>Update parameters, b</a:t>
                </a:r>
                <a:r>
                  <a:rPr lang="pt-BR" sz="2400" baseline="-25000" dirty="0">
                    <a:latin typeface="Times New Roman" panose="02020603050405020304" pitchFamily="18" charset="0"/>
                    <a:cs typeface="Times New Roman" panose="02020603050405020304" pitchFamily="18" charset="0"/>
                  </a:rPr>
                  <a:t>j</a:t>
                </a:r>
                <a:r>
                  <a:rPr lang="pt-BR" sz="2400" dirty="0">
                    <a:latin typeface="Times New Roman" panose="02020603050405020304" pitchFamily="18" charset="0"/>
                    <a:cs typeface="Times New Roman" panose="02020603050405020304" pitchFamily="18" charset="0"/>
                  </a:rPr>
                  <a:t> = b</a:t>
                </a:r>
                <a:r>
                  <a:rPr lang="pt-BR" sz="2400" baseline="-25000" dirty="0">
                    <a:latin typeface="Times New Roman" panose="02020603050405020304" pitchFamily="18" charset="0"/>
                    <a:cs typeface="Times New Roman" panose="02020603050405020304" pitchFamily="18" charset="0"/>
                  </a:rPr>
                  <a:t>j</a:t>
                </a:r>
                <a:r>
                  <a:rPr lang="pt-BR" sz="2400" dirty="0">
                    <a:latin typeface="Times New Roman" panose="02020603050405020304" pitchFamily="18" charset="0"/>
                    <a:cs typeface="Times New Roman" panose="02020603050405020304" pitchFamily="18" charset="0"/>
                  </a:rPr>
                  <a:t> - </a:t>
                </a:r>
                <a:r>
                  <a:rPr lang="el-GR" sz="2400" dirty="0">
                    <a:latin typeface="Times New Roman" panose="02020603050405020304" pitchFamily="18" charset="0"/>
                    <a:cs typeface="Times New Roman" panose="02020603050405020304" pitchFamily="18" charset="0"/>
                  </a:rPr>
                  <a:t>α</a:t>
                </a:r>
                <a:r>
                  <a:rPr lang="pt-BR" sz="2400" dirty="0">
                    <a:cs typeface="Times New Roman" panose="02020603050405020304" pitchFamily="18" charset="0"/>
                  </a:rPr>
                  <a:t> </a:t>
                </a:r>
                <a14:m>
                  <m:oMath xmlns:m="http://schemas.openxmlformats.org/officeDocument/2006/math">
                    <m:f>
                      <m:fPr>
                        <m:ctrlPr>
                          <a:rPr lang="pt-BR" sz="2400" i="1" smtClean="0">
                            <a:latin typeface="Cambria Math" panose="02040503050406030204" pitchFamily="18" charset="0"/>
                            <a:cs typeface="Times New Roman" panose="02020603050405020304" pitchFamily="18" charset="0"/>
                          </a:rPr>
                        </m:ctrlPr>
                      </m:fPr>
                      <m:num>
                        <m:r>
                          <a:rPr lang="pt-BR" sz="2400" i="1">
                            <a:latin typeface="Cambria Math" panose="02040503050406030204" pitchFamily="18" charset="0"/>
                            <a:ea typeface="Cambria Math" panose="02040503050406030204" pitchFamily="18" charset="0"/>
                            <a:cs typeface="Times New Roman" panose="02020603050405020304" pitchFamily="18" charset="0"/>
                          </a:rPr>
                          <m:t>𝜕</m:t>
                        </m:r>
                        <m:r>
                          <a:rPr lang="en-IN" sz="2400" b="0" i="1" smtClean="0">
                            <a:latin typeface="Cambria Math" panose="02040503050406030204" pitchFamily="18" charset="0"/>
                            <a:ea typeface="Cambria Math" panose="02040503050406030204" pitchFamily="18" charset="0"/>
                            <a:cs typeface="Times New Roman" panose="02020603050405020304" pitchFamily="18" charset="0"/>
                          </a:rPr>
                          <m:t>𝐽</m:t>
                        </m:r>
                      </m:num>
                      <m:den>
                        <m:r>
                          <a:rPr lang="pt-BR" sz="2400" i="1" smtClean="0">
                            <a:latin typeface="Cambria Math" panose="02040503050406030204" pitchFamily="18" charset="0"/>
                            <a:ea typeface="Cambria Math" panose="02040503050406030204" pitchFamily="18" charset="0"/>
                            <a:cs typeface="Times New Roman" panose="02020603050405020304" pitchFamily="18" charset="0"/>
                          </a:rPr>
                          <m:t>𝜕</m:t>
                        </m:r>
                        <m:r>
                          <a:rPr lang="en-IN" sz="2400" b="0" i="1" smtClean="0">
                            <a:latin typeface="Cambria Math" panose="02040503050406030204" pitchFamily="18" charset="0"/>
                            <a:ea typeface="Cambria Math" panose="02040503050406030204" pitchFamily="18" charset="0"/>
                            <a:cs typeface="Times New Roman" panose="02020603050405020304" pitchFamily="18" charset="0"/>
                          </a:rPr>
                          <m:t>𝑏</m:t>
                        </m:r>
                        <m:r>
                          <a:rPr lang="en-IN" sz="2400" b="0" i="1" baseline="-25000" smtClean="0">
                            <a:latin typeface="Cambria Math" panose="02040503050406030204" pitchFamily="18" charset="0"/>
                            <a:ea typeface="Cambria Math" panose="02040503050406030204" pitchFamily="18" charset="0"/>
                            <a:cs typeface="Times New Roman" panose="02020603050405020304" pitchFamily="18" charset="0"/>
                          </a:rPr>
                          <m:t>𝑗</m:t>
                        </m:r>
                      </m:den>
                    </m:f>
                  </m:oMath>
                </a14:m>
                <a:endParaRPr lang="pt-BR"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pt-BR" sz="2400" dirty="0">
                    <a:latin typeface="Times New Roman" panose="02020603050405020304" pitchFamily="18" charset="0"/>
                    <a:cs typeface="Times New Roman" panose="02020603050405020304" pitchFamily="18" charset="0"/>
                  </a:rPr>
                  <a:t>Repeat steps 2 to 4, until the error stops decreasing.</a:t>
                </a:r>
              </a:p>
              <a:p>
                <a:endParaRPr lang="pt-BR"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2B7B38A2-094D-7E09-EEA3-432DF47C3988}"/>
                  </a:ext>
                </a:extLst>
              </p:cNvPr>
              <p:cNvSpPr>
                <a:spLocks noGrp="1" noRot="1" noChangeAspect="1" noMove="1" noResize="1" noEditPoints="1" noAdjustHandles="1" noChangeArrowheads="1" noChangeShapeType="1" noTextEdit="1"/>
              </p:cNvSpPr>
              <p:nvPr>
                <p:ph idx="1"/>
              </p:nvPr>
            </p:nvSpPr>
            <p:spPr>
              <a:xfrm>
                <a:off x="838200" y="1088230"/>
                <a:ext cx="10515600" cy="5369719"/>
              </a:xfrm>
              <a:blipFill>
                <a:blip r:embed="rId2"/>
                <a:stretch>
                  <a:fillRect l="-928" t="-1591"/>
                </a:stretch>
              </a:blipFill>
            </p:spPr>
            <p:txBody>
              <a:bodyPr/>
              <a:lstStyle/>
              <a:p>
                <a:r>
                  <a:rPr lang="en-IN">
                    <a:noFill/>
                  </a:rPr>
                  <a:t> </a:t>
                </a:r>
              </a:p>
            </p:txBody>
          </p:sp>
        </mc:Fallback>
      </mc:AlternateContent>
    </p:spTree>
    <p:extLst>
      <p:ext uri="{BB962C8B-B14F-4D97-AF65-F5344CB8AC3E}">
        <p14:creationId xmlns:p14="http://schemas.microsoft.com/office/powerpoint/2010/main" val="4221309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A1CCD-A5A4-A57C-BF04-10A2166F24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4D255-F138-1772-1E07-494094787BC5}"/>
              </a:ext>
            </a:extLst>
          </p:cNvPr>
          <p:cNvSpPr>
            <a:spLocks noGrp="1"/>
          </p:cNvSpPr>
          <p:nvPr>
            <p:ph type="title"/>
          </p:nvPr>
        </p:nvSpPr>
        <p:spPr>
          <a:xfrm>
            <a:off x="838200" y="98425"/>
            <a:ext cx="10515600" cy="911225"/>
          </a:xfrm>
        </p:spPr>
        <p:txBody>
          <a:bodyPr>
            <a:normAutofit/>
          </a:bodyPr>
          <a:lstStyle/>
          <a:p>
            <a:r>
              <a:rPr lang="en-IN" sz="4000" b="1" dirty="0">
                <a:latin typeface="Times New Roman" panose="02020603050405020304" pitchFamily="18" charset="0"/>
                <a:cs typeface="Times New Roman" panose="02020603050405020304" pitchFamily="18" charset="0"/>
              </a:rPr>
              <a:t>Gradient descent algorithm</a:t>
            </a:r>
            <a:endParaRPr lang="en-IN" sz="4000" dirty="0"/>
          </a:p>
        </p:txBody>
      </p:sp>
      <p:sp>
        <p:nvSpPr>
          <p:cNvPr id="3" name="Content Placeholder 2">
            <a:extLst>
              <a:ext uri="{FF2B5EF4-FFF2-40B4-BE49-F238E27FC236}">
                <a16:creationId xmlns:a16="http://schemas.microsoft.com/office/drawing/2014/main" id="{3EEB038F-A351-3477-51AC-A8A15169877F}"/>
              </a:ext>
            </a:extLst>
          </p:cNvPr>
          <p:cNvSpPr>
            <a:spLocks noGrp="1"/>
          </p:cNvSpPr>
          <p:nvPr>
            <p:ph idx="1"/>
          </p:nvPr>
        </p:nvSpPr>
        <p:spPr>
          <a:xfrm>
            <a:off x="838200" y="1181100"/>
            <a:ext cx="10515600" cy="5276849"/>
          </a:xfrm>
        </p:spPr>
        <p:txBody>
          <a:bodyPr>
            <a:normAutofit/>
          </a:bodyPr>
          <a:lstStyle/>
          <a:p>
            <a:pPr algn="just"/>
            <a:r>
              <a:rPr lang="en-IN" sz="2400" dirty="0">
                <a:latin typeface="Times New Roman" panose="02020603050405020304" pitchFamily="18" charset="0"/>
                <a:cs typeface="Times New Roman" panose="02020603050405020304" pitchFamily="18" charset="0"/>
              </a:rPr>
              <a:t>The gradient of the cost function, indicates the direction and magnitude of the steepest ascent. </a:t>
            </a:r>
          </a:p>
          <a:p>
            <a:pPr algn="just"/>
            <a:r>
              <a:rPr lang="en-IN" sz="2400" dirty="0">
                <a:latin typeface="Times New Roman" panose="02020603050405020304" pitchFamily="18" charset="0"/>
                <a:cs typeface="Times New Roman" panose="02020603050405020304" pitchFamily="18" charset="0"/>
              </a:rPr>
              <a:t>However, since the objective is to minimize the cost function, gradient descent moves in the opposite direction of the gradient, known as the negative gradient direction. </a:t>
            </a:r>
            <a:r>
              <a:rPr lang="en-IN" sz="2400" i="1" dirty="0">
                <a:solidFill>
                  <a:schemeClr val="accent1">
                    <a:lumMod val="60000"/>
                    <a:lumOff val="40000"/>
                  </a:schemeClr>
                </a:solidFill>
                <a:latin typeface="Times New Roman" panose="02020603050405020304" pitchFamily="18" charset="0"/>
                <a:cs typeface="Times New Roman" panose="02020603050405020304" pitchFamily="18" charset="0"/>
              </a:rPr>
              <a:t>(Gradient – uphill, negative gradient – downhill)</a:t>
            </a:r>
          </a:p>
          <a:p>
            <a:pPr algn="just"/>
            <a:r>
              <a:rPr lang="en-IN" sz="2400" dirty="0">
                <a:latin typeface="Times New Roman" panose="02020603050405020304" pitchFamily="18" charset="0"/>
                <a:cs typeface="Times New Roman" panose="02020603050405020304" pitchFamily="18" charset="0"/>
              </a:rPr>
              <a:t>The model’s parameters are iteratively updated until the optimal value is found.</a:t>
            </a:r>
          </a:p>
          <a:p>
            <a:pPr algn="just"/>
            <a:r>
              <a:rPr lang="en-IN" sz="2400" dirty="0">
                <a:latin typeface="Times New Roman" panose="02020603050405020304" pitchFamily="18" charset="0"/>
                <a:cs typeface="Times New Roman" panose="02020603050405020304" pitchFamily="18" charset="0"/>
              </a:rPr>
              <a:t>Learning rate (α) controls the step size:</a:t>
            </a:r>
          </a:p>
          <a:p>
            <a:pPr algn="just"/>
            <a:r>
              <a:rPr lang="en-IN" sz="2400" dirty="0">
                <a:latin typeface="Times New Roman" panose="02020603050405020304" pitchFamily="18" charset="0"/>
                <a:cs typeface="Times New Roman" panose="02020603050405020304" pitchFamily="18" charset="0"/>
              </a:rPr>
              <a:t>Small α – slow learning, large α – unstable convergence.</a:t>
            </a:r>
          </a:p>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2732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8CE9-DE44-D0C8-65CE-8D1FE951206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C7DB341-0E59-6FC2-52D2-A031C635FC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8950" y="859620"/>
            <a:ext cx="5514975" cy="5649160"/>
          </a:xfrm>
          <a:prstGeom prst="rect">
            <a:avLst/>
          </a:prstGeom>
        </p:spPr>
      </p:pic>
    </p:spTree>
    <p:extLst>
      <p:ext uri="{BB962C8B-B14F-4D97-AF65-F5344CB8AC3E}">
        <p14:creationId xmlns:p14="http://schemas.microsoft.com/office/powerpoint/2010/main" val="3424366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55D50-6E00-887C-AFDE-54568EF8F4F5}"/>
              </a:ext>
            </a:extLst>
          </p:cNvPr>
          <p:cNvSpPr>
            <a:spLocks noGrp="1"/>
          </p:cNvSpPr>
          <p:nvPr>
            <p:ph type="title"/>
          </p:nvPr>
        </p:nvSpPr>
        <p:spPr/>
        <p:txBody>
          <a:bodyPr/>
          <a:lstStyle/>
          <a:p>
            <a:r>
              <a:rPr lang="en-IN" dirty="0"/>
              <a:t>Links</a:t>
            </a:r>
          </a:p>
        </p:txBody>
      </p:sp>
      <p:sp>
        <p:nvSpPr>
          <p:cNvPr id="3" name="Content Placeholder 2">
            <a:extLst>
              <a:ext uri="{FF2B5EF4-FFF2-40B4-BE49-F238E27FC236}">
                <a16:creationId xmlns:a16="http://schemas.microsoft.com/office/drawing/2014/main" id="{5E7249C3-27EB-B26D-982E-C2ABA54AE50D}"/>
              </a:ext>
            </a:extLst>
          </p:cNvPr>
          <p:cNvSpPr>
            <a:spLocks noGrp="1"/>
          </p:cNvSpPr>
          <p:nvPr>
            <p:ph idx="1"/>
          </p:nvPr>
        </p:nvSpPr>
        <p:spPr/>
        <p:txBody>
          <a:bodyPr/>
          <a:lstStyle/>
          <a:p>
            <a:r>
              <a:rPr lang="en-IN" dirty="0"/>
              <a:t>https://medium.com/@yennhi95zz/4-a-beginners-guide-to-gradient-descent-in-machine-learning-773ba7cd3dfe</a:t>
            </a:r>
          </a:p>
        </p:txBody>
      </p:sp>
    </p:spTree>
    <p:extLst>
      <p:ext uri="{BB962C8B-B14F-4D97-AF65-F5344CB8AC3E}">
        <p14:creationId xmlns:p14="http://schemas.microsoft.com/office/powerpoint/2010/main" val="3633829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TotalTime>
  <Words>336</Words>
  <Application>Microsoft Office PowerPoint</Application>
  <PresentationFormat>Widescreen</PresentationFormat>
  <Paragraphs>33</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Cambria Math</vt:lpstr>
      <vt:lpstr>Times New Roman</vt:lpstr>
      <vt:lpstr>Office Theme</vt:lpstr>
      <vt:lpstr>Gradient Descent Algorithm</vt:lpstr>
      <vt:lpstr>Gradient descent (Basic idea)</vt:lpstr>
      <vt:lpstr>Gradient descent algorithm</vt:lpstr>
      <vt:lpstr>Gradient descent algorithm</vt:lpstr>
      <vt:lpstr>Gradient descent algorithm</vt:lpstr>
      <vt:lpstr>PowerPoint Presentation</vt:lpstr>
      <vt:lpstr>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Dipendra Gurung</dc:creator>
  <cp:lastModifiedBy>Dipendra Gurung</cp:lastModifiedBy>
  <cp:revision>7</cp:revision>
  <dcterms:created xsi:type="dcterms:W3CDTF">2026-02-25T05:27:44Z</dcterms:created>
  <dcterms:modified xsi:type="dcterms:W3CDTF">2026-02-26T06:40:40Z</dcterms:modified>
</cp:coreProperties>
</file>