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B6F86-EB71-39B5-A017-5A1DA75E4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8E97F-0F11-3391-59DB-5EFC9EEB7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4B854-8919-BCA6-3BE1-1BBAF532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FADC8-C8C1-4609-FB3D-AD776B52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6769-BE63-44E8-30C5-4FD8233B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713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1350-A5A6-C0BE-F659-7F791164F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B2B59-5FC6-73FF-C946-24D5FA02C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9DEAA-A6BC-D086-58FB-12A2F473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E9826-DC86-831B-1852-806CA498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F85A9-421B-1CF5-3534-AA95C866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80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194D-2E78-E4A2-2CCE-BFC29B6E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F75AE-ABEB-15C2-A6CE-9E18FC15A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81E00-F0C6-961A-FAFD-459014AA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D591B-6A00-D17A-2264-297F81A8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1C486-8B0A-17C0-86A8-1EA550CA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81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63B1-C6AA-00A2-3D91-16EADE6E2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0C0AA-E1E0-1C01-CE8B-3E3E0A929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14CE-E876-7C6F-56F6-079EAA541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DBADD-DD06-B755-5447-E3120A07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F412D-19F7-50C4-9CEB-8A29A208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C9123-E793-B475-A262-4BEC6D15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40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7F69-C661-867F-11DB-DB6A7114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0F42E-DF42-1F96-B537-DE0BC337D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BF97C-69F5-9558-6629-DF9DC5ECB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32DE34-FE41-14D1-EDF4-B43A862B30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2FB82-7FFA-180D-C866-32FD7F52E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832D83-B989-1E54-CC10-05CCAA59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1D771A-E928-88B4-89CE-5D040168C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0AEBD-3131-89D1-8298-C4655384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33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C1814-FCD4-FA46-D1CB-77536EB5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7AFBC1-0C03-FFF1-59B6-0E4E1755E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A3D0F-6809-8213-04BF-008F6CA2D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F77C3-EF99-3F6E-FA22-4D7FBC41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355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7057DA-0AB9-3880-C0CE-074766EA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61527-44CF-8FC9-244A-526B831E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00CC3-41FD-487F-B780-2731CFAD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92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6712-C669-DE61-17BD-07EE35E9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07567-66C3-8E80-E8F0-CB0F5E9FF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AAA8D-FD0D-A70C-5C6F-F7A5769E2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039FD-7935-A243-BA04-5D13F88BB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BB4F3-7020-6945-EF25-4BFD1920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D7C5E-5B21-58DE-AA98-A8E827A8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70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7C37-D473-6FA0-A814-DB4A5634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19E20E-B36D-E148-7FE6-05DF15423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F8119-44AC-C719-26C6-F52F5CF13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CB583-F9E7-441A-63FE-32CD4813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CB507-919E-DE57-CECB-8459A191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7CBC9-4CD1-D0E1-9EAB-F5A05D24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81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D987-E140-AE0D-FE64-652BDE65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F4145-31F8-DC0F-F285-DEBF27481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21309-28CB-F77A-30CA-7860094B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7C76D-590E-513D-F7A5-CFF321F8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0312C-5F86-C6E7-11BD-0B6D338B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0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B30A7D-A874-A2D3-A1D3-D1AB87182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1533D-F913-58C0-48FE-3B50B537C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F0F5-822C-4641-6843-A2935B2E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5C52A-1FDF-A1DE-56ED-F113EB5B9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7E197-2F93-F191-7624-0D5012E7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78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9A485-C6A1-1F2D-FD85-BC8057E0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04FF0-6C88-111C-09D3-195FE7807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0D2D4-7444-C047-6A31-D218133F9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F3E24-5286-4950-AA30-19A28549865A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2F9AF-ED9E-14ED-EFA9-858479833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09A9E-2128-A09F-623C-93F9AE0BE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CD992-C33D-4FA7-8EB9-034A76F37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53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logistic-regression-in-python-2f965c355b93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8BCF-7E50-933D-0544-EB8BCD7272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2A043-9274-87F3-6162-B7D9E28721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93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AE09-DEEC-A0A3-D64D-DF619825E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99BA4-9780-F9B1-D419-ADB6074B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a supervised machine learning algorithm used for classification problems, most commonly binary classification (e.g., spam vs. not spam, diseased vs. healthy).</a:t>
            </a:r>
          </a:p>
        </p:txBody>
      </p:sp>
    </p:spTree>
    <p:extLst>
      <p:ext uri="{BB962C8B-B14F-4D97-AF65-F5344CB8AC3E}">
        <p14:creationId xmlns:p14="http://schemas.microsoft.com/office/powerpoint/2010/main" val="316625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06AC-7AE6-0985-2CC8-207A05A54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74651"/>
            <a:ext cx="10515600" cy="92075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Model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99B3C-58D1-8244-3B2C-4FC248E221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3900" y="1514475"/>
                <a:ext cx="10820400" cy="49688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Logistic Regression attempts to separate two classes using a linear decision boundary given by </a:t>
                </a:r>
              </a:p>
              <a:p>
                <a:pPr marL="2333625" lvl="2" indent="0" algn="just">
                  <a:buNone/>
                </a:pPr>
                <a:r>
                  <a:rPr lang="en-I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</a:t>
                </a:r>
                <a:r>
                  <a:rPr lang="en-IN" sz="24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IN" sz="2400" b="1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IN" sz="24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b</a:t>
                </a:r>
              </a:p>
              <a:p>
                <a:pPr marL="0" indent="0" algn="just"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Where, w = weight vector, x = feature, b = intercept</a:t>
                </a:r>
              </a:p>
              <a:p>
                <a:pPr algn="just"/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sigmoid function is used to compute probability as</a:t>
                </a:r>
              </a:p>
              <a:p>
                <a:pPr marL="2105025" indent="0" algn="just"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= σ(z)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p>
                        </m:sSup>
                      </m:den>
                    </m:f>
                  </m:oMath>
                </a14:m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Ouput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lies between 0 and 1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-∞, probability approaches 0,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∞, probability approaches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sz="2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99B3C-58D1-8244-3B2C-4FC248E221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3900" y="1514475"/>
                <a:ext cx="10820400" cy="4968874"/>
              </a:xfrm>
              <a:blipFill>
                <a:blip r:embed="rId2"/>
                <a:stretch>
                  <a:fillRect l="-789" t="-1716" r="-8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224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839DC-2EB1-BCE1-4A9E-7906E6B9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2468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S-shaped curve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F39AC6-169B-47F2-E19D-5AFDFEC35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416" y="1811591"/>
            <a:ext cx="7297168" cy="4344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1DD550-C6B4-2671-6358-809D766143F1}"/>
              </a:ext>
            </a:extLst>
          </p:cNvPr>
          <p:cNvSpPr txBox="1"/>
          <p:nvPr/>
        </p:nvSpPr>
        <p:spPr>
          <a:xfrm>
            <a:off x="2590800" y="1442259"/>
            <a:ext cx="128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F6C87-06AE-49D3-FA1D-6637014949E4}"/>
              </a:ext>
            </a:extLst>
          </p:cNvPr>
          <p:cNvSpPr txBox="1"/>
          <p:nvPr/>
        </p:nvSpPr>
        <p:spPr>
          <a:xfrm>
            <a:off x="5553075" y="5970931"/>
            <a:ext cx="128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</a:p>
        </p:txBody>
      </p:sp>
    </p:spTree>
    <p:extLst>
      <p:ext uri="{BB962C8B-B14F-4D97-AF65-F5344CB8AC3E}">
        <p14:creationId xmlns:p14="http://schemas.microsoft.com/office/powerpoint/2010/main" val="3289750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F601B-DBE2-73B7-F6C0-B9C99DDB4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552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Threshold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D269E-AEBD-10BB-D564-A14459235F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1150"/>
                <a:ext cx="10515600" cy="4595813"/>
              </a:xfrm>
            </p:spPr>
            <p:txBody>
              <a:bodyPr/>
              <a:lstStyle/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observation is classified as follows: -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1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i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i="0">
                            <a:latin typeface="Cambria Math" panose="02040503050406030204" pitchFamily="18" charset="0"/>
                          </a:rPr>
                          <m:t>=1∣</m:t>
                        </m:r>
                        <m:r>
                          <m:rPr>
                            <m:sty m:val="p"/>
                          </m:rPr>
                          <a:rPr lang="en-IN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i="0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0 if P(Y = 1∣ X ) &lt; 0.5</a:t>
                </a:r>
              </a:p>
              <a:p>
                <a:pPr lvl="0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boundary between the two classes occurs when: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P(Y = 1 ∣ X ) = 0.5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D269E-AEBD-10BB-D564-A14459235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1150"/>
                <a:ext cx="10515600" cy="4595813"/>
              </a:xfrm>
              <a:blipFill>
                <a:blip r:embed="rId2"/>
                <a:stretch>
                  <a:fillRect l="-1043" t="-2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242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A4DDB-51BE-DC8B-C38B-3FFBA73F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9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72354-1A53-A232-5DAB-131910D73D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5425"/>
                <a:ext cx="10515600" cy="4681538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p>
                        </m:den>
                      </m:f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sz="2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4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I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sup>
                      </m:sSup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I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I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sup>
                      </m:sSup>
                      <m:r>
                        <a:rPr lang="en-IN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95675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Taking log on both sides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0</a:t>
                </a:r>
              </a:p>
              <a:p>
                <a:pPr marL="2552700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670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:r>
                  <a:rPr lang="en-I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</a:t>
                </a:r>
                <a:r>
                  <a:rPr lang="en-I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IN" b="1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I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b</a:t>
                </a:r>
              </a:p>
              <a:p>
                <a:pPr marL="26670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decision boundary is </a:t>
                </a:r>
                <a:r>
                  <a:rPr lang="en-I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IN" b="1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I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b = 0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72354-1A53-A232-5DAB-131910D73D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5425"/>
                <a:ext cx="10515600" cy="4681538"/>
              </a:xfrm>
              <a:blipFill>
                <a:blip r:embed="rId2"/>
                <a:stretch>
                  <a:fillRect b="-1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15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1B29-76C4-615A-A754-127E93D1B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298451"/>
            <a:ext cx="10515600" cy="50165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the coefficients chosen?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0BA684-19F5-6907-74FC-4659CA6F4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5306218"/>
              </a:xfrm>
            </p:spPr>
            <p:txBody>
              <a:bodyPr>
                <a:normAutofit/>
              </a:bodyPr>
              <a:lstStyle/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fit the observed data?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Likelihood Estimation (MLE) can be used to answer this.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one observation: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actual outcome is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assigns probability p.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actual outcome is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assigns probability 1 − p.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above two cases can be represented as P(Y = y) = 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240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(1 − p)</a:t>
                </a:r>
                <a:r>
                  <a:rPr lang="en-I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1−y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independent observations:</a:t>
                </a:r>
              </a:p>
              <a:p>
                <a:pPr marL="0" indent="0">
                  <a:buNone/>
                </a:pPr>
                <a:r>
                  <a:rPr lang="en-IN" sz="2400" dirty="0"/>
                  <a:t>                                     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grow m:val="on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40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called the likelihood function.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0BA684-19F5-6907-74FC-4659CA6F4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5306218"/>
              </a:xfrm>
              <a:blipFill>
                <a:blip r:embed="rId2"/>
                <a:stretch>
                  <a:fillRect l="-812" t="-1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226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3015-A917-ACA1-8397-5D41A92AB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695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Likelihood Estimation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EEDAD-D696-41D7-F19A-FFEB574E5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50"/>
            <a:ext cx="10515600" cy="467201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 chooses coefficient values that maximize L(β). In other words find the coefficients that make the observed data most probable.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17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B25B-13DA-B0ED-B7A8-109176C4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B4AD5-B7FD-8B2D-A63B-EF46943E5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https://towardsdatascience.com/logistic-regression-in-python-2f965c355b93/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292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350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Times New Roman</vt:lpstr>
      <vt:lpstr>Office Theme</vt:lpstr>
      <vt:lpstr>Logistic Regression</vt:lpstr>
      <vt:lpstr>Introduction</vt:lpstr>
      <vt:lpstr>Logistic Regression Model </vt:lpstr>
      <vt:lpstr>S-shaped curve</vt:lpstr>
      <vt:lpstr>Decision Threshold</vt:lpstr>
      <vt:lpstr>Decision Boundary</vt:lpstr>
      <vt:lpstr>How are the coefficients chosen?</vt:lpstr>
      <vt:lpstr>Maximum Likelihood Estimation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Dipendra Gurung</dc:creator>
  <cp:lastModifiedBy>Dipendra Gurung</cp:lastModifiedBy>
  <cp:revision>7</cp:revision>
  <dcterms:created xsi:type="dcterms:W3CDTF">2026-09-14T05:14:28Z</dcterms:created>
  <dcterms:modified xsi:type="dcterms:W3CDTF">2026-09-27T16:39:22Z</dcterms:modified>
</cp:coreProperties>
</file>