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05BC-0BA5-0A38-D6D8-BFCE1BD4E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ED7AE-4B6D-A669-43C2-B9AAA2C6B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52C81-52E2-403D-155F-77E433119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60012-71A3-B701-F81C-26DDE0EE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391B9-369C-CB67-52A6-3A686B43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51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1BF5-3F9E-0E67-9F82-8ACCD456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9C368-7E8B-1524-94A3-7A19682BA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E96B3-5407-D185-874B-1D72F726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6E8C1-2AD8-A730-7A59-73F5130B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B0E1C-A2F7-01B6-45A4-6DA45B68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80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16B6-2E7D-CC58-ACF6-C64AA93D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0D6A5-6B31-C101-A109-1673F3071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5DCD1-CE4A-1F68-D057-47E147D6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9B77F-9DF6-17D9-FDAF-AC0C2D1A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ABB6D-B822-B6D2-21C1-CCFB2C85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6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6D9AE-50CB-853C-2D66-68DE4F90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FF12-750A-3C02-67EC-B1FB64517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6E4D3-1829-8831-6EF2-0B448B5A2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711CB-4BB9-F4D3-4B73-64D34075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BFE1B-42D1-AC02-1399-39FDB60E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CC5DF-4A51-D03D-4CE6-96BD4922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1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818AE-2DF2-DE4B-1C0B-27138E6B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B6D24-8CD9-BFC2-1F2A-175EF89D2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BC8E3-B078-FA80-DD0C-47D1E227C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1B9CE-C12A-254B-A64B-EA8404EEE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D0BEC-DBEC-27A2-FC32-4D8E34A73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8A62F-5D97-3710-2529-78F3AE51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0B77E3-C253-40F2-9D19-463A7F54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42545-9E13-5CEF-A7EA-453F05F01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1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AD4D-3104-4EB8-C86A-1B5B8C2F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AC8AF-DD39-5A4D-A252-B0BCD93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55060-07F0-CFAE-366B-A0D6FF4A4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C256D-1D0B-759A-83FB-0256C00F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44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77B00-A3DA-A4B8-E039-C5CD297C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B417-4A9E-DE11-CCFF-3124CB9F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F9337-4745-93CE-6357-D03AA616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4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A2CE-45C2-2F4A-307A-3BA6B53FE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D91F6-4F50-2464-3096-1DAE6969F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5591C-1450-6826-8649-C61E49C9E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0C640-E3F7-0423-404D-B6387A09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5302E-C6D2-2AB7-E9AD-29F5D665A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D2706-71D7-4217-D032-74AF2805A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8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0F35-EA0F-203A-B560-821FB2301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02829-9196-8B36-683E-C2A96D1EA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05652-C7AF-C708-EE80-AC9009F53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318AF-B43B-84DA-2A44-9CBEED18E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B7A43-C624-1929-C804-01D0F196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67F79-CE04-45C6-6D02-180CBD29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14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ED19-6BDA-797D-ABDF-308305CD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D79D9-2228-48FC-AE51-DDC48E653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B6F59-D0F9-BB29-89B9-9C29588C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E9B5-87E4-3829-813A-C0A2BF3B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E4C3D-2538-1143-AE2E-C57C6A28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96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BA581-5DC1-1438-E8A7-4E95EF5CC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D45A4-18EB-652D-CA73-268F83DA2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5E61E-0303-8104-50DD-3AD2D5A2A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5E169-38F0-15F1-813B-BEE833BC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BC99-E84E-5F3D-85CF-23AC8E79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65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E0D52-F25F-BD8E-2530-AAA92363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B65A7-B149-73D7-FF2E-16863A8DC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E42B8-4116-7DF4-1086-4B7003DC9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8B6F5-965F-4CC4-B68A-B43BCA684C81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CC891-9413-0167-D605-2EA10A480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9C267-35D4-79AF-1F14-AD3E9FCE4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72B06-483B-4072-99B8-786F2AEBA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42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DE09D-1A56-B705-2647-850D09695D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Recurrent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BE493-735A-7DEC-3BCB-43686BBA3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69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E5272-0889-D8DE-3E80-7AED1579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45D7C-4D83-0494-8C28-84D70532D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(RNNs) are a type of artificial neural network specifically designed to handle sequential data.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data has a specific order, each piece of data in the sequence is related to the ones before and after it.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order provides context and meaning to the data as a whole.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sentences, speech, time series data</a:t>
            </a:r>
          </a:p>
          <a:p>
            <a:pPr algn="just"/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quick brown fox jumps over the lazy dog.”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(order of the word matters here)</a:t>
            </a:r>
          </a:p>
          <a:p>
            <a:pPr algn="just"/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“Fox brown quick the jumps over lazy dog” </a:t>
            </a:r>
            <a:r>
              <a:rPr lang="en-I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(meaning is lost when order of the words are not maintained)</a:t>
            </a:r>
          </a:p>
        </p:txBody>
      </p:sp>
    </p:spTree>
    <p:extLst>
      <p:ext uri="{BB962C8B-B14F-4D97-AF65-F5344CB8AC3E}">
        <p14:creationId xmlns:p14="http://schemas.microsoft.com/office/powerpoint/2010/main" val="228120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39B0-16EA-89D4-9908-77DEB0B9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F18B-40D3-5DB7-0168-0D2C2120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437"/>
            <a:ext cx="10515600" cy="7112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55F84-E9E2-0BB3-B87D-79BAA95BE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58160"/>
            <a:ext cx="10515600" cy="919163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neural networks where each input is independent, RNNs can access and process information from previous inputs.</a:t>
            </a:r>
            <a:endParaRPr lang="en-IN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6029C-D38F-5F2B-5381-AEEB06CF4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4" y="1211316"/>
            <a:ext cx="8411269" cy="377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7C346-F0F1-C573-C136-FEEDE3B1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7370-5E73-6085-3FE3-52F5EE94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437"/>
            <a:ext cx="10515600" cy="711200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-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CFDE6-80FD-94B3-A244-E96F1C0B9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4450"/>
            <a:ext cx="10515600" cy="5262873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to many</a:t>
            </a:r>
          </a:p>
          <a:p>
            <a:pPr lvl="1"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input, sequence of outputs</a:t>
            </a:r>
          </a:p>
          <a:p>
            <a:pPr lvl="1"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image captioning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to one</a:t>
            </a:r>
          </a:p>
          <a:p>
            <a:pPr lvl="1"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inputs, single output</a:t>
            </a:r>
          </a:p>
          <a:p>
            <a:pPr lvl="1"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sentiment analysis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to many</a:t>
            </a:r>
          </a:p>
          <a:p>
            <a:pPr lvl="1"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inputs, sequence of outputs</a:t>
            </a:r>
          </a:p>
          <a:p>
            <a:pPr lvl="1" algn="just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machine translation, text summarization </a:t>
            </a:r>
          </a:p>
          <a:p>
            <a:pPr algn="just"/>
            <a:endParaRPr lang="en-IN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32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17A2-3672-7C9F-DFE7-A677EE12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processing in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E103-DB73-ECA7-ACE5-6EEEE9E37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391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processing is the core idea in RNN.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element is processed at a time, the order is maintained.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“I love AI”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C78667-65B3-6DB6-C1ED-0CFF82407946}"/>
              </a:ext>
            </a:extLst>
          </p:cNvPr>
          <p:cNvGraphicFramePr>
            <a:graphicFrameLocks noGrp="1"/>
          </p:cNvGraphicFramePr>
          <p:nvPr/>
        </p:nvGraphicFramePr>
        <p:xfrm>
          <a:off x="2638425" y="3326924"/>
          <a:ext cx="5162550" cy="1584960"/>
        </p:xfrm>
        <a:graphic>
          <a:graphicData uri="http://schemas.openxmlformats.org/drawingml/2006/table">
            <a:tbl>
              <a:tblPr/>
              <a:tblGrid>
                <a:gridCol w="1038225">
                  <a:extLst>
                    <a:ext uri="{9D8B030D-6E8A-4147-A177-3AD203B41FA5}">
                      <a16:colId xmlns:a16="http://schemas.microsoft.com/office/drawing/2014/main" val="28667724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1221397485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615440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1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remembers "I"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78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remembers "I love"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334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remembers full sentence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041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23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E573-8389-D12E-3670-91D01A22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in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2405-A83B-96DA-DDD5-C8D6534E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471011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maintained by the hidden state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is the output of the hidden layer at time 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step:</a:t>
            </a:r>
          </a:p>
          <a:p>
            <a:pPr marL="2286000" indent="0">
              <a:buNone/>
            </a:pP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f(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Wx</a:t>
            </a:r>
            <a:r>
              <a:rPr lang="en-I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Uh</a:t>
            </a:r>
            <a:r>
              <a:rPr lang="en-I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t-1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61925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t-1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previous memory</a:t>
            </a:r>
          </a:p>
          <a:p>
            <a:pPr marL="161925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updated memory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hidden state carries past information, which is updated with new input.</a:t>
            </a:r>
          </a:p>
        </p:txBody>
      </p:sp>
    </p:spTree>
    <p:extLst>
      <p:ext uri="{BB962C8B-B14F-4D97-AF65-F5344CB8AC3E}">
        <p14:creationId xmlns:p14="http://schemas.microsoft.com/office/powerpoint/2010/main" val="345888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C516-61F6-C1F0-0681-94777DC4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RNN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995357-7874-33E8-D88E-6C9324EF0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486745"/>
              </p:ext>
            </p:extLst>
          </p:nvPr>
        </p:nvGraphicFramePr>
        <p:xfrm>
          <a:off x="1143000" y="1780381"/>
          <a:ext cx="3609975" cy="2651760"/>
        </p:xfrm>
        <a:graphic>
          <a:graphicData uri="http://schemas.openxmlformats.org/drawingml/2006/table">
            <a:tbl>
              <a:tblPr/>
              <a:tblGrid>
                <a:gridCol w="2295525">
                  <a:extLst>
                    <a:ext uri="{9D8B030D-6E8A-4147-A177-3AD203B41FA5}">
                      <a16:colId xmlns:a16="http://schemas.microsoft.com/office/drawing/2014/main" val="395812444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24697945"/>
                    </a:ext>
                  </a:extLst>
                </a:gridCol>
              </a:tblGrid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194031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movie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487031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movie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296228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nice movie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03261"/>
                  </a:ext>
                </a:extLst>
              </a:tr>
              <a:tr h="359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 boring movie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7659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B0D9C8-D822-94B9-86C0-AC60B4BB2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950172"/>
              </p:ext>
            </p:extLst>
          </p:nvPr>
        </p:nvGraphicFramePr>
        <p:xfrm>
          <a:off x="7353300" y="1866345"/>
          <a:ext cx="274320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177747130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538417504"/>
                    </a:ext>
                  </a:extLst>
                </a:gridCol>
              </a:tblGrid>
              <a:tr h="3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466488"/>
                  </a:ext>
                </a:extLst>
              </a:tr>
              <a:tr h="3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101243"/>
                  </a:ext>
                </a:extLst>
              </a:tr>
              <a:tr h="3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50525"/>
                  </a:ext>
                </a:extLst>
              </a:tr>
              <a:tr h="3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301930"/>
                  </a:ext>
                </a:extLst>
              </a:tr>
              <a:tr h="3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238964"/>
                  </a:ext>
                </a:extLst>
              </a:tr>
              <a:tr h="384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0440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1B182A-3038-8E46-EB1F-16F0F821C5A2}"/>
              </a:ext>
            </a:extLst>
          </p:cNvPr>
          <p:cNvSpPr txBox="1"/>
          <p:nvPr/>
        </p:nvSpPr>
        <p:spPr>
          <a:xfrm>
            <a:off x="2228850" y="4609545"/>
            <a:ext cx="112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71757-8DBB-043F-A006-8FC53AFA6A48}"/>
              </a:ext>
            </a:extLst>
          </p:cNvPr>
          <p:cNvSpPr txBox="1"/>
          <p:nvPr/>
        </p:nvSpPr>
        <p:spPr>
          <a:xfrm>
            <a:off x="7562850" y="479421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Word encoding</a:t>
            </a:r>
          </a:p>
        </p:txBody>
      </p:sp>
    </p:spTree>
    <p:extLst>
      <p:ext uri="{BB962C8B-B14F-4D97-AF65-F5344CB8AC3E}">
        <p14:creationId xmlns:p14="http://schemas.microsoft.com/office/powerpoint/2010/main" val="1484597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CEF5-A1F3-525F-D5D8-B8253605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36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3C133-C995-4F00-3260-3471A6A60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RNN setup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 = 1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 = 0.5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= identity (no transformation is applied on the output)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3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06E4-DD30-5763-CB35-39DCB8C6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B6E8-8CC8-F0D4-AFA9-4A66F17B3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49224"/>
            <a:ext cx="10515600" cy="106362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EBD821-D647-A84F-2144-2AFD9A482A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8750"/>
                <a:ext cx="5172075" cy="474821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“good nice movie” (Positive)</a:t>
                </a:r>
              </a:p>
              <a:p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1, x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 0.8, x</a:t>
                </a:r>
                <a:r>
                  <a:rPr lang="en-IN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 0.5</a:t>
                </a:r>
              </a:p>
              <a:p>
                <a:pPr marL="0" indent="0">
                  <a:buNone/>
                </a:pPr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t₁: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h</m:t>
                        </m:r>
                      </m:e>
                      <m:sub>
                        <m:r>
                          <a:rPr lang="ar-AE" sz="2400"/>
                          <m:t>1</m:t>
                        </m:r>
                      </m:sub>
                    </m:sSub>
                    <m:r>
                      <a:rPr lang="ar-AE" sz="2400"/>
                      <m:t>=</m:t>
                    </m:r>
                    <m:r>
                      <a:rPr lang="ar-AE" sz="2400"/>
                      <m:t>1</m:t>
                    </m:r>
                    <m:r>
                      <a:rPr lang="ar-AE" sz="2400"/>
                      <m:t>+</m:t>
                    </m:r>
                    <m:r>
                      <a:rPr lang="ar-AE" sz="2400"/>
                      <m:t>0</m:t>
                    </m:r>
                    <m:r>
                      <a:rPr lang="ar-AE" sz="2400"/>
                      <m:t>=</m:t>
                    </m:r>
                    <m:r>
                      <a:rPr lang="ar-AE" sz="2400"/>
                      <m:t>1</m:t>
                    </m:r>
                  </m:oMath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t₂: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h</m:t>
                        </m:r>
                      </m:e>
                      <m:sub>
                        <m:r>
                          <a:rPr lang="ar-AE" sz="2400"/>
                          <m:t>2</m:t>
                        </m:r>
                      </m:sub>
                    </m:sSub>
                    <m:r>
                      <a:rPr lang="ar-AE" sz="2400"/>
                      <m:t>=</m:t>
                    </m:r>
                    <m:r>
                      <a:rPr lang="ar-AE" sz="2400"/>
                      <m:t>0</m:t>
                    </m:r>
                    <m:r>
                      <a:rPr lang="ar-AE" sz="2400"/>
                      <m:t>.</m:t>
                    </m:r>
                    <m:r>
                      <a:rPr lang="ar-AE" sz="2400"/>
                      <m:t>8</m:t>
                    </m:r>
                    <m:r>
                      <a:rPr lang="ar-AE" sz="2400"/>
                      <m:t>+</m:t>
                    </m:r>
                    <m:r>
                      <a:rPr lang="ar-AE" sz="2400"/>
                      <m:t>0</m:t>
                    </m:r>
                    <m:r>
                      <a:rPr lang="ar-AE" sz="2400"/>
                      <m:t>.</m:t>
                    </m:r>
                    <m:r>
                      <a:rPr lang="ar-AE" sz="2400"/>
                      <m:t>5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/>
                          <m:t>1</m:t>
                        </m:r>
                      </m:e>
                    </m:d>
                    <m:r>
                      <a:rPr lang="ar-AE" sz="2400"/>
                      <m:t>=</m:t>
                    </m:r>
                    <m:r>
                      <a:rPr lang="ar-AE" sz="2400"/>
                      <m:t>1</m:t>
                    </m:r>
                    <m:r>
                      <a:rPr lang="ar-AE" sz="2400"/>
                      <m:t>.</m:t>
                    </m:r>
                    <m:r>
                      <a:rPr lang="ar-AE" sz="2400"/>
                      <m:t>3</m:t>
                    </m:r>
                  </m:oMath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t₃: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/>
                        </m:ctrlPr>
                      </m:sSubPr>
                      <m:e>
                        <m:r>
                          <a:rPr lang="ar-AE" sz="2400" i="1"/>
                          <m:t>h</m:t>
                        </m:r>
                      </m:e>
                      <m:sub>
                        <m:r>
                          <a:rPr lang="ar-AE" sz="2400"/>
                          <m:t>3</m:t>
                        </m:r>
                      </m:sub>
                    </m:sSub>
                    <m:r>
                      <a:rPr lang="ar-AE" sz="2400"/>
                      <m:t>=</m:t>
                    </m:r>
                    <m:r>
                      <a:rPr lang="ar-AE" sz="2400"/>
                      <m:t>0</m:t>
                    </m:r>
                    <m:r>
                      <a:rPr lang="ar-AE" sz="2400"/>
                      <m:t>.</m:t>
                    </m:r>
                    <m:r>
                      <a:rPr lang="ar-AE" sz="2400"/>
                      <m:t>5</m:t>
                    </m:r>
                    <m:r>
                      <a:rPr lang="ar-AE" sz="2400"/>
                      <m:t>+</m:t>
                    </m:r>
                    <m:r>
                      <a:rPr lang="ar-AE" sz="2400"/>
                      <m:t>0</m:t>
                    </m:r>
                    <m:r>
                      <a:rPr lang="ar-AE" sz="2400"/>
                      <m:t>.</m:t>
                    </m:r>
                    <m:r>
                      <a:rPr lang="ar-AE" sz="2400"/>
                      <m:t>5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/>
                          <m:t>1</m:t>
                        </m:r>
                        <m:r>
                          <a:rPr lang="ar-AE" sz="2400"/>
                          <m:t>.</m:t>
                        </m:r>
                        <m:r>
                          <a:rPr lang="ar-AE" sz="2400"/>
                          <m:t>3</m:t>
                        </m:r>
                      </m:e>
                    </m:d>
                    <m:r>
                      <a:rPr lang="ar-AE" sz="2400"/>
                      <m:t>=</m:t>
                    </m:r>
                    <m:r>
                      <a:rPr lang="ar-AE" sz="2400"/>
                      <m:t>1</m:t>
                    </m:r>
                    <m:r>
                      <a:rPr lang="ar-AE" sz="2400"/>
                      <m:t>.</m:t>
                    </m:r>
                    <m:r>
                      <a:rPr lang="ar-AE" sz="2400"/>
                      <m:t>15</m:t>
                    </m:r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dirty="0"/>
                  <a:t>y^​=</a:t>
                </a:r>
                <a:r>
                  <a:rPr lang="el-GR" sz="2400" dirty="0"/>
                  <a:t>σ(1.15)≈0.76</a:t>
                </a:r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EBD821-D647-A84F-2144-2AFD9A482A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8750"/>
                <a:ext cx="5172075" cy="4748213"/>
              </a:xfrm>
              <a:blipFill>
                <a:blip r:embed="rId2"/>
                <a:stretch>
                  <a:fillRect l="-1415" t="-2182" b="-7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34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FEF8-4740-4EF4-7DBA-516B45EC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19F1-D3B9-2E64-2BB4-003F1A3D5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hlinkClick r:id="rId2"/>
              </a:rPr>
              <a:t>https://www.youtube.com/watch?v=aircAruvnKk&amp;list=PLZHQObOWTQDNU6R1_67000Dx_ZCJB-3pi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1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466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Recurrent Neural Networks</vt:lpstr>
      <vt:lpstr>Recurrent neural networks</vt:lpstr>
      <vt:lpstr>Recurrent neural networks</vt:lpstr>
      <vt:lpstr>Recurrent neural networks - Types</vt:lpstr>
      <vt:lpstr>Sequential processing in RNN</vt:lpstr>
      <vt:lpstr>Memory in RNN</vt:lpstr>
      <vt:lpstr>RNN example</vt:lpstr>
      <vt:lpstr>RNN Example</vt:lpstr>
      <vt:lpstr>RNN Example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4</cp:revision>
  <dcterms:created xsi:type="dcterms:W3CDTF">2026-04-13T03:57:01Z</dcterms:created>
  <dcterms:modified xsi:type="dcterms:W3CDTF">2026-04-13T04:19:53Z</dcterms:modified>
</cp:coreProperties>
</file>