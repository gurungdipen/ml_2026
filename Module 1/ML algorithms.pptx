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85" r:id="rId5"/>
    <p:sldId id="286" r:id="rId6"/>
    <p:sldId id="259" r:id="rId7"/>
    <p:sldId id="287" r:id="rId8"/>
    <p:sldId id="261" r:id="rId9"/>
    <p:sldId id="262" r:id="rId10"/>
    <p:sldId id="290" r:id="rId11"/>
    <p:sldId id="288" r:id="rId12"/>
    <p:sldId id="289" r:id="rId13"/>
    <p:sldId id="297" r:id="rId14"/>
    <p:sldId id="298" r:id="rId15"/>
    <p:sldId id="299" r:id="rId16"/>
    <p:sldId id="300" r:id="rId17"/>
    <p:sldId id="301" r:id="rId18"/>
    <p:sldId id="302" r:id="rId19"/>
    <p:sldId id="303" r:id="rId20"/>
    <p:sldId id="304" r:id="rId21"/>
    <p:sldId id="305" r:id="rId22"/>
    <p:sldId id="306" r:id="rId23"/>
    <p:sldId id="307" r:id="rId24"/>
    <p:sldId id="294" r:id="rId25"/>
    <p:sldId id="295" r:id="rId26"/>
    <p:sldId id="263" r:id="rId27"/>
    <p:sldId id="264" r:id="rId28"/>
    <p:sldId id="265" r:id="rId29"/>
    <p:sldId id="266" r:id="rId30"/>
    <p:sldId id="267" r:id="rId31"/>
    <p:sldId id="268" r:id="rId32"/>
    <p:sldId id="269" r:id="rId33"/>
    <p:sldId id="270" r:id="rId34"/>
    <p:sldId id="271" r:id="rId35"/>
    <p:sldId id="272" r:id="rId36"/>
    <p:sldId id="273" r:id="rId37"/>
    <p:sldId id="274" r:id="rId38"/>
    <p:sldId id="275" r:id="rId39"/>
    <p:sldId id="276" r:id="rId40"/>
    <p:sldId id="277" r:id="rId41"/>
    <p:sldId id="278" r:id="rId42"/>
    <p:sldId id="315" r:id="rId43"/>
    <p:sldId id="316" r:id="rId44"/>
    <p:sldId id="317" r:id="rId45"/>
    <p:sldId id="318" r:id="rId46"/>
    <p:sldId id="319" r:id="rId47"/>
    <p:sldId id="320" r:id="rId48"/>
    <p:sldId id="321" r:id="rId49"/>
    <p:sldId id="322" r:id="rId50"/>
    <p:sldId id="323" r:id="rId51"/>
    <p:sldId id="324" r:id="rId52"/>
    <p:sldId id="325" r:id="rId53"/>
    <p:sldId id="260" r:id="rId54"/>
    <p:sldId id="326" r:id="rId55"/>
    <p:sldId id="327" r:id="rId56"/>
    <p:sldId id="328" r:id="rId57"/>
    <p:sldId id="329" r:id="rId58"/>
    <p:sldId id="330" r:id="rId59"/>
    <p:sldId id="279" r:id="rId60"/>
    <p:sldId id="280" r:id="rId61"/>
    <p:sldId id="281" r:id="rId62"/>
    <p:sldId id="282" r:id="rId63"/>
    <p:sldId id="283" r:id="rId64"/>
    <p:sldId id="284" r:id="rId65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7" d="100"/>
          <a:sy n="67" d="100"/>
        </p:scale>
        <p:origin x="548" y="4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1A790-592C-13B6-7B79-9C3D749282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F60836-0786-71B2-27D4-DCE84B3090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CC0CBD-192A-DC7C-DC11-0601BCF69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085E38-EC59-4C34-ADD3-CD7C771A9C25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6555F8-3F31-310D-EF97-F1DD4AE1E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4A3912-97D1-E161-44B7-39310A6F9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2952D-D885-4C31-89D6-1CE98A3EC1C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6352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01192" y="278638"/>
            <a:ext cx="11189614" cy="121627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939" y="1271778"/>
            <a:ext cx="10358120" cy="36607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image" Target="../media/image13.png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5" Type="http://schemas.openxmlformats.org/officeDocument/2006/relationships/image" Target="../media/image2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Relationship Id="rId14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owI7zxCqNY0&amp;ab_channel=dataminingincae" TargetMode="External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jp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jpg"/><Relationship Id="rId7" Type="http://schemas.openxmlformats.org/officeDocument/2006/relationships/image" Target="../media/image43.jpg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jpg"/><Relationship Id="rId9" Type="http://schemas.openxmlformats.org/officeDocument/2006/relationships/image" Target="../media/image35.jp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g"/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g"/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437257" y="1656079"/>
            <a:ext cx="7315834" cy="1784463"/>
          </a:xfrm>
          <a:prstGeom prst="rect">
            <a:avLst/>
          </a:prstGeom>
        </p:spPr>
        <p:txBody>
          <a:bodyPr vert="horz" wrap="square" lIns="0" tIns="116205" rIns="0" bIns="0" rtlCol="0">
            <a:spAutoFit/>
          </a:bodyPr>
          <a:lstStyle/>
          <a:p>
            <a:pPr marL="2347595" marR="5080" indent="-2335530">
              <a:lnSpc>
                <a:spcPts val="6480"/>
              </a:lnSpc>
              <a:spcBef>
                <a:spcPts val="915"/>
              </a:spcBef>
            </a:pPr>
            <a:r>
              <a:rPr sz="6000" spc="-3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r>
              <a:rPr sz="6000" spc="-60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6000" spc="-3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sz="6000" spc="-6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6000" spc="-1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</a:t>
            </a:r>
            <a:r>
              <a:rPr sz="6000" spc="-3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endParaRPr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61137" rIns="0" bIns="0" rtlCol="0">
            <a:spAutoFit/>
          </a:bodyPr>
          <a:lstStyle/>
          <a:p>
            <a:pPr marL="427990">
              <a:lnSpc>
                <a:spcPct val="100000"/>
              </a:lnSpc>
              <a:spcBef>
                <a:spcPts val="105"/>
              </a:spcBef>
            </a:pPr>
            <a:r>
              <a:rPr spc="-10" dirty="0"/>
              <a:t>Introduction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39" y="2256790"/>
            <a:ext cx="10661015" cy="2258060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240029" marR="5080" indent="-227965" algn="just">
              <a:lnSpc>
                <a:spcPts val="2590"/>
              </a:lnSpc>
              <a:spcBef>
                <a:spcPts val="425"/>
              </a:spcBef>
              <a:buFont typeface="Arial MT"/>
              <a:buChar char="•"/>
              <a:tabLst>
                <a:tab pos="241300" algn="l"/>
              </a:tabLst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r>
              <a:rPr sz="2400" spc="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r>
              <a:rPr sz="2400" spc="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</a:t>
            </a:r>
            <a:r>
              <a:rPr sz="2400" spc="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</a:t>
            </a:r>
            <a:r>
              <a:rPr sz="2400" spc="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z="2400" spc="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programs</a:t>
            </a:r>
            <a:r>
              <a:rPr sz="2400" spc="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</a:t>
            </a:r>
            <a:r>
              <a:rPr sz="2400" spc="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</a:t>
            </a:r>
            <a:r>
              <a:rPr sz="2400" spc="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</a:t>
            </a:r>
            <a:r>
              <a:rPr sz="2400" spc="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sz="2400" spc="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recognize 	</a:t>
            </a:r>
            <a:r>
              <a:rPr sz="24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patterns</a:t>
            </a:r>
            <a:r>
              <a:rPr sz="2400" spc="-2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r>
              <a:rPr sz="2400" spc="-2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sz="2400" spc="-19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sz="2400" spc="-2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make</a:t>
            </a:r>
            <a:r>
              <a:rPr sz="2400" spc="-204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predictions.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81965" marR="9525" lvl="1" indent="-228600" algn="just">
              <a:lnSpc>
                <a:spcPts val="2380"/>
              </a:lnSpc>
              <a:spcBef>
                <a:spcPts val="114"/>
              </a:spcBef>
              <a:buFont typeface="Arial MT"/>
              <a:buChar char="•"/>
              <a:tabLst>
                <a:tab pos="481965" algn="l"/>
              </a:tabLst>
            </a:pP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r>
              <a:rPr sz="2400" i="1" spc="6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spc="-3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r>
              <a:rPr sz="2400" i="1" spc="8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sz="2400" i="1" spc="6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sz="2400" i="1" spc="5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r>
              <a:rPr sz="2400" i="1" spc="6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2400" i="1" spc="6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spc="-9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artificial</a:t>
            </a:r>
            <a:r>
              <a:rPr sz="2400" i="1" spc="8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spc="-5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intelligence</a:t>
            </a:r>
            <a:r>
              <a:rPr sz="2400" i="1" spc="6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spc="-3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(AI)</a:t>
            </a:r>
            <a:r>
              <a:rPr sz="2400" i="1" spc="7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spc="-6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that</a:t>
            </a:r>
            <a:r>
              <a:rPr sz="2400" i="1" spc="6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focuses</a:t>
            </a:r>
            <a:r>
              <a:rPr sz="2400" i="1" spc="7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r>
              <a:rPr sz="2400" i="1" spc="6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spc="-1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building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sz="2400" i="1" spc="19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that</a:t>
            </a:r>
            <a:r>
              <a:rPr sz="2400" i="1" spc="18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learn</a:t>
            </a:r>
            <a:r>
              <a:rPr sz="2400" i="1" spc="19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sz="2400" i="1" spc="20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sz="2400" i="1" spc="19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sz="2400" i="1" spc="21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make</a:t>
            </a:r>
            <a:r>
              <a:rPr sz="2400" i="1" spc="20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decisions</a:t>
            </a:r>
            <a:r>
              <a:rPr sz="2400" i="1" spc="20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sz="2400" i="1" spc="19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predictions</a:t>
            </a:r>
            <a:r>
              <a:rPr sz="2400" i="1" spc="20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spc="-3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without</a:t>
            </a:r>
            <a:r>
              <a:rPr sz="2400" i="1" spc="20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spc="-1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being </a:t>
            </a:r>
            <a:r>
              <a:rPr sz="2400" i="1" spc="-10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explicitly</a:t>
            </a:r>
            <a:r>
              <a:rPr sz="2400" i="1" spc="-12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spc="-5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programmed</a:t>
            </a:r>
            <a:r>
              <a:rPr sz="2400" i="1" spc="-13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spc="-15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sz="2400" i="1" spc="-16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spc="-10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every</a:t>
            </a:r>
            <a:r>
              <a:rPr sz="2400" i="1" spc="-13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spc="-1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task.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81330" lvl="1" indent="-227965" algn="just">
              <a:lnSpc>
                <a:spcPts val="2310"/>
              </a:lnSpc>
              <a:buFont typeface="Arial MT"/>
              <a:buChar char="•"/>
              <a:tabLst>
                <a:tab pos="481330" algn="l"/>
              </a:tabLst>
            </a:pP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Instead</a:t>
            </a:r>
            <a:r>
              <a:rPr sz="2400" i="1" spc="21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2400" i="1" spc="23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spc="-8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writing</a:t>
            </a:r>
            <a:r>
              <a:rPr sz="2400" i="1" spc="22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specific</a:t>
            </a:r>
            <a:r>
              <a:rPr sz="2400" i="1" spc="21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rules</a:t>
            </a:r>
            <a:r>
              <a:rPr sz="2400" i="1" spc="21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</a:t>
            </a:r>
            <a:r>
              <a:rPr sz="2400" i="1" spc="22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spc="-2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algorithms</a:t>
            </a:r>
            <a:r>
              <a:rPr sz="2400" i="1" spc="22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spc="-2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sz="2400" i="1" spc="21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spc="-1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every</a:t>
            </a:r>
            <a:r>
              <a:rPr sz="2400" i="1" spc="22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task,</a:t>
            </a:r>
            <a:r>
              <a:rPr sz="2400" i="1" spc="22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r>
              <a:rPr sz="2400" i="1" spc="21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spc="-1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81965" algn="just">
              <a:lnSpc>
                <a:spcPts val="2510"/>
              </a:lnSpc>
            </a:pP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models</a:t>
            </a:r>
            <a:r>
              <a:rPr sz="2400" i="1" spc="-16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spc="-8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</a:t>
            </a:r>
            <a:r>
              <a:rPr sz="2400" i="1" spc="-14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spc="-10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trained</a:t>
            </a:r>
            <a:r>
              <a:rPr sz="2400" i="1" spc="-14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r>
              <a:rPr sz="2400" i="1" spc="-15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spc="-6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sz="2400" i="1" spc="-15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sz="2400" i="1" spc="-14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spc="-7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improve</a:t>
            </a:r>
            <a:r>
              <a:rPr sz="2400" i="1" spc="-14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spc="-13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their</a:t>
            </a:r>
            <a:r>
              <a:rPr sz="2400" i="1" spc="-14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spc="-5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performance</a:t>
            </a:r>
            <a:r>
              <a:rPr sz="2400" i="1" spc="-14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based</a:t>
            </a:r>
            <a:r>
              <a:rPr sz="2400" i="1" spc="-14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r>
              <a:rPr sz="2400" i="1" spc="-165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400" i="1" spc="-10" dirty="0">
                <a:solidFill>
                  <a:srgbClr val="155F8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experience.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66927" y="461009"/>
            <a:ext cx="548703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Machine</a:t>
            </a:r>
            <a:r>
              <a:rPr spc="-25" dirty="0"/>
              <a:t> </a:t>
            </a:r>
            <a:r>
              <a:rPr dirty="0"/>
              <a:t>Learning</a:t>
            </a:r>
            <a:r>
              <a:rPr spc="-25" dirty="0"/>
              <a:t> </a:t>
            </a:r>
            <a:r>
              <a:rPr spc="-20" dirty="0"/>
              <a:t>(ML)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66927" y="1431163"/>
            <a:ext cx="10358755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5444490" algn="l"/>
              </a:tabLst>
            </a:pPr>
            <a:r>
              <a:rPr sz="2400" spc="-80" dirty="0">
                <a:solidFill>
                  <a:srgbClr val="3366CC"/>
                </a:solidFill>
                <a:latin typeface="Times New Roman"/>
                <a:cs typeface="Times New Roman"/>
              </a:rPr>
              <a:t>“A</a:t>
            </a:r>
            <a:r>
              <a:rPr sz="2400" spc="-90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computer</a:t>
            </a:r>
            <a:r>
              <a:rPr sz="2400" spc="60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program</a:t>
            </a:r>
            <a:r>
              <a:rPr sz="2400" spc="60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is</a:t>
            </a:r>
            <a:r>
              <a:rPr sz="2400" spc="100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said</a:t>
            </a:r>
            <a:r>
              <a:rPr sz="2400" spc="100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to</a:t>
            </a:r>
            <a:r>
              <a:rPr sz="2400" spc="80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learn</a:t>
            </a:r>
            <a:r>
              <a:rPr sz="2400" spc="95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spc="-20" dirty="0">
                <a:solidFill>
                  <a:srgbClr val="3366CC"/>
                </a:solidFill>
                <a:latin typeface="Times New Roman"/>
                <a:cs typeface="Times New Roman"/>
              </a:rPr>
              <a:t>from</a:t>
            </a: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	experience</a:t>
            </a:r>
            <a:r>
              <a:rPr sz="2400" spc="60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(E)</a:t>
            </a:r>
            <a:r>
              <a:rPr sz="2400" spc="110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with</a:t>
            </a:r>
            <a:r>
              <a:rPr sz="2400" spc="110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some</a:t>
            </a:r>
            <a:r>
              <a:rPr sz="2400" spc="90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class</a:t>
            </a:r>
            <a:r>
              <a:rPr sz="2400" spc="110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of</a:t>
            </a:r>
            <a:r>
              <a:rPr sz="2400" spc="90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spc="-10" dirty="0">
                <a:solidFill>
                  <a:srgbClr val="3366CC"/>
                </a:solidFill>
                <a:latin typeface="Times New Roman"/>
                <a:cs typeface="Times New Roman"/>
              </a:rPr>
              <a:t>tasks</a:t>
            </a:r>
            <a:endParaRPr sz="2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tabLst>
                <a:tab pos="1278890" algn="l"/>
                <a:tab pos="7665084" algn="l"/>
              </a:tabLst>
            </a:pP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(T)</a:t>
            </a:r>
            <a:r>
              <a:rPr sz="2400" spc="-25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and</a:t>
            </a:r>
            <a:r>
              <a:rPr sz="2400" spc="-15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spc="-50" dirty="0">
                <a:solidFill>
                  <a:srgbClr val="3366CC"/>
                </a:solidFill>
                <a:latin typeface="Times New Roman"/>
                <a:cs typeface="Times New Roman"/>
              </a:rPr>
              <a:t>a</a:t>
            </a: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	</a:t>
            </a:r>
            <a:r>
              <a:rPr sz="2400" spc="-10" dirty="0">
                <a:solidFill>
                  <a:srgbClr val="3366CC"/>
                </a:solidFill>
                <a:latin typeface="Times New Roman"/>
                <a:cs typeface="Times New Roman"/>
              </a:rPr>
              <a:t>performance</a:t>
            </a:r>
            <a:r>
              <a:rPr sz="2400" spc="-70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measure</a:t>
            </a:r>
            <a:r>
              <a:rPr sz="2400" spc="-65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(P)</a:t>
            </a:r>
            <a:r>
              <a:rPr sz="2400" spc="-50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if</a:t>
            </a:r>
            <a:r>
              <a:rPr sz="2400" spc="-70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its</a:t>
            </a:r>
            <a:r>
              <a:rPr sz="2400" spc="-50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spc="-10" dirty="0">
                <a:solidFill>
                  <a:srgbClr val="3366CC"/>
                </a:solidFill>
                <a:latin typeface="Times New Roman"/>
                <a:cs typeface="Times New Roman"/>
              </a:rPr>
              <a:t>performance</a:t>
            </a:r>
            <a:r>
              <a:rPr sz="2400" spc="-65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at</a:t>
            </a:r>
            <a:r>
              <a:rPr sz="2400" spc="-70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spc="-10" dirty="0">
                <a:solidFill>
                  <a:srgbClr val="3366CC"/>
                </a:solidFill>
                <a:latin typeface="Times New Roman"/>
                <a:cs typeface="Times New Roman"/>
              </a:rPr>
              <a:t>tasks</a:t>
            </a: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	in</a:t>
            </a:r>
            <a:r>
              <a:rPr sz="2400" spc="-30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T</a:t>
            </a:r>
            <a:r>
              <a:rPr sz="2400" spc="-80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as</a:t>
            </a:r>
            <a:r>
              <a:rPr sz="2400" spc="-30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measured</a:t>
            </a:r>
            <a:r>
              <a:rPr sz="2400" spc="-45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by</a:t>
            </a:r>
            <a:r>
              <a:rPr sz="2400" spc="-30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spc="-50" dirty="0">
                <a:solidFill>
                  <a:srgbClr val="3366CC"/>
                </a:solidFill>
                <a:latin typeface="Times New Roman"/>
                <a:cs typeface="Times New Roman"/>
              </a:rPr>
              <a:t>P</a:t>
            </a:r>
            <a:endParaRPr sz="2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400" spc="-10" dirty="0">
                <a:solidFill>
                  <a:srgbClr val="3366CC"/>
                </a:solidFill>
                <a:latin typeface="Times New Roman"/>
                <a:cs typeface="Times New Roman"/>
              </a:rPr>
              <a:t>improves</a:t>
            </a:r>
            <a:r>
              <a:rPr sz="2400" spc="-70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3366CC"/>
                </a:solidFill>
                <a:latin typeface="Times New Roman"/>
                <a:cs typeface="Times New Roman"/>
              </a:rPr>
              <a:t>with</a:t>
            </a:r>
            <a:r>
              <a:rPr sz="2400" spc="20" dirty="0">
                <a:solidFill>
                  <a:srgbClr val="3366CC"/>
                </a:solidFill>
                <a:latin typeface="Times New Roman"/>
                <a:cs typeface="Times New Roman"/>
              </a:rPr>
              <a:t> </a:t>
            </a:r>
            <a:r>
              <a:rPr sz="2400" spc="-25" dirty="0">
                <a:solidFill>
                  <a:srgbClr val="3366CC"/>
                </a:solidFill>
                <a:latin typeface="Times New Roman"/>
                <a:cs typeface="Times New Roman"/>
              </a:rPr>
              <a:t>E”</a:t>
            </a:r>
            <a:endParaRPr sz="24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06650" y="2886471"/>
            <a:ext cx="4867834" cy="33341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CDD3D-1765-33BF-4FA0-8285691F5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192" y="278638"/>
            <a:ext cx="11189614" cy="615553"/>
          </a:xfrm>
        </p:spPr>
        <p:txBody>
          <a:bodyPr/>
          <a:lstStyle/>
          <a:p>
            <a:r>
              <a:rPr lang="en-IN" sz="4000" dirty="0"/>
              <a:t>Why is ML needed?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915FC5-DA38-E638-CF70-04E0A6EC5E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219200"/>
            <a:ext cx="10358120" cy="5324535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programming is rule based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Programs implement rules, computers follow them exactly.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Problem: Many real world problems do not have clear rules. E.g. What rules can be defined to recognize a face?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Explosion of data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Massive amount of data is generated – social media, online transactions, sensors and IoT devices.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programming is not capable of processing and extracting insights from the huge amount of data.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 systems improve with experience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programs remain the same unless reprogrammed.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 algorithms improve, adapt and update themselves with experience.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43403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87BF4-4996-F5B3-C093-894D4E17F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192" y="278638"/>
            <a:ext cx="11189614" cy="553998"/>
          </a:xfrm>
        </p:spPr>
        <p:txBody>
          <a:bodyPr/>
          <a:lstStyle/>
          <a:p>
            <a:r>
              <a:rPr lang="en-IN" sz="3600" b="1" dirty="0"/>
              <a:t>Applications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CF7EA2-00AF-5CD9-10F1-AD4B83027E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371600"/>
            <a:ext cx="10358120" cy="3660775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B08385-580D-006E-2FF1-E339041DB8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98"/>
          <a:stretch>
            <a:fillRect/>
          </a:stretch>
        </p:blipFill>
        <p:spPr>
          <a:xfrm>
            <a:off x="1447800" y="1066800"/>
            <a:ext cx="8789465" cy="542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1922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6939" y="626440"/>
            <a:ext cx="135445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5" dirty="0"/>
              <a:t>Types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29132" y="1846833"/>
            <a:ext cx="3949065" cy="27616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95"/>
              </a:spcBef>
              <a:buFont typeface="Arial MT"/>
              <a:buChar char="•"/>
              <a:tabLst>
                <a:tab pos="355600" algn="l"/>
              </a:tabLst>
            </a:pPr>
            <a:r>
              <a:rPr sz="2800" dirty="0">
                <a:latin typeface="Times New Roman"/>
                <a:cs typeface="Times New Roman"/>
              </a:rPr>
              <a:t>Supervised</a:t>
            </a:r>
            <a:r>
              <a:rPr sz="2800" spc="-10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Learning</a:t>
            </a:r>
            <a:endParaRPr sz="2800">
              <a:latin typeface="Times New Roman"/>
              <a:cs typeface="Times New Roman"/>
            </a:endParaRPr>
          </a:p>
          <a:p>
            <a:pPr marL="355600" indent="-342900">
              <a:lnSpc>
                <a:spcPct val="100000"/>
              </a:lnSpc>
              <a:spcBef>
                <a:spcPts val="2705"/>
              </a:spcBef>
              <a:buFont typeface="Arial MT"/>
              <a:buChar char="•"/>
              <a:tabLst>
                <a:tab pos="355600" algn="l"/>
              </a:tabLst>
            </a:pPr>
            <a:r>
              <a:rPr sz="2800" dirty="0">
                <a:latin typeface="Times New Roman"/>
                <a:cs typeface="Times New Roman"/>
              </a:rPr>
              <a:t>Unsupervised</a:t>
            </a:r>
            <a:r>
              <a:rPr sz="2800" spc="-11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Learning</a:t>
            </a:r>
            <a:endParaRPr sz="2800">
              <a:latin typeface="Times New Roman"/>
              <a:cs typeface="Times New Roman"/>
            </a:endParaRPr>
          </a:p>
          <a:p>
            <a:pPr marL="355600" indent="-342900">
              <a:lnSpc>
                <a:spcPct val="100000"/>
              </a:lnSpc>
              <a:spcBef>
                <a:spcPts val="2695"/>
              </a:spcBef>
              <a:buFont typeface="Arial MT"/>
              <a:buChar char="•"/>
              <a:tabLst>
                <a:tab pos="355600" algn="l"/>
              </a:tabLst>
            </a:pPr>
            <a:r>
              <a:rPr sz="2800" dirty="0">
                <a:latin typeface="Times New Roman"/>
                <a:cs typeface="Times New Roman"/>
              </a:rPr>
              <a:t>Semi</a:t>
            </a:r>
            <a:r>
              <a:rPr sz="2800" spc="-10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supervised</a:t>
            </a:r>
            <a:r>
              <a:rPr sz="2800" spc="-13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learning</a:t>
            </a:r>
            <a:endParaRPr sz="2800">
              <a:latin typeface="Times New Roman"/>
              <a:cs typeface="Times New Roman"/>
            </a:endParaRPr>
          </a:p>
          <a:p>
            <a:pPr marL="355600" indent="-342900">
              <a:lnSpc>
                <a:spcPct val="100000"/>
              </a:lnSpc>
              <a:spcBef>
                <a:spcPts val="2705"/>
              </a:spcBef>
              <a:buFont typeface="Arial MT"/>
              <a:buChar char="•"/>
              <a:tabLst>
                <a:tab pos="355600" algn="l"/>
              </a:tabLst>
            </a:pPr>
            <a:r>
              <a:rPr sz="2800" spc="-30" dirty="0">
                <a:latin typeface="Times New Roman"/>
                <a:cs typeface="Times New Roman"/>
              </a:rPr>
              <a:t>Reinforcement</a:t>
            </a:r>
            <a:r>
              <a:rPr sz="2800" spc="-6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Learning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152400"/>
            <a:ext cx="5502783" cy="69057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spcBef>
                <a:spcPts val="105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Supervised</a:t>
            </a:r>
            <a:r>
              <a:rPr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38200" y="1014628"/>
            <a:ext cx="5257800" cy="6306342"/>
          </a:xfrm>
          <a:prstGeom prst="rect">
            <a:avLst/>
          </a:prstGeom>
        </p:spPr>
        <p:txBody>
          <a:bodyPr vert="horz" wrap="square" lIns="0" tIns="67945" rIns="0" bIns="0" rtlCol="0">
            <a:spAutoFit/>
          </a:bodyPr>
          <a:lstStyle/>
          <a:p>
            <a:pPr marL="355600" marR="5080" indent="-342900" algn="just">
              <a:lnSpc>
                <a:spcPts val="346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data is labelled containing both descriptions(input) and the target(output).</a:t>
            </a:r>
          </a:p>
          <a:p>
            <a:pPr marL="812800" marR="5080" lvl="1" indent="-342900">
              <a:lnSpc>
                <a:spcPts val="346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lang="en-IN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data (input, target)</a:t>
            </a:r>
          </a:p>
          <a:p>
            <a:pPr marL="812800" marR="5080" lvl="1" indent="-342900">
              <a:lnSpc>
                <a:spcPts val="346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lang="en-IN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– description of a face, </a:t>
            </a:r>
            <a:r>
              <a:rPr lang="en-IN" sz="2200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area of a house</a:t>
            </a:r>
          </a:p>
          <a:p>
            <a:pPr marL="812800" marR="5080" lvl="1" indent="-342900">
              <a:lnSpc>
                <a:spcPts val="346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lang="en-IN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– happy, </a:t>
            </a:r>
            <a:r>
              <a:rPr lang="en-IN" sz="2200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price of the house</a:t>
            </a:r>
          </a:p>
          <a:p>
            <a:pPr marL="342900" marR="5080" lvl="1" indent="-342900" algn="just">
              <a:lnSpc>
                <a:spcPts val="346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lang="en-IN" sz="2400" dirty="0">
                <a:latin typeface="Times New Roman"/>
                <a:cs typeface="Times New Roman"/>
              </a:rPr>
              <a:t>The algorithm (model) tries to determine the relationship between the input and the output.</a:t>
            </a:r>
          </a:p>
          <a:p>
            <a:pPr marL="342900" marR="5080" lvl="1" indent="-342900" algn="just">
              <a:lnSpc>
                <a:spcPts val="346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lang="en-IN" sz="2400" spc="-10" dirty="0">
                <a:latin typeface="Times New Roman"/>
                <a:cs typeface="Times New Roman"/>
              </a:rPr>
              <a:t>This knowledge is then used to predict the output for previously unseen inputs.</a:t>
            </a:r>
          </a:p>
          <a:p>
            <a:pPr marL="342900" marR="5080" lvl="1" indent="-342900" algn="just">
              <a:lnSpc>
                <a:spcPts val="346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endParaRPr lang="en-IN" sz="2400" dirty="0">
              <a:latin typeface="Times New Roman"/>
              <a:cs typeface="Times New Roman"/>
            </a:endParaRPr>
          </a:p>
          <a:p>
            <a:pPr marL="812800" marR="5080" lvl="1" indent="-342900">
              <a:lnSpc>
                <a:spcPts val="3460"/>
              </a:lnSpc>
              <a:buFont typeface="Arial"/>
              <a:buChar char="•"/>
              <a:tabLst>
                <a:tab pos="354965" algn="l"/>
                <a:tab pos="355600" algn="l"/>
              </a:tabLst>
            </a:pPr>
            <a:endParaRPr lang="en-IN" sz="2200" i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A diagram of a model training&#10;&#10;AI-generated content may be incorrect.">
            <a:extLst>
              <a:ext uri="{FF2B5EF4-FFF2-40B4-BE49-F238E27FC236}">
                <a16:creationId xmlns:a16="http://schemas.microsoft.com/office/drawing/2014/main" id="{5982F78A-6C93-A078-5D10-D91D6002A1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8475" y="3851830"/>
            <a:ext cx="5036616" cy="2527533"/>
          </a:xfrm>
          <a:prstGeom prst="rect">
            <a:avLst/>
          </a:prstGeom>
        </p:spPr>
      </p:pic>
      <p:pic>
        <p:nvPicPr>
          <p:cNvPr id="4" name="object 4">
            <a:extLst>
              <a:ext uri="{FF2B5EF4-FFF2-40B4-BE49-F238E27FC236}">
                <a16:creationId xmlns:a16="http://schemas.microsoft.com/office/drawing/2014/main" id="{402EB849-4A95-69E8-C601-53E28898412C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848475" y="762000"/>
            <a:ext cx="4788535" cy="27757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61137" rIns="0" bIns="0" rtlCol="0">
            <a:spAutoFit/>
          </a:bodyPr>
          <a:lstStyle/>
          <a:p>
            <a:pPr marL="427990">
              <a:lnSpc>
                <a:spcPct val="100000"/>
              </a:lnSpc>
              <a:spcBef>
                <a:spcPts val="105"/>
              </a:spcBef>
            </a:pPr>
            <a:r>
              <a:rPr dirty="0"/>
              <a:t>Supervised</a:t>
            </a:r>
            <a:r>
              <a:rPr spc="-30" dirty="0"/>
              <a:t> </a:t>
            </a:r>
            <a:r>
              <a:rPr dirty="0"/>
              <a:t>Learning:</a:t>
            </a:r>
            <a:r>
              <a:rPr spc="-120" dirty="0"/>
              <a:t> </a:t>
            </a:r>
            <a:r>
              <a:rPr spc="-40" dirty="0"/>
              <a:t>Types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39" y="1769717"/>
            <a:ext cx="10138410" cy="419671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65"/>
              </a:spcBef>
              <a:buFont typeface="Arial MT"/>
              <a:buChar char="•"/>
              <a:tabLst>
                <a:tab pos="240665" algn="l"/>
              </a:tabLst>
            </a:pPr>
            <a:r>
              <a:rPr sz="2800" spc="-10" dirty="0">
                <a:latin typeface="Times New Roman"/>
                <a:cs typeface="Times New Roman"/>
              </a:rPr>
              <a:t>Regression</a:t>
            </a:r>
            <a:endParaRPr sz="2800">
              <a:latin typeface="Times New Roman"/>
              <a:cs typeface="Times New Roman"/>
            </a:endParaRPr>
          </a:p>
          <a:p>
            <a:pPr marL="697230" lvl="1" indent="-227329">
              <a:lnSpc>
                <a:spcPct val="100000"/>
              </a:lnSpc>
              <a:spcBef>
                <a:spcPts val="234"/>
              </a:spcBef>
              <a:buFont typeface="Arial MT"/>
              <a:buChar char="•"/>
              <a:tabLst>
                <a:tab pos="697230" algn="l"/>
              </a:tabLst>
            </a:pP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model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predicts</a:t>
            </a:r>
            <a:r>
              <a:rPr sz="2400" spc="-5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155F82"/>
                </a:solidFill>
                <a:latin typeface="Times New Roman"/>
                <a:cs typeface="Times New Roman"/>
              </a:rPr>
              <a:t>continuous</a:t>
            </a:r>
            <a:r>
              <a:rPr sz="2400" spc="-45" dirty="0">
                <a:solidFill>
                  <a:srgbClr val="155F82"/>
                </a:solidFill>
                <a:latin typeface="Times New Roman"/>
                <a:cs typeface="Times New Roman"/>
              </a:rPr>
              <a:t> </a:t>
            </a:r>
            <a:r>
              <a:rPr sz="2400" spc="-10" dirty="0">
                <a:solidFill>
                  <a:srgbClr val="155F82"/>
                </a:solidFill>
                <a:latin typeface="Times New Roman"/>
                <a:cs typeface="Times New Roman"/>
              </a:rPr>
              <a:t>output</a:t>
            </a:r>
            <a:r>
              <a:rPr sz="2400" spc="-10" dirty="0">
                <a:latin typeface="Times New Roman"/>
                <a:cs typeface="Times New Roman"/>
              </a:rPr>
              <a:t>.</a:t>
            </a:r>
            <a:endParaRPr sz="2400">
              <a:latin typeface="Times New Roman"/>
              <a:cs typeface="Times New Roman"/>
            </a:endParaRPr>
          </a:p>
          <a:p>
            <a:pPr marL="697230" marR="5080" lvl="1" indent="-227329">
              <a:lnSpc>
                <a:spcPts val="2590"/>
              </a:lnSpc>
              <a:spcBef>
                <a:spcPts val="535"/>
              </a:spcBef>
              <a:buFont typeface="Arial MT"/>
              <a:buChar char="•"/>
              <a:tabLst>
                <a:tab pos="698500" algn="l"/>
              </a:tabLst>
            </a:pPr>
            <a:r>
              <a:rPr sz="2400" dirty="0">
                <a:latin typeface="Times New Roman"/>
                <a:cs typeface="Times New Roman"/>
              </a:rPr>
              <a:t>E.g.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predicting</a:t>
            </a:r>
            <a:r>
              <a:rPr sz="2400" spc="-5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house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prices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based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on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features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like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size,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number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of</a:t>
            </a:r>
            <a:r>
              <a:rPr sz="2400" spc="-10" dirty="0">
                <a:latin typeface="Times New Roman"/>
                <a:cs typeface="Times New Roman"/>
              </a:rPr>
              <a:t> bedrooms, 	</a:t>
            </a:r>
            <a:r>
              <a:rPr sz="2400" dirty="0">
                <a:latin typeface="Times New Roman"/>
                <a:cs typeface="Times New Roman"/>
              </a:rPr>
              <a:t>and </a:t>
            </a:r>
            <a:r>
              <a:rPr sz="2400" spc="-10" dirty="0">
                <a:latin typeface="Times New Roman"/>
                <a:cs typeface="Times New Roman"/>
              </a:rPr>
              <a:t>location.</a:t>
            </a:r>
            <a:endParaRPr sz="240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spcBef>
                <a:spcPts val="1875"/>
              </a:spcBef>
              <a:buFont typeface="Arial MT"/>
              <a:buChar char="•"/>
            </a:pPr>
            <a:endParaRPr sz="2400">
              <a:latin typeface="Times New Roman"/>
              <a:cs typeface="Times New Roman"/>
            </a:endParaRPr>
          </a:p>
          <a:p>
            <a:pPr marL="240029" indent="-227329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40029" algn="l"/>
              </a:tabLst>
            </a:pPr>
            <a:r>
              <a:rPr sz="2800" spc="-10" dirty="0">
                <a:latin typeface="Times New Roman"/>
                <a:cs typeface="Times New Roman"/>
              </a:rPr>
              <a:t>Classification</a:t>
            </a:r>
            <a:endParaRPr sz="2800">
              <a:latin typeface="Times New Roman"/>
              <a:cs typeface="Times New Roman"/>
            </a:endParaRPr>
          </a:p>
          <a:p>
            <a:pPr marL="697230" lvl="1" indent="-227329">
              <a:lnSpc>
                <a:spcPct val="100000"/>
              </a:lnSpc>
              <a:spcBef>
                <a:spcPts val="229"/>
              </a:spcBef>
              <a:buFont typeface="Arial MT"/>
              <a:buChar char="•"/>
              <a:tabLst>
                <a:tab pos="697230" algn="l"/>
              </a:tabLst>
            </a:pP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model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assigns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data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points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to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155F82"/>
                </a:solidFill>
                <a:latin typeface="Times New Roman"/>
                <a:cs typeface="Times New Roman"/>
              </a:rPr>
              <a:t>predefined</a:t>
            </a:r>
            <a:r>
              <a:rPr sz="2400" spc="-35" dirty="0">
                <a:solidFill>
                  <a:srgbClr val="155F82"/>
                </a:solidFill>
                <a:latin typeface="Times New Roman"/>
                <a:cs typeface="Times New Roman"/>
              </a:rPr>
              <a:t> </a:t>
            </a:r>
            <a:r>
              <a:rPr sz="2400" spc="-10" dirty="0">
                <a:solidFill>
                  <a:srgbClr val="155F82"/>
                </a:solidFill>
                <a:latin typeface="Times New Roman"/>
                <a:cs typeface="Times New Roman"/>
              </a:rPr>
              <a:t>classes</a:t>
            </a:r>
            <a:r>
              <a:rPr sz="2400" spc="-10" dirty="0">
                <a:latin typeface="Times New Roman"/>
                <a:cs typeface="Times New Roman"/>
              </a:rPr>
              <a:t>.</a:t>
            </a:r>
            <a:endParaRPr sz="2400">
              <a:latin typeface="Times New Roman"/>
              <a:cs typeface="Times New Roman"/>
            </a:endParaRPr>
          </a:p>
          <a:p>
            <a:pPr marL="697230" lvl="1" indent="-227329">
              <a:lnSpc>
                <a:spcPct val="100000"/>
              </a:lnSpc>
              <a:spcBef>
                <a:spcPts val="204"/>
              </a:spcBef>
              <a:buFont typeface="Arial MT"/>
              <a:buChar char="•"/>
              <a:tabLst>
                <a:tab pos="697230" algn="l"/>
              </a:tabLst>
            </a:pPr>
            <a:r>
              <a:rPr sz="2400" dirty="0">
                <a:latin typeface="Times New Roman"/>
                <a:cs typeface="Times New Roman"/>
              </a:rPr>
              <a:t>E.g.,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classifying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emails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as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spam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or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not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spam.</a:t>
            </a:r>
            <a:endParaRPr sz="24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50"/>
              </a:spcBef>
            </a:pPr>
            <a:endParaRPr sz="2400">
              <a:latin typeface="Times New Roman"/>
              <a:cs typeface="Times New Roman"/>
            </a:endParaRPr>
          </a:p>
          <a:p>
            <a:pPr marL="50800">
              <a:lnSpc>
                <a:spcPct val="100000"/>
              </a:lnSpc>
              <a:spcBef>
                <a:spcPts val="5"/>
              </a:spcBef>
            </a:pPr>
            <a:r>
              <a:rPr sz="2400" i="1" dirty="0">
                <a:latin typeface="Times New Roman"/>
                <a:cs typeface="Times New Roman"/>
              </a:rPr>
              <a:t>Algorithms:</a:t>
            </a:r>
            <a:r>
              <a:rPr sz="2400" i="1" spc="-55" dirty="0">
                <a:latin typeface="Times New Roman"/>
                <a:cs typeface="Times New Roman"/>
              </a:rPr>
              <a:t> </a:t>
            </a:r>
            <a:r>
              <a:rPr sz="2400" i="1" dirty="0">
                <a:latin typeface="Times New Roman"/>
                <a:cs typeface="Times New Roman"/>
              </a:rPr>
              <a:t>Linear</a:t>
            </a:r>
            <a:r>
              <a:rPr sz="2400" i="1" spc="-30" dirty="0">
                <a:latin typeface="Times New Roman"/>
                <a:cs typeface="Times New Roman"/>
              </a:rPr>
              <a:t> </a:t>
            </a:r>
            <a:r>
              <a:rPr sz="2400" i="1" spc="-10" dirty="0">
                <a:latin typeface="Times New Roman"/>
                <a:cs typeface="Times New Roman"/>
              </a:rPr>
              <a:t>regression,</a:t>
            </a:r>
            <a:r>
              <a:rPr sz="2400" i="1" spc="-50" dirty="0">
                <a:latin typeface="Times New Roman"/>
                <a:cs typeface="Times New Roman"/>
              </a:rPr>
              <a:t> </a:t>
            </a:r>
            <a:r>
              <a:rPr sz="2400" i="1" dirty="0">
                <a:latin typeface="Times New Roman"/>
                <a:cs typeface="Times New Roman"/>
              </a:rPr>
              <a:t>decision</a:t>
            </a:r>
            <a:r>
              <a:rPr sz="2400" i="1" spc="-70" dirty="0">
                <a:latin typeface="Times New Roman"/>
                <a:cs typeface="Times New Roman"/>
              </a:rPr>
              <a:t> </a:t>
            </a:r>
            <a:r>
              <a:rPr sz="2400" i="1" dirty="0">
                <a:latin typeface="Times New Roman"/>
                <a:cs typeface="Times New Roman"/>
              </a:rPr>
              <a:t>trees,</a:t>
            </a:r>
            <a:r>
              <a:rPr sz="2400" i="1" spc="-50" dirty="0">
                <a:latin typeface="Times New Roman"/>
                <a:cs typeface="Times New Roman"/>
              </a:rPr>
              <a:t> </a:t>
            </a:r>
            <a:r>
              <a:rPr sz="2400" i="1" dirty="0">
                <a:latin typeface="Times New Roman"/>
                <a:cs typeface="Times New Roman"/>
              </a:rPr>
              <a:t>support</a:t>
            </a:r>
            <a:r>
              <a:rPr sz="2400" i="1" spc="-20" dirty="0">
                <a:latin typeface="Times New Roman"/>
                <a:cs typeface="Times New Roman"/>
              </a:rPr>
              <a:t> </a:t>
            </a:r>
            <a:r>
              <a:rPr sz="2400" i="1" dirty="0">
                <a:latin typeface="Times New Roman"/>
                <a:cs typeface="Times New Roman"/>
              </a:rPr>
              <a:t>vector</a:t>
            </a:r>
            <a:r>
              <a:rPr sz="2400" i="1" spc="-50" dirty="0">
                <a:latin typeface="Times New Roman"/>
                <a:cs typeface="Times New Roman"/>
              </a:rPr>
              <a:t> </a:t>
            </a:r>
            <a:r>
              <a:rPr sz="2400" i="1" spc="-10" dirty="0">
                <a:latin typeface="Times New Roman"/>
                <a:cs typeface="Times New Roman"/>
              </a:rPr>
              <a:t>machine</a:t>
            </a:r>
            <a:endParaRPr sz="2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79589" y="28575"/>
            <a:ext cx="11189614" cy="1216278"/>
          </a:xfrm>
          <a:prstGeom prst="rect">
            <a:avLst/>
          </a:prstGeom>
        </p:spPr>
        <p:txBody>
          <a:bodyPr vert="horz" wrap="square" lIns="0" tIns="361137" rIns="0" bIns="0" rtlCol="0">
            <a:spAutoFit/>
          </a:bodyPr>
          <a:lstStyle/>
          <a:p>
            <a:pPr marL="427990">
              <a:lnSpc>
                <a:spcPct val="100000"/>
              </a:lnSpc>
              <a:spcBef>
                <a:spcPts val="105"/>
              </a:spcBef>
            </a:pPr>
            <a:r>
              <a:rPr dirty="0"/>
              <a:t>Unsupervised</a:t>
            </a:r>
            <a:r>
              <a:rPr spc="-40" dirty="0"/>
              <a:t> </a:t>
            </a:r>
            <a:r>
              <a:rPr spc="-10" dirty="0"/>
              <a:t>Learning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38" y="1447800"/>
            <a:ext cx="10114915" cy="4893647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240029" marR="5080" indent="-227965">
              <a:lnSpc>
                <a:spcPts val="3020"/>
              </a:lnSpc>
              <a:spcBef>
                <a:spcPts val="480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dirty="0">
                <a:latin typeface="Times New Roman"/>
                <a:cs typeface="Times New Roman"/>
              </a:rPr>
              <a:t>Algorithm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is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trained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on</a:t>
            </a:r>
            <a:r>
              <a:rPr sz="2800" spc="-2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unlabeled</a:t>
            </a:r>
            <a:r>
              <a:rPr sz="2800" spc="-5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data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to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discover</a:t>
            </a:r>
            <a:r>
              <a:rPr sz="2800" spc="-4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patterns</a:t>
            </a:r>
            <a:r>
              <a:rPr sz="2800" spc="-5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within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spc="-25" dirty="0">
                <a:latin typeface="Times New Roman"/>
                <a:cs typeface="Times New Roman"/>
              </a:rPr>
              <a:t>the 	</a:t>
            </a:r>
            <a:r>
              <a:rPr sz="2800" spc="-10" dirty="0">
                <a:latin typeface="Times New Roman"/>
                <a:cs typeface="Times New Roman"/>
              </a:rPr>
              <a:t>data.</a:t>
            </a:r>
            <a:endParaRPr sz="2800" dirty="0">
              <a:latin typeface="Times New Roman"/>
              <a:cs typeface="Times New Roman"/>
            </a:endParaRPr>
          </a:p>
          <a:p>
            <a:pPr marL="240665" indent="-227965">
              <a:lnSpc>
                <a:spcPct val="100000"/>
              </a:lnSpc>
              <a:spcBef>
                <a:spcPts val="635"/>
              </a:spcBef>
              <a:buFont typeface="Arial MT"/>
              <a:buChar char="•"/>
              <a:tabLst>
                <a:tab pos="240665" algn="l"/>
              </a:tabLst>
            </a:pPr>
            <a:r>
              <a:rPr sz="2800" dirty="0">
                <a:latin typeface="Times New Roman"/>
                <a:cs typeface="Times New Roman"/>
              </a:rPr>
              <a:t>No</a:t>
            </a:r>
            <a:r>
              <a:rPr sz="2800" spc="-5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predefined</a:t>
            </a:r>
            <a:r>
              <a:rPr sz="2800" spc="-6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target</a:t>
            </a:r>
            <a:r>
              <a:rPr sz="2800" spc="-7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outputs</a:t>
            </a:r>
            <a:r>
              <a:rPr sz="2800" spc="-8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or</a:t>
            </a:r>
            <a:r>
              <a:rPr sz="2800" spc="-5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labels.</a:t>
            </a:r>
            <a:endParaRPr lang="en-IN" sz="2800" spc="-10" dirty="0">
              <a:latin typeface="Times New Roman"/>
              <a:cs typeface="Times New Roman"/>
            </a:endParaRPr>
          </a:p>
          <a:p>
            <a:pPr marL="240665" indent="-227965">
              <a:lnSpc>
                <a:spcPct val="100000"/>
              </a:lnSpc>
              <a:spcBef>
                <a:spcPts val="635"/>
              </a:spcBef>
              <a:buFont typeface="Arial MT"/>
              <a:buChar char="•"/>
              <a:tabLst>
                <a:tab pos="240665" algn="l"/>
              </a:tabLst>
            </a:pPr>
            <a:endParaRPr lang="en-IN" sz="2800" spc="-10" dirty="0">
              <a:latin typeface="Times New Roman"/>
              <a:cs typeface="Times New Roman"/>
            </a:endParaRPr>
          </a:p>
          <a:p>
            <a:pPr marL="240665" indent="-227965">
              <a:lnSpc>
                <a:spcPct val="100000"/>
              </a:lnSpc>
              <a:spcBef>
                <a:spcPts val="635"/>
              </a:spcBef>
              <a:buFont typeface="Arial MT"/>
              <a:buChar char="•"/>
              <a:tabLst>
                <a:tab pos="240665" algn="l"/>
              </a:tabLst>
            </a:pPr>
            <a:endParaRPr lang="en-IN" sz="2800" spc="-10" dirty="0">
              <a:latin typeface="Times New Roman"/>
              <a:cs typeface="Times New Roman"/>
            </a:endParaRPr>
          </a:p>
          <a:p>
            <a:pPr marL="240665" indent="-227965">
              <a:lnSpc>
                <a:spcPct val="100000"/>
              </a:lnSpc>
              <a:spcBef>
                <a:spcPts val="635"/>
              </a:spcBef>
              <a:buFont typeface="Arial MT"/>
              <a:buChar char="•"/>
              <a:tabLst>
                <a:tab pos="240665" algn="l"/>
              </a:tabLst>
            </a:pPr>
            <a:endParaRPr lang="en-IN" sz="2800" spc="-10" dirty="0">
              <a:latin typeface="Times New Roman"/>
              <a:cs typeface="Times New Roman"/>
            </a:endParaRPr>
          </a:p>
          <a:p>
            <a:pPr marL="240665" indent="-227965">
              <a:lnSpc>
                <a:spcPct val="100000"/>
              </a:lnSpc>
              <a:spcBef>
                <a:spcPts val="635"/>
              </a:spcBef>
              <a:buFont typeface="Arial MT"/>
              <a:buChar char="•"/>
              <a:tabLst>
                <a:tab pos="240665" algn="l"/>
              </a:tabLst>
            </a:pPr>
            <a:endParaRPr lang="en-IN" sz="2800" spc="-10" dirty="0">
              <a:latin typeface="Times New Roman"/>
              <a:cs typeface="Times New Roman"/>
            </a:endParaRPr>
          </a:p>
          <a:p>
            <a:pPr marL="240665" indent="-227965">
              <a:lnSpc>
                <a:spcPct val="100000"/>
              </a:lnSpc>
              <a:spcBef>
                <a:spcPts val="635"/>
              </a:spcBef>
              <a:buFont typeface="Arial MT"/>
              <a:buChar char="•"/>
              <a:tabLst>
                <a:tab pos="240665" algn="l"/>
              </a:tabLst>
            </a:pPr>
            <a:endParaRPr lang="en-IN" sz="2800" spc="-10" dirty="0">
              <a:latin typeface="Times New Roman"/>
              <a:cs typeface="Times New Roman"/>
            </a:endParaRPr>
          </a:p>
          <a:p>
            <a:pPr marL="240665" indent="-227965">
              <a:lnSpc>
                <a:spcPct val="100000"/>
              </a:lnSpc>
              <a:spcBef>
                <a:spcPts val="635"/>
              </a:spcBef>
              <a:buFont typeface="Arial MT"/>
              <a:buChar char="•"/>
              <a:tabLst>
                <a:tab pos="240665" algn="l"/>
              </a:tabLst>
            </a:pPr>
            <a:endParaRPr lang="en-IN" sz="2800" spc="-10" dirty="0">
              <a:latin typeface="Times New Roman"/>
              <a:cs typeface="Times New Roman"/>
            </a:endParaRPr>
          </a:p>
          <a:p>
            <a:pPr marL="240665" indent="-227965">
              <a:lnSpc>
                <a:spcPct val="100000"/>
              </a:lnSpc>
              <a:spcBef>
                <a:spcPts val="63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IN" sz="2800" spc="-10" dirty="0">
                <a:latin typeface="Times New Roman"/>
                <a:cs typeface="Times New Roman"/>
              </a:rPr>
              <a:t>Example: customer segmentation, </a:t>
            </a:r>
            <a:endParaRPr sz="2800" dirty="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14189" y="2998852"/>
            <a:ext cx="6963621" cy="24828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8304DCD-0BE3-1CC5-0D0F-B1498FCC5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0D7573E-51BB-A420-F383-CD3C6F65D7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9589" y="28575"/>
            <a:ext cx="11189614" cy="1216278"/>
          </a:xfrm>
          <a:prstGeom prst="rect">
            <a:avLst/>
          </a:prstGeom>
        </p:spPr>
        <p:txBody>
          <a:bodyPr vert="horz" wrap="square" lIns="0" tIns="361137" rIns="0" bIns="0" rtlCol="0">
            <a:spAutoFit/>
          </a:bodyPr>
          <a:lstStyle/>
          <a:p>
            <a:pPr marL="427990">
              <a:lnSpc>
                <a:spcPct val="100000"/>
              </a:lnSpc>
              <a:spcBef>
                <a:spcPts val="105"/>
              </a:spcBef>
            </a:pPr>
            <a:r>
              <a:rPr dirty="0"/>
              <a:t>Unsupervised</a:t>
            </a:r>
            <a:r>
              <a:rPr spc="-40" dirty="0"/>
              <a:t> </a:t>
            </a:r>
            <a:r>
              <a:rPr spc="-10" dirty="0"/>
              <a:t>Learning</a:t>
            </a:r>
          </a:p>
        </p:txBody>
      </p:sp>
      <p:pic>
        <p:nvPicPr>
          <p:cNvPr id="5" name="Picture 4" descr="A screenshot of a social media post&#10;&#10;Description automatically generated">
            <a:extLst>
              <a:ext uri="{FF2B5EF4-FFF2-40B4-BE49-F238E27FC236}">
                <a16:creationId xmlns:a16="http://schemas.microsoft.com/office/drawing/2014/main" id="{86D650D7-9DD4-1085-FF03-3AA61E6223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245" y="1752600"/>
            <a:ext cx="10119509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8329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4400" y="381000"/>
            <a:ext cx="6295264" cy="69057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spcBef>
                <a:spcPts val="105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Semi-Supervised</a:t>
            </a:r>
            <a:r>
              <a:rPr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219200" y="1380490"/>
            <a:ext cx="10058399" cy="8745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indent="-342900">
              <a:spcBef>
                <a:spcPts val="100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Combines a small amount of labeled data with a large amount of unlabeled data during training.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object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75435" y="3124200"/>
            <a:ext cx="6662646" cy="1905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368421" y="286258"/>
            <a:ext cx="5451475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Reinforcement</a:t>
            </a:r>
            <a:r>
              <a:rPr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90600" y="1232661"/>
            <a:ext cx="10363200" cy="1939634"/>
          </a:xfrm>
          <a:prstGeom prst="rect">
            <a:avLst/>
          </a:prstGeom>
        </p:spPr>
        <p:txBody>
          <a:bodyPr vert="horz" wrap="square" lIns="0" tIns="92075" rIns="0" bIns="0" rtlCol="0">
            <a:spAutoFit/>
          </a:bodyPr>
          <a:lstStyle/>
          <a:p>
            <a:pPr marL="355600" marR="478155" indent="-342900" algn="just">
              <a:lnSpc>
                <a:spcPts val="2590"/>
              </a:lnSpc>
              <a:spcBef>
                <a:spcPts val="72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lang="en-US" sz="27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the training of machine learning models to make a sequence of decisions. </a:t>
            </a:r>
          </a:p>
          <a:p>
            <a:pPr marL="355600" marR="478155" indent="-342900" algn="just">
              <a:lnSpc>
                <a:spcPts val="2590"/>
              </a:lnSpc>
              <a:spcBef>
                <a:spcPts val="72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lang="en-US" sz="27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computer employs trial and error to come up with a solution to the problem.</a:t>
            </a:r>
          </a:p>
          <a:p>
            <a:pPr marL="355600" marR="478155" indent="-342900" algn="just">
              <a:lnSpc>
                <a:spcPts val="2590"/>
              </a:lnSpc>
              <a:spcBef>
                <a:spcPts val="725"/>
              </a:spcBef>
              <a:buFont typeface="Arial"/>
              <a:buChar char="•"/>
              <a:tabLst>
                <a:tab pos="354965" algn="l"/>
                <a:tab pos="355600" algn="l"/>
              </a:tabLst>
            </a:pPr>
            <a:r>
              <a:rPr lang="en-US" sz="27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agent gets either rewards or </a:t>
            </a:r>
            <a:r>
              <a:rPr lang="en-US" sz="2700" spc="-5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penalises</a:t>
            </a:r>
            <a:r>
              <a:rPr lang="en-US" sz="27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the actions it performs. </a:t>
            </a:r>
            <a:endParaRPr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24201" y="3518652"/>
            <a:ext cx="5450999" cy="312495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C05E9-35C3-1C66-AF96-3B373505A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9801" y="304800"/>
            <a:ext cx="6781799" cy="677108"/>
          </a:xfrm>
        </p:spPr>
        <p:txBody>
          <a:bodyPr/>
          <a:lstStyle/>
          <a:p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Basic ML workflow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8306E3D-B6E8-2A6D-AAC0-23742D29EB6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057400" y="1154691"/>
            <a:ext cx="3810000" cy="33499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collection</a:t>
            </a:r>
          </a:p>
          <a:p>
            <a:pPr marL="342900" indent="-34290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</a:p>
          <a:p>
            <a:pPr marL="342900" indent="-34290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selection</a:t>
            </a:r>
          </a:p>
          <a:p>
            <a:pPr marL="342900" indent="-34290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training</a:t>
            </a:r>
          </a:p>
          <a:p>
            <a:pPr marL="342900" indent="-34290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</a:t>
            </a:r>
          </a:p>
          <a:p>
            <a:pPr marL="342900" indent="-34290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 / Deployment</a:t>
            </a:r>
          </a:p>
        </p:txBody>
      </p:sp>
      <p:pic>
        <p:nvPicPr>
          <p:cNvPr id="5" name="object 3">
            <a:extLst>
              <a:ext uri="{FF2B5EF4-FFF2-40B4-BE49-F238E27FC236}">
                <a16:creationId xmlns:a16="http://schemas.microsoft.com/office/drawing/2014/main" id="{2CB13C37-843A-2107-9EF5-1F74F1DBEF75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7502" y="4647149"/>
            <a:ext cx="6781800" cy="2239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1364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2BB88-31EC-C3F0-5281-5614113A6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192" y="278638"/>
            <a:ext cx="11189614" cy="677108"/>
          </a:xfrm>
        </p:spPr>
        <p:txBody>
          <a:bodyPr/>
          <a:lstStyle/>
          <a:p>
            <a:r>
              <a:rPr lang="en-IN" dirty="0"/>
              <a:t>Data Preprocessing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3B4480-A326-6198-D38D-D7689142B1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219200"/>
            <a:ext cx="10820400" cy="3339376"/>
          </a:xfrm>
        </p:spPr>
        <p:txBody>
          <a:bodyPr/>
          <a:lstStyle/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Cleaning, transforming and performing other such operations on the data so that it can be effectively used by ML algorithms.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is it necessary?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Real-world data is often incomplete, noisy, and inconsistent.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Proper/processed data improves model accuracy, reduces training time, prevents misleading patterns, ensures fair and unbiased learning.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69363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7BAEB-7501-2B0D-642D-E55584A23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192" y="278638"/>
            <a:ext cx="11189614" cy="677108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Steps in Data Preprocessing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2E6952-DE6B-4495-67DA-6482F03445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497702"/>
            <a:ext cx="10358120" cy="4416594"/>
          </a:xfrm>
        </p:spPr>
        <p:txBody>
          <a:bodyPr/>
          <a:lstStyle/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Integration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Transformation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Encoding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Selection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Extraction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Handling Imbalanced Data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Splitting</a:t>
            </a:r>
          </a:p>
          <a:p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6254627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47092-70A8-1122-2375-3408424C1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292" y="470400"/>
            <a:ext cx="11189614" cy="553998"/>
          </a:xfrm>
        </p:spPr>
        <p:txBody>
          <a:bodyPr/>
          <a:lstStyle/>
          <a:p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</a:t>
            </a:r>
            <a:endParaRPr lang="en-IN" sz="36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410BA3F-ED1B-6DFE-B5FA-2044C0EBE56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20242" y="1295400"/>
            <a:ext cx="7633821" cy="13542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Handling missing values (mean, median, mode, deletion).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Removing duplicate records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Correcting inconsistent data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864100-1FC3-2028-26D2-2C7E5133B6A7}"/>
              </a:ext>
            </a:extLst>
          </p:cNvPr>
          <p:cNvSpPr txBox="1">
            <a:spLocks/>
          </p:cNvSpPr>
          <p:nvPr/>
        </p:nvSpPr>
        <p:spPr>
          <a:xfrm>
            <a:off x="501193" y="3419475"/>
            <a:ext cx="11189614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Times New Roman"/>
                <a:ea typeface="+mj-ea"/>
                <a:cs typeface="Times New Roman"/>
              </a:defRPr>
            </a:lvl1pPr>
          </a:lstStyle>
          <a:p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Integration</a:t>
            </a:r>
            <a:endParaRPr lang="en-IN" sz="3600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A4D63BAB-D528-14FA-BE26-D592795E28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5282" y="4191000"/>
            <a:ext cx="7726795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marL="0">
              <a:defRPr sz="2400" b="0" i="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 rtl="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Combines data from multiple sources into a single dataset.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99764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DF4E6-0168-D9D9-B314-0AF0487D6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6F529-F9BE-9701-4D0D-EDB23BF63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292" y="470400"/>
            <a:ext cx="11189614" cy="553998"/>
          </a:xfrm>
        </p:spPr>
        <p:txBody>
          <a:bodyPr/>
          <a:lstStyle/>
          <a:p>
            <a:pPr>
              <a:spcBef>
                <a:spcPts val="600"/>
              </a:spcBef>
            </a:pPr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Transformation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82CD3F4-8C6F-09CE-6F96-6E3D011E9C2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148462"/>
            <a:ext cx="5003293" cy="9079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algn="l" rtl="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Converts data into a suitable format.</a:t>
            </a:r>
          </a:p>
          <a:p>
            <a:pPr marL="342900" lvl="0" indent="-342900" algn="l" rtl="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IN" altLang="en-US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E.g</a:t>
            </a:r>
            <a:r>
              <a:rPr kumimoji="0" lang="en-IN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scaling values to range [0, 1]</a:t>
            </a:r>
            <a:endParaRPr kumimoji="0" lang="en-US" altLang="en-US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BFA7FC3-53B0-B10C-16A7-69456EE3710A}"/>
              </a:ext>
            </a:extLst>
          </p:cNvPr>
          <p:cNvSpPr txBox="1">
            <a:spLocks/>
          </p:cNvSpPr>
          <p:nvPr/>
        </p:nvSpPr>
        <p:spPr>
          <a:xfrm>
            <a:off x="539292" y="2658858"/>
            <a:ext cx="11189614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Times New Roman"/>
                <a:ea typeface="+mj-ea"/>
                <a:cs typeface="Times New Roman"/>
              </a:defRPr>
            </a:lvl1pPr>
          </a:lstStyle>
          <a:p>
            <a:pPr>
              <a:spcBef>
                <a:spcPts val="600"/>
              </a:spcBef>
            </a:pPr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Encoding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7777BF58-D28E-A2CD-5906-D04C271825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9292" y="3361340"/>
            <a:ext cx="6264857" cy="9079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marL="0">
              <a:defRPr sz="2400" b="0" i="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 rtl="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Converts categorical data into numerical form.</a:t>
            </a:r>
          </a:p>
          <a:p>
            <a:pPr marL="342900" indent="-342900" algn="l" rtl="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I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Example: </a:t>
            </a:r>
            <a:r>
              <a:rPr lang="en-IN" alt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Lable</a:t>
            </a:r>
            <a:r>
              <a:rPr lang="en-I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encoding, One-Hot encoding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8BADCF0-13A3-5DBC-F318-FAA89A9236A0}"/>
              </a:ext>
            </a:extLst>
          </p:cNvPr>
          <p:cNvSpPr txBox="1">
            <a:spLocks/>
          </p:cNvSpPr>
          <p:nvPr/>
        </p:nvSpPr>
        <p:spPr>
          <a:xfrm>
            <a:off x="539292" y="4707718"/>
            <a:ext cx="11189614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Times New Roman"/>
                <a:ea typeface="+mj-ea"/>
                <a:cs typeface="Times New Roman"/>
              </a:defRPr>
            </a:lvl1pPr>
          </a:lstStyle>
          <a:p>
            <a:pPr>
              <a:spcBef>
                <a:spcPts val="600"/>
              </a:spcBef>
            </a:pPr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selection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9366B06E-F431-C802-A102-E6E4292B7E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9292" y="5410200"/>
            <a:ext cx="4993675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marL="0">
              <a:defRPr sz="2400" b="0" i="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 rtl="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Selecting the most relevant features.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97737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F8843-7D66-FE1B-4FA3-AAF0EDE1D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9002D-FEE3-1C68-972D-A5E160ACB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292" y="470400"/>
            <a:ext cx="11189614" cy="553998"/>
          </a:xfrm>
        </p:spPr>
        <p:txBody>
          <a:bodyPr/>
          <a:lstStyle/>
          <a:p>
            <a:pPr>
              <a:spcBef>
                <a:spcPts val="600"/>
              </a:spcBef>
            </a:pPr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Extraction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17C8851-A330-960D-D688-AB41885AC37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292" y="1223116"/>
            <a:ext cx="548259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algn="l" rtl="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Creates new features from existing data.</a:t>
            </a:r>
            <a:endParaRPr kumimoji="0" lang="en-US" altLang="en-US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7307528-C2A7-8C50-03D4-6227C00E0F36}"/>
              </a:ext>
            </a:extLst>
          </p:cNvPr>
          <p:cNvSpPr txBox="1">
            <a:spLocks/>
          </p:cNvSpPr>
          <p:nvPr/>
        </p:nvSpPr>
        <p:spPr>
          <a:xfrm>
            <a:off x="539292" y="2658858"/>
            <a:ext cx="11189614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Times New Roman"/>
                <a:ea typeface="+mj-ea"/>
                <a:cs typeface="Times New Roman"/>
              </a:defRPr>
            </a:lvl1pPr>
          </a:lstStyle>
          <a:p>
            <a:pPr>
              <a:spcBef>
                <a:spcPts val="600"/>
              </a:spcBef>
            </a:pPr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Handling Imbalanced Data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2260B4B9-6008-019D-4BBF-1DC4993E39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9292" y="3414312"/>
            <a:ext cx="8836073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marL="0">
              <a:defRPr sz="2400" b="0" i="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 rtl="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Ensuring that the dataset has a fair representation of the population.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3E22511-3EE1-0718-BCA2-74406F59F86A}"/>
              </a:ext>
            </a:extLst>
          </p:cNvPr>
          <p:cNvSpPr txBox="1">
            <a:spLocks/>
          </p:cNvSpPr>
          <p:nvPr/>
        </p:nvSpPr>
        <p:spPr>
          <a:xfrm>
            <a:off x="609600" y="4840905"/>
            <a:ext cx="11189614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Times New Roman"/>
                <a:ea typeface="+mj-ea"/>
                <a:cs typeface="Times New Roman"/>
              </a:defRPr>
            </a:lvl1pPr>
          </a:lstStyle>
          <a:p>
            <a:pPr>
              <a:spcBef>
                <a:spcPts val="600"/>
              </a:spcBef>
            </a:pPr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Splitting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EEC3FC5E-0273-92DC-7173-9535946522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9292" y="5504026"/>
            <a:ext cx="906780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marL="0">
              <a:defRPr sz="2400" b="0" i="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Divides dataset into: Training set, Validation set, Test set</a:t>
            </a:r>
          </a:p>
        </p:txBody>
      </p:sp>
    </p:spTree>
    <p:extLst>
      <p:ext uri="{BB962C8B-B14F-4D97-AF65-F5344CB8AC3E}">
        <p14:creationId xmlns:p14="http://schemas.microsoft.com/office/powerpoint/2010/main" val="8255521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C4A1B-B1A9-F09D-7193-ED7DC0D15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192" y="278638"/>
            <a:ext cx="11189614" cy="677108"/>
          </a:xfrm>
        </p:spPr>
        <p:txBody>
          <a:bodyPr/>
          <a:lstStyle/>
          <a:p>
            <a:r>
              <a:rPr lang="en-IN" dirty="0"/>
              <a:t>Example using a sample dataset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ED2215-5D02-81D4-3CC2-4CE8FE4637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6939" y="3886200"/>
            <a:ext cx="10358120" cy="1846659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Issues in the dataset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Missing values (</a:t>
            </a:r>
            <a:r>
              <a:rPr lang="en-IN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NaN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Categorical data (Location)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Duplicate record (row 1 and row 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value scales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3060A51-F2B1-76CC-F6FB-AE444D2E91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6453591"/>
              </p:ext>
            </p:extLst>
          </p:nvPr>
        </p:nvGraphicFramePr>
        <p:xfrm>
          <a:off x="2133600" y="1600200"/>
          <a:ext cx="5791199" cy="1963965"/>
        </p:xfrm>
        <a:graphic>
          <a:graphicData uri="http://schemas.openxmlformats.org/drawingml/2006/table">
            <a:tbl>
              <a:tblPr/>
              <a:tblGrid>
                <a:gridCol w="338007">
                  <a:extLst>
                    <a:ext uri="{9D8B030D-6E8A-4147-A177-3AD203B41FA5}">
                      <a16:colId xmlns:a16="http://schemas.microsoft.com/office/drawing/2014/main" val="3774728364"/>
                    </a:ext>
                  </a:extLst>
                </a:gridCol>
                <a:gridCol w="1464700">
                  <a:extLst>
                    <a:ext uri="{9D8B030D-6E8A-4147-A177-3AD203B41FA5}">
                      <a16:colId xmlns:a16="http://schemas.microsoft.com/office/drawing/2014/main" val="2520262302"/>
                    </a:ext>
                  </a:extLst>
                </a:gridCol>
                <a:gridCol w="1306963">
                  <a:extLst>
                    <a:ext uri="{9D8B030D-6E8A-4147-A177-3AD203B41FA5}">
                      <a16:colId xmlns:a16="http://schemas.microsoft.com/office/drawing/2014/main" val="585298951"/>
                    </a:ext>
                  </a:extLst>
                </a:gridCol>
                <a:gridCol w="1081625">
                  <a:extLst>
                    <a:ext uri="{9D8B030D-6E8A-4147-A177-3AD203B41FA5}">
                      <a16:colId xmlns:a16="http://schemas.microsoft.com/office/drawing/2014/main" val="134526536"/>
                    </a:ext>
                  </a:extLst>
                </a:gridCol>
                <a:gridCol w="1599904">
                  <a:extLst>
                    <a:ext uri="{9D8B030D-6E8A-4147-A177-3AD203B41FA5}">
                      <a16:colId xmlns:a16="http://schemas.microsoft.com/office/drawing/2014/main" val="4226972661"/>
                    </a:ext>
                  </a:extLst>
                </a:gridCol>
              </a:tblGrid>
              <a:tr h="56061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Area (sqft)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Bedrooms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Location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Price (₹ Lakhs)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2958608"/>
                  </a:ext>
                </a:extLst>
              </a:tr>
              <a:tr h="28030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Urban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2708527"/>
                  </a:ext>
                </a:extLst>
              </a:tr>
              <a:tr h="28030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Urban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0102585"/>
                  </a:ext>
                </a:extLst>
              </a:tr>
              <a:tr h="28030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Rural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9100827"/>
                  </a:ext>
                </a:extLst>
              </a:tr>
              <a:tr h="28030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Rural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0138413"/>
                  </a:ext>
                </a:extLst>
              </a:tr>
              <a:tr h="28030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Urban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1114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32126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B46C0-ADAB-DFB9-08C6-A08254BB2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20586-0434-EDF5-C7AF-6D6669656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192" y="278638"/>
            <a:ext cx="11189614" cy="677108"/>
          </a:xfrm>
        </p:spPr>
        <p:txBody>
          <a:bodyPr/>
          <a:lstStyle/>
          <a:p>
            <a:r>
              <a:rPr lang="en-IN" dirty="0"/>
              <a:t>Example using a sample dataset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006C4C-65BC-9DD3-FCE3-158C85846D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339021"/>
            <a:ext cx="7007860" cy="2215991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Handling missing values (</a:t>
            </a:r>
            <a:r>
              <a:rPr lang="en-I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NaN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Replace missing Area with mean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Replace missing Price with mean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Mean Area = (1200 + 1500 + 800 + 1200) / 4 = 1175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Mean Price = (50 + 65 + 40 + 50) / 4 = 51.25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91E0BDE-9196-5B79-CC77-0B9C1988C6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108213"/>
              </p:ext>
            </p:extLst>
          </p:nvPr>
        </p:nvGraphicFramePr>
        <p:xfrm>
          <a:off x="609600" y="3957337"/>
          <a:ext cx="5029202" cy="1963965"/>
        </p:xfrm>
        <a:graphic>
          <a:graphicData uri="http://schemas.openxmlformats.org/drawingml/2006/table">
            <a:tbl>
              <a:tblPr/>
              <a:tblGrid>
                <a:gridCol w="293533">
                  <a:extLst>
                    <a:ext uri="{9D8B030D-6E8A-4147-A177-3AD203B41FA5}">
                      <a16:colId xmlns:a16="http://schemas.microsoft.com/office/drawing/2014/main" val="3774728364"/>
                    </a:ext>
                  </a:extLst>
                </a:gridCol>
                <a:gridCol w="1271977">
                  <a:extLst>
                    <a:ext uri="{9D8B030D-6E8A-4147-A177-3AD203B41FA5}">
                      <a16:colId xmlns:a16="http://schemas.microsoft.com/office/drawing/2014/main" val="2520262302"/>
                    </a:ext>
                  </a:extLst>
                </a:gridCol>
                <a:gridCol w="1134995">
                  <a:extLst>
                    <a:ext uri="{9D8B030D-6E8A-4147-A177-3AD203B41FA5}">
                      <a16:colId xmlns:a16="http://schemas.microsoft.com/office/drawing/2014/main" val="585298951"/>
                    </a:ext>
                  </a:extLst>
                </a:gridCol>
                <a:gridCol w="939306">
                  <a:extLst>
                    <a:ext uri="{9D8B030D-6E8A-4147-A177-3AD203B41FA5}">
                      <a16:colId xmlns:a16="http://schemas.microsoft.com/office/drawing/2014/main" val="134526536"/>
                    </a:ext>
                  </a:extLst>
                </a:gridCol>
                <a:gridCol w="1389391">
                  <a:extLst>
                    <a:ext uri="{9D8B030D-6E8A-4147-A177-3AD203B41FA5}">
                      <a16:colId xmlns:a16="http://schemas.microsoft.com/office/drawing/2014/main" val="4226972661"/>
                    </a:ext>
                  </a:extLst>
                </a:gridCol>
              </a:tblGrid>
              <a:tr h="56061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Area (sqft)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Bedrooms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Location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Price (₹ Lakhs)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2958608"/>
                  </a:ext>
                </a:extLst>
              </a:tr>
              <a:tr h="28030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Urban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2708527"/>
                  </a:ext>
                </a:extLst>
              </a:tr>
              <a:tr h="28030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Urban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0102585"/>
                  </a:ext>
                </a:extLst>
              </a:tr>
              <a:tr h="28030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  <a:endParaRPr lang="en-IN" sz="1800" b="1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Rural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9100827"/>
                  </a:ext>
                </a:extLst>
              </a:tr>
              <a:tr h="28030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Rural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  <a:endParaRPr lang="en-IN" sz="1800" b="1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0138413"/>
                  </a:ext>
                </a:extLst>
              </a:tr>
              <a:tr h="28030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Urban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1114541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022DEB2-F4BE-9FD0-A37D-DB7BE7C341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294404"/>
              </p:ext>
            </p:extLst>
          </p:nvPr>
        </p:nvGraphicFramePr>
        <p:xfrm>
          <a:off x="6515100" y="3877891"/>
          <a:ext cx="5137606" cy="2062461"/>
        </p:xfrm>
        <a:graphic>
          <a:graphicData uri="http://schemas.openxmlformats.org/drawingml/2006/table">
            <a:tbl>
              <a:tblPr/>
              <a:tblGrid>
                <a:gridCol w="299860">
                  <a:extLst>
                    <a:ext uri="{9D8B030D-6E8A-4147-A177-3AD203B41FA5}">
                      <a16:colId xmlns:a16="http://schemas.microsoft.com/office/drawing/2014/main" val="3774728364"/>
                    </a:ext>
                  </a:extLst>
                </a:gridCol>
                <a:gridCol w="1299394">
                  <a:extLst>
                    <a:ext uri="{9D8B030D-6E8A-4147-A177-3AD203B41FA5}">
                      <a16:colId xmlns:a16="http://schemas.microsoft.com/office/drawing/2014/main" val="2520262302"/>
                    </a:ext>
                  </a:extLst>
                </a:gridCol>
                <a:gridCol w="1159460">
                  <a:extLst>
                    <a:ext uri="{9D8B030D-6E8A-4147-A177-3AD203B41FA5}">
                      <a16:colId xmlns:a16="http://schemas.microsoft.com/office/drawing/2014/main" val="585298951"/>
                    </a:ext>
                  </a:extLst>
                </a:gridCol>
                <a:gridCol w="959553">
                  <a:extLst>
                    <a:ext uri="{9D8B030D-6E8A-4147-A177-3AD203B41FA5}">
                      <a16:colId xmlns:a16="http://schemas.microsoft.com/office/drawing/2014/main" val="134526536"/>
                    </a:ext>
                  </a:extLst>
                </a:gridCol>
                <a:gridCol w="1419339">
                  <a:extLst>
                    <a:ext uri="{9D8B030D-6E8A-4147-A177-3AD203B41FA5}">
                      <a16:colId xmlns:a16="http://schemas.microsoft.com/office/drawing/2014/main" val="4226972661"/>
                    </a:ext>
                  </a:extLst>
                </a:gridCol>
              </a:tblGrid>
              <a:tr h="5887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Area (sqft)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Bedrooms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Location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Price (₹ Lakhs)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2958608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Urban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2708527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Urban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0102585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b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1175</a:t>
                      </a:r>
                      <a:endParaRPr lang="en-IN" sz="1800" b="1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Rural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9100827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Rural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b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51.25</a:t>
                      </a:r>
                      <a:endParaRPr lang="en-IN" sz="1800" b="1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0138413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Urban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111454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7702061-A6A4-EDB5-1131-CEF77E7DE7B5}"/>
              </a:ext>
            </a:extLst>
          </p:cNvPr>
          <p:cNvSpPr txBox="1"/>
          <p:nvPr/>
        </p:nvSpPr>
        <p:spPr>
          <a:xfrm>
            <a:off x="8534400" y="6278542"/>
            <a:ext cx="152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After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F364E7-C944-BF49-04B3-FC949DF29B3D}"/>
              </a:ext>
            </a:extLst>
          </p:cNvPr>
          <p:cNvSpPr txBox="1"/>
          <p:nvPr/>
        </p:nvSpPr>
        <p:spPr>
          <a:xfrm>
            <a:off x="2590800" y="6339671"/>
            <a:ext cx="152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Before</a:t>
            </a:r>
          </a:p>
        </p:txBody>
      </p:sp>
    </p:spTree>
    <p:extLst>
      <p:ext uri="{BB962C8B-B14F-4D97-AF65-F5344CB8AC3E}">
        <p14:creationId xmlns:p14="http://schemas.microsoft.com/office/powerpoint/2010/main" val="36184223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492B2-0175-90AB-2D75-9AC93A4CD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B2088-3592-5E73-3C72-C6E3437F0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192" y="278638"/>
            <a:ext cx="11189614" cy="677108"/>
          </a:xfrm>
        </p:spPr>
        <p:txBody>
          <a:bodyPr/>
          <a:lstStyle/>
          <a:p>
            <a:r>
              <a:rPr lang="en-IN" dirty="0"/>
              <a:t>Example using a sample dataset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6AB6DA-8A51-A29F-A13A-C1CF191311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339021"/>
            <a:ext cx="7007860" cy="738664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Removing Duplicates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Row 5 is a duplicate of Row 1 → remove Row 5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80149CE-4CD0-3846-15BF-44F89E99F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376355"/>
              </p:ext>
            </p:extLst>
          </p:nvPr>
        </p:nvGraphicFramePr>
        <p:xfrm>
          <a:off x="501192" y="2971800"/>
          <a:ext cx="5137606" cy="2062461"/>
        </p:xfrm>
        <a:graphic>
          <a:graphicData uri="http://schemas.openxmlformats.org/drawingml/2006/table">
            <a:tbl>
              <a:tblPr/>
              <a:tblGrid>
                <a:gridCol w="299860">
                  <a:extLst>
                    <a:ext uri="{9D8B030D-6E8A-4147-A177-3AD203B41FA5}">
                      <a16:colId xmlns:a16="http://schemas.microsoft.com/office/drawing/2014/main" val="3774728364"/>
                    </a:ext>
                  </a:extLst>
                </a:gridCol>
                <a:gridCol w="1299394">
                  <a:extLst>
                    <a:ext uri="{9D8B030D-6E8A-4147-A177-3AD203B41FA5}">
                      <a16:colId xmlns:a16="http://schemas.microsoft.com/office/drawing/2014/main" val="2520262302"/>
                    </a:ext>
                  </a:extLst>
                </a:gridCol>
                <a:gridCol w="1159460">
                  <a:extLst>
                    <a:ext uri="{9D8B030D-6E8A-4147-A177-3AD203B41FA5}">
                      <a16:colId xmlns:a16="http://schemas.microsoft.com/office/drawing/2014/main" val="585298951"/>
                    </a:ext>
                  </a:extLst>
                </a:gridCol>
                <a:gridCol w="959553">
                  <a:extLst>
                    <a:ext uri="{9D8B030D-6E8A-4147-A177-3AD203B41FA5}">
                      <a16:colId xmlns:a16="http://schemas.microsoft.com/office/drawing/2014/main" val="134526536"/>
                    </a:ext>
                  </a:extLst>
                </a:gridCol>
                <a:gridCol w="1419339">
                  <a:extLst>
                    <a:ext uri="{9D8B030D-6E8A-4147-A177-3AD203B41FA5}">
                      <a16:colId xmlns:a16="http://schemas.microsoft.com/office/drawing/2014/main" val="4226972661"/>
                    </a:ext>
                  </a:extLst>
                </a:gridCol>
              </a:tblGrid>
              <a:tr h="5887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Area (</a:t>
                      </a:r>
                      <a:r>
                        <a:rPr lang="en-IN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sqft</a:t>
                      </a: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Bedrooms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Location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Price (₹ Lakhs)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2958608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FF0000"/>
                          </a:highlight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FF0000"/>
                          </a:highlight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FF0000"/>
                          </a:highlight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FF0000"/>
                          </a:highlight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Urban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0000"/>
                          </a:highlight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2708527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Urban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0102585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1175</a:t>
                      </a:r>
                      <a:endParaRPr lang="en-IN" sz="18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Rural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9100827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Rural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51.25</a:t>
                      </a:r>
                      <a:endParaRPr lang="en-IN" sz="18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0138413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FF0000"/>
                          </a:highlight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FF0000"/>
                          </a:highlight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FF0000"/>
                          </a:highlight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FF0000"/>
                          </a:highlight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Urban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0000"/>
                          </a:highlight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111454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3C0ED4B-1C2C-8ED4-4EC8-8B97C7C69AAD}"/>
              </a:ext>
            </a:extLst>
          </p:cNvPr>
          <p:cNvSpPr txBox="1"/>
          <p:nvPr/>
        </p:nvSpPr>
        <p:spPr>
          <a:xfrm>
            <a:off x="8153402" y="5092184"/>
            <a:ext cx="152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After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325E21-2A84-606B-F0B4-B4628F0E1C5B}"/>
              </a:ext>
            </a:extLst>
          </p:cNvPr>
          <p:cNvSpPr txBox="1"/>
          <p:nvPr/>
        </p:nvSpPr>
        <p:spPr>
          <a:xfrm>
            <a:off x="2514600" y="5257800"/>
            <a:ext cx="152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Before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5755493-52EC-EC59-CEA2-AB1928AC63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3537165"/>
              </p:ext>
            </p:extLst>
          </p:nvPr>
        </p:nvGraphicFramePr>
        <p:xfrm>
          <a:off x="6248400" y="2990850"/>
          <a:ext cx="5137606" cy="1767715"/>
        </p:xfrm>
        <a:graphic>
          <a:graphicData uri="http://schemas.openxmlformats.org/drawingml/2006/table">
            <a:tbl>
              <a:tblPr/>
              <a:tblGrid>
                <a:gridCol w="299860">
                  <a:extLst>
                    <a:ext uri="{9D8B030D-6E8A-4147-A177-3AD203B41FA5}">
                      <a16:colId xmlns:a16="http://schemas.microsoft.com/office/drawing/2014/main" val="3774728364"/>
                    </a:ext>
                  </a:extLst>
                </a:gridCol>
                <a:gridCol w="1299394">
                  <a:extLst>
                    <a:ext uri="{9D8B030D-6E8A-4147-A177-3AD203B41FA5}">
                      <a16:colId xmlns:a16="http://schemas.microsoft.com/office/drawing/2014/main" val="2520262302"/>
                    </a:ext>
                  </a:extLst>
                </a:gridCol>
                <a:gridCol w="1159460">
                  <a:extLst>
                    <a:ext uri="{9D8B030D-6E8A-4147-A177-3AD203B41FA5}">
                      <a16:colId xmlns:a16="http://schemas.microsoft.com/office/drawing/2014/main" val="585298951"/>
                    </a:ext>
                  </a:extLst>
                </a:gridCol>
                <a:gridCol w="959553">
                  <a:extLst>
                    <a:ext uri="{9D8B030D-6E8A-4147-A177-3AD203B41FA5}">
                      <a16:colId xmlns:a16="http://schemas.microsoft.com/office/drawing/2014/main" val="134526536"/>
                    </a:ext>
                  </a:extLst>
                </a:gridCol>
                <a:gridCol w="1419339">
                  <a:extLst>
                    <a:ext uri="{9D8B030D-6E8A-4147-A177-3AD203B41FA5}">
                      <a16:colId xmlns:a16="http://schemas.microsoft.com/office/drawing/2014/main" val="4226972661"/>
                    </a:ext>
                  </a:extLst>
                </a:gridCol>
              </a:tblGrid>
              <a:tr h="5887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Area (</a:t>
                      </a:r>
                      <a:r>
                        <a:rPr lang="en-IN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sqft</a:t>
                      </a: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Bedrooms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Location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Price (₹ Lakhs)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2958608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Urban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2708527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Urban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0102585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1175</a:t>
                      </a:r>
                      <a:endParaRPr lang="en-IN" sz="18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Rural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9100827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Rural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51.25</a:t>
                      </a:r>
                      <a:endParaRPr lang="en-IN" sz="18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01384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3743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A7BFF-D4BF-4FFF-B595-8432F376C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152F1-22BF-00EF-766F-FAB3FF4AF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192" y="278638"/>
            <a:ext cx="11189614" cy="677108"/>
          </a:xfrm>
        </p:spPr>
        <p:txBody>
          <a:bodyPr/>
          <a:lstStyle/>
          <a:p>
            <a:r>
              <a:rPr lang="en-IN" dirty="0"/>
              <a:t>Example using a sample dataset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CDBECC-E335-D2A8-679E-981065514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7699" y="1327313"/>
            <a:ext cx="5600701" cy="1107996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Encoding (Categorical → Numerical)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One-Hot Encoding.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45769A-8E6A-85B9-1068-FC24C9E3B24A}"/>
              </a:ext>
            </a:extLst>
          </p:cNvPr>
          <p:cNvSpPr txBox="1"/>
          <p:nvPr/>
        </p:nvSpPr>
        <p:spPr>
          <a:xfrm>
            <a:off x="8077200" y="5891928"/>
            <a:ext cx="152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After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79A4C5-4314-3976-DF0C-5B877A1800A2}"/>
              </a:ext>
            </a:extLst>
          </p:cNvPr>
          <p:cNvSpPr txBox="1"/>
          <p:nvPr/>
        </p:nvSpPr>
        <p:spPr>
          <a:xfrm>
            <a:off x="2362200" y="5872878"/>
            <a:ext cx="152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Before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62012E1-4110-7392-F401-7417208492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969798"/>
              </p:ext>
            </p:extLst>
          </p:nvPr>
        </p:nvGraphicFramePr>
        <p:xfrm>
          <a:off x="501192" y="3962400"/>
          <a:ext cx="5137606" cy="1767715"/>
        </p:xfrm>
        <a:graphic>
          <a:graphicData uri="http://schemas.openxmlformats.org/drawingml/2006/table">
            <a:tbl>
              <a:tblPr/>
              <a:tblGrid>
                <a:gridCol w="299860">
                  <a:extLst>
                    <a:ext uri="{9D8B030D-6E8A-4147-A177-3AD203B41FA5}">
                      <a16:colId xmlns:a16="http://schemas.microsoft.com/office/drawing/2014/main" val="3774728364"/>
                    </a:ext>
                  </a:extLst>
                </a:gridCol>
                <a:gridCol w="1299394">
                  <a:extLst>
                    <a:ext uri="{9D8B030D-6E8A-4147-A177-3AD203B41FA5}">
                      <a16:colId xmlns:a16="http://schemas.microsoft.com/office/drawing/2014/main" val="2520262302"/>
                    </a:ext>
                  </a:extLst>
                </a:gridCol>
                <a:gridCol w="1159460">
                  <a:extLst>
                    <a:ext uri="{9D8B030D-6E8A-4147-A177-3AD203B41FA5}">
                      <a16:colId xmlns:a16="http://schemas.microsoft.com/office/drawing/2014/main" val="585298951"/>
                    </a:ext>
                  </a:extLst>
                </a:gridCol>
                <a:gridCol w="959553">
                  <a:extLst>
                    <a:ext uri="{9D8B030D-6E8A-4147-A177-3AD203B41FA5}">
                      <a16:colId xmlns:a16="http://schemas.microsoft.com/office/drawing/2014/main" val="134526536"/>
                    </a:ext>
                  </a:extLst>
                </a:gridCol>
                <a:gridCol w="1419339">
                  <a:extLst>
                    <a:ext uri="{9D8B030D-6E8A-4147-A177-3AD203B41FA5}">
                      <a16:colId xmlns:a16="http://schemas.microsoft.com/office/drawing/2014/main" val="4226972661"/>
                    </a:ext>
                  </a:extLst>
                </a:gridCol>
              </a:tblGrid>
              <a:tr h="5887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Area (</a:t>
                      </a:r>
                      <a:r>
                        <a:rPr lang="en-IN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sqft</a:t>
                      </a: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Bedrooms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Location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Price (₹ Lakhs)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2958608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Urban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2708527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Urban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0102585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1175</a:t>
                      </a:r>
                      <a:endParaRPr lang="en-IN" sz="18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Rural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9100827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Rural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51.25</a:t>
                      </a:r>
                      <a:endParaRPr lang="en-IN" sz="18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013841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8B679E4-9526-0504-3C86-592876BBFA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520519"/>
              </p:ext>
            </p:extLst>
          </p:nvPr>
        </p:nvGraphicFramePr>
        <p:xfrm>
          <a:off x="3962400" y="2016400"/>
          <a:ext cx="3743328" cy="11820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76">
                  <a:extLst>
                    <a:ext uri="{9D8B030D-6E8A-4147-A177-3AD203B41FA5}">
                      <a16:colId xmlns:a16="http://schemas.microsoft.com/office/drawing/2014/main" val="922762025"/>
                    </a:ext>
                  </a:extLst>
                </a:gridCol>
                <a:gridCol w="1247776">
                  <a:extLst>
                    <a:ext uri="{9D8B030D-6E8A-4147-A177-3AD203B41FA5}">
                      <a16:colId xmlns:a16="http://schemas.microsoft.com/office/drawing/2014/main" val="2811392834"/>
                    </a:ext>
                  </a:extLst>
                </a:gridCol>
                <a:gridCol w="1247776">
                  <a:extLst>
                    <a:ext uri="{9D8B030D-6E8A-4147-A177-3AD203B41FA5}">
                      <a16:colId xmlns:a16="http://schemas.microsoft.com/office/drawing/2014/main" val="2143014994"/>
                    </a:ext>
                  </a:extLst>
                </a:gridCol>
              </a:tblGrid>
              <a:tr h="394007">
                <a:tc>
                  <a:txBody>
                    <a:bodyPr/>
                    <a:lstStyle/>
                    <a:p>
                      <a:endParaRPr lang="en-IN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Urban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Rural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538614"/>
                  </a:ext>
                </a:extLst>
              </a:tr>
              <a:tr h="394007"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Urban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6990915"/>
                  </a:ext>
                </a:extLst>
              </a:tr>
              <a:tr h="394007"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726166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F3E36B7-2994-B64A-9C71-90E642B20C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1595950"/>
              </p:ext>
            </p:extLst>
          </p:nvPr>
        </p:nvGraphicFramePr>
        <p:xfrm>
          <a:off x="5932261" y="3961967"/>
          <a:ext cx="5600699" cy="1767715"/>
        </p:xfrm>
        <a:graphic>
          <a:graphicData uri="http://schemas.openxmlformats.org/drawingml/2006/table">
            <a:tbl>
              <a:tblPr/>
              <a:tblGrid>
                <a:gridCol w="275444">
                  <a:extLst>
                    <a:ext uri="{9D8B030D-6E8A-4147-A177-3AD203B41FA5}">
                      <a16:colId xmlns:a16="http://schemas.microsoft.com/office/drawing/2014/main" val="3774728364"/>
                    </a:ext>
                  </a:extLst>
                </a:gridCol>
                <a:gridCol w="1193591">
                  <a:extLst>
                    <a:ext uri="{9D8B030D-6E8A-4147-A177-3AD203B41FA5}">
                      <a16:colId xmlns:a16="http://schemas.microsoft.com/office/drawing/2014/main" val="2520262302"/>
                    </a:ext>
                  </a:extLst>
                </a:gridCol>
                <a:gridCol w="1065052">
                  <a:extLst>
                    <a:ext uri="{9D8B030D-6E8A-4147-A177-3AD203B41FA5}">
                      <a16:colId xmlns:a16="http://schemas.microsoft.com/office/drawing/2014/main" val="585298951"/>
                    </a:ext>
                  </a:extLst>
                </a:gridCol>
                <a:gridCol w="881421">
                  <a:extLst>
                    <a:ext uri="{9D8B030D-6E8A-4147-A177-3AD203B41FA5}">
                      <a16:colId xmlns:a16="http://schemas.microsoft.com/office/drawing/2014/main" val="134526536"/>
                    </a:ext>
                  </a:extLst>
                </a:gridCol>
                <a:gridCol w="881421">
                  <a:extLst>
                    <a:ext uri="{9D8B030D-6E8A-4147-A177-3AD203B41FA5}">
                      <a16:colId xmlns:a16="http://schemas.microsoft.com/office/drawing/2014/main" val="1868924193"/>
                    </a:ext>
                  </a:extLst>
                </a:gridCol>
                <a:gridCol w="1303770">
                  <a:extLst>
                    <a:ext uri="{9D8B030D-6E8A-4147-A177-3AD203B41FA5}">
                      <a16:colId xmlns:a16="http://schemas.microsoft.com/office/drawing/2014/main" val="4226972661"/>
                    </a:ext>
                  </a:extLst>
                </a:gridCol>
              </a:tblGrid>
              <a:tr h="5887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Area (</a:t>
                      </a:r>
                      <a:r>
                        <a:rPr lang="en-IN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sqft</a:t>
                      </a: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Bedrooms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Urban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Rural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Price (₹ Lakhs)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2958608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2708527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0102585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1175</a:t>
                      </a:r>
                      <a:endParaRPr lang="en-IN" sz="18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9100827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51.25</a:t>
                      </a:r>
                      <a:endParaRPr lang="en-IN" sz="18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01384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48223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86CC8-5DF1-E42E-A5CF-DF72C4FE3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7991A-2016-13A4-B03D-70970B069E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192" y="278638"/>
            <a:ext cx="11189614" cy="677108"/>
          </a:xfrm>
        </p:spPr>
        <p:txBody>
          <a:bodyPr/>
          <a:lstStyle/>
          <a:p>
            <a:r>
              <a:rPr lang="en-IN" dirty="0"/>
              <a:t>Example using a sample dataset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6CD3FB-4C32-7610-2235-505365465E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7699" y="1327313"/>
            <a:ext cx="8267701" cy="2523768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Scaling (Normalization)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 Area so large values do not dominate.</a:t>
            </a:r>
          </a:p>
          <a:p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Normalization formula: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IN" sz="2000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(X –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IN" sz="2000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)/(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IN" sz="2000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max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IN" sz="2000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 Area = 800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Max Area = 1500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Area = 1200,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Xnorm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(1200−800)/(1500−800)=0.57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F899B2-A81A-82FB-6BB6-2808E7DA08BF}"/>
              </a:ext>
            </a:extLst>
          </p:cNvPr>
          <p:cNvSpPr txBox="1"/>
          <p:nvPr/>
        </p:nvSpPr>
        <p:spPr>
          <a:xfrm>
            <a:off x="8439149" y="6149345"/>
            <a:ext cx="152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After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329D3B-050E-4B39-4B52-F967593C7B0C}"/>
              </a:ext>
            </a:extLst>
          </p:cNvPr>
          <p:cNvSpPr txBox="1"/>
          <p:nvPr/>
        </p:nvSpPr>
        <p:spPr>
          <a:xfrm>
            <a:off x="2362200" y="6168395"/>
            <a:ext cx="152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Before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0CC1C32-1683-6452-AFA3-EB8330B216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1713230"/>
              </p:ext>
            </p:extLst>
          </p:nvPr>
        </p:nvGraphicFramePr>
        <p:xfrm>
          <a:off x="485775" y="4361982"/>
          <a:ext cx="5600699" cy="1767715"/>
        </p:xfrm>
        <a:graphic>
          <a:graphicData uri="http://schemas.openxmlformats.org/drawingml/2006/table">
            <a:tbl>
              <a:tblPr/>
              <a:tblGrid>
                <a:gridCol w="275444">
                  <a:extLst>
                    <a:ext uri="{9D8B030D-6E8A-4147-A177-3AD203B41FA5}">
                      <a16:colId xmlns:a16="http://schemas.microsoft.com/office/drawing/2014/main" val="3774728364"/>
                    </a:ext>
                  </a:extLst>
                </a:gridCol>
                <a:gridCol w="1193591">
                  <a:extLst>
                    <a:ext uri="{9D8B030D-6E8A-4147-A177-3AD203B41FA5}">
                      <a16:colId xmlns:a16="http://schemas.microsoft.com/office/drawing/2014/main" val="2520262302"/>
                    </a:ext>
                  </a:extLst>
                </a:gridCol>
                <a:gridCol w="1065052">
                  <a:extLst>
                    <a:ext uri="{9D8B030D-6E8A-4147-A177-3AD203B41FA5}">
                      <a16:colId xmlns:a16="http://schemas.microsoft.com/office/drawing/2014/main" val="585298951"/>
                    </a:ext>
                  </a:extLst>
                </a:gridCol>
                <a:gridCol w="881421">
                  <a:extLst>
                    <a:ext uri="{9D8B030D-6E8A-4147-A177-3AD203B41FA5}">
                      <a16:colId xmlns:a16="http://schemas.microsoft.com/office/drawing/2014/main" val="134526536"/>
                    </a:ext>
                  </a:extLst>
                </a:gridCol>
                <a:gridCol w="881421">
                  <a:extLst>
                    <a:ext uri="{9D8B030D-6E8A-4147-A177-3AD203B41FA5}">
                      <a16:colId xmlns:a16="http://schemas.microsoft.com/office/drawing/2014/main" val="1868924193"/>
                    </a:ext>
                  </a:extLst>
                </a:gridCol>
                <a:gridCol w="1303770">
                  <a:extLst>
                    <a:ext uri="{9D8B030D-6E8A-4147-A177-3AD203B41FA5}">
                      <a16:colId xmlns:a16="http://schemas.microsoft.com/office/drawing/2014/main" val="4226972661"/>
                    </a:ext>
                  </a:extLst>
                </a:gridCol>
              </a:tblGrid>
              <a:tr h="5887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Area (</a:t>
                      </a:r>
                      <a:r>
                        <a:rPr lang="en-IN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sqft</a:t>
                      </a: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Bedrooms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Urban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Rural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Price (₹ Lakhs)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2958608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2708527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0102585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1175</a:t>
                      </a:r>
                      <a:endParaRPr lang="en-IN" sz="18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9100827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51.25</a:t>
                      </a:r>
                      <a:endParaRPr lang="en-IN" sz="18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013841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4CF1AD6-0ACF-5D9A-1660-EDBBE71114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2229996"/>
              </p:ext>
            </p:extLst>
          </p:nvPr>
        </p:nvGraphicFramePr>
        <p:xfrm>
          <a:off x="6400799" y="4343530"/>
          <a:ext cx="5600699" cy="1767715"/>
        </p:xfrm>
        <a:graphic>
          <a:graphicData uri="http://schemas.openxmlformats.org/drawingml/2006/table">
            <a:tbl>
              <a:tblPr/>
              <a:tblGrid>
                <a:gridCol w="275444">
                  <a:extLst>
                    <a:ext uri="{9D8B030D-6E8A-4147-A177-3AD203B41FA5}">
                      <a16:colId xmlns:a16="http://schemas.microsoft.com/office/drawing/2014/main" val="3774728364"/>
                    </a:ext>
                  </a:extLst>
                </a:gridCol>
                <a:gridCol w="1193591">
                  <a:extLst>
                    <a:ext uri="{9D8B030D-6E8A-4147-A177-3AD203B41FA5}">
                      <a16:colId xmlns:a16="http://schemas.microsoft.com/office/drawing/2014/main" val="2520262302"/>
                    </a:ext>
                  </a:extLst>
                </a:gridCol>
                <a:gridCol w="1065052">
                  <a:extLst>
                    <a:ext uri="{9D8B030D-6E8A-4147-A177-3AD203B41FA5}">
                      <a16:colId xmlns:a16="http://schemas.microsoft.com/office/drawing/2014/main" val="585298951"/>
                    </a:ext>
                  </a:extLst>
                </a:gridCol>
                <a:gridCol w="881421">
                  <a:extLst>
                    <a:ext uri="{9D8B030D-6E8A-4147-A177-3AD203B41FA5}">
                      <a16:colId xmlns:a16="http://schemas.microsoft.com/office/drawing/2014/main" val="134526536"/>
                    </a:ext>
                  </a:extLst>
                </a:gridCol>
                <a:gridCol w="881421">
                  <a:extLst>
                    <a:ext uri="{9D8B030D-6E8A-4147-A177-3AD203B41FA5}">
                      <a16:colId xmlns:a16="http://schemas.microsoft.com/office/drawing/2014/main" val="1868924193"/>
                    </a:ext>
                  </a:extLst>
                </a:gridCol>
                <a:gridCol w="1303770">
                  <a:extLst>
                    <a:ext uri="{9D8B030D-6E8A-4147-A177-3AD203B41FA5}">
                      <a16:colId xmlns:a16="http://schemas.microsoft.com/office/drawing/2014/main" val="4226972661"/>
                    </a:ext>
                  </a:extLst>
                </a:gridCol>
              </a:tblGrid>
              <a:tr h="5887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Area (</a:t>
                      </a:r>
                      <a:r>
                        <a:rPr lang="en-IN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sqft</a:t>
                      </a: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Bedrooms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Urban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Rural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Price (₹ Lakhs)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2958608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2708527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0102585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0.54</a:t>
                      </a:r>
                      <a:endParaRPr lang="en-IN" sz="18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9100827"/>
                  </a:ext>
                </a:extLst>
              </a:tr>
              <a:tr h="29474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51.25</a:t>
                      </a:r>
                      <a:endParaRPr lang="en-IN" sz="18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01384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60432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84EAF-6C26-0485-0E68-97856A715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192" y="278638"/>
            <a:ext cx="11189614" cy="677108"/>
          </a:xfrm>
        </p:spPr>
        <p:txBody>
          <a:bodyPr/>
          <a:lstStyle/>
          <a:p>
            <a:r>
              <a:rPr lang="en-IN" dirty="0"/>
              <a:t>Types of data</a:t>
            </a:r>
          </a:p>
        </p:txBody>
      </p:sp>
      <p:pic>
        <p:nvPicPr>
          <p:cNvPr id="5" name="Picture 4" descr="A diagram of a data flow&#10;&#10;AI-generated content may be incorrect.">
            <a:extLst>
              <a:ext uri="{FF2B5EF4-FFF2-40B4-BE49-F238E27FC236}">
                <a16:creationId xmlns:a16="http://schemas.microsoft.com/office/drawing/2014/main" id="{FD2FFD3E-75B7-3421-6854-0A5AA2DEA0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0" y="457200"/>
            <a:ext cx="6710905" cy="5643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40735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2F052-FBC3-A83D-C99F-CC5776204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192" y="278638"/>
            <a:ext cx="11189614" cy="677108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Continuous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4679ED-56DF-2D91-ED4F-4D150814C9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41194" y="1344448"/>
            <a:ext cx="8309610" cy="4185761"/>
          </a:xfrm>
        </p:spPr>
        <p:txBody>
          <a:bodyPr/>
          <a:lstStyle/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Interval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I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Equal intervals between values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I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true zero (zero does not mean none)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I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Addition and subtraction are meaningful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I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 Date, temperature, time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Ratio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I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Like interval data but has true zero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I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Addition, subtraction, multiplication and division are meaningful.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I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 Speed, distance</a:t>
            </a:r>
          </a:p>
        </p:txBody>
      </p:sp>
    </p:spTree>
    <p:extLst>
      <p:ext uri="{BB962C8B-B14F-4D97-AF65-F5344CB8AC3E}">
        <p14:creationId xmlns:p14="http://schemas.microsoft.com/office/powerpoint/2010/main" val="5477966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61518" rIns="0" bIns="0" rtlCol="0">
            <a:spAutoFit/>
          </a:bodyPr>
          <a:lstStyle/>
          <a:p>
            <a:pPr marL="727075">
              <a:lnSpc>
                <a:spcPct val="100000"/>
              </a:lnSpc>
              <a:spcBef>
                <a:spcPts val="105"/>
              </a:spcBef>
            </a:pPr>
            <a:r>
              <a:rPr dirty="0"/>
              <a:t>Linear</a:t>
            </a:r>
            <a:r>
              <a:rPr spc="-25" dirty="0"/>
              <a:t> </a:t>
            </a:r>
            <a:r>
              <a:rPr spc="-10" dirty="0"/>
              <a:t>Regression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215948" y="1734692"/>
            <a:ext cx="5297805" cy="390271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239395" marR="5080" indent="-227329" algn="just">
              <a:lnSpc>
                <a:spcPct val="90000"/>
              </a:lnSpc>
              <a:spcBef>
                <a:spcPts val="385"/>
              </a:spcBef>
              <a:buFont typeface="Arial MT"/>
              <a:buChar char="•"/>
              <a:tabLst>
                <a:tab pos="240665" algn="l"/>
              </a:tabLst>
            </a:pPr>
            <a:r>
              <a:rPr sz="2400" dirty="0">
                <a:latin typeface="Times New Roman"/>
                <a:cs typeface="Times New Roman"/>
              </a:rPr>
              <a:t>Linear</a:t>
            </a:r>
            <a:r>
              <a:rPr sz="2400" spc="5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regression</a:t>
            </a:r>
            <a:r>
              <a:rPr sz="2400" spc="50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is</a:t>
            </a:r>
            <a:r>
              <a:rPr sz="2400" spc="5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used</a:t>
            </a:r>
            <a:r>
              <a:rPr sz="2400" spc="5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for</a:t>
            </a:r>
            <a:r>
              <a:rPr sz="2400" spc="52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modeling 	</a:t>
            </a: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20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relationship</a:t>
            </a:r>
            <a:r>
              <a:rPr sz="2400" spc="22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between</a:t>
            </a:r>
            <a:r>
              <a:rPr sz="2400" spc="21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a</a:t>
            </a:r>
            <a:r>
              <a:rPr sz="2400" spc="210" dirty="0">
                <a:latin typeface="Times New Roman"/>
                <a:cs typeface="Times New Roman"/>
              </a:rPr>
              <a:t>  </a:t>
            </a:r>
            <a:r>
              <a:rPr sz="2400" spc="-10" dirty="0">
                <a:latin typeface="Times New Roman"/>
                <a:cs typeface="Times New Roman"/>
              </a:rPr>
              <a:t>dependent 	</a:t>
            </a:r>
            <a:r>
              <a:rPr sz="2400" dirty="0">
                <a:latin typeface="Times New Roman"/>
                <a:cs typeface="Times New Roman"/>
              </a:rPr>
              <a:t>variable</a:t>
            </a:r>
            <a:r>
              <a:rPr sz="2400" spc="50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(target)</a:t>
            </a:r>
            <a:r>
              <a:rPr sz="2400" spc="50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and</a:t>
            </a:r>
            <a:r>
              <a:rPr sz="2400" spc="49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one</a:t>
            </a:r>
            <a:r>
              <a:rPr sz="2400" spc="50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or</a:t>
            </a:r>
            <a:r>
              <a:rPr sz="2400" spc="509" dirty="0">
                <a:latin typeface="Times New Roman"/>
                <a:cs typeface="Times New Roman"/>
              </a:rPr>
              <a:t>  </a:t>
            </a:r>
            <a:r>
              <a:rPr sz="2400" spc="-20" dirty="0">
                <a:latin typeface="Times New Roman"/>
                <a:cs typeface="Times New Roman"/>
              </a:rPr>
              <a:t>more 	</a:t>
            </a:r>
            <a:r>
              <a:rPr sz="2400" dirty="0">
                <a:latin typeface="Times New Roman"/>
                <a:cs typeface="Times New Roman"/>
              </a:rPr>
              <a:t>independent</a:t>
            </a:r>
            <a:r>
              <a:rPr sz="2400" spc="53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variables</a:t>
            </a:r>
            <a:r>
              <a:rPr sz="2400" spc="54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(predictors</a:t>
            </a:r>
            <a:r>
              <a:rPr sz="2400" spc="540" dirty="0">
                <a:latin typeface="Times New Roman"/>
                <a:cs typeface="Times New Roman"/>
              </a:rPr>
              <a:t>  </a:t>
            </a:r>
            <a:r>
              <a:rPr sz="2400" spc="-25" dirty="0">
                <a:latin typeface="Times New Roman"/>
                <a:cs typeface="Times New Roman"/>
              </a:rPr>
              <a:t>or 	</a:t>
            </a:r>
            <a:r>
              <a:rPr sz="2400" dirty="0">
                <a:latin typeface="Times New Roman"/>
                <a:cs typeface="Times New Roman"/>
              </a:rPr>
              <a:t>features)</a:t>
            </a:r>
            <a:r>
              <a:rPr sz="2400" spc="56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by</a:t>
            </a:r>
            <a:r>
              <a:rPr sz="2400" spc="5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fitting</a:t>
            </a:r>
            <a:r>
              <a:rPr sz="2400" spc="55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</a:t>
            </a:r>
            <a:r>
              <a:rPr sz="2400" spc="5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linear</a:t>
            </a:r>
            <a:r>
              <a:rPr sz="2400" spc="5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line</a:t>
            </a:r>
            <a:r>
              <a:rPr sz="2400" spc="55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to</a:t>
            </a:r>
            <a:r>
              <a:rPr sz="2400" spc="545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the 	</a:t>
            </a:r>
            <a:r>
              <a:rPr sz="2400" dirty="0">
                <a:latin typeface="Times New Roman"/>
                <a:cs typeface="Times New Roman"/>
              </a:rPr>
              <a:t>observed</a:t>
            </a:r>
            <a:r>
              <a:rPr sz="2400" spc="-5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data.</a:t>
            </a:r>
            <a:endParaRPr sz="2400">
              <a:latin typeface="Times New Roman"/>
              <a:cs typeface="Times New Roman"/>
            </a:endParaRPr>
          </a:p>
          <a:p>
            <a:pPr marL="239395" marR="5080" indent="-227329" algn="just">
              <a:lnSpc>
                <a:spcPts val="2590"/>
              </a:lnSpc>
              <a:spcBef>
                <a:spcPts val="1040"/>
              </a:spcBef>
              <a:buFont typeface="Arial MT"/>
              <a:buChar char="•"/>
              <a:tabLst>
                <a:tab pos="240665" algn="l"/>
              </a:tabLst>
            </a:pP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49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aim</a:t>
            </a:r>
            <a:r>
              <a:rPr sz="2400" spc="484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is</a:t>
            </a:r>
            <a:r>
              <a:rPr sz="2400" spc="50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to</a:t>
            </a:r>
            <a:r>
              <a:rPr sz="2400" spc="49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find</a:t>
            </a:r>
            <a:r>
              <a:rPr sz="2400" spc="484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49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best</a:t>
            </a:r>
            <a:r>
              <a:rPr sz="2400" spc="50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fitting</a:t>
            </a:r>
            <a:r>
              <a:rPr sz="2400" spc="500" dirty="0">
                <a:latin typeface="Times New Roman"/>
                <a:cs typeface="Times New Roman"/>
              </a:rPr>
              <a:t> </a:t>
            </a:r>
            <a:r>
              <a:rPr sz="2400" spc="-20" dirty="0">
                <a:latin typeface="Times New Roman"/>
                <a:cs typeface="Times New Roman"/>
              </a:rPr>
              <a:t>line 	</a:t>
            </a:r>
            <a:r>
              <a:rPr sz="2400" dirty="0">
                <a:latin typeface="Times New Roman"/>
                <a:cs typeface="Times New Roman"/>
              </a:rPr>
              <a:t>that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describes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relationship.</a:t>
            </a:r>
            <a:endParaRPr sz="2400">
              <a:latin typeface="Times New Roman"/>
              <a:cs typeface="Times New Roman"/>
            </a:endParaRPr>
          </a:p>
          <a:p>
            <a:pPr marL="239395" indent="-226695" algn="just">
              <a:lnSpc>
                <a:spcPct val="100000"/>
              </a:lnSpc>
              <a:spcBef>
                <a:spcPts val="745"/>
              </a:spcBef>
              <a:buFont typeface="Arial MT"/>
              <a:buChar char="•"/>
              <a:tabLst>
                <a:tab pos="239395" algn="l"/>
              </a:tabLst>
            </a:pPr>
            <a:r>
              <a:rPr sz="2000" spc="-10" dirty="0">
                <a:latin typeface="Times New Roman"/>
                <a:cs typeface="Times New Roman"/>
              </a:rPr>
              <a:t>Types</a:t>
            </a:r>
            <a:endParaRPr sz="2000">
              <a:latin typeface="Times New Roman"/>
              <a:cs typeface="Times New Roman"/>
            </a:endParaRPr>
          </a:p>
          <a:p>
            <a:pPr marL="695960" lvl="1" indent="-226695" algn="just">
              <a:lnSpc>
                <a:spcPct val="100000"/>
              </a:lnSpc>
              <a:spcBef>
                <a:spcPts val="254"/>
              </a:spcBef>
              <a:buFont typeface="Arial MT"/>
              <a:buChar char="•"/>
              <a:tabLst>
                <a:tab pos="695960" algn="l"/>
              </a:tabLst>
            </a:pPr>
            <a:r>
              <a:rPr sz="2000" dirty="0">
                <a:latin typeface="Times New Roman"/>
                <a:cs typeface="Times New Roman"/>
              </a:rPr>
              <a:t>Simple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Linear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Regression</a:t>
            </a:r>
            <a:endParaRPr sz="2000">
              <a:latin typeface="Times New Roman"/>
              <a:cs typeface="Times New Roman"/>
            </a:endParaRPr>
          </a:p>
          <a:p>
            <a:pPr marL="695960" lvl="1" indent="-226695" algn="just">
              <a:lnSpc>
                <a:spcPct val="100000"/>
              </a:lnSpc>
              <a:spcBef>
                <a:spcPts val="265"/>
              </a:spcBef>
              <a:buFont typeface="Arial MT"/>
              <a:buChar char="•"/>
              <a:tabLst>
                <a:tab pos="695960" algn="l"/>
              </a:tabLst>
            </a:pPr>
            <a:r>
              <a:rPr sz="2000" dirty="0">
                <a:latin typeface="Times New Roman"/>
                <a:cs typeface="Times New Roman"/>
              </a:rPr>
              <a:t>Multiple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Linear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Regression</a:t>
            </a:r>
            <a:endParaRPr sz="20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85933" y="2418633"/>
            <a:ext cx="3522197" cy="333857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8023606" y="5947359"/>
            <a:ext cx="1763395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85" dirty="0">
                <a:latin typeface="Trebuchet MS"/>
                <a:cs typeface="Trebuchet MS"/>
              </a:rPr>
              <a:t>Fig.</a:t>
            </a:r>
            <a:r>
              <a:rPr sz="1800" spc="-180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Simple</a:t>
            </a:r>
            <a:r>
              <a:rPr sz="1800" spc="-175" dirty="0">
                <a:latin typeface="Trebuchet MS"/>
                <a:cs typeface="Trebuchet MS"/>
              </a:rPr>
              <a:t> </a:t>
            </a:r>
            <a:r>
              <a:rPr sz="1800" spc="-25" dirty="0">
                <a:latin typeface="Trebuchet MS"/>
                <a:cs typeface="Trebuchet MS"/>
              </a:rPr>
              <a:t>Linear</a:t>
            </a:r>
            <a:endParaRPr sz="18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1800" spc="-10" dirty="0">
                <a:latin typeface="Trebuchet MS"/>
                <a:cs typeface="Trebuchet MS"/>
              </a:rPr>
              <a:t>Regression</a:t>
            </a:r>
            <a:endParaRPr sz="18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67918" y="860882"/>
            <a:ext cx="583311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Simple</a:t>
            </a:r>
            <a:r>
              <a:rPr spc="-20" dirty="0"/>
              <a:t> </a:t>
            </a:r>
            <a:r>
              <a:rPr dirty="0"/>
              <a:t>Linear</a:t>
            </a:r>
            <a:r>
              <a:rPr spc="-25" dirty="0"/>
              <a:t> </a:t>
            </a:r>
            <a:r>
              <a:rPr spc="-10" dirty="0"/>
              <a:t>Regression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42518" y="2021560"/>
            <a:ext cx="5017135" cy="1372870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266065" indent="-227965">
              <a:lnSpc>
                <a:spcPct val="100000"/>
              </a:lnSpc>
              <a:spcBef>
                <a:spcPts val="855"/>
              </a:spcBef>
              <a:buFont typeface="Arial MT"/>
              <a:buChar char="•"/>
              <a:tabLst>
                <a:tab pos="266065" algn="l"/>
              </a:tabLst>
            </a:pPr>
            <a:r>
              <a:rPr sz="2000" dirty="0">
                <a:latin typeface="Times New Roman"/>
                <a:cs typeface="Times New Roman"/>
              </a:rPr>
              <a:t>One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independent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and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one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dependent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variable.</a:t>
            </a:r>
            <a:endParaRPr sz="2000">
              <a:latin typeface="Times New Roman"/>
              <a:cs typeface="Times New Roman"/>
            </a:endParaRPr>
          </a:p>
          <a:p>
            <a:pPr marL="266065" indent="-227965">
              <a:lnSpc>
                <a:spcPts val="2280"/>
              </a:lnSpc>
              <a:spcBef>
                <a:spcPts val="755"/>
              </a:spcBef>
              <a:buFont typeface="Arial MT"/>
              <a:buChar char="•"/>
              <a:tabLst>
                <a:tab pos="266065" algn="l"/>
              </a:tabLst>
            </a:pPr>
            <a:r>
              <a:rPr sz="2000" dirty="0">
                <a:latin typeface="Times New Roman"/>
                <a:cs typeface="Times New Roman"/>
              </a:rPr>
              <a:t>Simple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Linear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regression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model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is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represented</a:t>
            </a:r>
            <a:endParaRPr sz="2000">
              <a:latin typeface="Times New Roman"/>
              <a:cs typeface="Times New Roman"/>
            </a:endParaRPr>
          </a:p>
          <a:p>
            <a:pPr marL="266700">
              <a:lnSpc>
                <a:spcPts val="2150"/>
              </a:lnSpc>
            </a:pPr>
            <a:r>
              <a:rPr sz="2000" dirty="0">
                <a:latin typeface="Times New Roman"/>
                <a:cs typeface="Times New Roman"/>
              </a:rPr>
              <a:t>by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the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following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equation: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spc="-50" dirty="0">
                <a:latin typeface="Times New Roman"/>
                <a:cs typeface="Times New Roman"/>
              </a:rPr>
              <a:t>-</a:t>
            </a:r>
            <a:endParaRPr sz="2000">
              <a:latin typeface="Times New Roman"/>
              <a:cs typeface="Times New Roman"/>
            </a:endParaRPr>
          </a:p>
          <a:p>
            <a:pPr marL="114935" algn="ctr">
              <a:lnSpc>
                <a:spcPts val="2270"/>
              </a:lnSpc>
              <a:tabLst>
                <a:tab pos="661670" algn="l"/>
              </a:tabLst>
            </a:pPr>
            <a:r>
              <a:rPr sz="2000" dirty="0">
                <a:latin typeface="Cambria Math"/>
                <a:cs typeface="Cambria Math"/>
              </a:rPr>
              <a:t>𝑌</a:t>
            </a:r>
            <a:r>
              <a:rPr sz="2000" spc="150" dirty="0">
                <a:latin typeface="Cambria Math"/>
                <a:cs typeface="Cambria Math"/>
              </a:rPr>
              <a:t> </a:t>
            </a:r>
            <a:r>
              <a:rPr sz="2000" spc="-50" dirty="0">
                <a:latin typeface="Cambria Math"/>
                <a:cs typeface="Cambria Math"/>
              </a:rPr>
              <a:t>=</a:t>
            </a:r>
            <a:r>
              <a:rPr sz="2000" dirty="0">
                <a:latin typeface="Cambria Math"/>
                <a:cs typeface="Cambria Math"/>
              </a:rPr>
              <a:t>	𝛽</a:t>
            </a:r>
            <a:r>
              <a:rPr sz="1950" baseline="-21367" dirty="0">
                <a:latin typeface="Cambria Math"/>
                <a:cs typeface="Cambria Math"/>
              </a:rPr>
              <a:t>0</a:t>
            </a:r>
            <a:r>
              <a:rPr sz="1950" spc="217" baseline="-21367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+</a:t>
            </a:r>
            <a:r>
              <a:rPr sz="2000" spc="434" dirty="0">
                <a:latin typeface="Cambria Math"/>
                <a:cs typeface="Cambria Math"/>
              </a:rPr>
              <a:t> </a:t>
            </a:r>
            <a:r>
              <a:rPr sz="2000" spc="-25" dirty="0">
                <a:latin typeface="Cambria Math"/>
                <a:cs typeface="Cambria Math"/>
              </a:rPr>
              <a:t>𝛽</a:t>
            </a:r>
            <a:r>
              <a:rPr sz="1950" spc="-37" baseline="-21367" dirty="0">
                <a:latin typeface="Cambria Math"/>
                <a:cs typeface="Cambria Math"/>
              </a:rPr>
              <a:t>1</a:t>
            </a:r>
            <a:r>
              <a:rPr sz="2000" spc="-25" dirty="0">
                <a:latin typeface="Cambria Math"/>
                <a:cs typeface="Cambria Math"/>
              </a:rPr>
              <a:t>𝑋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582674" y="3565016"/>
            <a:ext cx="666115" cy="31115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850" spc="-10" dirty="0">
                <a:latin typeface="Times New Roman"/>
                <a:cs typeface="Times New Roman"/>
              </a:rPr>
              <a:t>where,</a:t>
            </a:r>
            <a:endParaRPr sz="185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42518" y="3364458"/>
            <a:ext cx="5045075" cy="2181225"/>
          </a:xfrm>
          <a:prstGeom prst="rect">
            <a:avLst/>
          </a:prstGeom>
        </p:spPr>
        <p:txBody>
          <a:bodyPr vert="horz" wrap="square" lIns="0" tIns="109855" rIns="0" bIns="0" rtlCol="0">
            <a:spAutoFit/>
          </a:bodyPr>
          <a:lstStyle/>
          <a:p>
            <a:pPr marL="2134870">
              <a:lnSpc>
                <a:spcPct val="100000"/>
              </a:lnSpc>
              <a:spcBef>
                <a:spcPts val="865"/>
              </a:spcBef>
            </a:pPr>
            <a:r>
              <a:rPr sz="2000" dirty="0">
                <a:latin typeface="Cambria Math"/>
                <a:cs typeface="Cambria Math"/>
              </a:rPr>
              <a:t>𝛽</a:t>
            </a:r>
            <a:r>
              <a:rPr sz="1950" baseline="-21367" dirty="0">
                <a:latin typeface="Cambria Math"/>
                <a:cs typeface="Cambria Math"/>
              </a:rPr>
              <a:t>0</a:t>
            </a:r>
            <a:r>
              <a:rPr sz="1950" spc="67" baseline="-21367" dirty="0">
                <a:latin typeface="Cambria Math"/>
                <a:cs typeface="Cambria Math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–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y</a:t>
            </a:r>
            <a:r>
              <a:rPr sz="2000" spc="1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intercept,</a:t>
            </a:r>
            <a:r>
              <a:rPr sz="2000" spc="-19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Cambria Math"/>
                <a:cs typeface="Cambria Math"/>
              </a:rPr>
              <a:t>𝛽</a:t>
            </a:r>
            <a:r>
              <a:rPr sz="1950" baseline="-21367" dirty="0">
                <a:latin typeface="Cambria Math"/>
                <a:cs typeface="Cambria Math"/>
              </a:rPr>
              <a:t>1</a:t>
            </a:r>
            <a:r>
              <a:rPr sz="1950" spc="247" baseline="-21367" dirty="0">
                <a:latin typeface="Cambria Math"/>
                <a:cs typeface="Cambria Math"/>
              </a:rPr>
              <a:t>  </a:t>
            </a:r>
            <a:r>
              <a:rPr sz="2000" dirty="0">
                <a:latin typeface="Cambria Math"/>
                <a:cs typeface="Cambria Math"/>
              </a:rPr>
              <a:t>−</a:t>
            </a:r>
            <a:r>
              <a:rPr sz="2000" spc="20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𝑠𝑙𝑜𝑝𝑒</a:t>
            </a:r>
            <a:endParaRPr sz="2000">
              <a:latin typeface="Cambria Math"/>
              <a:cs typeface="Cambria Math"/>
            </a:endParaRPr>
          </a:p>
          <a:p>
            <a:pPr marL="2183765">
              <a:lnSpc>
                <a:spcPct val="100000"/>
              </a:lnSpc>
              <a:spcBef>
                <a:spcPts val="770"/>
              </a:spcBef>
            </a:pPr>
            <a:r>
              <a:rPr sz="2000" dirty="0">
                <a:latin typeface="Times New Roman"/>
                <a:cs typeface="Times New Roman"/>
              </a:rPr>
              <a:t>X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–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independent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variable</a:t>
            </a:r>
            <a:endParaRPr sz="2000">
              <a:latin typeface="Times New Roman"/>
              <a:cs typeface="Times New Roman"/>
            </a:endParaRPr>
          </a:p>
          <a:p>
            <a:pPr marL="2174875">
              <a:lnSpc>
                <a:spcPct val="100000"/>
              </a:lnSpc>
              <a:spcBef>
                <a:spcPts val="755"/>
              </a:spcBef>
            </a:pPr>
            <a:r>
              <a:rPr sz="2000" dirty="0">
                <a:latin typeface="Times New Roman"/>
                <a:cs typeface="Times New Roman"/>
              </a:rPr>
              <a:t>Y</a:t>
            </a:r>
            <a:r>
              <a:rPr sz="2000" spc="-8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–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dependent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variable</a:t>
            </a:r>
            <a:endParaRPr sz="2000">
              <a:latin typeface="Times New Roman"/>
              <a:cs typeface="Times New Roman"/>
            </a:endParaRPr>
          </a:p>
          <a:p>
            <a:pPr marL="266700" marR="220345" indent="-228600">
              <a:lnSpc>
                <a:spcPts val="2160"/>
              </a:lnSpc>
              <a:spcBef>
                <a:spcPts val="1030"/>
              </a:spcBef>
              <a:buFont typeface="Arial MT"/>
              <a:buChar char="•"/>
              <a:tabLst>
                <a:tab pos="266700" algn="l"/>
              </a:tabLst>
            </a:pPr>
            <a:r>
              <a:rPr sz="2000" dirty="0">
                <a:latin typeface="Times New Roman"/>
                <a:cs typeface="Times New Roman"/>
              </a:rPr>
              <a:t>The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slope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and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the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intercept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the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best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fitting </a:t>
            </a:r>
            <a:r>
              <a:rPr sz="2000" dirty="0">
                <a:latin typeface="Times New Roman"/>
                <a:cs typeface="Times New Roman"/>
              </a:rPr>
              <a:t>line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determines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the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relationship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between</a:t>
            </a:r>
            <a:r>
              <a:rPr sz="2000" spc="-25" dirty="0">
                <a:latin typeface="Times New Roman"/>
                <a:cs typeface="Times New Roman"/>
              </a:rPr>
              <a:t> the </a:t>
            </a:r>
            <a:r>
              <a:rPr sz="2000" spc="-10" dirty="0">
                <a:latin typeface="Times New Roman"/>
                <a:cs typeface="Times New Roman"/>
              </a:rPr>
              <a:t>variables.</a:t>
            </a:r>
            <a:endParaRPr sz="2000">
              <a:latin typeface="Times New Roman"/>
              <a:cs typeface="Times New Roman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38197" y="1998468"/>
            <a:ext cx="5623082" cy="3197302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8014207" y="5359704"/>
            <a:ext cx="176339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spc="-85" dirty="0">
                <a:latin typeface="Trebuchet MS"/>
                <a:cs typeface="Trebuchet MS"/>
              </a:rPr>
              <a:t>Fig.</a:t>
            </a:r>
            <a:r>
              <a:rPr sz="1800" spc="-180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Simple</a:t>
            </a:r>
            <a:r>
              <a:rPr sz="1800" spc="-175" dirty="0">
                <a:latin typeface="Trebuchet MS"/>
                <a:cs typeface="Trebuchet MS"/>
              </a:rPr>
              <a:t> </a:t>
            </a:r>
            <a:r>
              <a:rPr sz="1800" spc="-40" dirty="0">
                <a:latin typeface="Trebuchet MS"/>
                <a:cs typeface="Trebuchet MS"/>
              </a:rPr>
              <a:t>Linear </a:t>
            </a:r>
            <a:r>
              <a:rPr sz="1800" spc="-10" dirty="0">
                <a:latin typeface="Trebuchet MS"/>
                <a:cs typeface="Trebuchet MS"/>
              </a:rPr>
              <a:t>Regression</a:t>
            </a:r>
            <a:endParaRPr sz="18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01192" y="334518"/>
            <a:ext cx="974788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-125" dirty="0">
                <a:latin typeface="Trebuchet MS"/>
                <a:cs typeface="Trebuchet MS"/>
              </a:rPr>
              <a:t>Simple</a:t>
            </a:r>
            <a:r>
              <a:rPr sz="3200" spc="-315" dirty="0">
                <a:latin typeface="Trebuchet MS"/>
                <a:cs typeface="Trebuchet MS"/>
              </a:rPr>
              <a:t> </a:t>
            </a:r>
            <a:r>
              <a:rPr sz="3200" spc="-185" dirty="0">
                <a:latin typeface="Trebuchet MS"/>
                <a:cs typeface="Trebuchet MS"/>
              </a:rPr>
              <a:t>Linear</a:t>
            </a:r>
            <a:r>
              <a:rPr sz="3200" spc="-315" dirty="0">
                <a:latin typeface="Trebuchet MS"/>
                <a:cs typeface="Trebuchet MS"/>
              </a:rPr>
              <a:t> </a:t>
            </a:r>
            <a:r>
              <a:rPr sz="3200" spc="-130" dirty="0">
                <a:latin typeface="Trebuchet MS"/>
                <a:cs typeface="Trebuchet MS"/>
              </a:rPr>
              <a:t>Regression:</a:t>
            </a:r>
            <a:r>
              <a:rPr sz="3200" spc="-330" dirty="0">
                <a:latin typeface="Trebuchet MS"/>
                <a:cs typeface="Trebuchet MS"/>
              </a:rPr>
              <a:t> </a:t>
            </a:r>
            <a:r>
              <a:rPr sz="3200" spc="-75" dirty="0">
                <a:latin typeface="Trebuchet MS"/>
                <a:cs typeface="Trebuchet MS"/>
              </a:rPr>
              <a:t>How</a:t>
            </a:r>
            <a:r>
              <a:rPr sz="3200" spc="-330" dirty="0">
                <a:latin typeface="Trebuchet MS"/>
                <a:cs typeface="Trebuchet MS"/>
              </a:rPr>
              <a:t> </a:t>
            </a:r>
            <a:r>
              <a:rPr sz="3200" spc="-40" dirty="0">
                <a:latin typeface="Trebuchet MS"/>
                <a:cs typeface="Trebuchet MS"/>
              </a:rPr>
              <a:t>is</a:t>
            </a:r>
            <a:r>
              <a:rPr sz="3200" spc="-315" dirty="0">
                <a:latin typeface="Trebuchet MS"/>
                <a:cs typeface="Trebuchet MS"/>
              </a:rPr>
              <a:t> </a:t>
            </a:r>
            <a:r>
              <a:rPr sz="3200" spc="-220" dirty="0">
                <a:latin typeface="Trebuchet MS"/>
                <a:cs typeface="Trebuchet MS"/>
              </a:rPr>
              <a:t>the</a:t>
            </a:r>
            <a:r>
              <a:rPr sz="3200" spc="-315" dirty="0">
                <a:latin typeface="Trebuchet MS"/>
                <a:cs typeface="Trebuchet MS"/>
              </a:rPr>
              <a:t> </a:t>
            </a:r>
            <a:r>
              <a:rPr sz="3200" spc="-130" dirty="0">
                <a:latin typeface="Trebuchet MS"/>
                <a:cs typeface="Trebuchet MS"/>
              </a:rPr>
              <a:t>best</a:t>
            </a:r>
            <a:r>
              <a:rPr sz="3200" spc="-305" dirty="0">
                <a:latin typeface="Trebuchet MS"/>
                <a:cs typeface="Trebuchet MS"/>
              </a:rPr>
              <a:t> </a:t>
            </a:r>
            <a:r>
              <a:rPr sz="3200" spc="-254" dirty="0">
                <a:latin typeface="Trebuchet MS"/>
                <a:cs typeface="Trebuchet MS"/>
              </a:rPr>
              <a:t>fitting</a:t>
            </a:r>
            <a:r>
              <a:rPr sz="3200" spc="-300" dirty="0">
                <a:latin typeface="Trebuchet MS"/>
                <a:cs typeface="Trebuchet MS"/>
              </a:rPr>
              <a:t> </a:t>
            </a:r>
            <a:r>
              <a:rPr sz="3200" spc="-200" dirty="0">
                <a:latin typeface="Trebuchet MS"/>
                <a:cs typeface="Trebuchet MS"/>
              </a:rPr>
              <a:t>line</a:t>
            </a:r>
            <a:r>
              <a:rPr sz="3200" spc="-315" dirty="0">
                <a:latin typeface="Trebuchet MS"/>
                <a:cs typeface="Trebuchet MS"/>
              </a:rPr>
              <a:t> </a:t>
            </a:r>
            <a:r>
              <a:rPr sz="3200" spc="-10" dirty="0">
                <a:latin typeface="Trebuchet MS"/>
                <a:cs typeface="Trebuchet MS"/>
              </a:rPr>
              <a:t>found?</a:t>
            </a:r>
            <a:endParaRPr sz="3200">
              <a:latin typeface="Trebuchet MS"/>
              <a:cs typeface="Trebuchet MS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770089" y="1302003"/>
            <a:ext cx="3209290" cy="2073275"/>
            <a:chOff x="770089" y="1302003"/>
            <a:chExt cx="3209290" cy="207327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96847" y="2030348"/>
              <a:ext cx="128015" cy="135254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47483" y="3049015"/>
              <a:ext cx="128028" cy="135255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409445" y="2707639"/>
              <a:ext cx="128015" cy="13512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96618" y="2784855"/>
              <a:ext cx="128015" cy="135255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259838" y="2630169"/>
              <a:ext cx="128016" cy="135254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475230" y="1933828"/>
              <a:ext cx="128015" cy="135255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937763" y="2000376"/>
              <a:ext cx="128016" cy="135127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770089" y="1302003"/>
              <a:ext cx="3209290" cy="2073275"/>
            </a:xfrm>
            <a:custGeom>
              <a:avLst/>
              <a:gdLst/>
              <a:ahLst/>
              <a:cxnLst/>
              <a:rect l="l" t="t" r="r" b="b"/>
              <a:pathLst>
                <a:path w="3209290" h="2073275">
                  <a:moveTo>
                    <a:pt x="3209074" y="2034921"/>
                  </a:moveTo>
                  <a:lnTo>
                    <a:pt x="3193326" y="2027047"/>
                  </a:lnTo>
                  <a:lnTo>
                    <a:pt x="3132874" y="1996821"/>
                  </a:lnTo>
                  <a:lnTo>
                    <a:pt x="3132874" y="2027047"/>
                  </a:lnTo>
                  <a:lnTo>
                    <a:pt x="46037" y="2027047"/>
                  </a:lnTo>
                  <a:lnTo>
                    <a:pt x="46037" y="76200"/>
                  </a:lnTo>
                  <a:lnTo>
                    <a:pt x="76200" y="76200"/>
                  </a:lnTo>
                  <a:lnTo>
                    <a:pt x="69850" y="63500"/>
                  </a:lnTo>
                  <a:lnTo>
                    <a:pt x="38100" y="0"/>
                  </a:lnTo>
                  <a:lnTo>
                    <a:pt x="0" y="76200"/>
                  </a:lnTo>
                  <a:lnTo>
                    <a:pt x="30162" y="76200"/>
                  </a:lnTo>
                  <a:lnTo>
                    <a:pt x="30162" y="2034921"/>
                  </a:lnTo>
                  <a:lnTo>
                    <a:pt x="38100" y="2034921"/>
                  </a:lnTo>
                  <a:lnTo>
                    <a:pt x="38100" y="2042922"/>
                  </a:lnTo>
                  <a:lnTo>
                    <a:pt x="3132874" y="2042922"/>
                  </a:lnTo>
                  <a:lnTo>
                    <a:pt x="3132874" y="2073021"/>
                  </a:lnTo>
                  <a:lnTo>
                    <a:pt x="3193072" y="2042922"/>
                  </a:lnTo>
                  <a:lnTo>
                    <a:pt x="3209074" y="203492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835291" y="2112009"/>
              <a:ext cx="2642235" cy="1149350"/>
            </a:xfrm>
            <a:custGeom>
              <a:avLst/>
              <a:gdLst/>
              <a:ahLst/>
              <a:cxnLst/>
              <a:rect l="l" t="t" r="r" b="b"/>
              <a:pathLst>
                <a:path w="2642235" h="1149350">
                  <a:moveTo>
                    <a:pt x="0" y="1149350"/>
                  </a:moveTo>
                  <a:lnTo>
                    <a:pt x="2641714" y="0"/>
                  </a:lnTo>
                </a:path>
              </a:pathLst>
            </a:custGeom>
            <a:ln w="15875">
              <a:solidFill>
                <a:srgbClr val="4EA72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531672" y="1275410"/>
            <a:ext cx="14922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Trebuchet MS"/>
                <a:cs typeface="Trebuchet MS"/>
              </a:rPr>
              <a:t>Y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917696" y="3428745"/>
            <a:ext cx="151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Trebuchet MS"/>
                <a:cs typeface="Trebuchet MS"/>
              </a:rPr>
              <a:t>X</a:t>
            </a:r>
            <a:endParaRPr sz="1800">
              <a:latin typeface="Trebuchet MS"/>
              <a:cs typeface="Trebuchet MS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4509261" y="1289938"/>
            <a:ext cx="3209290" cy="2073275"/>
            <a:chOff x="4509261" y="1289938"/>
            <a:chExt cx="3209290" cy="2073275"/>
          </a:xfrm>
        </p:grpSpPr>
        <p:pic>
          <p:nvPicPr>
            <p:cNvPr id="16" name="object 1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435980" y="2018411"/>
              <a:ext cx="128016" cy="135127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786756" y="3036950"/>
              <a:ext cx="128015" cy="135254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5148706" y="2695575"/>
              <a:ext cx="128015" cy="135254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635878" y="2772791"/>
              <a:ext cx="128016" cy="135255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999098" y="2618231"/>
              <a:ext cx="128015" cy="135127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214363" y="1921763"/>
              <a:ext cx="128015" cy="135255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677025" y="1988312"/>
              <a:ext cx="128016" cy="135254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4509262" y="1289938"/>
              <a:ext cx="3209290" cy="2073275"/>
            </a:xfrm>
            <a:custGeom>
              <a:avLst/>
              <a:gdLst/>
              <a:ahLst/>
              <a:cxnLst/>
              <a:rect l="l" t="t" r="r" b="b"/>
              <a:pathLst>
                <a:path w="3209290" h="2073275">
                  <a:moveTo>
                    <a:pt x="3209163" y="2035048"/>
                  </a:moveTo>
                  <a:lnTo>
                    <a:pt x="3193161" y="2027047"/>
                  </a:lnTo>
                  <a:lnTo>
                    <a:pt x="3132963" y="1996948"/>
                  </a:lnTo>
                  <a:lnTo>
                    <a:pt x="3132963" y="2027047"/>
                  </a:lnTo>
                  <a:lnTo>
                    <a:pt x="46101" y="2027047"/>
                  </a:lnTo>
                  <a:lnTo>
                    <a:pt x="46101" y="76200"/>
                  </a:lnTo>
                  <a:lnTo>
                    <a:pt x="76200" y="76200"/>
                  </a:lnTo>
                  <a:lnTo>
                    <a:pt x="69850" y="63500"/>
                  </a:lnTo>
                  <a:lnTo>
                    <a:pt x="38100" y="0"/>
                  </a:lnTo>
                  <a:lnTo>
                    <a:pt x="0" y="76200"/>
                  </a:lnTo>
                  <a:lnTo>
                    <a:pt x="30226" y="76200"/>
                  </a:lnTo>
                  <a:lnTo>
                    <a:pt x="30226" y="2035048"/>
                  </a:lnTo>
                  <a:lnTo>
                    <a:pt x="38100" y="2035048"/>
                  </a:lnTo>
                  <a:lnTo>
                    <a:pt x="38100" y="2042922"/>
                  </a:lnTo>
                  <a:lnTo>
                    <a:pt x="3132963" y="2042922"/>
                  </a:lnTo>
                  <a:lnTo>
                    <a:pt x="3132963" y="2073148"/>
                  </a:lnTo>
                  <a:lnTo>
                    <a:pt x="3193415" y="2042922"/>
                  </a:lnTo>
                  <a:lnTo>
                    <a:pt x="3209163" y="203504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4570348" y="1989455"/>
              <a:ext cx="2646045" cy="998855"/>
            </a:xfrm>
            <a:custGeom>
              <a:avLst/>
              <a:gdLst/>
              <a:ahLst/>
              <a:cxnLst/>
              <a:rect l="l" t="t" r="r" b="b"/>
              <a:pathLst>
                <a:path w="2646045" h="998855">
                  <a:moveTo>
                    <a:pt x="0" y="998474"/>
                  </a:moveTo>
                  <a:lnTo>
                    <a:pt x="2645918" y="0"/>
                  </a:lnTo>
                </a:path>
              </a:pathLst>
            </a:custGeom>
            <a:ln w="15874">
              <a:solidFill>
                <a:srgbClr val="4EA72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4271264" y="1263777"/>
            <a:ext cx="1492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Trebuchet MS"/>
                <a:cs typeface="Trebuchet MS"/>
              </a:rPr>
              <a:t>Y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7657338" y="3416934"/>
            <a:ext cx="151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Trebuchet MS"/>
                <a:cs typeface="Trebuchet MS"/>
              </a:rPr>
              <a:t>X</a:t>
            </a:r>
            <a:endParaRPr sz="1800">
              <a:latin typeface="Trebuchet MS"/>
              <a:cs typeface="Trebuchet MS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8271509" y="1289938"/>
            <a:ext cx="3209290" cy="2073275"/>
            <a:chOff x="8271509" y="1289938"/>
            <a:chExt cx="3209290" cy="2073275"/>
          </a:xfrm>
        </p:grpSpPr>
        <p:pic>
          <p:nvPicPr>
            <p:cNvPr id="28" name="object 2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198228" y="2018411"/>
              <a:ext cx="128016" cy="135127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8910827" y="2695575"/>
              <a:ext cx="128016" cy="135254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397999" y="2772791"/>
              <a:ext cx="128016" cy="135255"/>
            </a:xfrm>
            <a:prstGeom prst="rect">
              <a:avLst/>
            </a:prstGeom>
          </p:spPr>
        </p:pic>
        <p:pic>
          <p:nvPicPr>
            <p:cNvPr id="31" name="object 31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9761219" y="2618231"/>
              <a:ext cx="128015" cy="135127"/>
            </a:xfrm>
            <a:prstGeom prst="rect">
              <a:avLst/>
            </a:prstGeom>
          </p:spPr>
        </p:pic>
        <p:pic>
          <p:nvPicPr>
            <p:cNvPr id="32" name="object 32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976484" y="1921763"/>
              <a:ext cx="128143" cy="135255"/>
            </a:xfrm>
            <a:prstGeom prst="rect">
              <a:avLst/>
            </a:prstGeom>
          </p:spPr>
        </p:pic>
        <p:pic>
          <p:nvPicPr>
            <p:cNvPr id="33" name="object 3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0439145" y="1988312"/>
              <a:ext cx="128015" cy="135254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8271510" y="1289938"/>
              <a:ext cx="3209290" cy="2073275"/>
            </a:xfrm>
            <a:custGeom>
              <a:avLst/>
              <a:gdLst/>
              <a:ahLst/>
              <a:cxnLst/>
              <a:rect l="l" t="t" r="r" b="b"/>
              <a:pathLst>
                <a:path w="3209290" h="2073275">
                  <a:moveTo>
                    <a:pt x="3209036" y="2035048"/>
                  </a:moveTo>
                  <a:lnTo>
                    <a:pt x="3193034" y="2027047"/>
                  </a:lnTo>
                  <a:lnTo>
                    <a:pt x="3132836" y="1996948"/>
                  </a:lnTo>
                  <a:lnTo>
                    <a:pt x="3132836" y="2027047"/>
                  </a:lnTo>
                  <a:lnTo>
                    <a:pt x="45974" y="2027047"/>
                  </a:lnTo>
                  <a:lnTo>
                    <a:pt x="45974" y="76200"/>
                  </a:lnTo>
                  <a:lnTo>
                    <a:pt x="76200" y="76200"/>
                  </a:lnTo>
                  <a:lnTo>
                    <a:pt x="69850" y="63500"/>
                  </a:lnTo>
                  <a:lnTo>
                    <a:pt x="38100" y="0"/>
                  </a:lnTo>
                  <a:lnTo>
                    <a:pt x="0" y="76200"/>
                  </a:lnTo>
                  <a:lnTo>
                    <a:pt x="30099" y="76200"/>
                  </a:lnTo>
                  <a:lnTo>
                    <a:pt x="30099" y="2035048"/>
                  </a:lnTo>
                  <a:lnTo>
                    <a:pt x="38100" y="2035048"/>
                  </a:lnTo>
                  <a:lnTo>
                    <a:pt x="38100" y="2042922"/>
                  </a:lnTo>
                  <a:lnTo>
                    <a:pt x="3132836" y="2042922"/>
                  </a:lnTo>
                  <a:lnTo>
                    <a:pt x="3132836" y="2073148"/>
                  </a:lnTo>
                  <a:lnTo>
                    <a:pt x="3193288" y="2042922"/>
                  </a:lnTo>
                  <a:lnTo>
                    <a:pt x="3209036" y="203504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8314181" y="1731137"/>
              <a:ext cx="2628265" cy="1142365"/>
            </a:xfrm>
            <a:custGeom>
              <a:avLst/>
              <a:gdLst/>
              <a:ahLst/>
              <a:cxnLst/>
              <a:rect l="l" t="t" r="r" b="b"/>
              <a:pathLst>
                <a:path w="2628265" h="1142364">
                  <a:moveTo>
                    <a:pt x="0" y="1142238"/>
                  </a:moveTo>
                  <a:lnTo>
                    <a:pt x="2628265" y="0"/>
                  </a:lnTo>
                </a:path>
              </a:pathLst>
            </a:custGeom>
            <a:ln w="15875">
              <a:solidFill>
                <a:srgbClr val="4EA72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36" name="object 3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548878" y="3036951"/>
            <a:ext cx="128016" cy="135254"/>
          </a:xfrm>
          <a:prstGeom prst="rect">
            <a:avLst/>
          </a:prstGeom>
        </p:spPr>
      </p:pic>
      <p:sp>
        <p:nvSpPr>
          <p:cNvPr id="37" name="object 37"/>
          <p:cNvSpPr txBox="1"/>
          <p:nvPr/>
        </p:nvSpPr>
        <p:spPr>
          <a:xfrm>
            <a:off x="8034019" y="1263777"/>
            <a:ext cx="1492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Trebuchet MS"/>
                <a:cs typeface="Trebuchet MS"/>
              </a:rPr>
              <a:t>Y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11420093" y="3416934"/>
            <a:ext cx="151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Trebuchet MS"/>
                <a:cs typeface="Trebuchet MS"/>
              </a:rPr>
              <a:t>X</a:t>
            </a:r>
            <a:endParaRPr sz="1800">
              <a:latin typeface="Trebuchet MS"/>
              <a:cs typeface="Trebuchet MS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780529" y="4221353"/>
            <a:ext cx="3209290" cy="1966595"/>
            <a:chOff x="780529" y="4221353"/>
            <a:chExt cx="3209290" cy="1966595"/>
          </a:xfrm>
        </p:grpSpPr>
        <p:pic>
          <p:nvPicPr>
            <p:cNvPr id="40" name="object 40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707261" y="4910963"/>
              <a:ext cx="128015" cy="129159"/>
            </a:xfrm>
            <a:prstGeom prst="rect">
              <a:avLst/>
            </a:prstGeom>
          </p:spPr>
        </p:pic>
        <p:pic>
          <p:nvPicPr>
            <p:cNvPr id="41" name="object 41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2485644" y="4819523"/>
              <a:ext cx="128016" cy="129031"/>
            </a:xfrm>
            <a:prstGeom prst="rect">
              <a:avLst/>
            </a:prstGeom>
          </p:spPr>
        </p:pic>
        <p:pic>
          <p:nvPicPr>
            <p:cNvPr id="42" name="object 42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2948177" y="4882515"/>
              <a:ext cx="128016" cy="129159"/>
            </a:xfrm>
            <a:prstGeom prst="rect">
              <a:avLst/>
            </a:prstGeom>
          </p:spPr>
        </p:pic>
        <p:sp>
          <p:nvSpPr>
            <p:cNvPr id="43" name="object 43"/>
            <p:cNvSpPr/>
            <p:nvPr/>
          </p:nvSpPr>
          <p:spPr>
            <a:xfrm>
              <a:off x="780529" y="4221353"/>
              <a:ext cx="3209290" cy="1966595"/>
            </a:xfrm>
            <a:custGeom>
              <a:avLst/>
              <a:gdLst/>
              <a:ahLst/>
              <a:cxnLst/>
              <a:rect l="l" t="t" r="r" b="b"/>
              <a:pathLst>
                <a:path w="3209290" h="1966595">
                  <a:moveTo>
                    <a:pt x="3209048" y="1928012"/>
                  </a:moveTo>
                  <a:lnTo>
                    <a:pt x="3193173" y="1920074"/>
                  </a:lnTo>
                  <a:lnTo>
                    <a:pt x="3132848" y="1889912"/>
                  </a:lnTo>
                  <a:lnTo>
                    <a:pt x="3132848" y="1920074"/>
                  </a:lnTo>
                  <a:lnTo>
                    <a:pt x="46024" y="1920074"/>
                  </a:lnTo>
                  <a:lnTo>
                    <a:pt x="46024" y="76200"/>
                  </a:lnTo>
                  <a:lnTo>
                    <a:pt x="76200" y="76200"/>
                  </a:lnTo>
                  <a:lnTo>
                    <a:pt x="69850" y="63500"/>
                  </a:lnTo>
                  <a:lnTo>
                    <a:pt x="38100" y="0"/>
                  </a:lnTo>
                  <a:lnTo>
                    <a:pt x="0" y="76200"/>
                  </a:lnTo>
                  <a:lnTo>
                    <a:pt x="30149" y="76200"/>
                  </a:lnTo>
                  <a:lnTo>
                    <a:pt x="30149" y="1928025"/>
                  </a:lnTo>
                  <a:lnTo>
                    <a:pt x="38087" y="1928025"/>
                  </a:lnTo>
                  <a:lnTo>
                    <a:pt x="38087" y="1935949"/>
                  </a:lnTo>
                  <a:lnTo>
                    <a:pt x="3132848" y="1935949"/>
                  </a:lnTo>
                  <a:lnTo>
                    <a:pt x="3132848" y="1966112"/>
                  </a:lnTo>
                  <a:lnTo>
                    <a:pt x="3193173" y="1935949"/>
                  </a:lnTo>
                  <a:lnTo>
                    <a:pt x="3209048" y="192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809320" y="4322572"/>
              <a:ext cx="2642235" cy="1089025"/>
            </a:xfrm>
            <a:custGeom>
              <a:avLst/>
              <a:gdLst/>
              <a:ahLst/>
              <a:cxnLst/>
              <a:rect l="l" t="t" r="r" b="b"/>
              <a:pathLst>
                <a:path w="2642235" h="1089025">
                  <a:moveTo>
                    <a:pt x="0" y="1088897"/>
                  </a:moveTo>
                  <a:lnTo>
                    <a:pt x="2641777" y="0"/>
                  </a:lnTo>
                </a:path>
              </a:pathLst>
            </a:custGeom>
            <a:ln w="15875">
              <a:solidFill>
                <a:srgbClr val="4EA72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45" name="object 45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1057910" y="5876074"/>
            <a:ext cx="128028" cy="129120"/>
          </a:xfrm>
          <a:prstGeom prst="rect">
            <a:avLst/>
          </a:prstGeom>
        </p:spPr>
      </p:pic>
      <p:pic>
        <p:nvPicPr>
          <p:cNvPr id="46" name="object 46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1419860" y="5552566"/>
            <a:ext cx="128015" cy="129120"/>
          </a:xfrm>
          <a:prstGeom prst="rect">
            <a:avLst/>
          </a:prstGeom>
        </p:spPr>
      </p:pic>
      <p:pic>
        <p:nvPicPr>
          <p:cNvPr id="47" name="object 47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1907032" y="5625795"/>
            <a:ext cx="128016" cy="129120"/>
          </a:xfrm>
          <a:prstGeom prst="rect">
            <a:avLst/>
          </a:prstGeom>
        </p:spPr>
      </p:pic>
      <p:pic>
        <p:nvPicPr>
          <p:cNvPr id="48" name="object 48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2270251" y="5479288"/>
            <a:ext cx="128016" cy="129082"/>
          </a:xfrm>
          <a:prstGeom prst="rect">
            <a:avLst/>
          </a:prstGeom>
        </p:spPr>
      </p:pic>
      <p:sp>
        <p:nvSpPr>
          <p:cNvPr id="49" name="object 49"/>
          <p:cNvSpPr txBox="1"/>
          <p:nvPr/>
        </p:nvSpPr>
        <p:spPr>
          <a:xfrm>
            <a:off x="542036" y="4198111"/>
            <a:ext cx="1492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Trebuchet MS"/>
                <a:cs typeface="Trebuchet MS"/>
              </a:rPr>
              <a:t>Y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3928109" y="6237833"/>
            <a:ext cx="151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Trebuchet MS"/>
                <a:cs typeface="Trebuchet MS"/>
              </a:rPr>
              <a:t>X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1110386" y="3592195"/>
            <a:ext cx="23444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spc="-114" dirty="0">
                <a:latin typeface="Trebuchet MS"/>
                <a:cs typeface="Trebuchet MS"/>
              </a:rPr>
              <a:t>Trial</a:t>
            </a:r>
            <a:r>
              <a:rPr sz="1800" spc="-190" dirty="0">
                <a:latin typeface="Trebuchet MS"/>
                <a:cs typeface="Trebuchet MS"/>
              </a:rPr>
              <a:t> </a:t>
            </a:r>
            <a:r>
              <a:rPr sz="1800" spc="-80" dirty="0">
                <a:latin typeface="Trebuchet MS"/>
                <a:cs typeface="Trebuchet MS"/>
              </a:rPr>
              <a:t>1:</a:t>
            </a:r>
            <a:r>
              <a:rPr sz="1800" spc="-170" dirty="0">
                <a:latin typeface="Trebuchet MS"/>
                <a:cs typeface="Trebuchet MS"/>
              </a:rPr>
              <a:t> </a:t>
            </a:r>
            <a:r>
              <a:rPr sz="1800" dirty="0">
                <a:latin typeface="Cambria Math"/>
                <a:cs typeface="Cambria Math"/>
              </a:rPr>
              <a:t>𝑌</a:t>
            </a:r>
            <a:r>
              <a:rPr sz="1800" spc="15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=</a:t>
            </a:r>
            <a:r>
              <a:rPr sz="1800" spc="55" dirty="0">
                <a:latin typeface="Cambria Math"/>
                <a:cs typeface="Cambria Math"/>
              </a:rPr>
              <a:t>  </a:t>
            </a:r>
            <a:r>
              <a:rPr sz="1800" dirty="0">
                <a:latin typeface="Cambria Math"/>
                <a:cs typeface="Cambria Math"/>
              </a:rPr>
              <a:t>𝛽</a:t>
            </a:r>
            <a:r>
              <a:rPr sz="1800" baseline="-20833" dirty="0">
                <a:latin typeface="Cambria Math"/>
                <a:cs typeface="Cambria Math"/>
              </a:rPr>
              <a:t>0</a:t>
            </a:r>
            <a:r>
              <a:rPr sz="1800" baseline="-20833" dirty="0">
                <a:solidFill>
                  <a:srgbClr val="FF0000"/>
                </a:solidFill>
                <a:latin typeface="Cambria Math"/>
                <a:cs typeface="Cambria Math"/>
              </a:rPr>
              <a:t>1</a:t>
            </a:r>
            <a:r>
              <a:rPr sz="1800" spc="187" baseline="-20833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+</a:t>
            </a:r>
            <a:r>
              <a:rPr sz="1800" spc="425" dirty="0">
                <a:latin typeface="Cambria Math"/>
                <a:cs typeface="Cambria Math"/>
              </a:rPr>
              <a:t> </a:t>
            </a:r>
            <a:r>
              <a:rPr sz="1800" spc="-20" dirty="0">
                <a:latin typeface="Cambria Math"/>
                <a:cs typeface="Cambria Math"/>
              </a:rPr>
              <a:t>𝛽</a:t>
            </a:r>
            <a:r>
              <a:rPr sz="1800" spc="-30" baseline="-20833" dirty="0">
                <a:latin typeface="Cambria Math"/>
                <a:cs typeface="Cambria Math"/>
              </a:rPr>
              <a:t>1</a:t>
            </a:r>
            <a:r>
              <a:rPr sz="1800" spc="-30" baseline="-20833" dirty="0">
                <a:solidFill>
                  <a:srgbClr val="FF0000"/>
                </a:solidFill>
                <a:latin typeface="Cambria Math"/>
                <a:cs typeface="Cambria Math"/>
              </a:rPr>
              <a:t>1</a:t>
            </a:r>
            <a:r>
              <a:rPr sz="1800" spc="-20" dirty="0">
                <a:latin typeface="Cambria Math"/>
                <a:cs typeface="Cambria Math"/>
              </a:rPr>
              <a:t>𝑋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52" name="object 52"/>
          <p:cNvSpPr txBox="1"/>
          <p:nvPr/>
        </p:nvSpPr>
        <p:spPr>
          <a:xfrm>
            <a:off x="5253609" y="4492574"/>
            <a:ext cx="6214110" cy="11677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ts val="2055"/>
              </a:lnSpc>
              <a:spcBef>
                <a:spcPts val="100"/>
              </a:spcBef>
              <a:buFont typeface="Arial MT"/>
              <a:buChar char="•"/>
              <a:tabLst>
                <a:tab pos="240665" algn="l"/>
              </a:tabLst>
            </a:pPr>
            <a:r>
              <a:rPr sz="1800" spc="-30" dirty="0">
                <a:latin typeface="Trebuchet MS"/>
                <a:cs typeface="Trebuchet MS"/>
              </a:rPr>
              <a:t>Multiple</a:t>
            </a:r>
            <a:r>
              <a:rPr sz="1800" spc="-175" dirty="0">
                <a:latin typeface="Trebuchet MS"/>
                <a:cs typeface="Trebuchet MS"/>
              </a:rPr>
              <a:t> </a:t>
            </a:r>
            <a:r>
              <a:rPr sz="1800" spc="-55" dirty="0">
                <a:latin typeface="Trebuchet MS"/>
                <a:cs typeface="Trebuchet MS"/>
              </a:rPr>
              <a:t>trails</a:t>
            </a:r>
            <a:r>
              <a:rPr sz="1800" spc="-145" dirty="0">
                <a:latin typeface="Trebuchet MS"/>
                <a:cs typeface="Trebuchet MS"/>
              </a:rPr>
              <a:t> </a:t>
            </a:r>
            <a:r>
              <a:rPr sz="1800" spc="-60" dirty="0">
                <a:latin typeface="Trebuchet MS"/>
                <a:cs typeface="Trebuchet MS"/>
              </a:rPr>
              <a:t>of</a:t>
            </a:r>
            <a:r>
              <a:rPr sz="1800" spc="-165" dirty="0">
                <a:latin typeface="Trebuchet MS"/>
                <a:cs typeface="Trebuchet MS"/>
              </a:rPr>
              <a:t> </a:t>
            </a:r>
            <a:r>
              <a:rPr sz="1800" spc="-100" dirty="0">
                <a:latin typeface="Trebuchet MS"/>
                <a:cs typeface="Trebuchet MS"/>
              </a:rPr>
              <a:t>fitting</a:t>
            </a:r>
            <a:r>
              <a:rPr sz="1800" spc="-145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a</a:t>
            </a:r>
            <a:r>
              <a:rPr sz="1800" spc="-135" dirty="0">
                <a:latin typeface="Trebuchet MS"/>
                <a:cs typeface="Trebuchet MS"/>
              </a:rPr>
              <a:t> </a:t>
            </a:r>
            <a:r>
              <a:rPr sz="1800" spc="-55" dirty="0">
                <a:latin typeface="Trebuchet MS"/>
                <a:cs typeface="Trebuchet MS"/>
              </a:rPr>
              <a:t>line</a:t>
            </a:r>
            <a:r>
              <a:rPr sz="1800" spc="-170" dirty="0">
                <a:latin typeface="Trebuchet MS"/>
                <a:cs typeface="Trebuchet MS"/>
              </a:rPr>
              <a:t> </a:t>
            </a:r>
            <a:r>
              <a:rPr sz="1800" spc="-65" dirty="0">
                <a:latin typeface="Trebuchet MS"/>
                <a:cs typeface="Trebuchet MS"/>
              </a:rPr>
              <a:t>are</a:t>
            </a:r>
            <a:r>
              <a:rPr sz="1800" spc="-145" dirty="0">
                <a:latin typeface="Trebuchet MS"/>
                <a:cs typeface="Trebuchet MS"/>
              </a:rPr>
              <a:t> </a:t>
            </a:r>
            <a:r>
              <a:rPr sz="1800" spc="-30" dirty="0">
                <a:latin typeface="Trebuchet MS"/>
                <a:cs typeface="Trebuchet MS"/>
              </a:rPr>
              <a:t>conducted,</a:t>
            </a:r>
            <a:r>
              <a:rPr sz="1800" spc="-155" dirty="0">
                <a:latin typeface="Trebuchet MS"/>
                <a:cs typeface="Trebuchet MS"/>
              </a:rPr>
              <a:t> </a:t>
            </a:r>
            <a:r>
              <a:rPr sz="1800" spc="-10" dirty="0">
                <a:latin typeface="Trebuchet MS"/>
                <a:cs typeface="Trebuchet MS"/>
              </a:rPr>
              <a:t>each</a:t>
            </a:r>
            <a:r>
              <a:rPr sz="1800" spc="-145" dirty="0">
                <a:latin typeface="Trebuchet MS"/>
                <a:cs typeface="Trebuchet MS"/>
              </a:rPr>
              <a:t> </a:t>
            </a:r>
            <a:r>
              <a:rPr sz="1800" spc="-65" dirty="0">
                <a:latin typeface="Trebuchet MS"/>
                <a:cs typeface="Trebuchet MS"/>
              </a:rPr>
              <a:t>time</a:t>
            </a:r>
            <a:r>
              <a:rPr sz="1800" spc="-145" dirty="0">
                <a:latin typeface="Trebuchet MS"/>
                <a:cs typeface="Trebuchet MS"/>
              </a:rPr>
              <a:t> </a:t>
            </a:r>
            <a:r>
              <a:rPr sz="1800" spc="-75" dirty="0">
                <a:latin typeface="Trebuchet MS"/>
                <a:cs typeface="Trebuchet MS"/>
              </a:rPr>
              <a:t>with</a:t>
            </a:r>
            <a:r>
              <a:rPr sz="1800" spc="-150" dirty="0">
                <a:latin typeface="Trebuchet MS"/>
                <a:cs typeface="Trebuchet MS"/>
              </a:rPr>
              <a:t> </a:t>
            </a:r>
            <a:r>
              <a:rPr sz="1800" spc="-50" dirty="0">
                <a:latin typeface="Trebuchet MS"/>
                <a:cs typeface="Trebuchet MS"/>
              </a:rPr>
              <a:t>a</a:t>
            </a:r>
            <a:endParaRPr sz="1800">
              <a:latin typeface="Trebuchet MS"/>
              <a:cs typeface="Trebuchet MS"/>
            </a:endParaRPr>
          </a:p>
          <a:p>
            <a:pPr marL="241300">
              <a:lnSpc>
                <a:spcPts val="2055"/>
              </a:lnSpc>
            </a:pPr>
            <a:r>
              <a:rPr sz="1800" spc="-95" dirty="0">
                <a:latin typeface="Trebuchet MS"/>
                <a:cs typeface="Trebuchet MS"/>
              </a:rPr>
              <a:t>different</a:t>
            </a:r>
            <a:r>
              <a:rPr sz="1800" spc="-105" dirty="0">
                <a:latin typeface="Trebuchet MS"/>
                <a:cs typeface="Trebuchet MS"/>
              </a:rPr>
              <a:t> </a:t>
            </a:r>
            <a:r>
              <a:rPr sz="1800" spc="-20" dirty="0">
                <a:latin typeface="Trebuchet MS"/>
                <a:cs typeface="Trebuchet MS"/>
              </a:rPr>
              <a:t>line</a:t>
            </a:r>
            <a:endParaRPr sz="1800">
              <a:latin typeface="Trebuchet MS"/>
              <a:cs typeface="Trebuchet MS"/>
            </a:endParaRPr>
          </a:p>
          <a:p>
            <a:pPr marL="241300" marR="217170" indent="-228600">
              <a:lnSpc>
                <a:spcPts val="1939"/>
              </a:lnSpc>
              <a:spcBef>
                <a:spcPts val="1030"/>
              </a:spcBef>
              <a:buFont typeface="Arial MT"/>
              <a:buChar char="•"/>
              <a:tabLst>
                <a:tab pos="241300" algn="l"/>
              </a:tabLst>
            </a:pPr>
            <a:r>
              <a:rPr sz="1800" spc="-65" dirty="0">
                <a:latin typeface="Trebuchet MS"/>
                <a:cs typeface="Trebuchet MS"/>
              </a:rPr>
              <a:t>Error</a:t>
            </a:r>
            <a:r>
              <a:rPr sz="1800" spc="-140" dirty="0">
                <a:latin typeface="Trebuchet MS"/>
                <a:cs typeface="Trebuchet MS"/>
              </a:rPr>
              <a:t> </a:t>
            </a:r>
            <a:r>
              <a:rPr sz="1800" spc="-60" dirty="0">
                <a:latin typeface="Trebuchet MS"/>
                <a:cs typeface="Trebuchet MS"/>
              </a:rPr>
              <a:t>between</a:t>
            </a:r>
            <a:r>
              <a:rPr sz="1800" spc="-130" dirty="0">
                <a:latin typeface="Trebuchet MS"/>
                <a:cs typeface="Trebuchet MS"/>
              </a:rPr>
              <a:t> </a:t>
            </a:r>
            <a:r>
              <a:rPr sz="1800" spc="-70" dirty="0">
                <a:latin typeface="Trebuchet MS"/>
                <a:cs typeface="Trebuchet MS"/>
              </a:rPr>
              <a:t>the</a:t>
            </a:r>
            <a:r>
              <a:rPr sz="1800" spc="-125" dirty="0">
                <a:latin typeface="Trebuchet MS"/>
                <a:cs typeface="Trebuchet MS"/>
              </a:rPr>
              <a:t> </a:t>
            </a:r>
            <a:r>
              <a:rPr sz="1800" spc="-30" dirty="0">
                <a:latin typeface="Trebuchet MS"/>
                <a:cs typeface="Trebuchet MS"/>
              </a:rPr>
              <a:t>actual</a:t>
            </a:r>
            <a:r>
              <a:rPr sz="1800" spc="-140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and</a:t>
            </a:r>
            <a:r>
              <a:rPr sz="1800" spc="-145" dirty="0">
                <a:latin typeface="Trebuchet MS"/>
                <a:cs typeface="Trebuchet MS"/>
              </a:rPr>
              <a:t> </a:t>
            </a:r>
            <a:r>
              <a:rPr sz="1800" spc="-55" dirty="0">
                <a:latin typeface="Trebuchet MS"/>
                <a:cs typeface="Trebuchet MS"/>
              </a:rPr>
              <a:t>predicted</a:t>
            </a:r>
            <a:r>
              <a:rPr sz="1800" spc="-105" dirty="0">
                <a:latin typeface="Trebuchet MS"/>
                <a:cs typeface="Trebuchet MS"/>
              </a:rPr>
              <a:t> </a:t>
            </a:r>
            <a:r>
              <a:rPr sz="1800" spc="-45" dirty="0">
                <a:latin typeface="Trebuchet MS"/>
                <a:cs typeface="Trebuchet MS"/>
              </a:rPr>
              <a:t>value</a:t>
            </a:r>
            <a:r>
              <a:rPr sz="1800" spc="-170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is</a:t>
            </a:r>
            <a:r>
              <a:rPr sz="1800" spc="-135" dirty="0">
                <a:latin typeface="Trebuchet MS"/>
                <a:cs typeface="Trebuchet MS"/>
              </a:rPr>
              <a:t> </a:t>
            </a:r>
            <a:r>
              <a:rPr sz="1800" spc="-10" dirty="0">
                <a:latin typeface="Trebuchet MS"/>
                <a:cs typeface="Trebuchet MS"/>
              </a:rPr>
              <a:t>computed. </a:t>
            </a:r>
            <a:r>
              <a:rPr sz="1800" spc="-90" dirty="0">
                <a:latin typeface="Trebuchet MS"/>
                <a:cs typeface="Trebuchet MS"/>
              </a:rPr>
              <a:t>The</a:t>
            </a:r>
            <a:r>
              <a:rPr sz="1800" spc="-150" dirty="0">
                <a:latin typeface="Trebuchet MS"/>
                <a:cs typeface="Trebuchet MS"/>
              </a:rPr>
              <a:t> </a:t>
            </a:r>
            <a:r>
              <a:rPr sz="1800" spc="-55" dirty="0">
                <a:latin typeface="Trebuchet MS"/>
                <a:cs typeface="Trebuchet MS"/>
              </a:rPr>
              <a:t>line</a:t>
            </a:r>
            <a:r>
              <a:rPr sz="1800" spc="-180" dirty="0">
                <a:latin typeface="Trebuchet MS"/>
                <a:cs typeface="Trebuchet MS"/>
              </a:rPr>
              <a:t> </a:t>
            </a:r>
            <a:r>
              <a:rPr sz="1800" spc="-75" dirty="0">
                <a:latin typeface="Trebuchet MS"/>
                <a:cs typeface="Trebuchet MS"/>
              </a:rPr>
              <a:t>with</a:t>
            </a:r>
            <a:r>
              <a:rPr sz="1800" spc="-145" dirty="0">
                <a:latin typeface="Trebuchet MS"/>
                <a:cs typeface="Trebuchet MS"/>
              </a:rPr>
              <a:t> </a:t>
            </a:r>
            <a:r>
              <a:rPr sz="1800" spc="-70" dirty="0">
                <a:latin typeface="Trebuchet MS"/>
                <a:cs typeface="Trebuchet MS"/>
              </a:rPr>
              <a:t>the</a:t>
            </a:r>
            <a:r>
              <a:rPr sz="1800" spc="-130" dirty="0">
                <a:latin typeface="Trebuchet MS"/>
                <a:cs typeface="Trebuchet MS"/>
              </a:rPr>
              <a:t> </a:t>
            </a:r>
            <a:r>
              <a:rPr sz="1800" spc="-30" dirty="0">
                <a:latin typeface="Trebuchet MS"/>
                <a:cs typeface="Trebuchet MS"/>
              </a:rPr>
              <a:t>least</a:t>
            </a:r>
            <a:r>
              <a:rPr sz="1800" spc="-145" dirty="0">
                <a:latin typeface="Trebuchet MS"/>
                <a:cs typeface="Trebuchet MS"/>
              </a:rPr>
              <a:t> </a:t>
            </a:r>
            <a:r>
              <a:rPr sz="1800" spc="-80" dirty="0">
                <a:latin typeface="Trebuchet MS"/>
                <a:cs typeface="Trebuchet MS"/>
              </a:rPr>
              <a:t>error</a:t>
            </a:r>
            <a:r>
              <a:rPr sz="1800" spc="-145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is</a:t>
            </a:r>
            <a:r>
              <a:rPr sz="1800" spc="-160" dirty="0">
                <a:latin typeface="Trebuchet MS"/>
                <a:cs typeface="Trebuchet MS"/>
              </a:rPr>
              <a:t> </a:t>
            </a:r>
            <a:r>
              <a:rPr sz="1800" spc="-70" dirty="0">
                <a:latin typeface="Trebuchet MS"/>
                <a:cs typeface="Trebuchet MS"/>
              </a:rPr>
              <a:t>the</a:t>
            </a:r>
            <a:r>
              <a:rPr sz="1800" spc="-130" dirty="0">
                <a:latin typeface="Trebuchet MS"/>
                <a:cs typeface="Trebuchet MS"/>
              </a:rPr>
              <a:t> </a:t>
            </a:r>
            <a:r>
              <a:rPr sz="1800" spc="-20" dirty="0">
                <a:latin typeface="Trebuchet MS"/>
                <a:cs typeface="Trebuchet MS"/>
              </a:rPr>
              <a:t>best</a:t>
            </a:r>
            <a:r>
              <a:rPr sz="1800" spc="-135" dirty="0">
                <a:latin typeface="Trebuchet MS"/>
                <a:cs typeface="Trebuchet MS"/>
              </a:rPr>
              <a:t> </a:t>
            </a:r>
            <a:r>
              <a:rPr sz="1800" spc="-100" dirty="0">
                <a:latin typeface="Trebuchet MS"/>
                <a:cs typeface="Trebuchet MS"/>
              </a:rPr>
              <a:t>fitting</a:t>
            </a:r>
            <a:r>
              <a:rPr sz="1800" spc="-145" dirty="0">
                <a:latin typeface="Trebuchet MS"/>
                <a:cs typeface="Trebuchet MS"/>
              </a:rPr>
              <a:t> </a:t>
            </a:r>
            <a:r>
              <a:rPr sz="1800" spc="-10" dirty="0">
                <a:latin typeface="Trebuchet MS"/>
                <a:cs typeface="Trebuchet MS"/>
              </a:rPr>
              <a:t>line.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53" name="object 53"/>
          <p:cNvSpPr txBox="1"/>
          <p:nvPr/>
        </p:nvSpPr>
        <p:spPr>
          <a:xfrm>
            <a:off x="4913121" y="3616197"/>
            <a:ext cx="23437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spc="-114" dirty="0">
                <a:latin typeface="Trebuchet MS"/>
                <a:cs typeface="Trebuchet MS"/>
              </a:rPr>
              <a:t>Trial</a:t>
            </a:r>
            <a:r>
              <a:rPr sz="1800" spc="-190" dirty="0">
                <a:latin typeface="Trebuchet MS"/>
                <a:cs typeface="Trebuchet MS"/>
              </a:rPr>
              <a:t> </a:t>
            </a:r>
            <a:r>
              <a:rPr sz="1800" spc="-80" dirty="0">
                <a:latin typeface="Trebuchet MS"/>
                <a:cs typeface="Trebuchet MS"/>
              </a:rPr>
              <a:t>2:</a:t>
            </a:r>
            <a:r>
              <a:rPr sz="1800" spc="-170" dirty="0">
                <a:latin typeface="Trebuchet MS"/>
                <a:cs typeface="Trebuchet MS"/>
              </a:rPr>
              <a:t> </a:t>
            </a:r>
            <a:r>
              <a:rPr sz="1800" dirty="0">
                <a:latin typeface="Cambria Math"/>
                <a:cs typeface="Cambria Math"/>
              </a:rPr>
              <a:t>𝑌</a:t>
            </a:r>
            <a:r>
              <a:rPr sz="1800" spc="15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=</a:t>
            </a:r>
            <a:r>
              <a:rPr sz="1800" spc="55" dirty="0">
                <a:latin typeface="Cambria Math"/>
                <a:cs typeface="Cambria Math"/>
              </a:rPr>
              <a:t>  </a:t>
            </a:r>
            <a:r>
              <a:rPr sz="1800" dirty="0">
                <a:latin typeface="Cambria Math"/>
                <a:cs typeface="Cambria Math"/>
              </a:rPr>
              <a:t>𝛽</a:t>
            </a:r>
            <a:r>
              <a:rPr sz="1800" baseline="-20833" dirty="0">
                <a:latin typeface="Cambria Math"/>
                <a:cs typeface="Cambria Math"/>
              </a:rPr>
              <a:t>0</a:t>
            </a:r>
            <a:r>
              <a:rPr sz="1800" baseline="-20833" dirty="0">
                <a:solidFill>
                  <a:srgbClr val="FF0000"/>
                </a:solidFill>
                <a:latin typeface="Cambria Math"/>
                <a:cs typeface="Cambria Math"/>
              </a:rPr>
              <a:t>2</a:t>
            </a:r>
            <a:r>
              <a:rPr sz="1800" spc="187" baseline="-20833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+</a:t>
            </a:r>
            <a:r>
              <a:rPr sz="1800" spc="425" dirty="0">
                <a:latin typeface="Cambria Math"/>
                <a:cs typeface="Cambria Math"/>
              </a:rPr>
              <a:t> </a:t>
            </a:r>
            <a:r>
              <a:rPr sz="1800" spc="-20" dirty="0">
                <a:latin typeface="Cambria Math"/>
                <a:cs typeface="Cambria Math"/>
              </a:rPr>
              <a:t>𝛽</a:t>
            </a:r>
            <a:r>
              <a:rPr sz="1800" spc="-30" baseline="-20833" dirty="0">
                <a:latin typeface="Cambria Math"/>
                <a:cs typeface="Cambria Math"/>
              </a:rPr>
              <a:t>1</a:t>
            </a:r>
            <a:r>
              <a:rPr sz="1800" spc="-30" baseline="-20833" dirty="0">
                <a:solidFill>
                  <a:srgbClr val="FF0000"/>
                </a:solidFill>
                <a:latin typeface="Cambria Math"/>
                <a:cs typeface="Cambria Math"/>
              </a:rPr>
              <a:t>2</a:t>
            </a:r>
            <a:r>
              <a:rPr sz="1800" spc="-20" dirty="0">
                <a:latin typeface="Cambria Math"/>
                <a:cs typeface="Cambria Math"/>
              </a:rPr>
              <a:t>𝑋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8639302" y="3627501"/>
            <a:ext cx="23437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spc="-114" dirty="0">
                <a:latin typeface="Trebuchet MS"/>
                <a:cs typeface="Trebuchet MS"/>
              </a:rPr>
              <a:t>Trial</a:t>
            </a:r>
            <a:r>
              <a:rPr sz="1800" spc="-190" dirty="0">
                <a:latin typeface="Trebuchet MS"/>
                <a:cs typeface="Trebuchet MS"/>
              </a:rPr>
              <a:t> </a:t>
            </a:r>
            <a:r>
              <a:rPr sz="1800" spc="-80" dirty="0">
                <a:latin typeface="Trebuchet MS"/>
                <a:cs typeface="Trebuchet MS"/>
              </a:rPr>
              <a:t>3:</a:t>
            </a:r>
            <a:r>
              <a:rPr sz="1800" spc="-170" dirty="0">
                <a:latin typeface="Trebuchet MS"/>
                <a:cs typeface="Trebuchet MS"/>
              </a:rPr>
              <a:t> </a:t>
            </a:r>
            <a:r>
              <a:rPr sz="1800" dirty="0">
                <a:latin typeface="Cambria Math"/>
                <a:cs typeface="Cambria Math"/>
              </a:rPr>
              <a:t>𝑌</a:t>
            </a:r>
            <a:r>
              <a:rPr sz="1800" spc="15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=</a:t>
            </a:r>
            <a:r>
              <a:rPr sz="1800" spc="55" dirty="0">
                <a:latin typeface="Cambria Math"/>
                <a:cs typeface="Cambria Math"/>
              </a:rPr>
              <a:t>  </a:t>
            </a:r>
            <a:r>
              <a:rPr sz="1800" dirty="0">
                <a:latin typeface="Cambria Math"/>
                <a:cs typeface="Cambria Math"/>
              </a:rPr>
              <a:t>𝛽</a:t>
            </a:r>
            <a:r>
              <a:rPr sz="1800" baseline="-20833" dirty="0">
                <a:latin typeface="Cambria Math"/>
                <a:cs typeface="Cambria Math"/>
              </a:rPr>
              <a:t>0</a:t>
            </a:r>
            <a:r>
              <a:rPr sz="1800" baseline="-20833" dirty="0">
                <a:solidFill>
                  <a:srgbClr val="FF0000"/>
                </a:solidFill>
                <a:latin typeface="Cambria Math"/>
                <a:cs typeface="Cambria Math"/>
              </a:rPr>
              <a:t>3</a:t>
            </a:r>
            <a:r>
              <a:rPr sz="1800" spc="187" baseline="-20833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+</a:t>
            </a:r>
            <a:r>
              <a:rPr sz="1800" spc="425" dirty="0">
                <a:latin typeface="Cambria Math"/>
                <a:cs typeface="Cambria Math"/>
              </a:rPr>
              <a:t> </a:t>
            </a:r>
            <a:r>
              <a:rPr sz="1800" spc="-20" dirty="0">
                <a:latin typeface="Cambria Math"/>
                <a:cs typeface="Cambria Math"/>
              </a:rPr>
              <a:t>𝛽</a:t>
            </a:r>
            <a:r>
              <a:rPr sz="1800" spc="-30" baseline="-20833" dirty="0">
                <a:latin typeface="Cambria Math"/>
                <a:cs typeface="Cambria Math"/>
              </a:rPr>
              <a:t>1</a:t>
            </a:r>
            <a:r>
              <a:rPr sz="1800" spc="-30" baseline="-20833" dirty="0">
                <a:solidFill>
                  <a:srgbClr val="FF0000"/>
                </a:solidFill>
                <a:latin typeface="Cambria Math"/>
                <a:cs typeface="Cambria Math"/>
              </a:rPr>
              <a:t>3</a:t>
            </a:r>
            <a:r>
              <a:rPr sz="1800" spc="-20" dirty="0">
                <a:latin typeface="Cambria Math"/>
                <a:cs typeface="Cambria Math"/>
              </a:rPr>
              <a:t>𝑋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1262761" y="6354267"/>
            <a:ext cx="23444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spc="-114" dirty="0">
                <a:latin typeface="Trebuchet MS"/>
                <a:cs typeface="Trebuchet MS"/>
              </a:rPr>
              <a:t>Trial</a:t>
            </a:r>
            <a:r>
              <a:rPr sz="1800" spc="-190" dirty="0">
                <a:latin typeface="Trebuchet MS"/>
                <a:cs typeface="Trebuchet MS"/>
              </a:rPr>
              <a:t> </a:t>
            </a:r>
            <a:r>
              <a:rPr sz="1800" spc="-80" dirty="0">
                <a:latin typeface="Trebuchet MS"/>
                <a:cs typeface="Trebuchet MS"/>
              </a:rPr>
              <a:t>4:</a:t>
            </a:r>
            <a:r>
              <a:rPr sz="1800" spc="-170" dirty="0">
                <a:latin typeface="Trebuchet MS"/>
                <a:cs typeface="Trebuchet MS"/>
              </a:rPr>
              <a:t> </a:t>
            </a:r>
            <a:r>
              <a:rPr sz="1800" dirty="0">
                <a:latin typeface="Cambria Math"/>
                <a:cs typeface="Cambria Math"/>
              </a:rPr>
              <a:t>𝑌</a:t>
            </a:r>
            <a:r>
              <a:rPr sz="1800" spc="15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=</a:t>
            </a:r>
            <a:r>
              <a:rPr sz="1800" spc="55" dirty="0">
                <a:latin typeface="Cambria Math"/>
                <a:cs typeface="Cambria Math"/>
              </a:rPr>
              <a:t>  </a:t>
            </a:r>
            <a:r>
              <a:rPr sz="1800" dirty="0">
                <a:latin typeface="Cambria Math"/>
                <a:cs typeface="Cambria Math"/>
              </a:rPr>
              <a:t>𝛽</a:t>
            </a:r>
            <a:r>
              <a:rPr sz="1800" baseline="-20833" dirty="0">
                <a:latin typeface="Cambria Math"/>
                <a:cs typeface="Cambria Math"/>
              </a:rPr>
              <a:t>0</a:t>
            </a:r>
            <a:r>
              <a:rPr sz="1800" baseline="-20833" dirty="0">
                <a:solidFill>
                  <a:srgbClr val="FF0000"/>
                </a:solidFill>
                <a:latin typeface="Cambria Math"/>
                <a:cs typeface="Cambria Math"/>
              </a:rPr>
              <a:t>3</a:t>
            </a:r>
            <a:r>
              <a:rPr sz="1800" spc="187" baseline="-20833" dirty="0">
                <a:solidFill>
                  <a:srgbClr val="FF0000"/>
                </a:solidFill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+</a:t>
            </a:r>
            <a:r>
              <a:rPr sz="1800" spc="425" dirty="0">
                <a:latin typeface="Cambria Math"/>
                <a:cs typeface="Cambria Math"/>
              </a:rPr>
              <a:t> </a:t>
            </a:r>
            <a:r>
              <a:rPr sz="1800" spc="-20" dirty="0">
                <a:latin typeface="Cambria Math"/>
                <a:cs typeface="Cambria Math"/>
              </a:rPr>
              <a:t>𝛽</a:t>
            </a:r>
            <a:r>
              <a:rPr sz="1800" spc="-30" baseline="-20833" dirty="0">
                <a:latin typeface="Cambria Math"/>
                <a:cs typeface="Cambria Math"/>
              </a:rPr>
              <a:t>1</a:t>
            </a:r>
            <a:r>
              <a:rPr sz="1800" spc="-30" baseline="-20833" dirty="0">
                <a:solidFill>
                  <a:srgbClr val="FF0000"/>
                </a:solidFill>
                <a:latin typeface="Cambria Math"/>
                <a:cs typeface="Cambria Math"/>
              </a:rPr>
              <a:t>3</a:t>
            </a:r>
            <a:r>
              <a:rPr sz="1800" spc="-20" dirty="0">
                <a:latin typeface="Cambria Math"/>
                <a:cs typeface="Cambria Math"/>
              </a:rPr>
              <a:t>𝑋</a:t>
            </a:r>
            <a:endParaRPr sz="1800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702259" rIns="0" bIns="0" rtlCol="0">
            <a:spAutoFit/>
          </a:bodyPr>
          <a:lstStyle/>
          <a:p>
            <a:pPr marL="179070">
              <a:lnSpc>
                <a:spcPct val="100000"/>
              </a:lnSpc>
              <a:spcBef>
                <a:spcPts val="105"/>
              </a:spcBef>
            </a:pPr>
            <a:r>
              <a:rPr sz="3200" dirty="0"/>
              <a:t>Simple</a:t>
            </a:r>
            <a:r>
              <a:rPr sz="3200" spc="-25" dirty="0"/>
              <a:t> </a:t>
            </a:r>
            <a:r>
              <a:rPr sz="3200" dirty="0"/>
              <a:t>Linear</a:t>
            </a:r>
            <a:r>
              <a:rPr sz="3200" spc="-25" dirty="0"/>
              <a:t> </a:t>
            </a:r>
            <a:r>
              <a:rPr sz="3200" dirty="0"/>
              <a:t>Regression:</a:t>
            </a:r>
            <a:r>
              <a:rPr sz="3200" spc="-30" dirty="0"/>
              <a:t> </a:t>
            </a:r>
            <a:r>
              <a:rPr sz="3200" dirty="0"/>
              <a:t>Residual</a:t>
            </a:r>
            <a:r>
              <a:rPr sz="3200" spc="-15" dirty="0"/>
              <a:t> </a:t>
            </a:r>
            <a:r>
              <a:rPr sz="3200" dirty="0"/>
              <a:t>Sum</a:t>
            </a:r>
            <a:r>
              <a:rPr sz="3200" spc="-25" dirty="0"/>
              <a:t> </a:t>
            </a:r>
            <a:r>
              <a:rPr sz="3200" dirty="0"/>
              <a:t>of</a:t>
            </a:r>
            <a:r>
              <a:rPr sz="3200" spc="-10" dirty="0"/>
              <a:t> Squares</a:t>
            </a:r>
            <a:endParaRPr sz="3200"/>
          </a:p>
        </p:txBody>
      </p:sp>
      <p:sp>
        <p:nvSpPr>
          <p:cNvPr id="3" name="object 3"/>
          <p:cNvSpPr txBox="1"/>
          <p:nvPr/>
        </p:nvSpPr>
        <p:spPr>
          <a:xfrm>
            <a:off x="338632" y="2131930"/>
            <a:ext cx="5066030" cy="685800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266065" indent="-227965">
              <a:lnSpc>
                <a:spcPct val="100000"/>
              </a:lnSpc>
              <a:spcBef>
                <a:spcPts val="434"/>
              </a:spcBef>
              <a:buFont typeface="Arial MT"/>
              <a:buChar char="•"/>
              <a:tabLst>
                <a:tab pos="266065" algn="l"/>
              </a:tabLst>
            </a:pPr>
            <a:r>
              <a:rPr sz="2000" dirty="0">
                <a:latin typeface="Trebuchet MS"/>
                <a:cs typeface="Trebuchet MS"/>
              </a:rPr>
              <a:t>Residual</a:t>
            </a:r>
            <a:r>
              <a:rPr sz="2000" spc="-215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=</a:t>
            </a:r>
            <a:r>
              <a:rPr sz="2000" spc="-200" dirty="0">
                <a:latin typeface="Trebuchet MS"/>
                <a:cs typeface="Trebuchet MS"/>
              </a:rPr>
              <a:t> </a:t>
            </a:r>
            <a:r>
              <a:rPr sz="2000" spc="-50" dirty="0">
                <a:latin typeface="Trebuchet MS"/>
                <a:cs typeface="Trebuchet MS"/>
              </a:rPr>
              <a:t>y</a:t>
            </a:r>
            <a:r>
              <a:rPr sz="1950" spc="-75" baseline="-21367" dirty="0">
                <a:latin typeface="Trebuchet MS"/>
                <a:cs typeface="Trebuchet MS"/>
              </a:rPr>
              <a:t>i</a:t>
            </a:r>
            <a:r>
              <a:rPr sz="1950" baseline="-21367" dirty="0">
                <a:latin typeface="Trebuchet MS"/>
                <a:cs typeface="Trebuchet MS"/>
              </a:rPr>
              <a:t> </a:t>
            </a:r>
            <a:r>
              <a:rPr sz="2000" spc="180" dirty="0">
                <a:latin typeface="Trebuchet MS"/>
                <a:cs typeface="Trebuchet MS"/>
              </a:rPr>
              <a:t>–</a:t>
            </a:r>
            <a:r>
              <a:rPr sz="2000" spc="-195" dirty="0">
                <a:latin typeface="Trebuchet MS"/>
                <a:cs typeface="Trebuchet MS"/>
              </a:rPr>
              <a:t> </a:t>
            </a:r>
            <a:r>
              <a:rPr sz="2000" spc="-280" dirty="0">
                <a:latin typeface="Trebuchet MS"/>
                <a:cs typeface="Trebuchet MS"/>
              </a:rPr>
              <a:t>y</a:t>
            </a:r>
            <a:r>
              <a:rPr sz="1950" spc="-419" baseline="-21367" dirty="0">
                <a:latin typeface="Trebuchet MS"/>
                <a:cs typeface="Trebuchet MS"/>
              </a:rPr>
              <a:t>i</a:t>
            </a:r>
            <a:r>
              <a:rPr sz="2000" spc="-280" dirty="0">
                <a:latin typeface="Trebuchet MS"/>
                <a:cs typeface="Trebuchet MS"/>
              </a:rPr>
              <a:t>’,</a:t>
            </a:r>
            <a:endParaRPr sz="2000">
              <a:latin typeface="Trebuchet MS"/>
              <a:cs typeface="Trebuchet MS"/>
            </a:endParaRPr>
          </a:p>
          <a:p>
            <a:pPr marL="723265" lvl="1" indent="-227965">
              <a:lnSpc>
                <a:spcPct val="100000"/>
              </a:lnSpc>
              <a:spcBef>
                <a:spcPts val="300"/>
              </a:spcBef>
              <a:buFont typeface="Arial MT"/>
              <a:buChar char="•"/>
              <a:tabLst>
                <a:tab pos="723265" algn="l"/>
              </a:tabLst>
            </a:pPr>
            <a:r>
              <a:rPr sz="1800" spc="-90" dirty="0">
                <a:latin typeface="Trebuchet MS"/>
                <a:cs typeface="Trebuchet MS"/>
              </a:rPr>
              <a:t>where,</a:t>
            </a:r>
            <a:r>
              <a:rPr sz="1800" spc="-155" dirty="0">
                <a:latin typeface="Trebuchet MS"/>
                <a:cs typeface="Trebuchet MS"/>
              </a:rPr>
              <a:t> </a:t>
            </a:r>
            <a:r>
              <a:rPr sz="1800" spc="-50" dirty="0">
                <a:latin typeface="Trebuchet MS"/>
                <a:cs typeface="Trebuchet MS"/>
              </a:rPr>
              <a:t>y</a:t>
            </a:r>
            <a:r>
              <a:rPr sz="1800" spc="-75" baseline="-20833" dirty="0">
                <a:latin typeface="Trebuchet MS"/>
                <a:cs typeface="Trebuchet MS"/>
              </a:rPr>
              <a:t>i</a:t>
            </a:r>
            <a:r>
              <a:rPr sz="1800" spc="52" baseline="-20833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=</a:t>
            </a:r>
            <a:r>
              <a:rPr sz="1800" spc="-145" dirty="0">
                <a:latin typeface="Trebuchet MS"/>
                <a:cs typeface="Trebuchet MS"/>
              </a:rPr>
              <a:t> </a:t>
            </a:r>
            <a:r>
              <a:rPr sz="1800" spc="-30" dirty="0">
                <a:latin typeface="Trebuchet MS"/>
                <a:cs typeface="Trebuchet MS"/>
              </a:rPr>
              <a:t>actual</a:t>
            </a:r>
            <a:r>
              <a:rPr sz="1800" spc="-145" dirty="0">
                <a:latin typeface="Trebuchet MS"/>
                <a:cs typeface="Trebuchet MS"/>
              </a:rPr>
              <a:t> </a:t>
            </a:r>
            <a:r>
              <a:rPr sz="1800" spc="-75" dirty="0">
                <a:latin typeface="Trebuchet MS"/>
                <a:cs typeface="Trebuchet MS"/>
              </a:rPr>
              <a:t>value,</a:t>
            </a:r>
            <a:r>
              <a:rPr sz="1800" spc="-170" dirty="0">
                <a:latin typeface="Trebuchet MS"/>
                <a:cs typeface="Trebuchet MS"/>
              </a:rPr>
              <a:t> </a:t>
            </a:r>
            <a:r>
              <a:rPr sz="1800" spc="-110" dirty="0">
                <a:latin typeface="Trebuchet MS"/>
                <a:cs typeface="Trebuchet MS"/>
              </a:rPr>
              <a:t>y</a:t>
            </a:r>
            <a:r>
              <a:rPr sz="1800" spc="-165" baseline="-20833" dirty="0">
                <a:latin typeface="Trebuchet MS"/>
                <a:cs typeface="Trebuchet MS"/>
              </a:rPr>
              <a:t>i</a:t>
            </a:r>
            <a:r>
              <a:rPr sz="1800" spc="-110" dirty="0">
                <a:latin typeface="Trebuchet MS"/>
                <a:cs typeface="Trebuchet MS"/>
              </a:rPr>
              <a:t>’</a:t>
            </a:r>
            <a:r>
              <a:rPr sz="1800" spc="-240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=</a:t>
            </a:r>
            <a:r>
              <a:rPr sz="1800" spc="-155" dirty="0">
                <a:latin typeface="Trebuchet MS"/>
                <a:cs typeface="Trebuchet MS"/>
              </a:rPr>
              <a:t> </a:t>
            </a:r>
            <a:r>
              <a:rPr sz="1800" spc="-55" dirty="0">
                <a:latin typeface="Trebuchet MS"/>
                <a:cs typeface="Trebuchet MS"/>
              </a:rPr>
              <a:t>predicted</a:t>
            </a:r>
            <a:r>
              <a:rPr sz="1800" spc="-114" dirty="0">
                <a:latin typeface="Trebuchet MS"/>
                <a:cs typeface="Trebuchet MS"/>
              </a:rPr>
              <a:t> </a:t>
            </a:r>
            <a:r>
              <a:rPr sz="1800" spc="-10" dirty="0">
                <a:latin typeface="Trebuchet MS"/>
                <a:cs typeface="Trebuchet MS"/>
              </a:rPr>
              <a:t>value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701922" y="3136010"/>
            <a:ext cx="123825" cy="17145"/>
          </a:xfrm>
          <a:custGeom>
            <a:avLst/>
            <a:gdLst/>
            <a:ahLst/>
            <a:cxnLst/>
            <a:rect l="l" t="t" r="r" b="b"/>
            <a:pathLst>
              <a:path w="123825" h="17144">
                <a:moveTo>
                  <a:pt x="123444" y="0"/>
                </a:moveTo>
                <a:lnTo>
                  <a:pt x="0" y="0"/>
                </a:lnTo>
                <a:lnTo>
                  <a:pt x="0" y="16763"/>
                </a:lnTo>
                <a:lnTo>
                  <a:pt x="123444" y="16763"/>
                </a:lnTo>
                <a:lnTo>
                  <a:pt x="12344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689730" y="3146806"/>
            <a:ext cx="146685" cy="24892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450" spc="55" dirty="0">
                <a:latin typeface="Cambria Math"/>
                <a:cs typeface="Cambria Math"/>
              </a:rPr>
              <a:t>𝑛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218559" y="3098038"/>
            <a:ext cx="440690" cy="2286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  <a:tabLst>
                <a:tab pos="387350" algn="l"/>
              </a:tabLst>
            </a:pPr>
            <a:r>
              <a:rPr sz="1300" spc="-50" dirty="0">
                <a:latin typeface="Trebuchet MS"/>
                <a:cs typeface="Trebuchet MS"/>
              </a:rPr>
              <a:t>i</a:t>
            </a:r>
            <a:r>
              <a:rPr sz="1300" dirty="0">
                <a:latin typeface="Trebuchet MS"/>
                <a:cs typeface="Trebuchet MS"/>
              </a:rPr>
              <a:t>	</a:t>
            </a:r>
            <a:r>
              <a:rPr sz="1300" spc="-50" dirty="0">
                <a:latin typeface="Trebuchet MS"/>
                <a:cs typeface="Trebuchet MS"/>
              </a:rPr>
              <a:t>i</a:t>
            </a:r>
            <a:endParaRPr sz="1300">
              <a:latin typeface="Trebuchet MS"/>
              <a:cs typeface="Trebuchet M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38632" y="2950210"/>
            <a:ext cx="458089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6065" indent="-227965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266065" algn="l"/>
              </a:tabLst>
            </a:pPr>
            <a:r>
              <a:rPr sz="2000" dirty="0">
                <a:latin typeface="Trebuchet MS"/>
                <a:cs typeface="Trebuchet MS"/>
              </a:rPr>
              <a:t>Mean</a:t>
            </a:r>
            <a:r>
              <a:rPr sz="2000" spc="-210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Squared</a:t>
            </a:r>
            <a:r>
              <a:rPr sz="2000" spc="-195" dirty="0">
                <a:latin typeface="Trebuchet MS"/>
                <a:cs typeface="Trebuchet MS"/>
              </a:rPr>
              <a:t> </a:t>
            </a:r>
            <a:r>
              <a:rPr sz="2000" spc="-65" dirty="0">
                <a:latin typeface="Trebuchet MS"/>
                <a:cs typeface="Trebuchet MS"/>
              </a:rPr>
              <a:t>Error</a:t>
            </a:r>
            <a:r>
              <a:rPr sz="2000" spc="-190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(MSE)</a:t>
            </a:r>
            <a:r>
              <a:rPr sz="2000" spc="-195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=</a:t>
            </a:r>
            <a:r>
              <a:rPr sz="2000" spc="-135" dirty="0">
                <a:latin typeface="Trebuchet MS"/>
                <a:cs typeface="Trebuchet MS"/>
              </a:rPr>
              <a:t> </a:t>
            </a:r>
            <a:r>
              <a:rPr sz="2175" baseline="45977" dirty="0">
                <a:latin typeface="Cambria Math"/>
                <a:cs typeface="Cambria Math"/>
              </a:rPr>
              <a:t>1</a:t>
            </a:r>
            <a:r>
              <a:rPr sz="2175" spc="240" baseline="45977" dirty="0">
                <a:latin typeface="Cambria Math"/>
                <a:cs typeface="Cambria Math"/>
              </a:rPr>
              <a:t> </a:t>
            </a:r>
            <a:r>
              <a:rPr sz="2000" spc="-95" dirty="0">
                <a:latin typeface="Trebuchet MS"/>
                <a:cs typeface="Trebuchet MS"/>
              </a:rPr>
              <a:t>Σ</a:t>
            </a:r>
            <a:r>
              <a:rPr sz="2000" spc="-320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(y</a:t>
            </a:r>
            <a:r>
              <a:rPr sz="2000" spc="120" dirty="0">
                <a:latin typeface="Trebuchet MS"/>
                <a:cs typeface="Trebuchet MS"/>
              </a:rPr>
              <a:t> </a:t>
            </a:r>
            <a:r>
              <a:rPr sz="2000" spc="175" dirty="0">
                <a:latin typeface="Trebuchet MS"/>
                <a:cs typeface="Trebuchet MS"/>
              </a:rPr>
              <a:t>–</a:t>
            </a:r>
            <a:r>
              <a:rPr sz="2000" spc="-190" dirty="0">
                <a:latin typeface="Trebuchet MS"/>
                <a:cs typeface="Trebuchet MS"/>
              </a:rPr>
              <a:t> </a:t>
            </a:r>
            <a:r>
              <a:rPr sz="2000" spc="-95" dirty="0">
                <a:latin typeface="Trebuchet MS"/>
                <a:cs typeface="Trebuchet MS"/>
              </a:rPr>
              <a:t>y</a:t>
            </a:r>
            <a:r>
              <a:rPr sz="2000" spc="-270" dirty="0">
                <a:latin typeface="Trebuchet MS"/>
                <a:cs typeface="Trebuchet MS"/>
              </a:rPr>
              <a:t> </a:t>
            </a:r>
            <a:r>
              <a:rPr sz="2000" spc="-25" dirty="0">
                <a:latin typeface="Trebuchet MS"/>
                <a:cs typeface="Trebuchet MS"/>
              </a:rPr>
              <a:t>’)</a:t>
            </a:r>
            <a:r>
              <a:rPr sz="1950" spc="-37" baseline="25641" dirty="0">
                <a:latin typeface="Trebuchet MS"/>
                <a:cs typeface="Trebuchet MS"/>
              </a:rPr>
              <a:t>2</a:t>
            </a:r>
            <a:endParaRPr sz="1950" baseline="25641">
              <a:latin typeface="Trebuchet MS"/>
              <a:cs typeface="Trebuchet M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141091" y="3373577"/>
            <a:ext cx="2152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50" dirty="0">
                <a:latin typeface="Trebuchet MS"/>
                <a:cs typeface="Trebuchet MS"/>
              </a:rPr>
              <a:t>=</a:t>
            </a:r>
            <a:endParaRPr sz="2800">
              <a:latin typeface="Trebuchet MS"/>
              <a:cs typeface="Trebuchet M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416934" y="3660266"/>
            <a:ext cx="123825" cy="17145"/>
          </a:xfrm>
          <a:custGeom>
            <a:avLst/>
            <a:gdLst/>
            <a:ahLst/>
            <a:cxnLst/>
            <a:rect l="l" t="t" r="r" b="b"/>
            <a:pathLst>
              <a:path w="123825" h="17145">
                <a:moveTo>
                  <a:pt x="123444" y="0"/>
                </a:moveTo>
                <a:lnTo>
                  <a:pt x="0" y="0"/>
                </a:lnTo>
                <a:lnTo>
                  <a:pt x="0" y="16763"/>
                </a:lnTo>
                <a:lnTo>
                  <a:pt x="123444" y="16763"/>
                </a:lnTo>
                <a:lnTo>
                  <a:pt x="12344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3404742" y="3339439"/>
            <a:ext cx="146685" cy="580390"/>
          </a:xfrm>
          <a:prstGeom prst="rect">
            <a:avLst/>
          </a:prstGeom>
        </p:spPr>
        <p:txBody>
          <a:bodyPr vert="horz" wrap="square" lIns="0" tIns="68580" rIns="0" bIns="0" rtlCol="0">
            <a:spAutoFit/>
          </a:bodyPr>
          <a:lstStyle/>
          <a:p>
            <a:pPr marL="20320">
              <a:lnSpc>
                <a:spcPct val="100000"/>
              </a:lnSpc>
              <a:spcBef>
                <a:spcPts val="540"/>
              </a:spcBef>
            </a:pPr>
            <a:r>
              <a:rPr sz="1450" spc="-50" dirty="0">
                <a:latin typeface="Cambria Math"/>
                <a:cs typeface="Cambria Math"/>
              </a:rPr>
              <a:t>1</a:t>
            </a:r>
            <a:endParaRPr sz="145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spcBef>
                <a:spcPts val="445"/>
              </a:spcBef>
            </a:pPr>
            <a:r>
              <a:rPr sz="1450" spc="55" dirty="0">
                <a:latin typeface="Cambria Math"/>
                <a:cs typeface="Cambria Math"/>
              </a:rPr>
              <a:t>𝑛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541903" y="3474465"/>
            <a:ext cx="213423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05"/>
              </a:spcBef>
            </a:pPr>
            <a:r>
              <a:rPr sz="2000" spc="-95" dirty="0">
                <a:latin typeface="Trebuchet MS"/>
                <a:cs typeface="Trebuchet MS"/>
              </a:rPr>
              <a:t>Σ</a:t>
            </a:r>
            <a:r>
              <a:rPr sz="2000" spc="-335" dirty="0">
                <a:latin typeface="Trebuchet MS"/>
                <a:cs typeface="Trebuchet MS"/>
              </a:rPr>
              <a:t> </a:t>
            </a:r>
            <a:r>
              <a:rPr sz="2000" spc="-100" dirty="0">
                <a:latin typeface="Trebuchet MS"/>
                <a:cs typeface="Trebuchet MS"/>
              </a:rPr>
              <a:t>(y</a:t>
            </a:r>
            <a:r>
              <a:rPr sz="1950" spc="-150" baseline="-21367" dirty="0">
                <a:latin typeface="Trebuchet MS"/>
                <a:cs typeface="Trebuchet MS"/>
              </a:rPr>
              <a:t>i</a:t>
            </a:r>
            <a:r>
              <a:rPr sz="1950" baseline="-21367" dirty="0">
                <a:latin typeface="Trebuchet MS"/>
                <a:cs typeface="Trebuchet MS"/>
              </a:rPr>
              <a:t> </a:t>
            </a:r>
            <a:r>
              <a:rPr sz="2000" spc="175" dirty="0">
                <a:latin typeface="Trebuchet MS"/>
                <a:cs typeface="Trebuchet MS"/>
              </a:rPr>
              <a:t>–</a:t>
            </a:r>
            <a:r>
              <a:rPr sz="2000" spc="-195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(</a:t>
            </a:r>
            <a:r>
              <a:rPr sz="2000" dirty="0">
                <a:latin typeface="Cambria Math"/>
                <a:cs typeface="Cambria Math"/>
              </a:rPr>
              <a:t>𝛽</a:t>
            </a:r>
            <a:r>
              <a:rPr sz="1950" baseline="-21367" dirty="0">
                <a:latin typeface="Cambria Math"/>
                <a:cs typeface="Cambria Math"/>
              </a:rPr>
              <a:t>0</a:t>
            </a:r>
            <a:r>
              <a:rPr sz="1950" spc="120" baseline="-21367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+</a:t>
            </a:r>
            <a:r>
              <a:rPr sz="2000" spc="400" dirty="0">
                <a:latin typeface="Cambria Math"/>
                <a:cs typeface="Cambria Math"/>
              </a:rPr>
              <a:t> </a:t>
            </a:r>
            <a:r>
              <a:rPr sz="2000" spc="-25" dirty="0">
                <a:latin typeface="Cambria Math"/>
                <a:cs typeface="Cambria Math"/>
              </a:rPr>
              <a:t>𝛽</a:t>
            </a:r>
            <a:r>
              <a:rPr sz="1950" spc="-37" baseline="-21367" dirty="0">
                <a:latin typeface="Cambria Math"/>
                <a:cs typeface="Cambria Math"/>
              </a:rPr>
              <a:t>1</a:t>
            </a:r>
            <a:r>
              <a:rPr sz="2000" spc="-25" dirty="0">
                <a:latin typeface="Cambria Math"/>
                <a:cs typeface="Cambria Math"/>
              </a:rPr>
              <a:t>𝑥</a:t>
            </a:r>
            <a:r>
              <a:rPr sz="1950" spc="-37" baseline="-21367" dirty="0">
                <a:latin typeface="Cambria Math"/>
                <a:cs typeface="Cambria Math"/>
              </a:rPr>
              <a:t>𝑖</a:t>
            </a:r>
            <a:r>
              <a:rPr sz="2000" spc="-25" dirty="0">
                <a:latin typeface="Trebuchet MS"/>
                <a:cs typeface="Trebuchet MS"/>
              </a:rPr>
              <a:t>)</a:t>
            </a:r>
            <a:r>
              <a:rPr sz="2000" spc="-185" dirty="0">
                <a:latin typeface="Trebuchet MS"/>
                <a:cs typeface="Trebuchet MS"/>
              </a:rPr>
              <a:t> </a:t>
            </a:r>
            <a:r>
              <a:rPr sz="2000" spc="-25" dirty="0">
                <a:latin typeface="Trebuchet MS"/>
                <a:cs typeface="Trebuchet MS"/>
              </a:rPr>
              <a:t>)</a:t>
            </a:r>
            <a:r>
              <a:rPr sz="1950" spc="-37" baseline="25641" dirty="0">
                <a:latin typeface="Trebuchet MS"/>
                <a:cs typeface="Trebuchet MS"/>
              </a:rPr>
              <a:t>2</a:t>
            </a:r>
            <a:endParaRPr sz="1950" baseline="25641">
              <a:latin typeface="Trebuchet MS"/>
              <a:cs typeface="Trebuchet MS"/>
            </a:endParaRPr>
          </a:p>
        </p:txBody>
      </p:sp>
      <p:pic>
        <p:nvPicPr>
          <p:cNvPr id="12" name="object 1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92661" y="1996328"/>
            <a:ext cx="5375414" cy="3056391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1874011" y="5359704"/>
            <a:ext cx="8044815" cy="1280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152515" marR="146050">
              <a:lnSpc>
                <a:spcPct val="100000"/>
              </a:lnSpc>
              <a:spcBef>
                <a:spcPts val="100"/>
              </a:spcBef>
            </a:pPr>
            <a:r>
              <a:rPr sz="1800" spc="-85" dirty="0">
                <a:latin typeface="Trebuchet MS"/>
                <a:cs typeface="Trebuchet MS"/>
              </a:rPr>
              <a:t>Fig.</a:t>
            </a:r>
            <a:r>
              <a:rPr sz="1800" spc="-180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Simple</a:t>
            </a:r>
            <a:r>
              <a:rPr sz="1800" spc="-175" dirty="0">
                <a:latin typeface="Trebuchet MS"/>
                <a:cs typeface="Trebuchet MS"/>
              </a:rPr>
              <a:t> </a:t>
            </a:r>
            <a:r>
              <a:rPr sz="1800" spc="-40" dirty="0">
                <a:latin typeface="Trebuchet MS"/>
                <a:cs typeface="Trebuchet MS"/>
              </a:rPr>
              <a:t>Linear </a:t>
            </a:r>
            <a:r>
              <a:rPr sz="1800" spc="-10" dirty="0">
                <a:latin typeface="Trebuchet MS"/>
                <a:cs typeface="Trebuchet MS"/>
              </a:rPr>
              <a:t>Regression</a:t>
            </a:r>
            <a:endParaRPr sz="18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240"/>
              </a:spcBef>
            </a:pPr>
            <a:r>
              <a:rPr sz="1800" spc="-40" dirty="0">
                <a:solidFill>
                  <a:srgbClr val="155F82"/>
                </a:solidFill>
                <a:latin typeface="Trebuchet MS"/>
                <a:cs typeface="Trebuchet MS"/>
              </a:rPr>
              <a:t>Link</a:t>
            </a:r>
            <a:r>
              <a:rPr sz="1800" spc="-180" dirty="0">
                <a:solidFill>
                  <a:srgbClr val="155F82"/>
                </a:solidFill>
                <a:latin typeface="Trebuchet MS"/>
                <a:cs typeface="Trebuchet MS"/>
              </a:rPr>
              <a:t> </a:t>
            </a:r>
            <a:r>
              <a:rPr sz="1800" spc="-70" dirty="0">
                <a:solidFill>
                  <a:srgbClr val="155F82"/>
                </a:solidFill>
                <a:latin typeface="Trebuchet MS"/>
                <a:cs typeface="Trebuchet MS"/>
              </a:rPr>
              <a:t>to</a:t>
            </a:r>
            <a:r>
              <a:rPr sz="1800" spc="-150" dirty="0">
                <a:solidFill>
                  <a:srgbClr val="155F82"/>
                </a:solidFill>
                <a:latin typeface="Trebuchet MS"/>
                <a:cs typeface="Trebuchet MS"/>
              </a:rPr>
              <a:t> </a:t>
            </a:r>
            <a:r>
              <a:rPr sz="1800" spc="-10" dirty="0">
                <a:solidFill>
                  <a:srgbClr val="155F82"/>
                </a:solidFill>
                <a:latin typeface="Trebuchet MS"/>
                <a:cs typeface="Trebuchet MS"/>
              </a:rPr>
              <a:t>video:</a:t>
            </a:r>
            <a:endParaRPr sz="18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1800" u="sng" spc="-40" dirty="0">
                <a:solidFill>
                  <a:srgbClr val="467885"/>
                </a:solidFill>
                <a:uFill>
                  <a:solidFill>
                    <a:srgbClr val="467885"/>
                  </a:solidFill>
                </a:uFill>
                <a:latin typeface="Trebuchet MS"/>
                <a:cs typeface="Trebuchet MS"/>
                <a:hlinkClick r:id="rId3"/>
              </a:rPr>
              <a:t>https://www.youtube.com/watch?v=owI7zxCqNY0Cab_channel=dataminingincae</a:t>
            </a:r>
            <a:endParaRPr sz="18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82802" y="439673"/>
            <a:ext cx="769493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195" dirty="0">
                <a:latin typeface="Trebuchet MS"/>
                <a:cs typeface="Trebuchet MS"/>
              </a:rPr>
              <a:t>Linear</a:t>
            </a:r>
            <a:r>
              <a:rPr sz="3600" spc="-330" dirty="0">
                <a:latin typeface="Trebuchet MS"/>
                <a:cs typeface="Trebuchet MS"/>
              </a:rPr>
              <a:t> </a:t>
            </a:r>
            <a:r>
              <a:rPr sz="3600" spc="-155" dirty="0">
                <a:latin typeface="Trebuchet MS"/>
                <a:cs typeface="Trebuchet MS"/>
              </a:rPr>
              <a:t>Regression:</a:t>
            </a:r>
            <a:r>
              <a:rPr sz="3600" spc="-325" dirty="0">
                <a:latin typeface="Trebuchet MS"/>
                <a:cs typeface="Trebuchet MS"/>
              </a:rPr>
              <a:t> </a:t>
            </a:r>
            <a:r>
              <a:rPr sz="3600" spc="-50" dirty="0">
                <a:latin typeface="Trebuchet MS"/>
                <a:cs typeface="Trebuchet MS"/>
              </a:rPr>
              <a:t>House</a:t>
            </a:r>
            <a:r>
              <a:rPr sz="3600" spc="-340" dirty="0">
                <a:latin typeface="Trebuchet MS"/>
                <a:cs typeface="Trebuchet MS"/>
              </a:rPr>
              <a:t> </a:t>
            </a:r>
            <a:r>
              <a:rPr sz="3600" spc="-180" dirty="0">
                <a:latin typeface="Trebuchet MS"/>
                <a:cs typeface="Trebuchet MS"/>
              </a:rPr>
              <a:t>Price</a:t>
            </a:r>
            <a:r>
              <a:rPr sz="3600" spc="-345" dirty="0">
                <a:latin typeface="Trebuchet MS"/>
                <a:cs typeface="Trebuchet MS"/>
              </a:rPr>
              <a:t> </a:t>
            </a:r>
            <a:r>
              <a:rPr sz="3600" spc="-150" dirty="0">
                <a:latin typeface="Trebuchet MS"/>
                <a:cs typeface="Trebuchet MS"/>
              </a:rPr>
              <a:t>Prediction</a:t>
            </a:r>
            <a:endParaRPr sz="3600">
              <a:latin typeface="Trebuchet MS"/>
              <a:cs typeface="Trebuchet MS"/>
            </a:endParaRP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5312155" y="1405255"/>
          <a:ext cx="3061970" cy="32905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53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800" b="1" spc="-55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Area</a:t>
                      </a:r>
                      <a:r>
                        <a:rPr sz="1800" b="1" spc="-155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800" b="1" spc="-40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(sq.</a:t>
                      </a:r>
                      <a:r>
                        <a:rPr sz="1800" b="1" spc="-165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800" b="1" spc="-20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ft.)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3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800" b="1" spc="-40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Price</a:t>
                      </a:r>
                      <a:r>
                        <a:rPr sz="1800" b="1" spc="-145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800" b="1" spc="-10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(lakhs)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3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500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3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12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3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650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0" dirty="0">
                          <a:latin typeface="Trebuchet MS"/>
                          <a:cs typeface="Trebuchet MS"/>
                        </a:rPr>
                        <a:t>13.5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19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720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3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19"/>
                        </a:spcBef>
                      </a:pPr>
                      <a:r>
                        <a:rPr sz="1800" spc="-20" dirty="0">
                          <a:latin typeface="Trebuchet MS"/>
                          <a:cs typeface="Trebuchet MS"/>
                        </a:rPr>
                        <a:t>16.5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3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19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750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3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19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17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3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780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0" dirty="0">
                          <a:latin typeface="Trebuchet MS"/>
                          <a:cs typeface="Trebuchet MS"/>
                        </a:rPr>
                        <a:t>17.2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850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19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880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21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0" dirty="0">
                          <a:latin typeface="Trebuchet MS"/>
                          <a:cs typeface="Trebuchet MS"/>
                        </a:rPr>
                        <a:t>1050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24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6187821" y="4680584"/>
            <a:ext cx="11366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90" dirty="0">
                <a:latin typeface="Trebuchet MS"/>
                <a:cs typeface="Trebuchet MS"/>
              </a:rPr>
              <a:t>Training</a:t>
            </a:r>
            <a:r>
              <a:rPr sz="1800" spc="-140" dirty="0">
                <a:latin typeface="Trebuchet MS"/>
                <a:cs typeface="Trebuchet MS"/>
              </a:rPr>
              <a:t> </a:t>
            </a:r>
            <a:r>
              <a:rPr sz="1800" spc="-25" dirty="0">
                <a:latin typeface="Trebuchet MS"/>
                <a:cs typeface="Trebuchet MS"/>
              </a:rPr>
              <a:t>set</a:t>
            </a:r>
            <a:endParaRPr sz="1800">
              <a:latin typeface="Trebuchet MS"/>
              <a:cs typeface="Trebuchet MS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5292090" y="5146547"/>
          <a:ext cx="3171825" cy="11487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09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2905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5"/>
                        </a:spcBef>
                      </a:pPr>
                      <a:r>
                        <a:rPr sz="1800" b="1" spc="-55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Area</a:t>
                      </a:r>
                      <a:r>
                        <a:rPr sz="1800" b="1" spc="-155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800" b="1" spc="-40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(sq.</a:t>
                      </a:r>
                      <a:r>
                        <a:rPr sz="1800" b="1" spc="-165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800" b="1" spc="-20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ft.)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857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5"/>
                        </a:spcBef>
                      </a:pPr>
                      <a:r>
                        <a:rPr sz="1800" b="1" spc="-40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Price</a:t>
                      </a:r>
                      <a:r>
                        <a:rPr sz="1800" b="1" spc="-145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800" b="1" spc="-10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(lakhs)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857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5"/>
                        </a:spcBef>
                      </a:pPr>
                      <a:r>
                        <a:rPr sz="1800" spc="-20" dirty="0">
                          <a:latin typeface="Trebuchet MS"/>
                          <a:cs typeface="Trebuchet MS"/>
                        </a:rPr>
                        <a:t>1200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857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5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29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857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5"/>
                        </a:spcBef>
                      </a:pPr>
                      <a:r>
                        <a:rPr sz="1800" spc="-20" dirty="0">
                          <a:latin typeface="Trebuchet MS"/>
                          <a:cs typeface="Trebuchet MS"/>
                        </a:rPr>
                        <a:t>1550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857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5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41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857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object 6"/>
          <p:cNvSpPr txBox="1"/>
          <p:nvPr/>
        </p:nvSpPr>
        <p:spPr>
          <a:xfrm>
            <a:off x="6314947" y="6309766"/>
            <a:ext cx="10636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80" dirty="0">
                <a:latin typeface="Trebuchet MS"/>
                <a:cs typeface="Trebuchet MS"/>
              </a:rPr>
              <a:t>Testing</a:t>
            </a:r>
            <a:r>
              <a:rPr sz="1800" spc="-140" dirty="0">
                <a:latin typeface="Trebuchet MS"/>
                <a:cs typeface="Trebuchet MS"/>
              </a:rPr>
              <a:t> </a:t>
            </a:r>
            <a:r>
              <a:rPr sz="1800" spc="-25" dirty="0">
                <a:latin typeface="Trebuchet MS"/>
                <a:cs typeface="Trebuchet MS"/>
              </a:rPr>
              <a:t>set</a:t>
            </a:r>
            <a:endParaRPr sz="1800">
              <a:latin typeface="Trebuchet MS"/>
              <a:cs typeface="Trebuchet MS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797521" y="1405255"/>
          <a:ext cx="3171825" cy="4211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09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800" b="1" spc="-55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Area</a:t>
                      </a:r>
                      <a:r>
                        <a:rPr sz="1800" b="1" spc="-155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800" b="1" spc="-40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(sq.</a:t>
                      </a:r>
                      <a:r>
                        <a:rPr sz="1800" b="1" spc="-165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800" b="1" spc="-20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ft.)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3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800" b="1" spc="-40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Price</a:t>
                      </a:r>
                      <a:r>
                        <a:rPr sz="1800" b="1" spc="-145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800" b="1" spc="-10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(lakhs)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3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500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3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12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3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27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19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650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3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19"/>
                        </a:spcBef>
                      </a:pPr>
                      <a:r>
                        <a:rPr sz="1800" spc="-20" dirty="0">
                          <a:latin typeface="Trebuchet MS"/>
                          <a:cs typeface="Trebuchet MS"/>
                        </a:rPr>
                        <a:t>13.5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3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720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0" dirty="0">
                          <a:latin typeface="Trebuchet MS"/>
                          <a:cs typeface="Trebuchet MS"/>
                        </a:rPr>
                        <a:t>16.5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750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17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780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0" dirty="0">
                          <a:latin typeface="Trebuchet MS"/>
                          <a:cs typeface="Trebuchet MS"/>
                        </a:rPr>
                        <a:t>17.2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850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19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880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21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0" dirty="0">
                          <a:latin typeface="Trebuchet MS"/>
                          <a:cs typeface="Trebuchet MS"/>
                        </a:rPr>
                        <a:t>1050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24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5"/>
                        </a:spcBef>
                      </a:pPr>
                      <a:r>
                        <a:rPr sz="1800" spc="-20" dirty="0">
                          <a:latin typeface="Trebuchet MS"/>
                          <a:cs typeface="Trebuchet MS"/>
                        </a:rPr>
                        <a:t>1200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857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5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29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857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5"/>
                        </a:spcBef>
                      </a:pPr>
                      <a:r>
                        <a:rPr sz="1800" spc="-20" dirty="0">
                          <a:latin typeface="Trebuchet MS"/>
                          <a:cs typeface="Trebuchet MS"/>
                        </a:rPr>
                        <a:t>1550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857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5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41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857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object 8"/>
          <p:cNvSpPr txBox="1"/>
          <p:nvPr/>
        </p:nvSpPr>
        <p:spPr>
          <a:xfrm>
            <a:off x="1819782" y="5758383"/>
            <a:ext cx="8502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0" dirty="0">
                <a:latin typeface="Trebuchet MS"/>
                <a:cs typeface="Trebuchet MS"/>
              </a:rPr>
              <a:t>Data</a:t>
            </a:r>
            <a:r>
              <a:rPr sz="1800" spc="-130" dirty="0">
                <a:latin typeface="Trebuchet MS"/>
                <a:cs typeface="Trebuchet MS"/>
              </a:rPr>
              <a:t> </a:t>
            </a:r>
            <a:r>
              <a:rPr sz="1800" spc="-25" dirty="0">
                <a:latin typeface="Trebuchet MS"/>
                <a:cs typeface="Trebuchet MS"/>
              </a:rPr>
              <a:t>set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4702683" y="2903982"/>
            <a:ext cx="401955" cy="2562860"/>
          </a:xfrm>
          <a:custGeom>
            <a:avLst/>
            <a:gdLst/>
            <a:ahLst/>
            <a:cxnLst/>
            <a:rect l="l" t="t" r="r" b="b"/>
            <a:pathLst>
              <a:path w="401954" h="2562860">
                <a:moveTo>
                  <a:pt x="401954" y="2562352"/>
                </a:moveTo>
                <a:lnTo>
                  <a:pt x="323715" y="2559722"/>
                </a:lnTo>
                <a:lnTo>
                  <a:pt x="259810" y="2552557"/>
                </a:lnTo>
                <a:lnTo>
                  <a:pt x="216717" y="2541938"/>
                </a:lnTo>
                <a:lnTo>
                  <a:pt x="200913" y="2528951"/>
                </a:lnTo>
                <a:lnTo>
                  <a:pt x="200913" y="1314703"/>
                </a:lnTo>
                <a:lnTo>
                  <a:pt x="185130" y="1301642"/>
                </a:lnTo>
                <a:lnTo>
                  <a:pt x="142081" y="1290986"/>
                </a:lnTo>
                <a:lnTo>
                  <a:pt x="78220" y="1283807"/>
                </a:lnTo>
                <a:lnTo>
                  <a:pt x="0" y="1281175"/>
                </a:lnTo>
                <a:lnTo>
                  <a:pt x="78220" y="1278544"/>
                </a:lnTo>
                <a:lnTo>
                  <a:pt x="142081" y="1271365"/>
                </a:lnTo>
                <a:lnTo>
                  <a:pt x="185130" y="1260709"/>
                </a:lnTo>
                <a:lnTo>
                  <a:pt x="200913" y="1247647"/>
                </a:lnTo>
                <a:lnTo>
                  <a:pt x="200913" y="33527"/>
                </a:lnTo>
                <a:lnTo>
                  <a:pt x="216717" y="20466"/>
                </a:lnTo>
                <a:lnTo>
                  <a:pt x="259810" y="9810"/>
                </a:lnTo>
                <a:lnTo>
                  <a:pt x="323715" y="2631"/>
                </a:lnTo>
                <a:lnTo>
                  <a:pt x="401954" y="0"/>
                </a:lnTo>
              </a:path>
            </a:pathLst>
          </a:custGeom>
          <a:ln w="19050">
            <a:solidFill>
              <a:srgbClr val="155F8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140834" y="3338576"/>
            <a:ext cx="59118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solidFill>
                  <a:srgbClr val="FF0000"/>
                </a:solidFill>
                <a:latin typeface="Trebuchet MS"/>
                <a:cs typeface="Trebuchet MS"/>
              </a:rPr>
              <a:t>80-20</a:t>
            </a:r>
            <a:endParaRPr sz="18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1800" spc="-10" dirty="0">
                <a:solidFill>
                  <a:srgbClr val="FF0000"/>
                </a:solidFill>
                <a:latin typeface="Trebuchet MS"/>
                <a:cs typeface="Trebuchet MS"/>
              </a:rPr>
              <a:t>split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761603" y="1610359"/>
            <a:ext cx="291592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marR="5080" indent="-287020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299085" algn="l"/>
              </a:tabLst>
            </a:pPr>
            <a:r>
              <a:rPr sz="1800" spc="-90" dirty="0">
                <a:latin typeface="Trebuchet MS"/>
                <a:cs typeface="Trebuchet MS"/>
              </a:rPr>
              <a:t>Training</a:t>
            </a:r>
            <a:r>
              <a:rPr sz="1800" spc="-155" dirty="0">
                <a:latin typeface="Trebuchet MS"/>
                <a:cs typeface="Trebuchet MS"/>
              </a:rPr>
              <a:t> </a:t>
            </a:r>
            <a:r>
              <a:rPr sz="1800" spc="-20" dirty="0">
                <a:latin typeface="Trebuchet MS"/>
                <a:cs typeface="Trebuchet MS"/>
              </a:rPr>
              <a:t>set</a:t>
            </a:r>
            <a:r>
              <a:rPr sz="1800" spc="-90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is</a:t>
            </a:r>
            <a:r>
              <a:rPr sz="1800" spc="-125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used</a:t>
            </a:r>
            <a:r>
              <a:rPr sz="1800" spc="-110" dirty="0">
                <a:latin typeface="Trebuchet MS"/>
                <a:cs typeface="Trebuchet MS"/>
              </a:rPr>
              <a:t> </a:t>
            </a:r>
            <a:r>
              <a:rPr sz="1800" spc="-25" dirty="0">
                <a:latin typeface="Trebuchet MS"/>
                <a:cs typeface="Trebuchet MS"/>
              </a:rPr>
              <a:t>for </a:t>
            </a:r>
            <a:r>
              <a:rPr sz="1800" spc="-70" dirty="0">
                <a:latin typeface="Trebuchet MS"/>
                <a:cs typeface="Trebuchet MS"/>
              </a:rPr>
              <a:t>training</a:t>
            </a:r>
            <a:r>
              <a:rPr sz="1800" spc="-160" dirty="0">
                <a:latin typeface="Trebuchet MS"/>
                <a:cs typeface="Trebuchet MS"/>
              </a:rPr>
              <a:t> </a:t>
            </a:r>
            <a:r>
              <a:rPr sz="1800" spc="-70" dirty="0">
                <a:latin typeface="Trebuchet MS"/>
                <a:cs typeface="Trebuchet MS"/>
              </a:rPr>
              <a:t>(finding</a:t>
            </a:r>
            <a:r>
              <a:rPr sz="1800" spc="-160" dirty="0">
                <a:latin typeface="Trebuchet MS"/>
                <a:cs typeface="Trebuchet MS"/>
              </a:rPr>
              <a:t> </a:t>
            </a:r>
            <a:r>
              <a:rPr sz="1800" spc="-70" dirty="0">
                <a:latin typeface="Trebuchet MS"/>
                <a:cs typeface="Trebuchet MS"/>
              </a:rPr>
              <a:t>the</a:t>
            </a:r>
            <a:r>
              <a:rPr sz="1800" spc="-135" dirty="0">
                <a:latin typeface="Trebuchet MS"/>
                <a:cs typeface="Trebuchet MS"/>
              </a:rPr>
              <a:t> </a:t>
            </a:r>
            <a:r>
              <a:rPr sz="1800" spc="-20" dirty="0">
                <a:latin typeface="Trebuchet MS"/>
                <a:cs typeface="Trebuchet MS"/>
              </a:rPr>
              <a:t>best</a:t>
            </a:r>
            <a:r>
              <a:rPr sz="1800" spc="-120" dirty="0">
                <a:latin typeface="Trebuchet MS"/>
                <a:cs typeface="Trebuchet MS"/>
              </a:rPr>
              <a:t> </a:t>
            </a:r>
            <a:r>
              <a:rPr sz="1800" spc="-70" dirty="0">
                <a:latin typeface="Trebuchet MS"/>
                <a:cs typeface="Trebuchet MS"/>
              </a:rPr>
              <a:t>fit </a:t>
            </a:r>
            <a:r>
              <a:rPr sz="1800" spc="-10" dirty="0">
                <a:latin typeface="Trebuchet MS"/>
                <a:cs typeface="Trebuchet MS"/>
              </a:rPr>
              <a:t>line).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743950" y="5281676"/>
            <a:ext cx="243903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marR="5080" indent="-287020" algn="just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299085" algn="l"/>
              </a:tabLst>
            </a:pPr>
            <a:r>
              <a:rPr sz="1800" spc="-95" dirty="0">
                <a:latin typeface="Trebuchet MS"/>
                <a:cs typeface="Trebuchet MS"/>
              </a:rPr>
              <a:t>Testing</a:t>
            </a:r>
            <a:r>
              <a:rPr sz="1800" spc="-40" dirty="0">
                <a:latin typeface="Trebuchet MS"/>
                <a:cs typeface="Trebuchet MS"/>
              </a:rPr>
              <a:t> </a:t>
            </a:r>
            <a:r>
              <a:rPr sz="1800" spc="-45" dirty="0">
                <a:latin typeface="Trebuchet MS"/>
                <a:cs typeface="Trebuchet MS"/>
              </a:rPr>
              <a:t>set</a:t>
            </a:r>
            <a:r>
              <a:rPr sz="1800" spc="-90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is</a:t>
            </a:r>
            <a:r>
              <a:rPr sz="1800" spc="-75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used</a:t>
            </a:r>
            <a:r>
              <a:rPr sz="1800" spc="-75" dirty="0">
                <a:latin typeface="Trebuchet MS"/>
                <a:cs typeface="Trebuchet MS"/>
              </a:rPr>
              <a:t> </a:t>
            </a:r>
            <a:r>
              <a:rPr sz="1800" spc="-25" dirty="0">
                <a:latin typeface="Trebuchet MS"/>
                <a:cs typeface="Trebuchet MS"/>
              </a:rPr>
              <a:t>for </a:t>
            </a:r>
            <a:r>
              <a:rPr sz="1800" spc="-70" dirty="0">
                <a:latin typeface="Trebuchet MS"/>
                <a:cs typeface="Trebuchet MS"/>
              </a:rPr>
              <a:t>evaluating</a:t>
            </a:r>
            <a:r>
              <a:rPr sz="1800" spc="-25" dirty="0">
                <a:latin typeface="Trebuchet MS"/>
                <a:cs typeface="Trebuchet MS"/>
              </a:rPr>
              <a:t> </a:t>
            </a:r>
            <a:r>
              <a:rPr sz="1800" spc="-114" dirty="0">
                <a:latin typeface="Trebuchet MS"/>
                <a:cs typeface="Trebuchet MS"/>
              </a:rPr>
              <a:t>the</a:t>
            </a:r>
            <a:r>
              <a:rPr sz="1800" spc="35" dirty="0">
                <a:latin typeface="Trebuchet MS"/>
                <a:cs typeface="Trebuchet MS"/>
              </a:rPr>
              <a:t> </a:t>
            </a:r>
            <a:r>
              <a:rPr sz="1800" spc="-45" dirty="0">
                <a:latin typeface="Trebuchet MS"/>
                <a:cs typeface="Trebuchet MS"/>
              </a:rPr>
              <a:t>trained </a:t>
            </a:r>
            <a:r>
              <a:rPr sz="1800" spc="-10" dirty="0">
                <a:latin typeface="Trebuchet MS"/>
                <a:cs typeface="Trebuchet MS"/>
              </a:rPr>
              <a:t>model.</a:t>
            </a:r>
            <a:endParaRPr sz="18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3735" rIns="0" bIns="0" rtlCol="0">
            <a:spAutoFit/>
          </a:bodyPr>
          <a:lstStyle/>
          <a:p>
            <a:pPr marL="414020">
              <a:lnSpc>
                <a:spcPct val="100000"/>
              </a:lnSpc>
              <a:spcBef>
                <a:spcPts val="100"/>
              </a:spcBef>
            </a:pPr>
            <a:r>
              <a:rPr sz="3600" spc="-195" dirty="0">
                <a:latin typeface="Trebuchet MS"/>
                <a:cs typeface="Trebuchet MS"/>
              </a:rPr>
              <a:t>Linear</a:t>
            </a:r>
            <a:r>
              <a:rPr sz="3600" spc="-325" dirty="0">
                <a:latin typeface="Trebuchet MS"/>
                <a:cs typeface="Trebuchet MS"/>
              </a:rPr>
              <a:t> </a:t>
            </a:r>
            <a:r>
              <a:rPr sz="3600" spc="-155" dirty="0">
                <a:latin typeface="Trebuchet MS"/>
                <a:cs typeface="Trebuchet MS"/>
              </a:rPr>
              <a:t>Regression:</a:t>
            </a:r>
            <a:r>
              <a:rPr sz="3600" spc="-330" dirty="0">
                <a:latin typeface="Trebuchet MS"/>
                <a:cs typeface="Trebuchet MS"/>
              </a:rPr>
              <a:t> </a:t>
            </a:r>
            <a:r>
              <a:rPr sz="3600" spc="-50" dirty="0">
                <a:latin typeface="Trebuchet MS"/>
                <a:cs typeface="Trebuchet MS"/>
              </a:rPr>
              <a:t>House</a:t>
            </a:r>
            <a:r>
              <a:rPr sz="3600" spc="-340" dirty="0">
                <a:latin typeface="Trebuchet MS"/>
                <a:cs typeface="Trebuchet MS"/>
              </a:rPr>
              <a:t> </a:t>
            </a:r>
            <a:r>
              <a:rPr sz="3600" spc="-180" dirty="0">
                <a:latin typeface="Trebuchet MS"/>
                <a:cs typeface="Trebuchet MS"/>
              </a:rPr>
              <a:t>Price</a:t>
            </a:r>
            <a:r>
              <a:rPr sz="3600" spc="-340" dirty="0">
                <a:latin typeface="Trebuchet MS"/>
                <a:cs typeface="Trebuchet MS"/>
              </a:rPr>
              <a:t> </a:t>
            </a:r>
            <a:r>
              <a:rPr sz="3600" spc="-190" dirty="0">
                <a:latin typeface="Trebuchet MS"/>
                <a:cs typeface="Trebuchet MS"/>
              </a:rPr>
              <a:t>Prediction</a:t>
            </a:r>
            <a:r>
              <a:rPr sz="3600" spc="-335" dirty="0">
                <a:latin typeface="Trebuchet MS"/>
                <a:cs typeface="Trebuchet MS"/>
              </a:rPr>
              <a:t> </a:t>
            </a:r>
            <a:r>
              <a:rPr sz="3600" spc="-285" dirty="0">
                <a:latin typeface="Trebuchet MS"/>
                <a:cs typeface="Trebuchet MS"/>
              </a:rPr>
              <a:t>(Training)</a:t>
            </a:r>
            <a:endParaRPr sz="3600">
              <a:latin typeface="Trebuchet MS"/>
              <a:cs typeface="Trebuchet MS"/>
            </a:endParaRP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955675" y="1722501"/>
          <a:ext cx="3171825" cy="34455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09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227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800" b="1" spc="-55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Area</a:t>
                      </a:r>
                      <a:r>
                        <a:rPr sz="1800" b="1" spc="-155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800" b="1" spc="-40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(sq.</a:t>
                      </a:r>
                      <a:r>
                        <a:rPr sz="1800" b="1" spc="-165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800" b="1" spc="-20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ft.)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3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800" b="1" spc="-40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Price</a:t>
                      </a:r>
                      <a:r>
                        <a:rPr sz="1800" b="1" spc="-145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800" b="1" spc="-10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(lakhs)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3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500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12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650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0" dirty="0">
                          <a:latin typeface="Trebuchet MS"/>
                          <a:cs typeface="Trebuchet MS"/>
                        </a:rPr>
                        <a:t>13.5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720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0" dirty="0">
                          <a:latin typeface="Trebuchet MS"/>
                          <a:cs typeface="Trebuchet MS"/>
                        </a:rPr>
                        <a:t>16.5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750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17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780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0" dirty="0">
                          <a:latin typeface="Trebuchet MS"/>
                          <a:cs typeface="Trebuchet MS"/>
                        </a:rPr>
                        <a:t>17.2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850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19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880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21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0" dirty="0">
                          <a:latin typeface="Trebuchet MS"/>
                          <a:cs typeface="Trebuchet MS"/>
                        </a:rPr>
                        <a:t>1050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24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4" name="object 4"/>
          <p:cNvGrpSpPr/>
          <p:nvPr/>
        </p:nvGrpSpPr>
        <p:grpSpPr>
          <a:xfrm>
            <a:off x="5488495" y="2226119"/>
            <a:ext cx="5175250" cy="2599055"/>
            <a:chOff x="5488495" y="2226119"/>
            <a:chExt cx="5175250" cy="2599055"/>
          </a:xfrm>
        </p:grpSpPr>
        <p:sp>
          <p:nvSpPr>
            <p:cNvPr id="5" name="object 5"/>
            <p:cNvSpPr/>
            <p:nvPr/>
          </p:nvSpPr>
          <p:spPr>
            <a:xfrm>
              <a:off x="5493258" y="2230882"/>
              <a:ext cx="5165725" cy="2589530"/>
            </a:xfrm>
            <a:custGeom>
              <a:avLst/>
              <a:gdLst/>
              <a:ahLst/>
              <a:cxnLst/>
              <a:rect l="l" t="t" r="r" b="b"/>
              <a:pathLst>
                <a:path w="5165725" h="2589529">
                  <a:moveTo>
                    <a:pt x="0" y="2301493"/>
                  </a:moveTo>
                  <a:lnTo>
                    <a:pt x="5165217" y="2301493"/>
                  </a:lnTo>
                </a:path>
                <a:path w="5165725" h="2589529">
                  <a:moveTo>
                    <a:pt x="0" y="2013457"/>
                  </a:moveTo>
                  <a:lnTo>
                    <a:pt x="5165217" y="2013457"/>
                  </a:lnTo>
                </a:path>
                <a:path w="5165725" h="2589529">
                  <a:moveTo>
                    <a:pt x="0" y="1725421"/>
                  </a:moveTo>
                  <a:lnTo>
                    <a:pt x="5165217" y="1725421"/>
                  </a:lnTo>
                </a:path>
                <a:path w="5165725" h="2589529">
                  <a:moveTo>
                    <a:pt x="0" y="1438909"/>
                  </a:moveTo>
                  <a:lnTo>
                    <a:pt x="5165217" y="1438909"/>
                  </a:lnTo>
                </a:path>
                <a:path w="5165725" h="2589529">
                  <a:moveTo>
                    <a:pt x="0" y="1150873"/>
                  </a:moveTo>
                  <a:lnTo>
                    <a:pt x="5165217" y="1150873"/>
                  </a:lnTo>
                </a:path>
                <a:path w="5165725" h="2589529">
                  <a:moveTo>
                    <a:pt x="0" y="862838"/>
                  </a:moveTo>
                  <a:lnTo>
                    <a:pt x="5165217" y="862838"/>
                  </a:lnTo>
                </a:path>
                <a:path w="5165725" h="2589529">
                  <a:moveTo>
                    <a:pt x="0" y="574801"/>
                  </a:moveTo>
                  <a:lnTo>
                    <a:pt x="5165217" y="574801"/>
                  </a:lnTo>
                </a:path>
                <a:path w="5165725" h="2589529">
                  <a:moveTo>
                    <a:pt x="0" y="288289"/>
                  </a:moveTo>
                  <a:lnTo>
                    <a:pt x="5165217" y="288289"/>
                  </a:lnTo>
                </a:path>
                <a:path w="5165725" h="2589529">
                  <a:moveTo>
                    <a:pt x="0" y="0"/>
                  </a:moveTo>
                  <a:lnTo>
                    <a:pt x="5165217" y="0"/>
                  </a:lnTo>
                </a:path>
                <a:path w="5165725" h="2589529">
                  <a:moveTo>
                    <a:pt x="573786" y="0"/>
                  </a:moveTo>
                  <a:lnTo>
                    <a:pt x="573786" y="2589022"/>
                  </a:lnTo>
                </a:path>
                <a:path w="5165725" h="2589529">
                  <a:moveTo>
                    <a:pt x="1148334" y="0"/>
                  </a:moveTo>
                  <a:lnTo>
                    <a:pt x="1148334" y="2589022"/>
                  </a:lnTo>
                </a:path>
                <a:path w="5165725" h="2589529">
                  <a:moveTo>
                    <a:pt x="1721358" y="0"/>
                  </a:moveTo>
                  <a:lnTo>
                    <a:pt x="1721358" y="2589022"/>
                  </a:lnTo>
                </a:path>
                <a:path w="5165725" h="2589529">
                  <a:moveTo>
                    <a:pt x="2295906" y="0"/>
                  </a:moveTo>
                  <a:lnTo>
                    <a:pt x="2295906" y="2589022"/>
                  </a:lnTo>
                </a:path>
                <a:path w="5165725" h="2589529">
                  <a:moveTo>
                    <a:pt x="2868930" y="0"/>
                  </a:moveTo>
                  <a:lnTo>
                    <a:pt x="2868930" y="2589022"/>
                  </a:lnTo>
                </a:path>
                <a:path w="5165725" h="2589529">
                  <a:moveTo>
                    <a:pt x="3443477" y="0"/>
                  </a:moveTo>
                  <a:lnTo>
                    <a:pt x="3443477" y="2589022"/>
                  </a:lnTo>
                </a:path>
                <a:path w="5165725" h="2589529">
                  <a:moveTo>
                    <a:pt x="4018025" y="0"/>
                  </a:moveTo>
                  <a:lnTo>
                    <a:pt x="4018025" y="2589022"/>
                  </a:lnTo>
                </a:path>
                <a:path w="5165725" h="2589529">
                  <a:moveTo>
                    <a:pt x="4591049" y="0"/>
                  </a:moveTo>
                  <a:lnTo>
                    <a:pt x="4591049" y="2589022"/>
                  </a:lnTo>
                </a:path>
                <a:path w="5165725" h="2589529">
                  <a:moveTo>
                    <a:pt x="5165217" y="0"/>
                  </a:moveTo>
                  <a:lnTo>
                    <a:pt x="5165217" y="2589022"/>
                  </a:lnTo>
                </a:path>
                <a:path w="5165725" h="2589529">
                  <a:moveTo>
                    <a:pt x="0" y="2589022"/>
                  </a:moveTo>
                  <a:lnTo>
                    <a:pt x="0" y="0"/>
                  </a:lnTo>
                </a:path>
                <a:path w="5165725" h="2589529">
                  <a:moveTo>
                    <a:pt x="0" y="2589022"/>
                  </a:moveTo>
                  <a:lnTo>
                    <a:pt x="5165217" y="2589022"/>
                  </a:lnTo>
                </a:path>
              </a:pathLst>
            </a:custGeom>
            <a:ln w="9525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8936736" y="2461006"/>
              <a:ext cx="1004569" cy="690880"/>
            </a:xfrm>
            <a:custGeom>
              <a:avLst/>
              <a:gdLst/>
              <a:ahLst/>
              <a:cxnLst/>
              <a:rect l="l" t="t" r="r" b="b"/>
              <a:pathLst>
                <a:path w="1004570" h="690880">
                  <a:moveTo>
                    <a:pt x="0" y="690372"/>
                  </a:moveTo>
                  <a:lnTo>
                    <a:pt x="1004443" y="0"/>
                  </a:lnTo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885749" y="4087685"/>
              <a:ext cx="85725" cy="85725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315517" y="4000817"/>
              <a:ext cx="85725" cy="85725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516685" y="3787584"/>
              <a:ext cx="257936" cy="126745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890065" y="3683952"/>
              <a:ext cx="85725" cy="85725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975409" y="3569652"/>
              <a:ext cx="85725" cy="85725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464613" y="3397440"/>
              <a:ext cx="85725" cy="85725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894381" y="3109404"/>
              <a:ext cx="85725" cy="85725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898189" y="2416873"/>
              <a:ext cx="85725" cy="85725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6928104" y="2548763"/>
              <a:ext cx="3013075" cy="1697355"/>
            </a:xfrm>
            <a:custGeom>
              <a:avLst/>
              <a:gdLst/>
              <a:ahLst/>
              <a:cxnLst/>
              <a:rect l="l" t="t" r="r" b="b"/>
              <a:pathLst>
                <a:path w="3013075" h="1697354">
                  <a:moveTo>
                    <a:pt x="0" y="1696974"/>
                  </a:moveTo>
                  <a:lnTo>
                    <a:pt x="3013075" y="0"/>
                  </a:lnTo>
                </a:path>
              </a:pathLst>
            </a:custGeom>
            <a:ln w="9525">
              <a:solidFill>
                <a:srgbClr val="155F8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5253609" y="2134870"/>
            <a:ext cx="147955" cy="2752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25" dirty="0">
                <a:solidFill>
                  <a:srgbClr val="585858"/>
                </a:solidFill>
                <a:latin typeface="Trebuchet MS"/>
                <a:cs typeface="Trebuchet MS"/>
              </a:rPr>
              <a:t>45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40"/>
              </a:spcBef>
            </a:pPr>
            <a:endParaRPr sz="9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900" spc="-25" dirty="0">
                <a:solidFill>
                  <a:srgbClr val="585858"/>
                </a:solidFill>
                <a:latin typeface="Trebuchet MS"/>
                <a:cs typeface="Trebuchet MS"/>
              </a:rPr>
              <a:t>40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40"/>
              </a:spcBef>
            </a:pPr>
            <a:endParaRPr sz="9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900" spc="-25" dirty="0">
                <a:solidFill>
                  <a:srgbClr val="585858"/>
                </a:solidFill>
                <a:latin typeface="Trebuchet MS"/>
                <a:cs typeface="Trebuchet MS"/>
              </a:rPr>
              <a:t>35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40"/>
              </a:spcBef>
            </a:pPr>
            <a:endParaRPr sz="9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900" spc="-25" dirty="0">
                <a:solidFill>
                  <a:srgbClr val="585858"/>
                </a:solidFill>
                <a:latin typeface="Trebuchet MS"/>
                <a:cs typeface="Trebuchet MS"/>
              </a:rPr>
              <a:t>30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40"/>
              </a:spcBef>
            </a:pPr>
            <a:endParaRPr sz="9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900" spc="-25" dirty="0">
                <a:solidFill>
                  <a:srgbClr val="585858"/>
                </a:solidFill>
                <a:latin typeface="Trebuchet MS"/>
                <a:cs typeface="Trebuchet MS"/>
              </a:rPr>
              <a:t>25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40"/>
              </a:spcBef>
            </a:pPr>
            <a:endParaRPr sz="9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900" spc="-25" dirty="0">
                <a:solidFill>
                  <a:srgbClr val="585858"/>
                </a:solidFill>
                <a:latin typeface="Trebuchet MS"/>
                <a:cs typeface="Trebuchet MS"/>
              </a:rPr>
              <a:t>20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40"/>
              </a:spcBef>
            </a:pPr>
            <a:endParaRPr sz="9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900" spc="-25" dirty="0">
                <a:solidFill>
                  <a:srgbClr val="585858"/>
                </a:solidFill>
                <a:latin typeface="Trebuchet MS"/>
                <a:cs typeface="Trebuchet MS"/>
              </a:rPr>
              <a:t>15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40"/>
              </a:spcBef>
            </a:pPr>
            <a:endParaRPr sz="9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900" spc="-25" dirty="0">
                <a:solidFill>
                  <a:srgbClr val="585858"/>
                </a:solidFill>
                <a:latin typeface="Trebuchet MS"/>
                <a:cs typeface="Trebuchet MS"/>
              </a:rPr>
              <a:t>10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35"/>
              </a:spcBef>
            </a:pPr>
            <a:endParaRPr sz="900">
              <a:latin typeface="Trebuchet MS"/>
              <a:cs typeface="Trebuchet MS"/>
            </a:endParaRPr>
          </a:p>
          <a:p>
            <a:pPr marL="73660">
              <a:lnSpc>
                <a:spcPct val="100000"/>
              </a:lnSpc>
              <a:spcBef>
                <a:spcPts val="5"/>
              </a:spcBef>
            </a:pPr>
            <a:r>
              <a:rPr sz="900" spc="-50" dirty="0">
                <a:solidFill>
                  <a:srgbClr val="585858"/>
                </a:solidFill>
                <a:latin typeface="Trebuchet MS"/>
                <a:cs typeface="Trebuchet MS"/>
              </a:rPr>
              <a:t>5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40"/>
              </a:spcBef>
            </a:pPr>
            <a:endParaRPr sz="900">
              <a:latin typeface="Trebuchet MS"/>
              <a:cs typeface="Trebuchet MS"/>
            </a:endParaRPr>
          </a:p>
          <a:p>
            <a:pPr marL="73660">
              <a:lnSpc>
                <a:spcPct val="100000"/>
              </a:lnSpc>
            </a:pPr>
            <a:r>
              <a:rPr sz="900" spc="-50" dirty="0">
                <a:solidFill>
                  <a:srgbClr val="585858"/>
                </a:solidFill>
                <a:latin typeface="Trebuchet MS"/>
                <a:cs typeface="Trebuchet MS"/>
              </a:rPr>
              <a:t>0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442330" y="4871973"/>
            <a:ext cx="8699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50" dirty="0">
                <a:solidFill>
                  <a:srgbClr val="585858"/>
                </a:solidFill>
                <a:latin typeface="Trebuchet MS"/>
                <a:cs typeface="Trebuchet MS"/>
              </a:rPr>
              <a:t>0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940044" y="4871973"/>
            <a:ext cx="2540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55" dirty="0">
                <a:solidFill>
                  <a:srgbClr val="585858"/>
                </a:solidFill>
                <a:latin typeface="Trebuchet MS"/>
                <a:cs typeface="Trebuchet MS"/>
              </a:rPr>
              <a:t>200 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513956" y="4871973"/>
            <a:ext cx="2540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55" dirty="0">
                <a:solidFill>
                  <a:srgbClr val="585858"/>
                </a:solidFill>
                <a:latin typeface="Trebuchet MS"/>
                <a:cs typeface="Trebuchet MS"/>
              </a:rPr>
              <a:t>400 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7087869" y="4871973"/>
            <a:ext cx="2540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55" dirty="0">
                <a:solidFill>
                  <a:srgbClr val="585858"/>
                </a:solidFill>
                <a:latin typeface="Trebuchet MS"/>
                <a:cs typeface="Trebuchet MS"/>
              </a:rPr>
              <a:t>600 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7661909" y="4831333"/>
            <a:ext cx="866140" cy="381000"/>
          </a:xfrm>
          <a:prstGeom prst="rect">
            <a:avLst/>
          </a:prstGeom>
        </p:spPr>
        <p:txBody>
          <a:bodyPr vert="horz" wrap="square" lIns="0" tIns="533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20"/>
              </a:spcBef>
              <a:tabLst>
                <a:tab pos="548640" algn="l"/>
              </a:tabLst>
            </a:pPr>
            <a:r>
              <a:rPr sz="900" spc="55" dirty="0">
                <a:solidFill>
                  <a:srgbClr val="585858"/>
                </a:solidFill>
                <a:latin typeface="Trebuchet MS"/>
                <a:cs typeface="Trebuchet MS"/>
              </a:rPr>
              <a:t>800</a:t>
            </a:r>
            <a:r>
              <a:rPr sz="900" dirty="0">
                <a:solidFill>
                  <a:srgbClr val="585858"/>
                </a:solidFill>
                <a:latin typeface="Trebuchet MS"/>
                <a:cs typeface="Trebuchet MS"/>
              </a:rPr>
              <a:t>	</a:t>
            </a:r>
            <a:r>
              <a:rPr sz="900" spc="70" dirty="0">
                <a:solidFill>
                  <a:srgbClr val="585858"/>
                </a:solidFill>
                <a:latin typeface="Trebuchet MS"/>
                <a:cs typeface="Trebuchet MS"/>
              </a:rPr>
              <a:t>1000 </a:t>
            </a:r>
            <a:endParaRPr sz="900">
              <a:latin typeface="Trebuchet MS"/>
              <a:cs typeface="Trebuchet MS"/>
            </a:endParaRPr>
          </a:p>
          <a:p>
            <a:pPr marL="60325">
              <a:lnSpc>
                <a:spcPct val="100000"/>
              </a:lnSpc>
              <a:spcBef>
                <a:spcPts val="320"/>
              </a:spcBef>
            </a:pPr>
            <a:r>
              <a:rPr sz="900" dirty="0">
                <a:solidFill>
                  <a:srgbClr val="585858"/>
                </a:solidFill>
                <a:latin typeface="Trebuchet MS"/>
                <a:cs typeface="Trebuchet MS"/>
              </a:rPr>
              <a:t>AREA</a:t>
            </a:r>
            <a:r>
              <a:rPr sz="900" spc="-70" dirty="0">
                <a:solidFill>
                  <a:srgbClr val="585858"/>
                </a:solidFill>
                <a:latin typeface="Trebuchet MS"/>
                <a:cs typeface="Trebuchet MS"/>
              </a:rPr>
              <a:t> </a:t>
            </a:r>
            <a:r>
              <a:rPr sz="900" spc="-10" dirty="0">
                <a:solidFill>
                  <a:srgbClr val="585858"/>
                </a:solidFill>
                <a:latin typeface="Trebuchet MS"/>
                <a:cs typeface="Trebuchet MS"/>
              </a:rPr>
              <a:t>(SQ.</a:t>
            </a:r>
            <a:r>
              <a:rPr sz="900" spc="-70" dirty="0">
                <a:solidFill>
                  <a:srgbClr val="585858"/>
                </a:solidFill>
                <a:latin typeface="Trebuchet MS"/>
                <a:cs typeface="Trebuchet MS"/>
              </a:rPr>
              <a:t> </a:t>
            </a:r>
            <a:r>
              <a:rPr sz="900" spc="-20" dirty="0">
                <a:solidFill>
                  <a:srgbClr val="585858"/>
                </a:solidFill>
                <a:latin typeface="Trebuchet MS"/>
                <a:cs typeface="Trebuchet MS"/>
              </a:rPr>
              <a:t>FT.)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771890" y="4871973"/>
            <a:ext cx="3302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70" dirty="0">
                <a:solidFill>
                  <a:srgbClr val="585858"/>
                </a:solidFill>
                <a:latin typeface="Trebuchet MS"/>
                <a:cs typeface="Trebuchet MS"/>
              </a:rPr>
              <a:t>1200 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9345930" y="4871973"/>
            <a:ext cx="3302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70" dirty="0">
                <a:solidFill>
                  <a:srgbClr val="585858"/>
                </a:solidFill>
                <a:latin typeface="Trebuchet MS"/>
                <a:cs typeface="Trebuchet MS"/>
              </a:rPr>
              <a:t>1400 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9919843" y="4871973"/>
            <a:ext cx="3302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70" dirty="0">
                <a:solidFill>
                  <a:srgbClr val="585858"/>
                </a:solidFill>
                <a:latin typeface="Trebuchet MS"/>
                <a:cs typeface="Trebuchet MS"/>
              </a:rPr>
              <a:t>1600 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0493756" y="4871973"/>
            <a:ext cx="3302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70" dirty="0">
                <a:solidFill>
                  <a:srgbClr val="585858"/>
                </a:solidFill>
                <a:latin typeface="Trebuchet MS"/>
                <a:cs typeface="Trebuchet MS"/>
              </a:rPr>
              <a:t>1800 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5075292" y="3147862"/>
            <a:ext cx="165100" cy="756920"/>
          </a:xfrm>
          <a:prstGeom prst="rect">
            <a:avLst/>
          </a:prstGeom>
        </p:spPr>
        <p:txBody>
          <a:bodyPr vert="vert270" wrap="square" lIns="0" tIns="57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"/>
              </a:spcBef>
            </a:pPr>
            <a:r>
              <a:rPr sz="900" dirty="0">
                <a:solidFill>
                  <a:srgbClr val="585858"/>
                </a:solidFill>
                <a:latin typeface="Trebuchet MS"/>
                <a:cs typeface="Trebuchet MS"/>
              </a:rPr>
              <a:t>PRICE</a:t>
            </a:r>
            <a:r>
              <a:rPr sz="900" spc="5" dirty="0">
                <a:solidFill>
                  <a:srgbClr val="585858"/>
                </a:solidFill>
                <a:latin typeface="Trebuchet MS"/>
                <a:cs typeface="Trebuchet MS"/>
              </a:rPr>
              <a:t> </a:t>
            </a:r>
            <a:r>
              <a:rPr sz="900" spc="-10" dirty="0">
                <a:solidFill>
                  <a:srgbClr val="585858"/>
                </a:solidFill>
                <a:latin typeface="Trebuchet MS"/>
                <a:cs typeface="Trebuchet MS"/>
              </a:rPr>
              <a:t>(LAKHS)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7080250" y="1799589"/>
            <a:ext cx="167322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135" dirty="0">
                <a:solidFill>
                  <a:srgbClr val="585858"/>
                </a:solidFill>
                <a:latin typeface="Trebuchet MS"/>
                <a:cs typeface="Trebuchet MS"/>
              </a:rPr>
              <a:t>PRICE</a:t>
            </a:r>
            <a:r>
              <a:rPr sz="1600" b="1" spc="95" dirty="0">
                <a:solidFill>
                  <a:srgbClr val="585858"/>
                </a:solidFill>
                <a:latin typeface="Trebuchet MS"/>
                <a:cs typeface="Trebuchet MS"/>
              </a:rPr>
              <a:t> </a:t>
            </a:r>
            <a:r>
              <a:rPr sz="1600" b="1" spc="65" dirty="0">
                <a:solidFill>
                  <a:srgbClr val="585858"/>
                </a:solidFill>
                <a:latin typeface="Trebuchet MS"/>
                <a:cs typeface="Trebuchet MS"/>
              </a:rPr>
              <a:t>VS.</a:t>
            </a:r>
            <a:r>
              <a:rPr sz="1600" b="1" spc="90" dirty="0">
                <a:solidFill>
                  <a:srgbClr val="585858"/>
                </a:solidFill>
                <a:latin typeface="Trebuchet MS"/>
                <a:cs typeface="Trebuchet MS"/>
              </a:rPr>
              <a:t> </a:t>
            </a:r>
            <a:r>
              <a:rPr sz="1600" b="1" spc="55" dirty="0">
                <a:solidFill>
                  <a:srgbClr val="585858"/>
                </a:solidFill>
                <a:latin typeface="Trebuchet MS"/>
                <a:cs typeface="Trebuchet MS"/>
              </a:rPr>
              <a:t>AREA</a:t>
            </a:r>
            <a:endParaRPr sz="1600">
              <a:latin typeface="Trebuchet MS"/>
              <a:cs typeface="Trebuchet MS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10748264" y="5649721"/>
            <a:ext cx="372110" cy="212090"/>
          </a:xfrm>
          <a:custGeom>
            <a:avLst/>
            <a:gdLst/>
            <a:ahLst/>
            <a:cxnLst/>
            <a:rect l="l" t="t" r="r" b="b"/>
            <a:pathLst>
              <a:path w="372109" h="212089">
                <a:moveTo>
                  <a:pt x="304164" y="0"/>
                </a:moveTo>
                <a:lnTo>
                  <a:pt x="301116" y="8597"/>
                </a:lnTo>
                <a:lnTo>
                  <a:pt x="313402" y="13915"/>
                </a:lnTo>
                <a:lnTo>
                  <a:pt x="323961" y="21277"/>
                </a:lnTo>
                <a:lnTo>
                  <a:pt x="345352" y="55406"/>
                </a:lnTo>
                <a:lnTo>
                  <a:pt x="351606" y="86513"/>
                </a:lnTo>
                <a:lnTo>
                  <a:pt x="351639" y="86744"/>
                </a:lnTo>
                <a:lnTo>
                  <a:pt x="352425" y="104813"/>
                </a:lnTo>
                <a:lnTo>
                  <a:pt x="351639" y="123484"/>
                </a:lnTo>
                <a:lnTo>
                  <a:pt x="349281" y="140442"/>
                </a:lnTo>
                <a:lnTo>
                  <a:pt x="332734" y="180837"/>
                </a:lnTo>
                <a:lnTo>
                  <a:pt x="301497" y="203149"/>
                </a:lnTo>
                <a:lnTo>
                  <a:pt x="304164" y="211747"/>
                </a:lnTo>
                <a:lnTo>
                  <a:pt x="344634" y="187703"/>
                </a:lnTo>
                <a:lnTo>
                  <a:pt x="367363" y="143335"/>
                </a:lnTo>
                <a:lnTo>
                  <a:pt x="371728" y="105930"/>
                </a:lnTo>
                <a:lnTo>
                  <a:pt x="370646" y="86744"/>
                </a:lnTo>
                <a:lnTo>
                  <a:pt x="354202" y="37109"/>
                </a:lnTo>
                <a:lnTo>
                  <a:pt x="319520" y="5541"/>
                </a:lnTo>
                <a:lnTo>
                  <a:pt x="304164" y="0"/>
                </a:lnTo>
                <a:close/>
              </a:path>
              <a:path w="372109" h="212089">
                <a:moveTo>
                  <a:pt x="67563" y="0"/>
                </a:moveTo>
                <a:lnTo>
                  <a:pt x="27166" y="24095"/>
                </a:lnTo>
                <a:lnTo>
                  <a:pt x="4381" y="68572"/>
                </a:lnTo>
                <a:lnTo>
                  <a:pt x="63" y="104813"/>
                </a:lnTo>
                <a:lnTo>
                  <a:pt x="0" y="105930"/>
                </a:lnTo>
                <a:lnTo>
                  <a:pt x="986" y="123484"/>
                </a:lnTo>
                <a:lnTo>
                  <a:pt x="1093" y="125383"/>
                </a:lnTo>
                <a:lnTo>
                  <a:pt x="4365" y="143335"/>
                </a:lnTo>
                <a:lnTo>
                  <a:pt x="27094" y="187703"/>
                </a:lnTo>
                <a:lnTo>
                  <a:pt x="67563" y="211747"/>
                </a:lnTo>
                <a:lnTo>
                  <a:pt x="70230" y="203149"/>
                </a:lnTo>
                <a:lnTo>
                  <a:pt x="58183" y="197805"/>
                </a:lnTo>
                <a:lnTo>
                  <a:pt x="47767" y="190368"/>
                </a:lnTo>
                <a:lnTo>
                  <a:pt x="26376" y="155687"/>
                </a:lnTo>
                <a:lnTo>
                  <a:pt x="19351" y="105930"/>
                </a:lnTo>
                <a:lnTo>
                  <a:pt x="19303" y="104813"/>
                </a:lnTo>
                <a:lnTo>
                  <a:pt x="26376" y="55406"/>
                </a:lnTo>
                <a:lnTo>
                  <a:pt x="47863" y="21277"/>
                </a:lnTo>
                <a:lnTo>
                  <a:pt x="70611" y="8597"/>
                </a:lnTo>
                <a:lnTo>
                  <a:pt x="6756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1965198" y="5341746"/>
            <a:ext cx="9274175" cy="1087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ts val="2020"/>
              </a:lnSpc>
              <a:spcBef>
                <a:spcPts val="100"/>
              </a:spcBef>
            </a:pPr>
            <a:r>
              <a:rPr sz="1800" spc="-90" dirty="0">
                <a:latin typeface="Trebuchet MS"/>
                <a:cs typeface="Trebuchet MS"/>
              </a:rPr>
              <a:t>Training</a:t>
            </a:r>
            <a:r>
              <a:rPr sz="1800" spc="-140" dirty="0">
                <a:latin typeface="Trebuchet MS"/>
                <a:cs typeface="Trebuchet MS"/>
              </a:rPr>
              <a:t> </a:t>
            </a:r>
            <a:r>
              <a:rPr sz="1800" spc="-25" dirty="0">
                <a:latin typeface="Trebuchet MS"/>
                <a:cs typeface="Trebuchet MS"/>
              </a:rPr>
              <a:t>set</a:t>
            </a:r>
            <a:endParaRPr sz="1800">
              <a:latin typeface="Trebuchet MS"/>
              <a:cs typeface="Trebuchet MS"/>
            </a:endParaRPr>
          </a:p>
          <a:p>
            <a:pPr marL="2546985" indent="-286385">
              <a:lnSpc>
                <a:spcPts val="2020"/>
              </a:lnSpc>
              <a:buFont typeface="Arial MT"/>
              <a:buChar char="•"/>
              <a:tabLst>
                <a:tab pos="2546985" algn="l"/>
                <a:tab pos="8858250" algn="l"/>
              </a:tabLst>
            </a:pPr>
            <a:r>
              <a:rPr sz="1800" dirty="0">
                <a:latin typeface="Trebuchet MS"/>
                <a:cs typeface="Trebuchet MS"/>
              </a:rPr>
              <a:t>Best</a:t>
            </a:r>
            <a:r>
              <a:rPr sz="1800" spc="-150" dirty="0">
                <a:latin typeface="Trebuchet MS"/>
                <a:cs typeface="Trebuchet MS"/>
              </a:rPr>
              <a:t> </a:t>
            </a:r>
            <a:r>
              <a:rPr sz="1800" spc="-100" dirty="0">
                <a:latin typeface="Trebuchet MS"/>
                <a:cs typeface="Trebuchet MS"/>
              </a:rPr>
              <a:t>fitting</a:t>
            </a:r>
            <a:r>
              <a:rPr sz="1800" spc="-140" dirty="0">
                <a:latin typeface="Trebuchet MS"/>
                <a:cs typeface="Trebuchet MS"/>
              </a:rPr>
              <a:t> </a:t>
            </a:r>
            <a:r>
              <a:rPr sz="1800" spc="-55" dirty="0">
                <a:latin typeface="Trebuchet MS"/>
                <a:cs typeface="Trebuchet MS"/>
              </a:rPr>
              <a:t>line</a:t>
            </a:r>
            <a:r>
              <a:rPr sz="1800" spc="-160" dirty="0">
                <a:latin typeface="Trebuchet MS"/>
                <a:cs typeface="Trebuchet MS"/>
              </a:rPr>
              <a:t> </a:t>
            </a:r>
            <a:r>
              <a:rPr sz="1800" spc="-30" dirty="0">
                <a:latin typeface="Trebuchet MS"/>
                <a:cs typeface="Trebuchet MS"/>
              </a:rPr>
              <a:t>found</a:t>
            </a:r>
            <a:r>
              <a:rPr sz="1800" spc="-175" dirty="0">
                <a:latin typeface="Trebuchet MS"/>
                <a:cs typeface="Trebuchet MS"/>
              </a:rPr>
              <a:t> </a:t>
            </a:r>
            <a:r>
              <a:rPr sz="1800" spc="-55" dirty="0">
                <a:latin typeface="Trebuchet MS"/>
                <a:cs typeface="Trebuchet MS"/>
              </a:rPr>
              <a:t>by</a:t>
            </a:r>
            <a:r>
              <a:rPr sz="1800" spc="-145" dirty="0">
                <a:latin typeface="Trebuchet MS"/>
                <a:cs typeface="Trebuchet MS"/>
              </a:rPr>
              <a:t> </a:t>
            </a:r>
            <a:r>
              <a:rPr sz="1800" spc="-45" dirty="0">
                <a:latin typeface="Trebuchet MS"/>
                <a:cs typeface="Trebuchet MS"/>
              </a:rPr>
              <a:t>adjusting</a:t>
            </a:r>
            <a:r>
              <a:rPr sz="1800" spc="-165" dirty="0">
                <a:latin typeface="Trebuchet MS"/>
                <a:cs typeface="Trebuchet MS"/>
              </a:rPr>
              <a:t> </a:t>
            </a:r>
            <a:r>
              <a:rPr sz="1800" spc="-70" dirty="0">
                <a:latin typeface="Trebuchet MS"/>
                <a:cs typeface="Trebuchet MS"/>
              </a:rPr>
              <a:t>the</a:t>
            </a:r>
            <a:r>
              <a:rPr sz="1800" spc="-135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slope</a:t>
            </a:r>
            <a:r>
              <a:rPr sz="1800" spc="-160" dirty="0">
                <a:latin typeface="Trebuchet MS"/>
                <a:cs typeface="Trebuchet MS"/>
              </a:rPr>
              <a:t> </a:t>
            </a:r>
            <a:r>
              <a:rPr sz="1800" spc="-85" dirty="0">
                <a:latin typeface="Trebuchet MS"/>
                <a:cs typeface="Trebuchet MS"/>
              </a:rPr>
              <a:t>(</a:t>
            </a:r>
            <a:r>
              <a:rPr sz="1800" spc="-85" dirty="0">
                <a:latin typeface="Cambria Math"/>
                <a:cs typeface="Cambria Math"/>
              </a:rPr>
              <a:t>𝛽</a:t>
            </a:r>
            <a:r>
              <a:rPr sz="1800" spc="-127" baseline="-20833" dirty="0">
                <a:latin typeface="Cambria Math"/>
                <a:cs typeface="Cambria Math"/>
              </a:rPr>
              <a:t>1</a:t>
            </a:r>
            <a:r>
              <a:rPr sz="1800" spc="-85" dirty="0">
                <a:latin typeface="Trebuchet MS"/>
                <a:cs typeface="Trebuchet MS"/>
              </a:rPr>
              <a:t>)</a:t>
            </a:r>
            <a:r>
              <a:rPr sz="1800" spc="-145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and</a:t>
            </a:r>
            <a:r>
              <a:rPr sz="1800" spc="-150" dirty="0">
                <a:latin typeface="Trebuchet MS"/>
                <a:cs typeface="Trebuchet MS"/>
              </a:rPr>
              <a:t> </a:t>
            </a:r>
            <a:r>
              <a:rPr sz="1800" spc="-85" dirty="0">
                <a:latin typeface="Trebuchet MS"/>
                <a:cs typeface="Trebuchet MS"/>
              </a:rPr>
              <a:t>y</a:t>
            </a:r>
            <a:r>
              <a:rPr sz="1800" spc="-150" dirty="0">
                <a:latin typeface="Trebuchet MS"/>
                <a:cs typeface="Trebuchet MS"/>
              </a:rPr>
              <a:t> </a:t>
            </a:r>
            <a:r>
              <a:rPr sz="1800" spc="-10" dirty="0">
                <a:latin typeface="Trebuchet MS"/>
                <a:cs typeface="Trebuchet MS"/>
              </a:rPr>
              <a:t>intercept</a:t>
            </a:r>
            <a:r>
              <a:rPr sz="1800" dirty="0">
                <a:latin typeface="Trebuchet MS"/>
                <a:cs typeface="Trebuchet MS"/>
              </a:rPr>
              <a:t>	</a:t>
            </a:r>
            <a:r>
              <a:rPr sz="1800" dirty="0">
                <a:latin typeface="Cambria Math"/>
                <a:cs typeface="Cambria Math"/>
              </a:rPr>
              <a:t>𝛽</a:t>
            </a:r>
            <a:r>
              <a:rPr sz="1800" baseline="-20833" dirty="0">
                <a:latin typeface="Cambria Math"/>
                <a:cs typeface="Cambria Math"/>
              </a:rPr>
              <a:t>0</a:t>
            </a:r>
            <a:r>
              <a:rPr sz="1800" spc="705" baseline="-20833" dirty="0">
                <a:latin typeface="Cambria Math"/>
                <a:cs typeface="Cambria Math"/>
              </a:rPr>
              <a:t> </a:t>
            </a:r>
            <a:r>
              <a:rPr sz="1800" spc="-50" dirty="0">
                <a:latin typeface="Cambria Math"/>
                <a:cs typeface="Cambria Math"/>
              </a:rPr>
              <a:t>.</a:t>
            </a:r>
            <a:endParaRPr sz="1800">
              <a:latin typeface="Cambria Math"/>
              <a:cs typeface="Cambria Math"/>
            </a:endParaRPr>
          </a:p>
          <a:p>
            <a:pPr marL="2546985" marR="690880" indent="-287020">
              <a:lnSpc>
                <a:spcPct val="100000"/>
              </a:lnSpc>
              <a:buFont typeface="Arial MT"/>
              <a:buChar char="•"/>
              <a:tabLst>
                <a:tab pos="2546985" algn="l"/>
              </a:tabLst>
            </a:pPr>
            <a:r>
              <a:rPr sz="1800" dirty="0">
                <a:latin typeface="Trebuchet MS"/>
                <a:cs typeface="Trebuchet MS"/>
              </a:rPr>
              <a:t>Suppose</a:t>
            </a:r>
            <a:r>
              <a:rPr sz="1800" spc="-165" dirty="0">
                <a:latin typeface="Trebuchet MS"/>
                <a:cs typeface="Trebuchet MS"/>
              </a:rPr>
              <a:t> </a:t>
            </a:r>
            <a:r>
              <a:rPr sz="1800" dirty="0">
                <a:latin typeface="Cambria Math"/>
                <a:cs typeface="Cambria Math"/>
              </a:rPr>
              <a:t>𝛽</a:t>
            </a:r>
            <a:r>
              <a:rPr sz="1800" baseline="-20833" dirty="0">
                <a:latin typeface="Cambria Math"/>
                <a:cs typeface="Cambria Math"/>
              </a:rPr>
              <a:t>0</a:t>
            </a:r>
            <a:r>
              <a:rPr sz="1800" spc="195" baseline="-20833" dirty="0">
                <a:latin typeface="Cambria Math"/>
                <a:cs typeface="Cambria Math"/>
              </a:rPr>
              <a:t> </a:t>
            </a:r>
            <a:r>
              <a:rPr sz="1800" dirty="0">
                <a:latin typeface="Trebuchet MS"/>
                <a:cs typeface="Trebuchet MS"/>
              </a:rPr>
              <a:t>=</a:t>
            </a:r>
            <a:r>
              <a:rPr sz="1800" spc="-130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3</a:t>
            </a:r>
            <a:r>
              <a:rPr sz="1800" spc="-140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and</a:t>
            </a:r>
            <a:r>
              <a:rPr sz="1800" spc="-135" dirty="0">
                <a:latin typeface="Trebuchet MS"/>
                <a:cs typeface="Trebuchet MS"/>
              </a:rPr>
              <a:t> </a:t>
            </a:r>
            <a:r>
              <a:rPr sz="1800" dirty="0">
                <a:latin typeface="Cambria Math"/>
                <a:cs typeface="Cambria Math"/>
              </a:rPr>
              <a:t>𝛽</a:t>
            </a:r>
            <a:r>
              <a:rPr sz="1800" baseline="-20833" dirty="0">
                <a:latin typeface="Cambria Math"/>
                <a:cs typeface="Cambria Math"/>
              </a:rPr>
              <a:t>1</a:t>
            </a:r>
            <a:r>
              <a:rPr sz="1800" spc="195" baseline="-20833" dirty="0">
                <a:latin typeface="Cambria Math"/>
                <a:cs typeface="Cambria Math"/>
              </a:rPr>
              <a:t> </a:t>
            </a:r>
            <a:r>
              <a:rPr sz="1800" dirty="0">
                <a:latin typeface="Trebuchet MS"/>
                <a:cs typeface="Trebuchet MS"/>
              </a:rPr>
              <a:t>=</a:t>
            </a:r>
            <a:r>
              <a:rPr sz="1800" spc="-130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6</a:t>
            </a:r>
            <a:r>
              <a:rPr sz="1800" spc="-140" dirty="0">
                <a:latin typeface="Trebuchet MS"/>
                <a:cs typeface="Trebuchet MS"/>
              </a:rPr>
              <a:t> </a:t>
            </a:r>
            <a:r>
              <a:rPr sz="1800" spc="-65" dirty="0">
                <a:latin typeface="Trebuchet MS"/>
                <a:cs typeface="Trebuchet MS"/>
              </a:rPr>
              <a:t>are</a:t>
            </a:r>
            <a:r>
              <a:rPr sz="1800" spc="-130" dirty="0">
                <a:latin typeface="Trebuchet MS"/>
                <a:cs typeface="Trebuchet MS"/>
              </a:rPr>
              <a:t> </a:t>
            </a:r>
            <a:r>
              <a:rPr sz="1800" spc="-70" dirty="0">
                <a:latin typeface="Trebuchet MS"/>
                <a:cs typeface="Trebuchet MS"/>
              </a:rPr>
              <a:t>the</a:t>
            </a:r>
            <a:r>
              <a:rPr sz="1800" spc="-135" dirty="0">
                <a:latin typeface="Trebuchet MS"/>
                <a:cs typeface="Trebuchet MS"/>
              </a:rPr>
              <a:t> </a:t>
            </a:r>
            <a:r>
              <a:rPr sz="1800" spc="-55" dirty="0">
                <a:latin typeface="Trebuchet MS"/>
                <a:cs typeface="Trebuchet MS"/>
              </a:rPr>
              <a:t>determined</a:t>
            </a:r>
            <a:r>
              <a:rPr sz="1800" spc="-114" dirty="0">
                <a:latin typeface="Trebuchet MS"/>
                <a:cs typeface="Trebuchet MS"/>
              </a:rPr>
              <a:t> </a:t>
            </a:r>
            <a:r>
              <a:rPr sz="1800" spc="-35" dirty="0">
                <a:latin typeface="Trebuchet MS"/>
                <a:cs typeface="Trebuchet MS"/>
              </a:rPr>
              <a:t>values,</a:t>
            </a:r>
            <a:r>
              <a:rPr sz="1800" spc="-165" dirty="0">
                <a:latin typeface="Trebuchet MS"/>
                <a:cs typeface="Trebuchet MS"/>
              </a:rPr>
              <a:t> </a:t>
            </a:r>
            <a:r>
              <a:rPr sz="1800" spc="-55" dirty="0">
                <a:latin typeface="Trebuchet MS"/>
                <a:cs typeface="Trebuchet MS"/>
              </a:rPr>
              <a:t>then</a:t>
            </a:r>
            <a:r>
              <a:rPr sz="1800" spc="-130" dirty="0">
                <a:latin typeface="Trebuchet MS"/>
                <a:cs typeface="Trebuchet MS"/>
              </a:rPr>
              <a:t> </a:t>
            </a:r>
            <a:r>
              <a:rPr sz="1800" spc="-25" dirty="0">
                <a:latin typeface="Trebuchet MS"/>
                <a:cs typeface="Trebuchet MS"/>
              </a:rPr>
              <a:t>the </a:t>
            </a:r>
            <a:r>
              <a:rPr sz="1800" spc="-35" dirty="0">
                <a:latin typeface="Trebuchet MS"/>
                <a:cs typeface="Trebuchet MS"/>
              </a:rPr>
              <a:t>equation</a:t>
            </a:r>
            <a:r>
              <a:rPr sz="1800" spc="-175" dirty="0">
                <a:latin typeface="Trebuchet MS"/>
                <a:cs typeface="Trebuchet MS"/>
              </a:rPr>
              <a:t> </a:t>
            </a:r>
            <a:r>
              <a:rPr sz="1800" spc="-60" dirty="0">
                <a:latin typeface="Trebuchet MS"/>
                <a:cs typeface="Trebuchet MS"/>
              </a:rPr>
              <a:t>of</a:t>
            </a:r>
            <a:r>
              <a:rPr sz="1800" spc="-180" dirty="0">
                <a:latin typeface="Trebuchet MS"/>
                <a:cs typeface="Trebuchet MS"/>
              </a:rPr>
              <a:t> </a:t>
            </a:r>
            <a:r>
              <a:rPr sz="1800" spc="-70" dirty="0">
                <a:latin typeface="Trebuchet MS"/>
                <a:cs typeface="Trebuchet MS"/>
              </a:rPr>
              <a:t>the</a:t>
            </a:r>
            <a:r>
              <a:rPr sz="1800" spc="-155" dirty="0">
                <a:latin typeface="Trebuchet MS"/>
                <a:cs typeface="Trebuchet MS"/>
              </a:rPr>
              <a:t> </a:t>
            </a:r>
            <a:r>
              <a:rPr sz="1800" spc="-10" dirty="0">
                <a:latin typeface="Trebuchet MS"/>
                <a:cs typeface="Trebuchet MS"/>
              </a:rPr>
              <a:t>best</a:t>
            </a:r>
            <a:r>
              <a:rPr sz="1800" spc="-155" dirty="0">
                <a:latin typeface="Trebuchet MS"/>
                <a:cs typeface="Trebuchet MS"/>
              </a:rPr>
              <a:t> </a:t>
            </a:r>
            <a:r>
              <a:rPr sz="1800" spc="-100" dirty="0">
                <a:latin typeface="Trebuchet MS"/>
                <a:cs typeface="Trebuchet MS"/>
              </a:rPr>
              <a:t>fitting</a:t>
            </a:r>
            <a:r>
              <a:rPr sz="1800" spc="-155" dirty="0">
                <a:latin typeface="Trebuchet MS"/>
                <a:cs typeface="Trebuchet MS"/>
              </a:rPr>
              <a:t> </a:t>
            </a:r>
            <a:r>
              <a:rPr sz="1800" spc="-55" dirty="0">
                <a:latin typeface="Trebuchet MS"/>
                <a:cs typeface="Trebuchet MS"/>
              </a:rPr>
              <a:t>line</a:t>
            </a:r>
            <a:r>
              <a:rPr sz="1800" spc="-190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is</a:t>
            </a:r>
            <a:r>
              <a:rPr sz="1800" spc="-185" dirty="0">
                <a:latin typeface="Trebuchet MS"/>
                <a:cs typeface="Trebuchet MS"/>
              </a:rPr>
              <a:t> </a:t>
            </a:r>
            <a:r>
              <a:rPr sz="1800" dirty="0">
                <a:latin typeface="Cambria Math"/>
                <a:cs typeface="Cambria Math"/>
              </a:rPr>
              <a:t>𝑌</a:t>
            </a:r>
            <a:r>
              <a:rPr sz="1800" spc="17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=</a:t>
            </a:r>
            <a:r>
              <a:rPr sz="1800" spc="12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3</a:t>
            </a:r>
            <a:r>
              <a:rPr sz="1800" spc="30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+</a:t>
            </a:r>
            <a:r>
              <a:rPr sz="1800" spc="30" dirty="0">
                <a:latin typeface="Cambria Math"/>
                <a:cs typeface="Cambria Math"/>
              </a:rPr>
              <a:t> </a:t>
            </a:r>
            <a:r>
              <a:rPr sz="1800" spc="-25" dirty="0">
                <a:latin typeface="Cambria Math"/>
                <a:cs typeface="Cambria Math"/>
              </a:rPr>
              <a:t>6𝑋</a:t>
            </a:r>
            <a:endParaRPr sz="1800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2919" y="439673"/>
            <a:ext cx="933894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195" dirty="0">
                <a:latin typeface="Trebuchet MS"/>
                <a:cs typeface="Trebuchet MS"/>
              </a:rPr>
              <a:t>Linear</a:t>
            </a:r>
            <a:r>
              <a:rPr sz="3600" spc="-325" dirty="0">
                <a:latin typeface="Trebuchet MS"/>
                <a:cs typeface="Trebuchet MS"/>
              </a:rPr>
              <a:t> </a:t>
            </a:r>
            <a:r>
              <a:rPr sz="3600" spc="-155" dirty="0">
                <a:latin typeface="Trebuchet MS"/>
                <a:cs typeface="Trebuchet MS"/>
              </a:rPr>
              <a:t>Regression:</a:t>
            </a:r>
            <a:r>
              <a:rPr sz="3600" spc="-330" dirty="0">
                <a:latin typeface="Trebuchet MS"/>
                <a:cs typeface="Trebuchet MS"/>
              </a:rPr>
              <a:t> </a:t>
            </a:r>
            <a:r>
              <a:rPr sz="3600" spc="-50" dirty="0">
                <a:latin typeface="Trebuchet MS"/>
                <a:cs typeface="Trebuchet MS"/>
              </a:rPr>
              <a:t>House</a:t>
            </a:r>
            <a:r>
              <a:rPr sz="3600" spc="-340" dirty="0">
                <a:latin typeface="Trebuchet MS"/>
                <a:cs typeface="Trebuchet MS"/>
              </a:rPr>
              <a:t> </a:t>
            </a:r>
            <a:r>
              <a:rPr sz="3600" spc="-180" dirty="0">
                <a:latin typeface="Trebuchet MS"/>
                <a:cs typeface="Trebuchet MS"/>
              </a:rPr>
              <a:t>Price</a:t>
            </a:r>
            <a:r>
              <a:rPr sz="3600" spc="-340" dirty="0">
                <a:latin typeface="Trebuchet MS"/>
                <a:cs typeface="Trebuchet MS"/>
              </a:rPr>
              <a:t> </a:t>
            </a:r>
            <a:r>
              <a:rPr sz="3600" spc="-190" dirty="0">
                <a:latin typeface="Trebuchet MS"/>
                <a:cs typeface="Trebuchet MS"/>
              </a:rPr>
              <a:t>Prediction</a:t>
            </a:r>
            <a:r>
              <a:rPr sz="3600" spc="-335" dirty="0">
                <a:latin typeface="Trebuchet MS"/>
                <a:cs typeface="Trebuchet MS"/>
              </a:rPr>
              <a:t> </a:t>
            </a:r>
            <a:r>
              <a:rPr sz="3600" spc="-200" dirty="0">
                <a:latin typeface="Trebuchet MS"/>
                <a:cs typeface="Trebuchet MS"/>
              </a:rPr>
              <a:t>(Testing)</a:t>
            </a:r>
            <a:endParaRPr sz="3600">
              <a:latin typeface="Trebuchet MS"/>
              <a:cs typeface="Trebuchet MS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488495" y="2226119"/>
            <a:ext cx="5175250" cy="2599055"/>
            <a:chOff x="5488495" y="2226119"/>
            <a:chExt cx="5175250" cy="2599055"/>
          </a:xfrm>
        </p:grpSpPr>
        <p:sp>
          <p:nvSpPr>
            <p:cNvPr id="4" name="object 4"/>
            <p:cNvSpPr/>
            <p:nvPr/>
          </p:nvSpPr>
          <p:spPr>
            <a:xfrm>
              <a:off x="5493258" y="2230882"/>
              <a:ext cx="5165725" cy="2589530"/>
            </a:xfrm>
            <a:custGeom>
              <a:avLst/>
              <a:gdLst/>
              <a:ahLst/>
              <a:cxnLst/>
              <a:rect l="l" t="t" r="r" b="b"/>
              <a:pathLst>
                <a:path w="5165725" h="2589529">
                  <a:moveTo>
                    <a:pt x="0" y="2301493"/>
                  </a:moveTo>
                  <a:lnTo>
                    <a:pt x="5165217" y="2301493"/>
                  </a:lnTo>
                </a:path>
                <a:path w="5165725" h="2589529">
                  <a:moveTo>
                    <a:pt x="0" y="2013457"/>
                  </a:moveTo>
                  <a:lnTo>
                    <a:pt x="5165217" y="2013457"/>
                  </a:lnTo>
                </a:path>
                <a:path w="5165725" h="2589529">
                  <a:moveTo>
                    <a:pt x="0" y="1725421"/>
                  </a:moveTo>
                  <a:lnTo>
                    <a:pt x="5165217" y="1725421"/>
                  </a:lnTo>
                </a:path>
                <a:path w="5165725" h="2589529">
                  <a:moveTo>
                    <a:pt x="0" y="1438909"/>
                  </a:moveTo>
                  <a:lnTo>
                    <a:pt x="5165217" y="1438909"/>
                  </a:lnTo>
                </a:path>
                <a:path w="5165725" h="2589529">
                  <a:moveTo>
                    <a:pt x="0" y="1150873"/>
                  </a:moveTo>
                  <a:lnTo>
                    <a:pt x="5165217" y="1150873"/>
                  </a:lnTo>
                </a:path>
                <a:path w="5165725" h="2589529">
                  <a:moveTo>
                    <a:pt x="0" y="862838"/>
                  </a:moveTo>
                  <a:lnTo>
                    <a:pt x="5165217" y="862838"/>
                  </a:lnTo>
                </a:path>
                <a:path w="5165725" h="2589529">
                  <a:moveTo>
                    <a:pt x="0" y="574801"/>
                  </a:moveTo>
                  <a:lnTo>
                    <a:pt x="5165217" y="574801"/>
                  </a:lnTo>
                </a:path>
                <a:path w="5165725" h="2589529">
                  <a:moveTo>
                    <a:pt x="0" y="288289"/>
                  </a:moveTo>
                  <a:lnTo>
                    <a:pt x="5165217" y="288289"/>
                  </a:lnTo>
                </a:path>
                <a:path w="5165725" h="2589529">
                  <a:moveTo>
                    <a:pt x="0" y="0"/>
                  </a:moveTo>
                  <a:lnTo>
                    <a:pt x="5165217" y="0"/>
                  </a:lnTo>
                </a:path>
                <a:path w="5165725" h="2589529">
                  <a:moveTo>
                    <a:pt x="573786" y="0"/>
                  </a:moveTo>
                  <a:lnTo>
                    <a:pt x="573786" y="2589022"/>
                  </a:lnTo>
                </a:path>
                <a:path w="5165725" h="2589529">
                  <a:moveTo>
                    <a:pt x="1148334" y="0"/>
                  </a:moveTo>
                  <a:lnTo>
                    <a:pt x="1148334" y="2589022"/>
                  </a:lnTo>
                </a:path>
                <a:path w="5165725" h="2589529">
                  <a:moveTo>
                    <a:pt x="1721358" y="0"/>
                  </a:moveTo>
                  <a:lnTo>
                    <a:pt x="1721358" y="2589022"/>
                  </a:lnTo>
                </a:path>
                <a:path w="5165725" h="2589529">
                  <a:moveTo>
                    <a:pt x="2295906" y="0"/>
                  </a:moveTo>
                  <a:lnTo>
                    <a:pt x="2295906" y="2589022"/>
                  </a:lnTo>
                </a:path>
                <a:path w="5165725" h="2589529">
                  <a:moveTo>
                    <a:pt x="2868930" y="0"/>
                  </a:moveTo>
                  <a:lnTo>
                    <a:pt x="2868930" y="2589022"/>
                  </a:lnTo>
                </a:path>
                <a:path w="5165725" h="2589529">
                  <a:moveTo>
                    <a:pt x="3443477" y="0"/>
                  </a:moveTo>
                  <a:lnTo>
                    <a:pt x="3443477" y="2589022"/>
                  </a:lnTo>
                </a:path>
                <a:path w="5165725" h="2589529">
                  <a:moveTo>
                    <a:pt x="4018025" y="0"/>
                  </a:moveTo>
                  <a:lnTo>
                    <a:pt x="4018025" y="2589022"/>
                  </a:lnTo>
                </a:path>
                <a:path w="5165725" h="2589529">
                  <a:moveTo>
                    <a:pt x="4591049" y="0"/>
                  </a:moveTo>
                  <a:lnTo>
                    <a:pt x="4591049" y="2589022"/>
                  </a:lnTo>
                </a:path>
                <a:path w="5165725" h="2589529">
                  <a:moveTo>
                    <a:pt x="5165217" y="0"/>
                  </a:moveTo>
                  <a:lnTo>
                    <a:pt x="5165217" y="2589022"/>
                  </a:lnTo>
                </a:path>
                <a:path w="5165725" h="2589529">
                  <a:moveTo>
                    <a:pt x="0" y="2589022"/>
                  </a:moveTo>
                  <a:lnTo>
                    <a:pt x="0" y="0"/>
                  </a:lnTo>
                </a:path>
                <a:path w="5165725" h="2589529">
                  <a:moveTo>
                    <a:pt x="0" y="2589022"/>
                  </a:moveTo>
                  <a:lnTo>
                    <a:pt x="5165217" y="2589022"/>
                  </a:lnTo>
                </a:path>
              </a:pathLst>
            </a:custGeom>
            <a:ln w="9525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936736" y="2461006"/>
              <a:ext cx="1004569" cy="690880"/>
            </a:xfrm>
            <a:custGeom>
              <a:avLst/>
              <a:gdLst/>
              <a:ahLst/>
              <a:cxnLst/>
              <a:rect l="l" t="t" r="r" b="b"/>
              <a:pathLst>
                <a:path w="1004570" h="690880">
                  <a:moveTo>
                    <a:pt x="0" y="690372"/>
                  </a:moveTo>
                  <a:lnTo>
                    <a:pt x="1004443" y="0"/>
                  </a:lnTo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885749" y="4087685"/>
              <a:ext cx="85725" cy="85725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315517" y="4000817"/>
              <a:ext cx="85725" cy="85725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516685" y="3787584"/>
              <a:ext cx="257936" cy="126745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890065" y="3683952"/>
              <a:ext cx="85725" cy="85725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975409" y="3569652"/>
              <a:ext cx="85725" cy="85725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464613" y="3397440"/>
              <a:ext cx="85725" cy="85725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894381" y="3109404"/>
              <a:ext cx="85725" cy="85725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898189" y="2416873"/>
              <a:ext cx="85725" cy="85725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6928104" y="2548763"/>
              <a:ext cx="3013075" cy="1697355"/>
            </a:xfrm>
            <a:custGeom>
              <a:avLst/>
              <a:gdLst/>
              <a:ahLst/>
              <a:cxnLst/>
              <a:rect l="l" t="t" r="r" b="b"/>
              <a:pathLst>
                <a:path w="3013075" h="1697354">
                  <a:moveTo>
                    <a:pt x="0" y="1696974"/>
                  </a:moveTo>
                  <a:lnTo>
                    <a:pt x="3013075" y="0"/>
                  </a:lnTo>
                </a:path>
              </a:pathLst>
            </a:custGeom>
            <a:ln w="9525">
              <a:solidFill>
                <a:srgbClr val="155F8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5314569" y="4724527"/>
            <a:ext cx="8699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50" dirty="0">
                <a:solidFill>
                  <a:srgbClr val="585858"/>
                </a:solidFill>
                <a:latin typeface="Trebuchet MS"/>
                <a:cs typeface="Trebuchet MS"/>
              </a:rPr>
              <a:t>0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314569" y="4436745"/>
            <a:ext cx="8699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50" dirty="0">
                <a:solidFill>
                  <a:srgbClr val="585858"/>
                </a:solidFill>
                <a:latin typeface="Trebuchet MS"/>
                <a:cs typeface="Trebuchet MS"/>
              </a:rPr>
              <a:t>5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253609" y="4149090"/>
            <a:ext cx="14732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25" dirty="0">
                <a:solidFill>
                  <a:srgbClr val="585858"/>
                </a:solidFill>
                <a:latin typeface="Trebuchet MS"/>
                <a:cs typeface="Trebuchet MS"/>
              </a:rPr>
              <a:t>10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253609" y="3861307"/>
            <a:ext cx="14732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25" dirty="0">
                <a:solidFill>
                  <a:srgbClr val="585858"/>
                </a:solidFill>
                <a:latin typeface="Trebuchet MS"/>
                <a:cs typeface="Trebuchet MS"/>
              </a:rPr>
              <a:t>15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253609" y="3573526"/>
            <a:ext cx="14732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25" dirty="0">
                <a:solidFill>
                  <a:srgbClr val="585858"/>
                </a:solidFill>
                <a:latin typeface="Trebuchet MS"/>
                <a:cs typeface="Trebuchet MS"/>
              </a:rPr>
              <a:t>20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5253609" y="3285871"/>
            <a:ext cx="14732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25" dirty="0">
                <a:solidFill>
                  <a:srgbClr val="585858"/>
                </a:solidFill>
                <a:latin typeface="Trebuchet MS"/>
                <a:cs typeface="Trebuchet MS"/>
              </a:rPr>
              <a:t>25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5253609" y="2998089"/>
            <a:ext cx="14732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25" dirty="0">
                <a:solidFill>
                  <a:srgbClr val="585858"/>
                </a:solidFill>
                <a:latin typeface="Trebuchet MS"/>
                <a:cs typeface="Trebuchet MS"/>
              </a:rPr>
              <a:t>30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253609" y="2710434"/>
            <a:ext cx="14732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25" dirty="0">
                <a:solidFill>
                  <a:srgbClr val="585858"/>
                </a:solidFill>
                <a:latin typeface="Trebuchet MS"/>
                <a:cs typeface="Trebuchet MS"/>
              </a:rPr>
              <a:t>35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253609" y="2422652"/>
            <a:ext cx="14732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25" dirty="0">
                <a:solidFill>
                  <a:srgbClr val="585858"/>
                </a:solidFill>
                <a:latin typeface="Trebuchet MS"/>
                <a:cs typeface="Trebuchet MS"/>
              </a:rPr>
              <a:t>40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5253609" y="2134870"/>
            <a:ext cx="14732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25" dirty="0">
                <a:solidFill>
                  <a:srgbClr val="585858"/>
                </a:solidFill>
                <a:latin typeface="Trebuchet MS"/>
                <a:cs typeface="Trebuchet MS"/>
              </a:rPr>
              <a:t>45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442330" y="4871973"/>
            <a:ext cx="8699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50" dirty="0">
                <a:solidFill>
                  <a:srgbClr val="585858"/>
                </a:solidFill>
                <a:latin typeface="Trebuchet MS"/>
                <a:cs typeface="Trebuchet MS"/>
              </a:rPr>
              <a:t>0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5940044" y="4871973"/>
            <a:ext cx="2540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55" dirty="0">
                <a:solidFill>
                  <a:srgbClr val="585858"/>
                </a:solidFill>
                <a:latin typeface="Trebuchet MS"/>
                <a:cs typeface="Trebuchet MS"/>
              </a:rPr>
              <a:t>200 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513956" y="4871973"/>
            <a:ext cx="2540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55" dirty="0">
                <a:solidFill>
                  <a:srgbClr val="585858"/>
                </a:solidFill>
                <a:latin typeface="Trebuchet MS"/>
                <a:cs typeface="Trebuchet MS"/>
              </a:rPr>
              <a:t>400 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7087869" y="4871973"/>
            <a:ext cx="2540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55" dirty="0">
                <a:solidFill>
                  <a:srgbClr val="585858"/>
                </a:solidFill>
                <a:latin typeface="Trebuchet MS"/>
                <a:cs typeface="Trebuchet MS"/>
              </a:rPr>
              <a:t>600 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8771890" y="4871973"/>
            <a:ext cx="3302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70" dirty="0">
                <a:solidFill>
                  <a:srgbClr val="585858"/>
                </a:solidFill>
                <a:latin typeface="Trebuchet MS"/>
                <a:cs typeface="Trebuchet MS"/>
              </a:rPr>
              <a:t>1200 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10493756" y="4871973"/>
            <a:ext cx="3302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70" dirty="0">
                <a:solidFill>
                  <a:srgbClr val="585858"/>
                </a:solidFill>
                <a:latin typeface="Trebuchet MS"/>
                <a:cs typeface="Trebuchet MS"/>
              </a:rPr>
              <a:t>1800 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7661909" y="4831333"/>
            <a:ext cx="866140" cy="381000"/>
          </a:xfrm>
          <a:prstGeom prst="rect">
            <a:avLst/>
          </a:prstGeom>
        </p:spPr>
        <p:txBody>
          <a:bodyPr vert="horz" wrap="square" lIns="0" tIns="533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20"/>
              </a:spcBef>
              <a:tabLst>
                <a:tab pos="548640" algn="l"/>
              </a:tabLst>
            </a:pPr>
            <a:r>
              <a:rPr sz="900" spc="55" dirty="0">
                <a:solidFill>
                  <a:srgbClr val="585858"/>
                </a:solidFill>
                <a:latin typeface="Trebuchet MS"/>
                <a:cs typeface="Trebuchet MS"/>
              </a:rPr>
              <a:t>800</a:t>
            </a:r>
            <a:r>
              <a:rPr sz="900" dirty="0">
                <a:solidFill>
                  <a:srgbClr val="585858"/>
                </a:solidFill>
                <a:latin typeface="Trebuchet MS"/>
                <a:cs typeface="Trebuchet MS"/>
              </a:rPr>
              <a:t>	</a:t>
            </a:r>
            <a:r>
              <a:rPr sz="900" spc="70" dirty="0">
                <a:solidFill>
                  <a:srgbClr val="585858"/>
                </a:solidFill>
                <a:latin typeface="Trebuchet MS"/>
                <a:cs typeface="Trebuchet MS"/>
              </a:rPr>
              <a:t>1000 </a:t>
            </a:r>
            <a:endParaRPr sz="900">
              <a:latin typeface="Trebuchet MS"/>
              <a:cs typeface="Trebuchet MS"/>
            </a:endParaRPr>
          </a:p>
          <a:p>
            <a:pPr marL="60325">
              <a:lnSpc>
                <a:spcPct val="100000"/>
              </a:lnSpc>
              <a:spcBef>
                <a:spcPts val="320"/>
              </a:spcBef>
            </a:pPr>
            <a:r>
              <a:rPr sz="900" dirty="0">
                <a:solidFill>
                  <a:srgbClr val="585858"/>
                </a:solidFill>
                <a:latin typeface="Trebuchet MS"/>
                <a:cs typeface="Trebuchet MS"/>
              </a:rPr>
              <a:t>AREA</a:t>
            </a:r>
            <a:r>
              <a:rPr sz="900" spc="-70" dirty="0">
                <a:solidFill>
                  <a:srgbClr val="585858"/>
                </a:solidFill>
                <a:latin typeface="Trebuchet MS"/>
                <a:cs typeface="Trebuchet MS"/>
              </a:rPr>
              <a:t> </a:t>
            </a:r>
            <a:r>
              <a:rPr sz="900" spc="-10" dirty="0">
                <a:solidFill>
                  <a:srgbClr val="585858"/>
                </a:solidFill>
                <a:latin typeface="Trebuchet MS"/>
                <a:cs typeface="Trebuchet MS"/>
              </a:rPr>
              <a:t>(SQ.</a:t>
            </a:r>
            <a:r>
              <a:rPr sz="900" spc="-70" dirty="0">
                <a:solidFill>
                  <a:srgbClr val="585858"/>
                </a:solidFill>
                <a:latin typeface="Trebuchet MS"/>
                <a:cs typeface="Trebuchet MS"/>
              </a:rPr>
              <a:t> </a:t>
            </a:r>
            <a:r>
              <a:rPr sz="900" spc="-20" dirty="0">
                <a:solidFill>
                  <a:srgbClr val="585858"/>
                </a:solidFill>
                <a:latin typeface="Trebuchet MS"/>
                <a:cs typeface="Trebuchet MS"/>
              </a:rPr>
              <a:t>FT.)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5075292" y="3147862"/>
            <a:ext cx="165100" cy="756920"/>
          </a:xfrm>
          <a:prstGeom prst="rect">
            <a:avLst/>
          </a:prstGeom>
        </p:spPr>
        <p:txBody>
          <a:bodyPr vert="vert270" wrap="square" lIns="0" tIns="57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"/>
              </a:spcBef>
            </a:pPr>
            <a:r>
              <a:rPr sz="900" dirty="0">
                <a:solidFill>
                  <a:srgbClr val="585858"/>
                </a:solidFill>
                <a:latin typeface="Trebuchet MS"/>
                <a:cs typeface="Trebuchet MS"/>
              </a:rPr>
              <a:t>PRICE</a:t>
            </a:r>
            <a:r>
              <a:rPr sz="900" spc="5" dirty="0">
                <a:solidFill>
                  <a:srgbClr val="585858"/>
                </a:solidFill>
                <a:latin typeface="Trebuchet MS"/>
                <a:cs typeface="Trebuchet MS"/>
              </a:rPr>
              <a:t> </a:t>
            </a:r>
            <a:r>
              <a:rPr sz="900" spc="-10" dirty="0">
                <a:solidFill>
                  <a:srgbClr val="585858"/>
                </a:solidFill>
                <a:latin typeface="Trebuchet MS"/>
                <a:cs typeface="Trebuchet MS"/>
              </a:rPr>
              <a:t>(LAKHS)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7080250" y="1799589"/>
            <a:ext cx="167322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135" dirty="0">
                <a:solidFill>
                  <a:srgbClr val="585858"/>
                </a:solidFill>
                <a:latin typeface="Trebuchet MS"/>
                <a:cs typeface="Trebuchet MS"/>
              </a:rPr>
              <a:t>PRICE</a:t>
            </a:r>
            <a:r>
              <a:rPr sz="1600" b="1" spc="95" dirty="0">
                <a:solidFill>
                  <a:srgbClr val="585858"/>
                </a:solidFill>
                <a:latin typeface="Trebuchet MS"/>
                <a:cs typeface="Trebuchet MS"/>
              </a:rPr>
              <a:t> </a:t>
            </a:r>
            <a:r>
              <a:rPr sz="1600" b="1" spc="65" dirty="0">
                <a:solidFill>
                  <a:srgbClr val="585858"/>
                </a:solidFill>
                <a:latin typeface="Trebuchet MS"/>
                <a:cs typeface="Trebuchet MS"/>
              </a:rPr>
              <a:t>VS.</a:t>
            </a:r>
            <a:r>
              <a:rPr sz="1600" b="1" spc="90" dirty="0">
                <a:solidFill>
                  <a:srgbClr val="585858"/>
                </a:solidFill>
                <a:latin typeface="Trebuchet MS"/>
                <a:cs typeface="Trebuchet MS"/>
              </a:rPr>
              <a:t> </a:t>
            </a:r>
            <a:r>
              <a:rPr sz="1600" b="1" spc="55" dirty="0">
                <a:solidFill>
                  <a:srgbClr val="585858"/>
                </a:solidFill>
                <a:latin typeface="Trebuchet MS"/>
                <a:cs typeface="Trebuchet MS"/>
              </a:rPr>
              <a:t>AREA</a:t>
            </a:r>
            <a:endParaRPr sz="1600">
              <a:latin typeface="Trebuchet MS"/>
              <a:cs typeface="Trebuchet MS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1847469" y="5717844"/>
            <a:ext cx="73355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40" dirty="0">
                <a:latin typeface="Trebuchet MS"/>
                <a:cs typeface="Trebuchet MS"/>
              </a:rPr>
              <a:t>Price</a:t>
            </a:r>
            <a:r>
              <a:rPr sz="1800" spc="-165" dirty="0">
                <a:latin typeface="Trebuchet MS"/>
                <a:cs typeface="Trebuchet MS"/>
              </a:rPr>
              <a:t> </a:t>
            </a:r>
            <a:r>
              <a:rPr sz="1800" spc="-90" dirty="0">
                <a:latin typeface="Trebuchet MS"/>
                <a:cs typeface="Trebuchet MS"/>
              </a:rPr>
              <a:t>for</a:t>
            </a:r>
            <a:r>
              <a:rPr sz="1800" spc="-160" dirty="0">
                <a:latin typeface="Trebuchet MS"/>
                <a:cs typeface="Trebuchet MS"/>
              </a:rPr>
              <a:t> </a:t>
            </a:r>
            <a:r>
              <a:rPr sz="1800" spc="-70" dirty="0">
                <a:latin typeface="Trebuchet MS"/>
                <a:cs typeface="Trebuchet MS"/>
              </a:rPr>
              <a:t>the</a:t>
            </a:r>
            <a:r>
              <a:rPr sz="1800" spc="-130" dirty="0">
                <a:latin typeface="Trebuchet MS"/>
                <a:cs typeface="Trebuchet MS"/>
              </a:rPr>
              <a:t> </a:t>
            </a:r>
            <a:r>
              <a:rPr sz="1800" spc="-25" dirty="0">
                <a:latin typeface="Trebuchet MS"/>
                <a:cs typeface="Trebuchet MS"/>
              </a:rPr>
              <a:t>examples</a:t>
            </a:r>
            <a:r>
              <a:rPr sz="1800" spc="-135" dirty="0">
                <a:latin typeface="Trebuchet MS"/>
                <a:cs typeface="Trebuchet MS"/>
              </a:rPr>
              <a:t> </a:t>
            </a:r>
            <a:r>
              <a:rPr sz="1800" spc="-55" dirty="0">
                <a:latin typeface="Trebuchet MS"/>
                <a:cs typeface="Trebuchet MS"/>
              </a:rPr>
              <a:t>in</a:t>
            </a:r>
            <a:r>
              <a:rPr sz="1800" spc="-160" dirty="0">
                <a:latin typeface="Trebuchet MS"/>
                <a:cs typeface="Trebuchet MS"/>
              </a:rPr>
              <a:t> </a:t>
            </a:r>
            <a:r>
              <a:rPr sz="1800" spc="-70" dirty="0">
                <a:latin typeface="Trebuchet MS"/>
                <a:cs typeface="Trebuchet MS"/>
              </a:rPr>
              <a:t>the</a:t>
            </a:r>
            <a:r>
              <a:rPr sz="1800" spc="-135" dirty="0">
                <a:latin typeface="Trebuchet MS"/>
                <a:cs typeface="Trebuchet MS"/>
              </a:rPr>
              <a:t> </a:t>
            </a:r>
            <a:r>
              <a:rPr sz="1800" spc="-55" dirty="0">
                <a:latin typeface="Trebuchet MS"/>
                <a:cs typeface="Trebuchet MS"/>
              </a:rPr>
              <a:t>testing</a:t>
            </a:r>
            <a:r>
              <a:rPr sz="1800" spc="-130" dirty="0">
                <a:latin typeface="Trebuchet MS"/>
                <a:cs typeface="Trebuchet MS"/>
              </a:rPr>
              <a:t> </a:t>
            </a:r>
            <a:r>
              <a:rPr sz="1800" spc="-20" dirty="0">
                <a:latin typeface="Trebuchet MS"/>
                <a:cs typeface="Trebuchet MS"/>
              </a:rPr>
              <a:t>set</a:t>
            </a:r>
            <a:r>
              <a:rPr sz="1800" spc="-145" dirty="0">
                <a:latin typeface="Trebuchet MS"/>
                <a:cs typeface="Trebuchet MS"/>
              </a:rPr>
              <a:t> </a:t>
            </a:r>
            <a:r>
              <a:rPr sz="1800" spc="-55" dirty="0">
                <a:latin typeface="Trebuchet MS"/>
                <a:cs typeface="Trebuchet MS"/>
              </a:rPr>
              <a:t>predicted</a:t>
            </a:r>
            <a:r>
              <a:rPr sz="1800" spc="-110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using</a:t>
            </a:r>
            <a:r>
              <a:rPr sz="1800" spc="-175" dirty="0">
                <a:latin typeface="Trebuchet MS"/>
                <a:cs typeface="Trebuchet MS"/>
              </a:rPr>
              <a:t> </a:t>
            </a:r>
            <a:r>
              <a:rPr sz="1800" spc="-70" dirty="0">
                <a:latin typeface="Trebuchet MS"/>
                <a:cs typeface="Trebuchet MS"/>
              </a:rPr>
              <a:t>the</a:t>
            </a:r>
            <a:r>
              <a:rPr sz="1800" spc="-140" dirty="0">
                <a:latin typeface="Trebuchet MS"/>
                <a:cs typeface="Trebuchet MS"/>
              </a:rPr>
              <a:t> </a:t>
            </a:r>
            <a:r>
              <a:rPr sz="1800" spc="-20" dirty="0">
                <a:latin typeface="Trebuchet MS"/>
                <a:cs typeface="Trebuchet MS"/>
              </a:rPr>
              <a:t>regression</a:t>
            </a:r>
            <a:r>
              <a:rPr sz="1800" spc="-155" dirty="0">
                <a:latin typeface="Trebuchet MS"/>
                <a:cs typeface="Trebuchet MS"/>
              </a:rPr>
              <a:t> </a:t>
            </a:r>
            <a:r>
              <a:rPr sz="1800" spc="-10" dirty="0">
                <a:latin typeface="Trebuchet MS"/>
                <a:cs typeface="Trebuchet MS"/>
              </a:rPr>
              <a:t>line.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2038350" y="3444062"/>
            <a:ext cx="106362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80" dirty="0">
                <a:latin typeface="Trebuchet MS"/>
                <a:cs typeface="Trebuchet MS"/>
              </a:rPr>
              <a:t>Testing</a:t>
            </a:r>
            <a:r>
              <a:rPr sz="1800" spc="-140" dirty="0">
                <a:latin typeface="Trebuchet MS"/>
                <a:cs typeface="Trebuchet MS"/>
              </a:rPr>
              <a:t> </a:t>
            </a:r>
            <a:r>
              <a:rPr sz="1800" spc="-25" dirty="0">
                <a:latin typeface="Trebuchet MS"/>
                <a:cs typeface="Trebuchet MS"/>
              </a:rPr>
              <a:t>set</a:t>
            </a:r>
            <a:endParaRPr sz="1800">
              <a:latin typeface="Trebuchet MS"/>
              <a:cs typeface="Trebuchet MS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1106614" y="2112264"/>
            <a:ext cx="3184525" cy="1162050"/>
            <a:chOff x="1106614" y="2112264"/>
            <a:chExt cx="3184525" cy="1162050"/>
          </a:xfrm>
        </p:grpSpPr>
        <p:sp>
          <p:nvSpPr>
            <p:cNvPr id="37" name="object 37"/>
            <p:cNvSpPr/>
            <p:nvPr/>
          </p:nvSpPr>
          <p:spPr>
            <a:xfrm>
              <a:off x="2722626" y="2884690"/>
              <a:ext cx="1562100" cy="383540"/>
            </a:xfrm>
            <a:custGeom>
              <a:avLst/>
              <a:gdLst/>
              <a:ahLst/>
              <a:cxnLst/>
              <a:rect l="l" t="t" r="r" b="b"/>
              <a:pathLst>
                <a:path w="1562100" h="383539">
                  <a:moveTo>
                    <a:pt x="1562100" y="0"/>
                  </a:moveTo>
                  <a:lnTo>
                    <a:pt x="0" y="0"/>
                  </a:lnTo>
                  <a:lnTo>
                    <a:pt x="0" y="383019"/>
                  </a:lnTo>
                  <a:lnTo>
                    <a:pt x="1562100" y="383019"/>
                  </a:lnTo>
                  <a:lnTo>
                    <a:pt x="1562100" y="0"/>
                  </a:lnTo>
                  <a:close/>
                </a:path>
              </a:pathLst>
            </a:custGeom>
            <a:solidFill>
              <a:srgbClr val="E7E7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2722626" y="2112264"/>
              <a:ext cx="0" cy="1162050"/>
            </a:xfrm>
            <a:custGeom>
              <a:avLst/>
              <a:gdLst/>
              <a:ahLst/>
              <a:cxnLst/>
              <a:rect l="l" t="t" r="r" b="b"/>
              <a:pathLst>
                <a:path h="1162050">
                  <a:moveTo>
                    <a:pt x="0" y="0"/>
                  </a:moveTo>
                  <a:lnTo>
                    <a:pt x="0" y="1161796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1106614" y="2501646"/>
              <a:ext cx="3184525" cy="0"/>
            </a:xfrm>
            <a:custGeom>
              <a:avLst/>
              <a:gdLst/>
              <a:ahLst/>
              <a:cxnLst/>
              <a:rect l="l" t="t" r="r" b="b"/>
              <a:pathLst>
                <a:path w="3184525">
                  <a:moveTo>
                    <a:pt x="0" y="0"/>
                  </a:moveTo>
                  <a:lnTo>
                    <a:pt x="3184461" y="0"/>
                  </a:lnTo>
                </a:path>
              </a:pathLst>
            </a:custGeom>
            <a:ln w="381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1106614" y="2112264"/>
              <a:ext cx="3184525" cy="1162050"/>
            </a:xfrm>
            <a:custGeom>
              <a:avLst/>
              <a:gdLst/>
              <a:ahLst/>
              <a:cxnLst/>
              <a:rect l="l" t="t" r="r" b="b"/>
              <a:pathLst>
                <a:path w="3184525" h="1162050">
                  <a:moveTo>
                    <a:pt x="0" y="772413"/>
                  </a:moveTo>
                  <a:lnTo>
                    <a:pt x="3184461" y="772413"/>
                  </a:lnTo>
                </a:path>
                <a:path w="3184525" h="1162050">
                  <a:moveTo>
                    <a:pt x="6350" y="0"/>
                  </a:moveTo>
                  <a:lnTo>
                    <a:pt x="6350" y="1161796"/>
                  </a:lnTo>
                </a:path>
                <a:path w="3184525" h="1162050">
                  <a:moveTo>
                    <a:pt x="3178111" y="0"/>
                  </a:moveTo>
                  <a:lnTo>
                    <a:pt x="3178111" y="1161796"/>
                  </a:lnTo>
                </a:path>
                <a:path w="3184525" h="1162050">
                  <a:moveTo>
                    <a:pt x="0" y="6350"/>
                  </a:moveTo>
                  <a:lnTo>
                    <a:pt x="3184461" y="6350"/>
                  </a:lnTo>
                </a:path>
                <a:path w="3184525" h="1162050">
                  <a:moveTo>
                    <a:pt x="0" y="1155446"/>
                  </a:moveTo>
                  <a:lnTo>
                    <a:pt x="3184461" y="1155446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1" name="object 41"/>
          <p:cNvSpPr txBox="1"/>
          <p:nvPr/>
        </p:nvSpPr>
        <p:spPr>
          <a:xfrm>
            <a:off x="1119314" y="2124964"/>
            <a:ext cx="1597025" cy="35814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21590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170"/>
              </a:spcBef>
            </a:pPr>
            <a:r>
              <a:rPr sz="1800" b="1" spc="-55" dirty="0">
                <a:solidFill>
                  <a:srgbClr val="FFFFFF"/>
                </a:solidFill>
                <a:latin typeface="Trebuchet MS"/>
                <a:cs typeface="Trebuchet MS"/>
              </a:rPr>
              <a:t>Area</a:t>
            </a:r>
            <a:r>
              <a:rPr sz="1800" b="1" spc="-15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800" b="1" spc="-40" dirty="0">
                <a:solidFill>
                  <a:srgbClr val="FFFFFF"/>
                </a:solidFill>
                <a:latin typeface="Trebuchet MS"/>
                <a:cs typeface="Trebuchet MS"/>
              </a:rPr>
              <a:t>(sq.</a:t>
            </a:r>
            <a:r>
              <a:rPr sz="1800" b="1" spc="-16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800" b="1" spc="-20" dirty="0">
                <a:solidFill>
                  <a:srgbClr val="FFFFFF"/>
                </a:solidFill>
                <a:latin typeface="Trebuchet MS"/>
                <a:cs typeface="Trebuchet MS"/>
              </a:rPr>
              <a:t>ft.)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2728976" y="2124964"/>
            <a:ext cx="1549400" cy="35814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21590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170"/>
              </a:spcBef>
            </a:pPr>
            <a:r>
              <a:rPr sz="1800" b="1" spc="-40" dirty="0">
                <a:solidFill>
                  <a:srgbClr val="FFFFFF"/>
                </a:solidFill>
                <a:latin typeface="Trebuchet MS"/>
                <a:cs typeface="Trebuchet MS"/>
              </a:rPr>
              <a:t>Price</a:t>
            </a:r>
            <a:r>
              <a:rPr sz="1800" b="1" spc="-1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800" b="1" spc="-10" dirty="0">
                <a:solidFill>
                  <a:srgbClr val="FFFFFF"/>
                </a:solidFill>
                <a:latin typeface="Trebuchet MS"/>
                <a:cs typeface="Trebuchet MS"/>
              </a:rPr>
              <a:t>(lakhs)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1119314" y="2520695"/>
            <a:ext cx="1597025" cy="358140"/>
          </a:xfrm>
          <a:prstGeom prst="rect">
            <a:avLst/>
          </a:prstGeom>
          <a:solidFill>
            <a:srgbClr val="CACACA"/>
          </a:solidFill>
        </p:spPr>
        <p:txBody>
          <a:bodyPr vert="horz" wrap="square" lIns="0" tIns="8890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70"/>
              </a:spcBef>
            </a:pPr>
            <a:r>
              <a:rPr sz="1800" spc="-20" dirty="0">
                <a:latin typeface="Trebuchet MS"/>
                <a:cs typeface="Trebuchet MS"/>
              </a:rPr>
              <a:t>1200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2728976" y="2520695"/>
            <a:ext cx="1549400" cy="358140"/>
          </a:xfrm>
          <a:prstGeom prst="rect">
            <a:avLst/>
          </a:prstGeom>
          <a:solidFill>
            <a:srgbClr val="CACACA"/>
          </a:solidFill>
        </p:spPr>
        <p:txBody>
          <a:bodyPr vert="horz" wrap="square" lIns="0" tIns="8890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70"/>
              </a:spcBef>
            </a:pPr>
            <a:r>
              <a:rPr sz="1800" spc="-25" dirty="0">
                <a:latin typeface="Trebuchet MS"/>
                <a:cs typeface="Trebuchet MS"/>
              </a:rPr>
              <a:t>29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1112964" y="2884677"/>
            <a:ext cx="1609725" cy="383540"/>
          </a:xfrm>
          <a:prstGeom prst="rect">
            <a:avLst/>
          </a:prstGeom>
          <a:solidFill>
            <a:srgbClr val="E7E7E7"/>
          </a:solidFill>
          <a:ln w="12700">
            <a:solidFill>
              <a:srgbClr val="FFFFFF"/>
            </a:solidFill>
          </a:ln>
        </p:spPr>
        <p:txBody>
          <a:bodyPr vert="horz" wrap="square" lIns="0" tIns="27939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219"/>
              </a:spcBef>
            </a:pPr>
            <a:r>
              <a:rPr sz="1800" spc="-20" dirty="0">
                <a:latin typeface="Trebuchet MS"/>
                <a:cs typeface="Trebuchet MS"/>
              </a:rPr>
              <a:t>1550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2728976" y="2899917"/>
            <a:ext cx="15494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Trebuchet MS"/>
                <a:cs typeface="Trebuchet MS"/>
              </a:rPr>
              <a:t>41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47" name="object 47"/>
          <p:cNvSpPr/>
          <p:nvPr/>
        </p:nvSpPr>
        <p:spPr>
          <a:xfrm>
            <a:off x="5486400" y="2618232"/>
            <a:ext cx="4350385" cy="2416175"/>
          </a:xfrm>
          <a:custGeom>
            <a:avLst/>
            <a:gdLst/>
            <a:ahLst/>
            <a:cxnLst/>
            <a:rect l="l" t="t" r="r" b="b"/>
            <a:pathLst>
              <a:path w="4350384" h="2416175">
                <a:moveTo>
                  <a:pt x="4349877" y="30098"/>
                </a:moveTo>
                <a:lnTo>
                  <a:pt x="4349877" y="2416047"/>
                </a:lnTo>
              </a:path>
              <a:path w="4350384" h="2416175">
                <a:moveTo>
                  <a:pt x="4330827" y="0"/>
                </a:moveTo>
                <a:lnTo>
                  <a:pt x="0" y="0"/>
                </a:lnTo>
              </a:path>
            </a:pathLst>
          </a:custGeom>
          <a:ln w="19050">
            <a:solidFill>
              <a:srgbClr val="FF0000"/>
            </a:solidFill>
            <a:prstDash val="sys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 txBox="1"/>
          <p:nvPr/>
        </p:nvSpPr>
        <p:spPr>
          <a:xfrm>
            <a:off x="9345930" y="4858052"/>
            <a:ext cx="1129030" cy="412750"/>
          </a:xfrm>
          <a:prstGeom prst="rect">
            <a:avLst/>
          </a:prstGeom>
        </p:spPr>
        <p:txBody>
          <a:bodyPr vert="horz" wrap="square" lIns="0" tIns="2666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9"/>
              </a:spcBef>
              <a:tabLst>
                <a:tab pos="586105" algn="l"/>
              </a:tabLst>
            </a:pPr>
            <a:r>
              <a:rPr sz="900" spc="70" dirty="0">
                <a:solidFill>
                  <a:srgbClr val="585858"/>
                </a:solidFill>
                <a:latin typeface="Trebuchet MS"/>
                <a:cs typeface="Trebuchet MS"/>
              </a:rPr>
              <a:t>1400</a:t>
            </a:r>
            <a:r>
              <a:rPr sz="900" dirty="0">
                <a:solidFill>
                  <a:srgbClr val="585858"/>
                </a:solidFill>
                <a:latin typeface="Trebuchet MS"/>
                <a:cs typeface="Trebuchet MS"/>
              </a:rPr>
              <a:t>	</a:t>
            </a:r>
            <a:r>
              <a:rPr sz="900" spc="70" dirty="0">
                <a:solidFill>
                  <a:srgbClr val="585858"/>
                </a:solidFill>
                <a:latin typeface="Trebuchet MS"/>
                <a:cs typeface="Trebuchet MS"/>
              </a:rPr>
              <a:t>1600 </a:t>
            </a:r>
            <a:endParaRPr sz="900">
              <a:latin typeface="Trebuchet MS"/>
              <a:cs typeface="Trebuchet MS"/>
            </a:endParaRPr>
          </a:p>
          <a:p>
            <a:pPr marL="262255">
              <a:lnSpc>
                <a:spcPct val="100000"/>
              </a:lnSpc>
              <a:spcBef>
                <a:spcPts val="175"/>
              </a:spcBef>
            </a:pPr>
            <a:r>
              <a:rPr sz="1400" spc="-10" dirty="0">
                <a:solidFill>
                  <a:srgbClr val="FF0000"/>
                </a:solidFill>
                <a:latin typeface="Trebuchet MS"/>
                <a:cs typeface="Trebuchet MS"/>
              </a:rPr>
              <a:t>1550</a:t>
            </a:r>
            <a:r>
              <a:rPr sz="1400" spc="-95" dirty="0">
                <a:solidFill>
                  <a:srgbClr val="FF0000"/>
                </a:solidFill>
                <a:latin typeface="Trebuchet MS"/>
                <a:cs typeface="Trebuchet MS"/>
              </a:rPr>
              <a:t> </a:t>
            </a:r>
            <a:r>
              <a:rPr sz="1400" dirty="0">
                <a:solidFill>
                  <a:srgbClr val="FF0000"/>
                </a:solidFill>
                <a:latin typeface="Trebuchet MS"/>
                <a:cs typeface="Trebuchet MS"/>
              </a:rPr>
              <a:t>sq.</a:t>
            </a:r>
            <a:r>
              <a:rPr sz="1400" spc="-135" dirty="0">
                <a:solidFill>
                  <a:srgbClr val="FF0000"/>
                </a:solidFill>
                <a:latin typeface="Trebuchet MS"/>
                <a:cs typeface="Trebuchet MS"/>
              </a:rPr>
              <a:t> </a:t>
            </a:r>
            <a:r>
              <a:rPr sz="1400" spc="-70" dirty="0">
                <a:solidFill>
                  <a:srgbClr val="FF0000"/>
                </a:solidFill>
                <a:latin typeface="Trebuchet MS"/>
                <a:cs typeface="Trebuchet MS"/>
              </a:rPr>
              <a:t>ft.</a:t>
            </a:r>
            <a:endParaRPr sz="1400">
              <a:latin typeface="Trebuchet MS"/>
              <a:cs typeface="Trebuchet MS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4581525" y="2514345"/>
            <a:ext cx="663575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FF0000"/>
                </a:solidFill>
                <a:latin typeface="Trebuchet MS"/>
                <a:cs typeface="Trebuchet MS"/>
              </a:rPr>
              <a:t>38</a:t>
            </a:r>
            <a:r>
              <a:rPr sz="1400" spc="-130" dirty="0">
                <a:solidFill>
                  <a:srgbClr val="FF0000"/>
                </a:solidFill>
                <a:latin typeface="Trebuchet MS"/>
                <a:cs typeface="Trebuchet MS"/>
              </a:rPr>
              <a:t> </a:t>
            </a:r>
            <a:r>
              <a:rPr sz="1400" spc="-10" dirty="0">
                <a:solidFill>
                  <a:srgbClr val="FF0000"/>
                </a:solidFill>
                <a:latin typeface="Trebuchet MS"/>
                <a:cs typeface="Trebuchet MS"/>
              </a:rPr>
              <a:t>lakhs</a:t>
            </a:r>
            <a:endParaRPr sz="1400">
              <a:latin typeface="Trebuchet MS"/>
              <a:cs typeface="Trebuchet MS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4626990" y="1440561"/>
            <a:ext cx="76708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spc="-25" dirty="0">
                <a:latin typeface="Trebuchet MS"/>
                <a:cs typeface="Trebuchet MS"/>
              </a:rPr>
              <a:t>Predicted</a:t>
            </a:r>
            <a:endParaRPr sz="1400">
              <a:latin typeface="Trebuchet MS"/>
              <a:cs typeface="Trebuchet MS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4626990" y="1653920"/>
            <a:ext cx="416559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spc="-10" dirty="0">
                <a:latin typeface="Trebuchet MS"/>
                <a:cs typeface="Trebuchet MS"/>
              </a:rPr>
              <a:t>price</a:t>
            </a:r>
            <a:endParaRPr sz="1400">
              <a:latin typeface="Trebuchet MS"/>
              <a:cs typeface="Trebuchet MS"/>
            </a:endParaRPr>
          </a:p>
        </p:txBody>
      </p:sp>
      <p:sp>
        <p:nvSpPr>
          <p:cNvPr id="52" name="object 52"/>
          <p:cNvSpPr/>
          <p:nvPr/>
        </p:nvSpPr>
        <p:spPr>
          <a:xfrm>
            <a:off x="4891023" y="1944242"/>
            <a:ext cx="76200" cy="550545"/>
          </a:xfrm>
          <a:custGeom>
            <a:avLst/>
            <a:gdLst/>
            <a:ahLst/>
            <a:cxnLst/>
            <a:rect l="l" t="t" r="r" b="b"/>
            <a:pathLst>
              <a:path w="76200" h="550544">
                <a:moveTo>
                  <a:pt x="28575" y="473964"/>
                </a:moveTo>
                <a:lnTo>
                  <a:pt x="0" y="473964"/>
                </a:lnTo>
                <a:lnTo>
                  <a:pt x="38100" y="550164"/>
                </a:lnTo>
                <a:lnTo>
                  <a:pt x="69850" y="486664"/>
                </a:lnTo>
                <a:lnTo>
                  <a:pt x="28575" y="486664"/>
                </a:lnTo>
                <a:lnTo>
                  <a:pt x="28575" y="473964"/>
                </a:lnTo>
                <a:close/>
              </a:path>
              <a:path w="76200" h="550544">
                <a:moveTo>
                  <a:pt x="47625" y="0"/>
                </a:moveTo>
                <a:lnTo>
                  <a:pt x="28575" y="0"/>
                </a:lnTo>
                <a:lnTo>
                  <a:pt x="28575" y="486664"/>
                </a:lnTo>
                <a:lnTo>
                  <a:pt x="47625" y="486664"/>
                </a:lnTo>
                <a:lnTo>
                  <a:pt x="47625" y="0"/>
                </a:lnTo>
                <a:close/>
              </a:path>
              <a:path w="76200" h="550544">
                <a:moveTo>
                  <a:pt x="76200" y="473964"/>
                </a:moveTo>
                <a:lnTo>
                  <a:pt x="47625" y="473964"/>
                </a:lnTo>
                <a:lnTo>
                  <a:pt x="47625" y="486664"/>
                </a:lnTo>
                <a:lnTo>
                  <a:pt x="69850" y="486664"/>
                </a:lnTo>
                <a:lnTo>
                  <a:pt x="76200" y="473964"/>
                </a:lnTo>
                <a:close/>
              </a:path>
            </a:pathLst>
          </a:custGeom>
          <a:solidFill>
            <a:srgbClr val="155F8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 txBox="1"/>
          <p:nvPr/>
        </p:nvSpPr>
        <p:spPr>
          <a:xfrm>
            <a:off x="3190113" y="3719525"/>
            <a:ext cx="52197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spc="-10" dirty="0">
                <a:solidFill>
                  <a:srgbClr val="FF0000"/>
                </a:solidFill>
                <a:latin typeface="Trebuchet MS"/>
                <a:cs typeface="Trebuchet MS"/>
              </a:rPr>
              <a:t>Actual</a:t>
            </a:r>
            <a:endParaRPr sz="14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solidFill>
                  <a:srgbClr val="FF0000"/>
                </a:solidFill>
                <a:latin typeface="Trebuchet MS"/>
                <a:cs typeface="Trebuchet MS"/>
              </a:rPr>
              <a:t>price</a:t>
            </a:r>
            <a:endParaRPr sz="1400">
              <a:latin typeface="Trebuchet MS"/>
              <a:cs typeface="Trebuchet MS"/>
            </a:endParaRPr>
          </a:p>
        </p:txBody>
      </p:sp>
      <p:sp>
        <p:nvSpPr>
          <p:cNvPr id="54" name="object 54"/>
          <p:cNvSpPr/>
          <p:nvPr/>
        </p:nvSpPr>
        <p:spPr>
          <a:xfrm>
            <a:off x="3076829" y="3113151"/>
            <a:ext cx="357505" cy="494665"/>
          </a:xfrm>
          <a:custGeom>
            <a:avLst/>
            <a:gdLst/>
            <a:ahLst/>
            <a:cxnLst/>
            <a:rect l="l" t="t" r="r" b="b"/>
            <a:pathLst>
              <a:path w="357504" h="494664">
                <a:moveTo>
                  <a:pt x="52054" y="56383"/>
                </a:moveTo>
                <a:lnTo>
                  <a:pt x="36493" y="67511"/>
                </a:lnTo>
                <a:lnTo>
                  <a:pt x="341883" y="494538"/>
                </a:lnTo>
                <a:lnTo>
                  <a:pt x="357378" y="483488"/>
                </a:lnTo>
                <a:lnTo>
                  <a:pt x="52054" y="56383"/>
                </a:lnTo>
                <a:close/>
              </a:path>
              <a:path w="357504" h="494664">
                <a:moveTo>
                  <a:pt x="0" y="0"/>
                </a:moveTo>
                <a:lnTo>
                  <a:pt x="13334" y="84074"/>
                </a:lnTo>
                <a:lnTo>
                  <a:pt x="36493" y="67511"/>
                </a:lnTo>
                <a:lnTo>
                  <a:pt x="29082" y="57150"/>
                </a:lnTo>
                <a:lnTo>
                  <a:pt x="44703" y="46100"/>
                </a:lnTo>
                <a:lnTo>
                  <a:pt x="66431" y="46100"/>
                </a:lnTo>
                <a:lnTo>
                  <a:pt x="75310" y="39750"/>
                </a:lnTo>
                <a:lnTo>
                  <a:pt x="0" y="0"/>
                </a:lnTo>
                <a:close/>
              </a:path>
              <a:path w="357504" h="494664">
                <a:moveTo>
                  <a:pt x="44703" y="46100"/>
                </a:moveTo>
                <a:lnTo>
                  <a:pt x="29082" y="57150"/>
                </a:lnTo>
                <a:lnTo>
                  <a:pt x="36493" y="67511"/>
                </a:lnTo>
                <a:lnTo>
                  <a:pt x="52054" y="56383"/>
                </a:lnTo>
                <a:lnTo>
                  <a:pt x="44703" y="46100"/>
                </a:lnTo>
                <a:close/>
              </a:path>
              <a:path w="357504" h="494664">
                <a:moveTo>
                  <a:pt x="66431" y="46100"/>
                </a:moveTo>
                <a:lnTo>
                  <a:pt x="44703" y="46100"/>
                </a:lnTo>
                <a:lnTo>
                  <a:pt x="52054" y="56383"/>
                </a:lnTo>
                <a:lnTo>
                  <a:pt x="66431" y="46100"/>
                </a:lnTo>
                <a:close/>
              </a:path>
            </a:pathLst>
          </a:custGeom>
          <a:solidFill>
            <a:srgbClr val="155F8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/>
          <p:cNvSpPr txBox="1"/>
          <p:nvPr/>
        </p:nvSpPr>
        <p:spPr>
          <a:xfrm>
            <a:off x="1453388" y="4415408"/>
            <a:ext cx="26581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155F82"/>
                </a:solidFill>
                <a:latin typeface="Cambria Math"/>
                <a:cs typeface="Cambria Math"/>
              </a:rPr>
              <a:t>𝒀</a:t>
            </a:r>
            <a:r>
              <a:rPr sz="2400" spc="100" dirty="0">
                <a:solidFill>
                  <a:srgbClr val="155F82"/>
                </a:solidFill>
                <a:latin typeface="Cambria Math"/>
                <a:cs typeface="Cambria Math"/>
              </a:rPr>
              <a:t> </a:t>
            </a:r>
            <a:r>
              <a:rPr sz="2400" dirty="0">
                <a:solidFill>
                  <a:srgbClr val="155F82"/>
                </a:solidFill>
                <a:latin typeface="Cambria Math"/>
                <a:cs typeface="Cambria Math"/>
              </a:rPr>
              <a:t>=</a:t>
            </a:r>
            <a:r>
              <a:rPr sz="2400" spc="125" dirty="0">
                <a:solidFill>
                  <a:srgbClr val="155F82"/>
                </a:solidFill>
                <a:latin typeface="Cambria Math"/>
                <a:cs typeface="Cambria Math"/>
              </a:rPr>
              <a:t> </a:t>
            </a:r>
            <a:r>
              <a:rPr sz="2400" spc="-10" dirty="0">
                <a:solidFill>
                  <a:srgbClr val="155F82"/>
                </a:solidFill>
                <a:latin typeface="Cambria Math"/>
                <a:cs typeface="Cambria Math"/>
              </a:rPr>
              <a:t>𝟎.</a:t>
            </a:r>
            <a:r>
              <a:rPr sz="2400" spc="-135" dirty="0">
                <a:solidFill>
                  <a:srgbClr val="155F82"/>
                </a:solidFill>
                <a:latin typeface="Cambria Math"/>
                <a:cs typeface="Cambria Math"/>
              </a:rPr>
              <a:t> </a:t>
            </a:r>
            <a:r>
              <a:rPr sz="2400" dirty="0">
                <a:solidFill>
                  <a:srgbClr val="155F82"/>
                </a:solidFill>
                <a:latin typeface="Cambria Math"/>
                <a:cs typeface="Cambria Math"/>
              </a:rPr>
              <a:t>𝟐𝟒𝟐𝒙</a:t>
            </a:r>
            <a:r>
              <a:rPr sz="2400" spc="-25" dirty="0">
                <a:solidFill>
                  <a:srgbClr val="155F82"/>
                </a:solidFill>
                <a:latin typeface="Cambria Math"/>
                <a:cs typeface="Cambria Math"/>
              </a:rPr>
              <a:t> </a:t>
            </a:r>
            <a:r>
              <a:rPr sz="2400" dirty="0">
                <a:solidFill>
                  <a:srgbClr val="155F82"/>
                </a:solidFill>
                <a:latin typeface="Cambria Math"/>
                <a:cs typeface="Cambria Math"/>
              </a:rPr>
              <a:t>+</a:t>
            </a:r>
            <a:r>
              <a:rPr sz="2400" spc="-20" dirty="0">
                <a:solidFill>
                  <a:srgbClr val="155F82"/>
                </a:solidFill>
                <a:latin typeface="Cambria Math"/>
                <a:cs typeface="Cambria Math"/>
              </a:rPr>
              <a:t> </a:t>
            </a:r>
            <a:r>
              <a:rPr sz="2400" spc="-10" dirty="0">
                <a:solidFill>
                  <a:srgbClr val="155F82"/>
                </a:solidFill>
                <a:latin typeface="Cambria Math"/>
                <a:cs typeface="Cambria Math"/>
              </a:rPr>
              <a:t>𝟎.</a:t>
            </a:r>
            <a:r>
              <a:rPr sz="2400" spc="-135" dirty="0">
                <a:solidFill>
                  <a:srgbClr val="155F82"/>
                </a:solidFill>
                <a:latin typeface="Cambria Math"/>
                <a:cs typeface="Cambria Math"/>
              </a:rPr>
              <a:t> </a:t>
            </a:r>
            <a:r>
              <a:rPr sz="2400" spc="-25" dirty="0">
                <a:solidFill>
                  <a:srgbClr val="155F82"/>
                </a:solidFill>
                <a:latin typeface="Cambria Math"/>
                <a:cs typeface="Cambria Math"/>
              </a:rPr>
              <a:t>𝟓𝟏</a:t>
            </a:r>
            <a:endParaRPr sz="2400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02919" y="439673"/>
            <a:ext cx="769493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195" dirty="0">
                <a:latin typeface="Trebuchet MS"/>
                <a:cs typeface="Trebuchet MS"/>
              </a:rPr>
              <a:t>Linear</a:t>
            </a:r>
            <a:r>
              <a:rPr sz="3600" spc="-330" dirty="0">
                <a:latin typeface="Trebuchet MS"/>
                <a:cs typeface="Trebuchet MS"/>
              </a:rPr>
              <a:t> </a:t>
            </a:r>
            <a:r>
              <a:rPr sz="3600" spc="-155" dirty="0">
                <a:latin typeface="Trebuchet MS"/>
                <a:cs typeface="Trebuchet MS"/>
              </a:rPr>
              <a:t>Regression:</a:t>
            </a:r>
            <a:r>
              <a:rPr sz="3600" spc="-325" dirty="0">
                <a:latin typeface="Trebuchet MS"/>
                <a:cs typeface="Trebuchet MS"/>
              </a:rPr>
              <a:t> </a:t>
            </a:r>
            <a:r>
              <a:rPr sz="3600" spc="-50" dirty="0">
                <a:latin typeface="Trebuchet MS"/>
                <a:cs typeface="Trebuchet MS"/>
              </a:rPr>
              <a:t>House</a:t>
            </a:r>
            <a:r>
              <a:rPr sz="3600" spc="-340" dirty="0">
                <a:latin typeface="Trebuchet MS"/>
                <a:cs typeface="Trebuchet MS"/>
              </a:rPr>
              <a:t> </a:t>
            </a:r>
            <a:r>
              <a:rPr sz="3600" spc="-180" dirty="0">
                <a:latin typeface="Trebuchet MS"/>
                <a:cs typeface="Trebuchet MS"/>
              </a:rPr>
              <a:t>Price</a:t>
            </a:r>
            <a:r>
              <a:rPr sz="3600" spc="-345" dirty="0">
                <a:latin typeface="Trebuchet MS"/>
                <a:cs typeface="Trebuchet MS"/>
              </a:rPr>
              <a:t> </a:t>
            </a:r>
            <a:r>
              <a:rPr sz="3600" spc="-150" dirty="0">
                <a:latin typeface="Trebuchet MS"/>
                <a:cs typeface="Trebuchet MS"/>
              </a:rPr>
              <a:t>Prediction</a:t>
            </a:r>
            <a:endParaRPr sz="3600">
              <a:latin typeface="Trebuchet MS"/>
              <a:cs typeface="Trebuchet MS"/>
            </a:endParaRP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955675" y="1722501"/>
          <a:ext cx="3171825" cy="4211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09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227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800" b="1" spc="-55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Area</a:t>
                      </a:r>
                      <a:r>
                        <a:rPr sz="1800" b="1" spc="-155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800" b="1" spc="-40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(sq.</a:t>
                      </a:r>
                      <a:r>
                        <a:rPr sz="1800" b="1" spc="-165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800" b="1" spc="-20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ft.)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3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800" b="1" spc="-40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Price</a:t>
                      </a:r>
                      <a:r>
                        <a:rPr sz="1800" b="1" spc="-145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800" b="1" spc="-10" dirty="0">
                          <a:solidFill>
                            <a:srgbClr val="FFFFFF"/>
                          </a:solidFill>
                          <a:latin typeface="Trebuchet MS"/>
                          <a:cs typeface="Trebuchet MS"/>
                        </a:rPr>
                        <a:t>(lakhs)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3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500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12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650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0" dirty="0">
                          <a:latin typeface="Trebuchet MS"/>
                          <a:cs typeface="Trebuchet MS"/>
                        </a:rPr>
                        <a:t>13.5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720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0" dirty="0">
                          <a:latin typeface="Trebuchet MS"/>
                          <a:cs typeface="Trebuchet MS"/>
                        </a:rPr>
                        <a:t>16.5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750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17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780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0" dirty="0">
                          <a:latin typeface="Trebuchet MS"/>
                          <a:cs typeface="Trebuchet MS"/>
                        </a:rPr>
                        <a:t>17.2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850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19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880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21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0" dirty="0">
                          <a:latin typeface="Trebuchet MS"/>
                          <a:cs typeface="Trebuchet MS"/>
                        </a:rPr>
                        <a:t>1050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24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79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5"/>
                        </a:spcBef>
                      </a:pPr>
                      <a:r>
                        <a:rPr sz="1800" spc="-20" dirty="0">
                          <a:latin typeface="Trebuchet MS"/>
                          <a:cs typeface="Trebuchet MS"/>
                        </a:rPr>
                        <a:t>1200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857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5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29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857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ACA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5"/>
                        </a:spcBef>
                      </a:pPr>
                      <a:r>
                        <a:rPr sz="1800" spc="-20" dirty="0">
                          <a:latin typeface="Trebuchet MS"/>
                          <a:cs typeface="Trebuchet MS"/>
                        </a:rPr>
                        <a:t>1550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857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25"/>
                        </a:spcBef>
                      </a:pPr>
                      <a:r>
                        <a:rPr sz="1800" spc="-25" dirty="0">
                          <a:latin typeface="Trebuchet MS"/>
                          <a:cs typeface="Trebuchet MS"/>
                        </a:rPr>
                        <a:t>41</a:t>
                      </a:r>
                      <a:endParaRPr sz="1800">
                        <a:latin typeface="Trebuchet MS"/>
                        <a:cs typeface="Trebuchet MS"/>
                      </a:endParaRPr>
                    </a:p>
                  </a:txBody>
                  <a:tcPr marL="0" marR="0" marT="2857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5488495" y="2226119"/>
          <a:ext cx="5167627" cy="25850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74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4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3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4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6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746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746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7340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746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8765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38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65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765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76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19050">
                      <a:solidFill>
                        <a:srgbClr val="FF0000"/>
                      </a:solidFill>
                      <a:prstDash val="sysDash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19050">
                      <a:solidFill>
                        <a:srgbClr val="FF0000"/>
                      </a:solidFill>
                      <a:prstDash val="sysDash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19050">
                      <a:solidFill>
                        <a:srgbClr val="FF0000"/>
                      </a:solidFill>
                      <a:prstDash val="sysDash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19050">
                      <a:solidFill>
                        <a:srgbClr val="FF0000"/>
                      </a:solidFill>
                      <a:prstDash val="sysDash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938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19050">
                      <a:solidFill>
                        <a:srgbClr val="FF0000"/>
                      </a:solidFill>
                      <a:prstDash val="sysDash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19050">
                      <a:solidFill>
                        <a:srgbClr val="FF0000"/>
                      </a:solidFill>
                      <a:prstDash val="sysDash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19050">
                      <a:solidFill>
                        <a:srgbClr val="FF0000"/>
                      </a:solidFill>
                      <a:prstDash val="sysDash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19050">
                      <a:solidFill>
                        <a:srgbClr val="FF0000"/>
                      </a:solidFill>
                      <a:prstDash val="sysDash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19050">
                      <a:solidFill>
                        <a:srgbClr val="FF0000"/>
                      </a:solidFill>
                      <a:prstDash val="sysDash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FF0000"/>
                      </a:solidFill>
                      <a:prstDash val="sysDash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638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19050">
                      <a:solidFill>
                        <a:srgbClr val="FF0000"/>
                      </a:solidFill>
                      <a:prstDash val="sysDash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FF0000"/>
                      </a:solidFill>
                      <a:prstDash val="sysDash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765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19050">
                      <a:solidFill>
                        <a:srgbClr val="FF0000"/>
                      </a:solidFill>
                      <a:prstDash val="sysDash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FF0000"/>
                      </a:solidFill>
                      <a:prstDash val="sysDash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765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19050">
                      <a:solidFill>
                        <a:srgbClr val="FF0000"/>
                      </a:solidFill>
                      <a:prstDash val="sysDash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FF0000"/>
                      </a:solidFill>
                      <a:prstDash val="sysDash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70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19050">
                      <a:solidFill>
                        <a:srgbClr val="FF0000"/>
                      </a:solidFill>
                      <a:prstDash val="sysDash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FF0000"/>
                      </a:solidFill>
                      <a:prstDash val="sysDash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85749" y="4087685"/>
            <a:ext cx="85725" cy="8572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15517" y="4000817"/>
            <a:ext cx="85725" cy="8572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516685" y="3787584"/>
            <a:ext cx="257936" cy="126745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890065" y="3683952"/>
            <a:ext cx="85725" cy="85725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975409" y="3569652"/>
            <a:ext cx="85725" cy="85725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464613" y="3397440"/>
            <a:ext cx="85725" cy="85725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6923341" y="2544000"/>
            <a:ext cx="3022600" cy="1706880"/>
            <a:chOff x="6923341" y="2544000"/>
            <a:chExt cx="3022600" cy="1706880"/>
          </a:xfrm>
        </p:grpSpPr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894381" y="3109404"/>
              <a:ext cx="85725" cy="85725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6928104" y="2548763"/>
              <a:ext cx="3013075" cy="1697355"/>
            </a:xfrm>
            <a:custGeom>
              <a:avLst/>
              <a:gdLst/>
              <a:ahLst/>
              <a:cxnLst/>
              <a:rect l="l" t="t" r="r" b="b"/>
              <a:pathLst>
                <a:path w="3013075" h="1697354">
                  <a:moveTo>
                    <a:pt x="0" y="1696974"/>
                  </a:moveTo>
                  <a:lnTo>
                    <a:pt x="3013075" y="0"/>
                  </a:lnTo>
                </a:path>
              </a:pathLst>
            </a:custGeom>
            <a:ln w="9525">
              <a:solidFill>
                <a:srgbClr val="155F8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4" name="object 1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898697" y="2419032"/>
            <a:ext cx="85725" cy="85725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5253609" y="2134870"/>
            <a:ext cx="147955" cy="2752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25" dirty="0">
                <a:solidFill>
                  <a:srgbClr val="585858"/>
                </a:solidFill>
                <a:latin typeface="Trebuchet MS"/>
                <a:cs typeface="Trebuchet MS"/>
              </a:rPr>
              <a:t>45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40"/>
              </a:spcBef>
            </a:pPr>
            <a:endParaRPr sz="9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900" spc="-25" dirty="0">
                <a:solidFill>
                  <a:srgbClr val="585858"/>
                </a:solidFill>
                <a:latin typeface="Trebuchet MS"/>
                <a:cs typeface="Trebuchet MS"/>
              </a:rPr>
              <a:t>40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40"/>
              </a:spcBef>
            </a:pPr>
            <a:endParaRPr sz="9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900" spc="-25" dirty="0">
                <a:solidFill>
                  <a:srgbClr val="585858"/>
                </a:solidFill>
                <a:latin typeface="Trebuchet MS"/>
                <a:cs typeface="Trebuchet MS"/>
              </a:rPr>
              <a:t>35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40"/>
              </a:spcBef>
            </a:pPr>
            <a:endParaRPr sz="9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900" spc="-25" dirty="0">
                <a:solidFill>
                  <a:srgbClr val="585858"/>
                </a:solidFill>
                <a:latin typeface="Trebuchet MS"/>
                <a:cs typeface="Trebuchet MS"/>
              </a:rPr>
              <a:t>30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40"/>
              </a:spcBef>
            </a:pPr>
            <a:endParaRPr sz="9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900" spc="-25" dirty="0">
                <a:solidFill>
                  <a:srgbClr val="585858"/>
                </a:solidFill>
                <a:latin typeface="Trebuchet MS"/>
                <a:cs typeface="Trebuchet MS"/>
              </a:rPr>
              <a:t>25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40"/>
              </a:spcBef>
            </a:pPr>
            <a:endParaRPr sz="9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900" spc="-25" dirty="0">
                <a:solidFill>
                  <a:srgbClr val="585858"/>
                </a:solidFill>
                <a:latin typeface="Trebuchet MS"/>
                <a:cs typeface="Trebuchet MS"/>
              </a:rPr>
              <a:t>20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40"/>
              </a:spcBef>
            </a:pPr>
            <a:endParaRPr sz="9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900" spc="-25" dirty="0">
                <a:solidFill>
                  <a:srgbClr val="585858"/>
                </a:solidFill>
                <a:latin typeface="Trebuchet MS"/>
                <a:cs typeface="Trebuchet MS"/>
              </a:rPr>
              <a:t>15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40"/>
              </a:spcBef>
            </a:pPr>
            <a:endParaRPr sz="9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900" spc="-25" dirty="0">
                <a:solidFill>
                  <a:srgbClr val="585858"/>
                </a:solidFill>
                <a:latin typeface="Trebuchet MS"/>
                <a:cs typeface="Trebuchet MS"/>
              </a:rPr>
              <a:t>10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35"/>
              </a:spcBef>
            </a:pPr>
            <a:endParaRPr sz="900">
              <a:latin typeface="Trebuchet MS"/>
              <a:cs typeface="Trebuchet MS"/>
            </a:endParaRPr>
          </a:p>
          <a:p>
            <a:pPr marL="73660">
              <a:lnSpc>
                <a:spcPct val="100000"/>
              </a:lnSpc>
              <a:spcBef>
                <a:spcPts val="5"/>
              </a:spcBef>
            </a:pPr>
            <a:r>
              <a:rPr sz="900" spc="-50" dirty="0">
                <a:solidFill>
                  <a:srgbClr val="585858"/>
                </a:solidFill>
                <a:latin typeface="Trebuchet MS"/>
                <a:cs typeface="Trebuchet MS"/>
              </a:rPr>
              <a:t>5</a:t>
            </a:r>
            <a:endParaRPr sz="9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40"/>
              </a:spcBef>
            </a:pPr>
            <a:endParaRPr sz="900">
              <a:latin typeface="Trebuchet MS"/>
              <a:cs typeface="Trebuchet MS"/>
            </a:endParaRPr>
          </a:p>
          <a:p>
            <a:pPr marL="73660">
              <a:lnSpc>
                <a:spcPct val="100000"/>
              </a:lnSpc>
            </a:pPr>
            <a:r>
              <a:rPr sz="900" spc="-50" dirty="0">
                <a:solidFill>
                  <a:srgbClr val="585858"/>
                </a:solidFill>
                <a:latin typeface="Trebuchet MS"/>
                <a:cs typeface="Trebuchet MS"/>
              </a:rPr>
              <a:t>0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442330" y="4871973"/>
            <a:ext cx="8699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50" dirty="0">
                <a:solidFill>
                  <a:srgbClr val="585858"/>
                </a:solidFill>
                <a:latin typeface="Trebuchet MS"/>
                <a:cs typeface="Trebuchet MS"/>
              </a:rPr>
              <a:t>0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940044" y="4871973"/>
            <a:ext cx="2540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55" dirty="0">
                <a:solidFill>
                  <a:srgbClr val="585858"/>
                </a:solidFill>
                <a:latin typeface="Trebuchet MS"/>
                <a:cs typeface="Trebuchet MS"/>
              </a:rPr>
              <a:t>200 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513956" y="4871973"/>
            <a:ext cx="2540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55" dirty="0">
                <a:solidFill>
                  <a:srgbClr val="585858"/>
                </a:solidFill>
                <a:latin typeface="Trebuchet MS"/>
                <a:cs typeface="Trebuchet MS"/>
              </a:rPr>
              <a:t>400 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087869" y="4871973"/>
            <a:ext cx="2540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55" dirty="0">
                <a:solidFill>
                  <a:srgbClr val="585858"/>
                </a:solidFill>
                <a:latin typeface="Trebuchet MS"/>
                <a:cs typeface="Trebuchet MS"/>
              </a:rPr>
              <a:t>600 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7661909" y="4831333"/>
            <a:ext cx="866140" cy="381000"/>
          </a:xfrm>
          <a:prstGeom prst="rect">
            <a:avLst/>
          </a:prstGeom>
        </p:spPr>
        <p:txBody>
          <a:bodyPr vert="horz" wrap="square" lIns="0" tIns="533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20"/>
              </a:spcBef>
              <a:tabLst>
                <a:tab pos="548640" algn="l"/>
              </a:tabLst>
            </a:pPr>
            <a:r>
              <a:rPr sz="900" spc="55" dirty="0">
                <a:solidFill>
                  <a:srgbClr val="585858"/>
                </a:solidFill>
                <a:latin typeface="Trebuchet MS"/>
                <a:cs typeface="Trebuchet MS"/>
              </a:rPr>
              <a:t>800</a:t>
            </a:r>
            <a:r>
              <a:rPr sz="900" dirty="0">
                <a:solidFill>
                  <a:srgbClr val="585858"/>
                </a:solidFill>
                <a:latin typeface="Trebuchet MS"/>
                <a:cs typeface="Trebuchet MS"/>
              </a:rPr>
              <a:t>	</a:t>
            </a:r>
            <a:r>
              <a:rPr sz="900" spc="70" dirty="0">
                <a:solidFill>
                  <a:srgbClr val="585858"/>
                </a:solidFill>
                <a:latin typeface="Trebuchet MS"/>
                <a:cs typeface="Trebuchet MS"/>
              </a:rPr>
              <a:t>1000 </a:t>
            </a:r>
            <a:endParaRPr sz="900">
              <a:latin typeface="Trebuchet MS"/>
              <a:cs typeface="Trebuchet MS"/>
            </a:endParaRPr>
          </a:p>
          <a:p>
            <a:pPr marL="60325">
              <a:lnSpc>
                <a:spcPct val="100000"/>
              </a:lnSpc>
              <a:spcBef>
                <a:spcPts val="320"/>
              </a:spcBef>
            </a:pPr>
            <a:r>
              <a:rPr sz="900" dirty="0">
                <a:solidFill>
                  <a:srgbClr val="585858"/>
                </a:solidFill>
                <a:latin typeface="Trebuchet MS"/>
                <a:cs typeface="Trebuchet MS"/>
              </a:rPr>
              <a:t>AREA</a:t>
            </a:r>
            <a:r>
              <a:rPr sz="900" spc="-70" dirty="0">
                <a:solidFill>
                  <a:srgbClr val="585858"/>
                </a:solidFill>
                <a:latin typeface="Trebuchet MS"/>
                <a:cs typeface="Trebuchet MS"/>
              </a:rPr>
              <a:t> </a:t>
            </a:r>
            <a:r>
              <a:rPr sz="900" spc="-10" dirty="0">
                <a:solidFill>
                  <a:srgbClr val="585858"/>
                </a:solidFill>
                <a:latin typeface="Trebuchet MS"/>
                <a:cs typeface="Trebuchet MS"/>
              </a:rPr>
              <a:t>(SQ.</a:t>
            </a:r>
            <a:r>
              <a:rPr sz="900" spc="-70" dirty="0">
                <a:solidFill>
                  <a:srgbClr val="585858"/>
                </a:solidFill>
                <a:latin typeface="Trebuchet MS"/>
                <a:cs typeface="Trebuchet MS"/>
              </a:rPr>
              <a:t> </a:t>
            </a:r>
            <a:r>
              <a:rPr sz="900" spc="-20" dirty="0">
                <a:solidFill>
                  <a:srgbClr val="585858"/>
                </a:solidFill>
                <a:latin typeface="Trebuchet MS"/>
                <a:cs typeface="Trebuchet MS"/>
              </a:rPr>
              <a:t>FT.)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771890" y="4871973"/>
            <a:ext cx="3302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70" dirty="0">
                <a:solidFill>
                  <a:srgbClr val="585858"/>
                </a:solidFill>
                <a:latin typeface="Trebuchet MS"/>
                <a:cs typeface="Trebuchet MS"/>
              </a:rPr>
              <a:t>1200 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9345930" y="4871973"/>
            <a:ext cx="3302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70" dirty="0">
                <a:solidFill>
                  <a:srgbClr val="585858"/>
                </a:solidFill>
                <a:latin typeface="Trebuchet MS"/>
                <a:cs typeface="Trebuchet MS"/>
              </a:rPr>
              <a:t>1400 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9919843" y="4871973"/>
            <a:ext cx="3302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70" dirty="0">
                <a:solidFill>
                  <a:srgbClr val="585858"/>
                </a:solidFill>
                <a:latin typeface="Trebuchet MS"/>
                <a:cs typeface="Trebuchet MS"/>
              </a:rPr>
              <a:t>1600 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0493756" y="4871973"/>
            <a:ext cx="3302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70" dirty="0">
                <a:solidFill>
                  <a:srgbClr val="585858"/>
                </a:solidFill>
                <a:latin typeface="Trebuchet MS"/>
                <a:cs typeface="Trebuchet MS"/>
              </a:rPr>
              <a:t>1800 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075292" y="3147862"/>
            <a:ext cx="165100" cy="756920"/>
          </a:xfrm>
          <a:prstGeom prst="rect">
            <a:avLst/>
          </a:prstGeom>
        </p:spPr>
        <p:txBody>
          <a:bodyPr vert="vert270" wrap="square" lIns="0" tIns="57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"/>
              </a:spcBef>
            </a:pPr>
            <a:r>
              <a:rPr sz="900" dirty="0">
                <a:solidFill>
                  <a:srgbClr val="585858"/>
                </a:solidFill>
                <a:latin typeface="Trebuchet MS"/>
                <a:cs typeface="Trebuchet MS"/>
              </a:rPr>
              <a:t>PRICE</a:t>
            </a:r>
            <a:r>
              <a:rPr sz="900" spc="5" dirty="0">
                <a:solidFill>
                  <a:srgbClr val="585858"/>
                </a:solidFill>
                <a:latin typeface="Trebuchet MS"/>
                <a:cs typeface="Trebuchet MS"/>
              </a:rPr>
              <a:t> </a:t>
            </a:r>
            <a:r>
              <a:rPr sz="900" spc="-10" dirty="0">
                <a:solidFill>
                  <a:srgbClr val="585858"/>
                </a:solidFill>
                <a:latin typeface="Trebuchet MS"/>
                <a:cs typeface="Trebuchet MS"/>
              </a:rPr>
              <a:t>(LAKHS)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7080250" y="1799589"/>
            <a:ext cx="167322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135" dirty="0">
                <a:solidFill>
                  <a:srgbClr val="585858"/>
                </a:solidFill>
                <a:latin typeface="Trebuchet MS"/>
                <a:cs typeface="Trebuchet MS"/>
              </a:rPr>
              <a:t>PRICE</a:t>
            </a:r>
            <a:r>
              <a:rPr sz="1600" b="1" spc="95" dirty="0">
                <a:solidFill>
                  <a:srgbClr val="585858"/>
                </a:solidFill>
                <a:latin typeface="Trebuchet MS"/>
                <a:cs typeface="Trebuchet MS"/>
              </a:rPr>
              <a:t> </a:t>
            </a:r>
            <a:r>
              <a:rPr sz="1600" b="1" spc="65" dirty="0">
                <a:solidFill>
                  <a:srgbClr val="585858"/>
                </a:solidFill>
                <a:latin typeface="Trebuchet MS"/>
                <a:cs typeface="Trebuchet MS"/>
              </a:rPr>
              <a:t>VS.</a:t>
            </a:r>
            <a:r>
              <a:rPr sz="1600" b="1" spc="90" dirty="0">
                <a:solidFill>
                  <a:srgbClr val="585858"/>
                </a:solidFill>
                <a:latin typeface="Trebuchet MS"/>
                <a:cs typeface="Trebuchet MS"/>
              </a:rPr>
              <a:t> </a:t>
            </a:r>
            <a:r>
              <a:rPr sz="1600" b="1" spc="55" dirty="0">
                <a:solidFill>
                  <a:srgbClr val="585858"/>
                </a:solidFill>
                <a:latin typeface="Trebuchet MS"/>
                <a:cs typeface="Trebuchet MS"/>
              </a:rPr>
              <a:t>AREA</a:t>
            </a:r>
            <a:endParaRPr sz="1600">
              <a:latin typeface="Trebuchet MS"/>
              <a:cs typeface="Trebuchet MS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5594350" y="5578550"/>
            <a:ext cx="39109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40" dirty="0">
                <a:latin typeface="Trebuchet MS"/>
                <a:cs typeface="Trebuchet MS"/>
              </a:rPr>
              <a:t>Price</a:t>
            </a:r>
            <a:r>
              <a:rPr sz="1800" spc="-170" dirty="0">
                <a:latin typeface="Trebuchet MS"/>
                <a:cs typeface="Trebuchet MS"/>
              </a:rPr>
              <a:t> </a:t>
            </a:r>
            <a:r>
              <a:rPr sz="1800" spc="-60" dirty="0">
                <a:latin typeface="Trebuchet MS"/>
                <a:cs typeface="Trebuchet MS"/>
              </a:rPr>
              <a:t>of</a:t>
            </a:r>
            <a:r>
              <a:rPr sz="1800" spc="-165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a</a:t>
            </a:r>
            <a:r>
              <a:rPr sz="1800" spc="-135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house</a:t>
            </a:r>
            <a:r>
              <a:rPr sz="1800" spc="-180" dirty="0">
                <a:latin typeface="Trebuchet MS"/>
                <a:cs typeface="Trebuchet MS"/>
              </a:rPr>
              <a:t> </a:t>
            </a:r>
            <a:r>
              <a:rPr sz="1800" spc="-75" dirty="0">
                <a:latin typeface="Trebuchet MS"/>
                <a:cs typeface="Trebuchet MS"/>
              </a:rPr>
              <a:t>with</a:t>
            </a:r>
            <a:r>
              <a:rPr sz="1800" spc="-150" dirty="0">
                <a:latin typeface="Trebuchet MS"/>
                <a:cs typeface="Trebuchet MS"/>
              </a:rPr>
              <a:t> </a:t>
            </a:r>
            <a:r>
              <a:rPr sz="1800" spc="-50" dirty="0">
                <a:latin typeface="Trebuchet MS"/>
                <a:cs typeface="Trebuchet MS"/>
              </a:rPr>
              <a:t>area</a:t>
            </a:r>
            <a:r>
              <a:rPr sz="1800" spc="-135" dirty="0">
                <a:latin typeface="Trebuchet MS"/>
                <a:cs typeface="Trebuchet MS"/>
              </a:rPr>
              <a:t> </a:t>
            </a:r>
            <a:r>
              <a:rPr sz="1800" spc="-60" dirty="0">
                <a:latin typeface="Trebuchet MS"/>
                <a:cs typeface="Trebuchet MS"/>
              </a:rPr>
              <a:t>of</a:t>
            </a:r>
            <a:r>
              <a:rPr sz="1800" spc="-165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900</a:t>
            </a:r>
            <a:r>
              <a:rPr sz="1800" spc="-150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sq.</a:t>
            </a:r>
            <a:r>
              <a:rPr sz="1800" spc="-150" dirty="0">
                <a:latin typeface="Trebuchet MS"/>
                <a:cs typeface="Trebuchet MS"/>
              </a:rPr>
              <a:t> </a:t>
            </a:r>
            <a:r>
              <a:rPr sz="1800" spc="-20" dirty="0">
                <a:latin typeface="Trebuchet MS"/>
                <a:cs typeface="Trebuchet MS"/>
              </a:rPr>
              <a:t>ft.?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319530" y="1178763"/>
            <a:ext cx="168465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45" dirty="0">
                <a:latin typeface="Trebuchet MS"/>
                <a:cs typeface="Trebuchet MS"/>
              </a:rPr>
              <a:t>Prediction</a:t>
            </a:r>
            <a:r>
              <a:rPr sz="1800" spc="-150" dirty="0">
                <a:latin typeface="Trebuchet MS"/>
                <a:cs typeface="Trebuchet MS"/>
              </a:rPr>
              <a:t> </a:t>
            </a:r>
            <a:r>
              <a:rPr sz="1800" spc="-10" dirty="0">
                <a:latin typeface="Trebuchet MS"/>
                <a:cs typeface="Trebuchet MS"/>
              </a:rPr>
              <a:t>phase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2054732" y="5947968"/>
            <a:ext cx="8502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0" dirty="0">
                <a:latin typeface="Trebuchet MS"/>
                <a:cs typeface="Trebuchet MS"/>
              </a:rPr>
              <a:t>Data</a:t>
            </a:r>
            <a:r>
              <a:rPr sz="1800" spc="-130" dirty="0">
                <a:latin typeface="Trebuchet MS"/>
                <a:cs typeface="Trebuchet MS"/>
              </a:rPr>
              <a:t> </a:t>
            </a:r>
            <a:r>
              <a:rPr sz="1800" spc="-25" dirty="0">
                <a:latin typeface="Trebuchet MS"/>
                <a:cs typeface="Trebuchet MS"/>
              </a:rPr>
              <a:t>set</a:t>
            </a:r>
            <a:endParaRPr sz="18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7472045" cy="6858000"/>
          </a:xfrm>
          <a:custGeom>
            <a:avLst/>
            <a:gdLst/>
            <a:ahLst/>
            <a:cxnLst/>
            <a:rect l="l" t="t" r="r" b="b"/>
            <a:pathLst>
              <a:path w="7472045" h="6858000">
                <a:moveTo>
                  <a:pt x="5525516" y="0"/>
                </a:moveTo>
                <a:lnTo>
                  <a:pt x="0" y="0"/>
                </a:lnTo>
                <a:lnTo>
                  <a:pt x="0" y="6857999"/>
                </a:lnTo>
                <a:lnTo>
                  <a:pt x="6239764" y="6857999"/>
                </a:lnTo>
                <a:lnTo>
                  <a:pt x="6193250" y="6844361"/>
                </a:lnTo>
                <a:lnTo>
                  <a:pt x="6146997" y="6830265"/>
                </a:lnTo>
                <a:lnTo>
                  <a:pt x="6008950" y="6787309"/>
                </a:lnTo>
                <a:lnTo>
                  <a:pt x="5962890" y="6773463"/>
                </a:lnTo>
                <a:lnTo>
                  <a:pt x="5916667" y="6760201"/>
                </a:lnTo>
                <a:lnTo>
                  <a:pt x="5870194" y="6747730"/>
                </a:lnTo>
                <a:lnTo>
                  <a:pt x="5883527" y="6728336"/>
                </a:lnTo>
                <a:lnTo>
                  <a:pt x="5896848" y="6720612"/>
                </a:lnTo>
                <a:lnTo>
                  <a:pt x="5910146" y="6720222"/>
                </a:lnTo>
                <a:lnTo>
                  <a:pt x="5923407" y="6722833"/>
                </a:lnTo>
                <a:lnTo>
                  <a:pt x="5976985" y="6729798"/>
                </a:lnTo>
                <a:lnTo>
                  <a:pt x="6030845" y="6737060"/>
                </a:lnTo>
                <a:lnTo>
                  <a:pt x="6084697" y="6745507"/>
                </a:lnTo>
                <a:lnTo>
                  <a:pt x="6138254" y="6756030"/>
                </a:lnTo>
                <a:lnTo>
                  <a:pt x="6191224" y="6769517"/>
                </a:lnTo>
                <a:lnTo>
                  <a:pt x="6243320" y="6786858"/>
                </a:lnTo>
                <a:lnTo>
                  <a:pt x="6262249" y="6790581"/>
                </a:lnTo>
                <a:lnTo>
                  <a:pt x="6280547" y="6789970"/>
                </a:lnTo>
                <a:lnTo>
                  <a:pt x="6296202" y="6783356"/>
                </a:lnTo>
                <a:lnTo>
                  <a:pt x="6307201" y="6769073"/>
                </a:lnTo>
                <a:lnTo>
                  <a:pt x="6313202" y="6744896"/>
                </a:lnTo>
                <a:lnTo>
                  <a:pt x="6307201" y="6725056"/>
                </a:lnTo>
                <a:lnTo>
                  <a:pt x="6275197" y="6694373"/>
                </a:lnTo>
                <a:lnTo>
                  <a:pt x="6207300" y="6669474"/>
                </a:lnTo>
                <a:lnTo>
                  <a:pt x="6136640" y="6665912"/>
                </a:lnTo>
                <a:lnTo>
                  <a:pt x="6078151" y="6654206"/>
                </a:lnTo>
                <a:lnTo>
                  <a:pt x="6029918" y="6636274"/>
                </a:lnTo>
                <a:lnTo>
                  <a:pt x="5990955" y="6611227"/>
                </a:lnTo>
                <a:lnTo>
                  <a:pt x="5960280" y="6578177"/>
                </a:lnTo>
                <a:lnTo>
                  <a:pt x="5936906" y="6536232"/>
                </a:lnTo>
                <a:lnTo>
                  <a:pt x="5919851" y="6484505"/>
                </a:lnTo>
                <a:lnTo>
                  <a:pt x="5967078" y="6498567"/>
                </a:lnTo>
                <a:lnTo>
                  <a:pt x="6014231" y="6503359"/>
                </a:lnTo>
                <a:lnTo>
                  <a:pt x="6061253" y="6502240"/>
                </a:lnTo>
                <a:lnTo>
                  <a:pt x="6108087" y="6498570"/>
                </a:lnTo>
                <a:lnTo>
                  <a:pt x="6154674" y="6495709"/>
                </a:lnTo>
                <a:lnTo>
                  <a:pt x="6200956" y="6497017"/>
                </a:lnTo>
                <a:lnTo>
                  <a:pt x="6246876" y="6505854"/>
                </a:lnTo>
                <a:lnTo>
                  <a:pt x="6269695" y="6507687"/>
                </a:lnTo>
                <a:lnTo>
                  <a:pt x="6291215" y="6501852"/>
                </a:lnTo>
                <a:lnTo>
                  <a:pt x="6304759" y="6487346"/>
                </a:lnTo>
                <a:lnTo>
                  <a:pt x="6303645" y="6463169"/>
                </a:lnTo>
                <a:lnTo>
                  <a:pt x="6278356" y="6418702"/>
                </a:lnTo>
                <a:lnTo>
                  <a:pt x="6285197" y="6407139"/>
                </a:lnTo>
                <a:lnTo>
                  <a:pt x="6324981" y="6406248"/>
                </a:lnTo>
                <a:lnTo>
                  <a:pt x="6362986" y="6415701"/>
                </a:lnTo>
                <a:lnTo>
                  <a:pt x="6406992" y="6465278"/>
                </a:lnTo>
                <a:lnTo>
                  <a:pt x="6420993" y="6498742"/>
                </a:lnTo>
                <a:lnTo>
                  <a:pt x="6435699" y="6515133"/>
                </a:lnTo>
                <a:lnTo>
                  <a:pt x="6456442" y="6525856"/>
                </a:lnTo>
                <a:lnTo>
                  <a:pt x="6479876" y="6529246"/>
                </a:lnTo>
                <a:lnTo>
                  <a:pt x="6502654" y="6523634"/>
                </a:lnTo>
                <a:lnTo>
                  <a:pt x="6521546" y="6508852"/>
                </a:lnTo>
                <a:lnTo>
                  <a:pt x="6528435" y="6488066"/>
                </a:lnTo>
                <a:lnTo>
                  <a:pt x="6528658" y="6464610"/>
                </a:lnTo>
                <a:lnTo>
                  <a:pt x="6527546" y="6441821"/>
                </a:lnTo>
                <a:lnTo>
                  <a:pt x="6510211" y="6381351"/>
                </a:lnTo>
                <a:lnTo>
                  <a:pt x="6452870" y="6352895"/>
                </a:lnTo>
                <a:lnTo>
                  <a:pt x="6407329" y="6341558"/>
                </a:lnTo>
                <a:lnTo>
                  <a:pt x="6360097" y="6328886"/>
                </a:lnTo>
                <a:lnTo>
                  <a:pt x="6253988" y="6299542"/>
                </a:lnTo>
                <a:lnTo>
                  <a:pt x="6314254" y="6280533"/>
                </a:lnTo>
                <a:lnTo>
                  <a:pt x="6368542" y="6275530"/>
                </a:lnTo>
                <a:lnTo>
                  <a:pt x="6418830" y="6282533"/>
                </a:lnTo>
                <a:lnTo>
                  <a:pt x="6467094" y="6299542"/>
                </a:lnTo>
                <a:lnTo>
                  <a:pt x="6516495" y="6319293"/>
                </a:lnTo>
                <a:lnTo>
                  <a:pt x="6568780" y="6337164"/>
                </a:lnTo>
                <a:lnTo>
                  <a:pt x="6620887" y="6348718"/>
                </a:lnTo>
                <a:lnTo>
                  <a:pt x="6669758" y="6349515"/>
                </a:lnTo>
                <a:lnTo>
                  <a:pt x="6712331" y="6335115"/>
                </a:lnTo>
                <a:lnTo>
                  <a:pt x="6758917" y="6313819"/>
                </a:lnTo>
                <a:lnTo>
                  <a:pt x="6803244" y="6304677"/>
                </a:lnTo>
                <a:lnTo>
                  <a:pt x="6845999" y="6304430"/>
                </a:lnTo>
                <a:lnTo>
                  <a:pt x="6887864" y="6309817"/>
                </a:lnTo>
                <a:lnTo>
                  <a:pt x="6929525" y="6317576"/>
                </a:lnTo>
                <a:lnTo>
                  <a:pt x="6971665" y="6324447"/>
                </a:lnTo>
                <a:lnTo>
                  <a:pt x="7021021" y="6331921"/>
                </a:lnTo>
                <a:lnTo>
                  <a:pt x="7074728" y="6348420"/>
                </a:lnTo>
                <a:lnTo>
                  <a:pt x="7100013" y="6365624"/>
                </a:lnTo>
                <a:lnTo>
                  <a:pt x="7113839" y="6373977"/>
                </a:lnTo>
                <a:lnTo>
                  <a:pt x="7134772" y="6381891"/>
                </a:lnTo>
                <a:lnTo>
                  <a:pt x="7167547" y="6389160"/>
                </a:lnTo>
                <a:lnTo>
                  <a:pt x="7216902" y="6395580"/>
                </a:lnTo>
                <a:lnTo>
                  <a:pt x="7260137" y="6401697"/>
                </a:lnTo>
                <a:lnTo>
                  <a:pt x="7305439" y="6408670"/>
                </a:lnTo>
                <a:lnTo>
                  <a:pt x="7353989" y="6412227"/>
                </a:lnTo>
                <a:lnTo>
                  <a:pt x="7406971" y="6408102"/>
                </a:lnTo>
                <a:lnTo>
                  <a:pt x="7465568" y="6392024"/>
                </a:lnTo>
                <a:lnTo>
                  <a:pt x="7408631" y="6367348"/>
                </a:lnTo>
                <a:lnTo>
                  <a:pt x="7354056" y="6344759"/>
                </a:lnTo>
                <a:lnTo>
                  <a:pt x="7301652" y="6324043"/>
                </a:lnTo>
                <a:lnTo>
                  <a:pt x="7251228" y="6304991"/>
                </a:lnTo>
                <a:lnTo>
                  <a:pt x="7202592" y="6287390"/>
                </a:lnTo>
                <a:lnTo>
                  <a:pt x="7155553" y="6271028"/>
                </a:lnTo>
                <a:lnTo>
                  <a:pt x="7109921" y="6255695"/>
                </a:lnTo>
                <a:lnTo>
                  <a:pt x="7065504" y="6241179"/>
                </a:lnTo>
                <a:lnTo>
                  <a:pt x="6896164" y="6187051"/>
                </a:lnTo>
                <a:lnTo>
                  <a:pt x="6854955" y="6173445"/>
                </a:lnTo>
                <a:lnTo>
                  <a:pt x="6813814" y="6159387"/>
                </a:lnTo>
                <a:lnTo>
                  <a:pt x="6772550" y="6144666"/>
                </a:lnTo>
                <a:lnTo>
                  <a:pt x="6730972" y="6129069"/>
                </a:lnTo>
                <a:lnTo>
                  <a:pt x="6688889" y="6112385"/>
                </a:lnTo>
                <a:lnTo>
                  <a:pt x="6646109" y="6094403"/>
                </a:lnTo>
                <a:lnTo>
                  <a:pt x="6602441" y="6074910"/>
                </a:lnTo>
                <a:lnTo>
                  <a:pt x="6557695" y="6053697"/>
                </a:lnTo>
                <a:lnTo>
                  <a:pt x="6511678" y="6030550"/>
                </a:lnTo>
                <a:lnTo>
                  <a:pt x="6464201" y="6005259"/>
                </a:lnTo>
                <a:lnTo>
                  <a:pt x="6415071" y="5977612"/>
                </a:lnTo>
                <a:lnTo>
                  <a:pt x="6364097" y="5947397"/>
                </a:lnTo>
                <a:lnTo>
                  <a:pt x="6377432" y="5934721"/>
                </a:lnTo>
                <a:lnTo>
                  <a:pt x="6390767" y="5931384"/>
                </a:lnTo>
                <a:lnTo>
                  <a:pt x="6404102" y="5933383"/>
                </a:lnTo>
                <a:lnTo>
                  <a:pt x="6417437" y="5936716"/>
                </a:lnTo>
                <a:lnTo>
                  <a:pt x="6439478" y="5940274"/>
                </a:lnTo>
                <a:lnTo>
                  <a:pt x="6460887" y="5941166"/>
                </a:lnTo>
                <a:lnTo>
                  <a:pt x="6478320" y="5932721"/>
                </a:lnTo>
                <a:lnTo>
                  <a:pt x="6488430" y="5908268"/>
                </a:lnTo>
                <a:lnTo>
                  <a:pt x="6486597" y="5884869"/>
                </a:lnTo>
                <a:lnTo>
                  <a:pt x="6476429" y="5867806"/>
                </a:lnTo>
                <a:lnTo>
                  <a:pt x="6458927" y="5856744"/>
                </a:lnTo>
                <a:lnTo>
                  <a:pt x="6435090" y="5851347"/>
                </a:lnTo>
                <a:lnTo>
                  <a:pt x="6384431" y="5841468"/>
                </a:lnTo>
                <a:lnTo>
                  <a:pt x="6335249" y="5826846"/>
                </a:lnTo>
                <a:lnTo>
                  <a:pt x="6287246" y="5808667"/>
                </a:lnTo>
                <a:lnTo>
                  <a:pt x="6240122" y="5788116"/>
                </a:lnTo>
                <a:lnTo>
                  <a:pt x="6147308" y="5744641"/>
                </a:lnTo>
                <a:lnTo>
                  <a:pt x="6089142" y="5708627"/>
                </a:lnTo>
                <a:lnTo>
                  <a:pt x="6073906" y="5679112"/>
                </a:lnTo>
                <a:lnTo>
                  <a:pt x="6076315" y="5637923"/>
                </a:lnTo>
                <a:lnTo>
                  <a:pt x="6101134" y="5631591"/>
                </a:lnTo>
                <a:lnTo>
                  <a:pt x="6123321" y="5635263"/>
                </a:lnTo>
                <a:lnTo>
                  <a:pt x="6144199" y="5642935"/>
                </a:lnTo>
                <a:lnTo>
                  <a:pt x="6165088" y="5648604"/>
                </a:lnTo>
                <a:lnTo>
                  <a:pt x="6191796" y="5648269"/>
                </a:lnTo>
                <a:lnTo>
                  <a:pt x="6221492" y="5643264"/>
                </a:lnTo>
                <a:lnTo>
                  <a:pt x="6242544" y="5635592"/>
                </a:lnTo>
                <a:lnTo>
                  <a:pt x="6243320" y="5627255"/>
                </a:lnTo>
                <a:lnTo>
                  <a:pt x="6221013" y="5607449"/>
                </a:lnTo>
                <a:lnTo>
                  <a:pt x="6218603" y="5583352"/>
                </a:lnTo>
                <a:lnTo>
                  <a:pt x="6227698" y="5557639"/>
                </a:lnTo>
                <a:lnTo>
                  <a:pt x="6239908" y="5532984"/>
                </a:lnTo>
                <a:lnTo>
                  <a:pt x="6246841" y="5512062"/>
                </a:lnTo>
                <a:lnTo>
                  <a:pt x="6240108" y="5497547"/>
                </a:lnTo>
                <a:lnTo>
                  <a:pt x="6211316" y="5492115"/>
                </a:lnTo>
                <a:lnTo>
                  <a:pt x="6164376" y="5487328"/>
                </a:lnTo>
                <a:lnTo>
                  <a:pt x="6121057" y="5474321"/>
                </a:lnTo>
                <a:lnTo>
                  <a:pt x="6080507" y="5455122"/>
                </a:lnTo>
                <a:lnTo>
                  <a:pt x="6041874" y="5431760"/>
                </a:lnTo>
                <a:lnTo>
                  <a:pt x="5966952" y="5380658"/>
                </a:lnTo>
                <a:lnTo>
                  <a:pt x="5928959" y="5356976"/>
                </a:lnTo>
                <a:lnTo>
                  <a:pt x="5889476" y="5337244"/>
                </a:lnTo>
                <a:lnTo>
                  <a:pt x="5847650" y="5323490"/>
                </a:lnTo>
                <a:lnTo>
                  <a:pt x="5802630" y="5317744"/>
                </a:lnTo>
                <a:lnTo>
                  <a:pt x="5786573" y="5312354"/>
                </a:lnTo>
                <a:lnTo>
                  <a:pt x="5775516" y="5298630"/>
                </a:lnTo>
                <a:lnTo>
                  <a:pt x="5769126" y="5280239"/>
                </a:lnTo>
                <a:lnTo>
                  <a:pt x="5767070" y="5260848"/>
                </a:lnTo>
                <a:lnTo>
                  <a:pt x="5771349" y="5241734"/>
                </a:lnTo>
                <a:lnTo>
                  <a:pt x="5782628" y="5230622"/>
                </a:lnTo>
                <a:lnTo>
                  <a:pt x="5798574" y="5224843"/>
                </a:lnTo>
                <a:lnTo>
                  <a:pt x="5816854" y="5221732"/>
                </a:lnTo>
                <a:lnTo>
                  <a:pt x="5846912" y="5225399"/>
                </a:lnTo>
                <a:lnTo>
                  <a:pt x="5878624" y="5232400"/>
                </a:lnTo>
                <a:lnTo>
                  <a:pt x="5912313" y="5228732"/>
                </a:lnTo>
                <a:lnTo>
                  <a:pt x="5948299" y="5200396"/>
                </a:lnTo>
                <a:lnTo>
                  <a:pt x="5902306" y="5182220"/>
                </a:lnTo>
                <a:lnTo>
                  <a:pt x="5858567" y="5161675"/>
                </a:lnTo>
                <a:lnTo>
                  <a:pt x="5819950" y="5136388"/>
                </a:lnTo>
                <a:lnTo>
                  <a:pt x="5789323" y="5103988"/>
                </a:lnTo>
                <a:lnTo>
                  <a:pt x="5769556" y="5062107"/>
                </a:lnTo>
                <a:lnTo>
                  <a:pt x="5763514" y="5008372"/>
                </a:lnTo>
                <a:lnTo>
                  <a:pt x="5756978" y="4987536"/>
                </a:lnTo>
                <a:lnTo>
                  <a:pt x="5740464" y="4972367"/>
                </a:lnTo>
                <a:lnTo>
                  <a:pt x="5718616" y="4961866"/>
                </a:lnTo>
                <a:lnTo>
                  <a:pt x="5696077" y="4955032"/>
                </a:lnTo>
                <a:lnTo>
                  <a:pt x="5660740" y="4942732"/>
                </a:lnTo>
                <a:lnTo>
                  <a:pt x="5629402" y="4926076"/>
                </a:lnTo>
                <a:lnTo>
                  <a:pt x="5602066" y="4903418"/>
                </a:lnTo>
                <a:lnTo>
                  <a:pt x="5578729" y="4873117"/>
                </a:lnTo>
                <a:lnTo>
                  <a:pt x="5578729" y="4844669"/>
                </a:lnTo>
                <a:lnTo>
                  <a:pt x="5590222" y="4791385"/>
                </a:lnTo>
                <a:lnTo>
                  <a:pt x="5614346" y="4760633"/>
                </a:lnTo>
                <a:lnTo>
                  <a:pt x="5648370" y="4747632"/>
                </a:lnTo>
                <a:lnTo>
                  <a:pt x="5689563" y="4747604"/>
                </a:lnTo>
                <a:lnTo>
                  <a:pt x="5735193" y="4755769"/>
                </a:lnTo>
                <a:lnTo>
                  <a:pt x="5781391" y="4767737"/>
                </a:lnTo>
                <a:lnTo>
                  <a:pt x="5827790" y="4780397"/>
                </a:lnTo>
                <a:lnTo>
                  <a:pt x="5874592" y="4790884"/>
                </a:lnTo>
                <a:lnTo>
                  <a:pt x="5921996" y="4796333"/>
                </a:lnTo>
                <a:lnTo>
                  <a:pt x="5970205" y="4793880"/>
                </a:lnTo>
                <a:lnTo>
                  <a:pt x="6019419" y="4780661"/>
                </a:lnTo>
                <a:lnTo>
                  <a:pt x="5972760" y="4764559"/>
                </a:lnTo>
                <a:lnTo>
                  <a:pt x="5925369" y="4751149"/>
                </a:lnTo>
                <a:lnTo>
                  <a:pt x="5877565" y="4739437"/>
                </a:lnTo>
                <a:lnTo>
                  <a:pt x="5829670" y="4728428"/>
                </a:lnTo>
                <a:lnTo>
                  <a:pt x="5782006" y="4717126"/>
                </a:lnTo>
                <a:lnTo>
                  <a:pt x="5734892" y="4704536"/>
                </a:lnTo>
                <a:lnTo>
                  <a:pt x="5688650" y="4689663"/>
                </a:lnTo>
                <a:lnTo>
                  <a:pt x="5643601" y="4671512"/>
                </a:lnTo>
                <a:lnTo>
                  <a:pt x="5600065" y="4649089"/>
                </a:lnTo>
                <a:lnTo>
                  <a:pt x="5650878" y="4648512"/>
                </a:lnTo>
                <a:lnTo>
                  <a:pt x="5701282" y="4649760"/>
                </a:lnTo>
                <a:lnTo>
                  <a:pt x="5751304" y="4652722"/>
                </a:lnTo>
                <a:lnTo>
                  <a:pt x="5800972" y="4657289"/>
                </a:lnTo>
                <a:lnTo>
                  <a:pt x="5850312" y="4663354"/>
                </a:lnTo>
                <a:lnTo>
                  <a:pt x="5899352" y="4670807"/>
                </a:lnTo>
                <a:lnTo>
                  <a:pt x="5948119" y="4679539"/>
                </a:lnTo>
                <a:lnTo>
                  <a:pt x="5996640" y="4689441"/>
                </a:lnTo>
                <a:lnTo>
                  <a:pt x="6044943" y="4700405"/>
                </a:lnTo>
                <a:lnTo>
                  <a:pt x="6093055" y="4712322"/>
                </a:lnTo>
                <a:lnTo>
                  <a:pt x="6141002" y="4725083"/>
                </a:lnTo>
                <a:lnTo>
                  <a:pt x="6188814" y="4738579"/>
                </a:lnTo>
                <a:lnTo>
                  <a:pt x="6236515" y="4752701"/>
                </a:lnTo>
                <a:lnTo>
                  <a:pt x="6284135" y="4767341"/>
                </a:lnTo>
                <a:lnTo>
                  <a:pt x="6331700" y="4782390"/>
                </a:lnTo>
                <a:lnTo>
                  <a:pt x="6379237" y="4797738"/>
                </a:lnTo>
                <a:lnTo>
                  <a:pt x="6569653" y="4859955"/>
                </a:lnTo>
                <a:lnTo>
                  <a:pt x="6617460" y="4875170"/>
                </a:lnTo>
                <a:lnTo>
                  <a:pt x="6665404" y="4890033"/>
                </a:lnTo>
                <a:lnTo>
                  <a:pt x="6713510" y="4904433"/>
                </a:lnTo>
                <a:lnTo>
                  <a:pt x="6761806" y="4918263"/>
                </a:lnTo>
                <a:lnTo>
                  <a:pt x="6810321" y="4931414"/>
                </a:lnTo>
                <a:lnTo>
                  <a:pt x="6859080" y="4943776"/>
                </a:lnTo>
                <a:lnTo>
                  <a:pt x="6908111" y="4955241"/>
                </a:lnTo>
                <a:lnTo>
                  <a:pt x="6957441" y="4965700"/>
                </a:lnTo>
                <a:lnTo>
                  <a:pt x="6942626" y="4928344"/>
                </a:lnTo>
                <a:lnTo>
                  <a:pt x="6921500" y="4904692"/>
                </a:lnTo>
                <a:lnTo>
                  <a:pt x="6897041" y="4891065"/>
                </a:lnTo>
                <a:lnTo>
                  <a:pt x="6821668" y="4868590"/>
                </a:lnTo>
                <a:lnTo>
                  <a:pt x="6772220" y="4850984"/>
                </a:lnTo>
                <a:lnTo>
                  <a:pt x="6723712" y="4831330"/>
                </a:lnTo>
                <a:lnTo>
                  <a:pt x="6675972" y="4809990"/>
                </a:lnTo>
                <a:lnTo>
                  <a:pt x="6628829" y="4787328"/>
                </a:lnTo>
                <a:lnTo>
                  <a:pt x="6582113" y="4763705"/>
                </a:lnTo>
                <a:lnTo>
                  <a:pt x="6442817" y="4690704"/>
                </a:lnTo>
                <a:lnTo>
                  <a:pt x="6396101" y="4666869"/>
                </a:lnTo>
                <a:lnTo>
                  <a:pt x="6351485" y="4641754"/>
                </a:lnTo>
                <a:lnTo>
                  <a:pt x="6313869" y="4612640"/>
                </a:lnTo>
                <a:lnTo>
                  <a:pt x="6283587" y="4576857"/>
                </a:lnTo>
                <a:lnTo>
                  <a:pt x="6260973" y="4531741"/>
                </a:lnTo>
                <a:lnTo>
                  <a:pt x="6240822" y="4490495"/>
                </a:lnTo>
                <a:lnTo>
                  <a:pt x="6211300" y="4463621"/>
                </a:lnTo>
                <a:lnTo>
                  <a:pt x="6171087" y="4452106"/>
                </a:lnTo>
                <a:lnTo>
                  <a:pt x="6118860" y="4456938"/>
                </a:lnTo>
                <a:lnTo>
                  <a:pt x="6070317" y="4463938"/>
                </a:lnTo>
                <a:lnTo>
                  <a:pt x="6020737" y="4464939"/>
                </a:lnTo>
                <a:lnTo>
                  <a:pt x="5970467" y="4461938"/>
                </a:lnTo>
                <a:lnTo>
                  <a:pt x="5919851" y="4456938"/>
                </a:lnTo>
                <a:lnTo>
                  <a:pt x="5874738" y="4445757"/>
                </a:lnTo>
                <a:lnTo>
                  <a:pt x="5832502" y="4423824"/>
                </a:lnTo>
                <a:lnTo>
                  <a:pt x="5798611" y="4395746"/>
                </a:lnTo>
                <a:lnTo>
                  <a:pt x="5777738" y="4339590"/>
                </a:lnTo>
                <a:lnTo>
                  <a:pt x="5808518" y="4307697"/>
                </a:lnTo>
                <a:lnTo>
                  <a:pt x="5845286" y="4300474"/>
                </a:lnTo>
                <a:lnTo>
                  <a:pt x="5884698" y="4306585"/>
                </a:lnTo>
                <a:lnTo>
                  <a:pt x="5923407" y="4314698"/>
                </a:lnTo>
                <a:lnTo>
                  <a:pt x="6031357" y="4328922"/>
                </a:lnTo>
                <a:lnTo>
                  <a:pt x="6075819" y="4333700"/>
                </a:lnTo>
                <a:lnTo>
                  <a:pt x="6093968" y="4332478"/>
                </a:lnTo>
                <a:lnTo>
                  <a:pt x="6113562" y="4279925"/>
                </a:lnTo>
                <a:lnTo>
                  <a:pt x="6137944" y="4254743"/>
                </a:lnTo>
                <a:lnTo>
                  <a:pt x="6165804" y="4249902"/>
                </a:lnTo>
                <a:lnTo>
                  <a:pt x="6195835" y="4258372"/>
                </a:lnTo>
                <a:lnTo>
                  <a:pt x="6226728" y="4273124"/>
                </a:lnTo>
                <a:lnTo>
                  <a:pt x="6257174" y="4287131"/>
                </a:lnTo>
                <a:lnTo>
                  <a:pt x="6285865" y="4293362"/>
                </a:lnTo>
                <a:lnTo>
                  <a:pt x="6331147" y="4296362"/>
                </a:lnTo>
                <a:lnTo>
                  <a:pt x="6376083" y="4304030"/>
                </a:lnTo>
                <a:lnTo>
                  <a:pt x="6420329" y="4314364"/>
                </a:lnTo>
                <a:lnTo>
                  <a:pt x="6463538" y="4325366"/>
                </a:lnTo>
                <a:lnTo>
                  <a:pt x="6518359" y="4330533"/>
                </a:lnTo>
                <a:lnTo>
                  <a:pt x="6571488" y="4324032"/>
                </a:lnTo>
                <a:lnTo>
                  <a:pt x="6623951" y="4312864"/>
                </a:lnTo>
                <a:lnTo>
                  <a:pt x="6676771" y="4304030"/>
                </a:lnTo>
                <a:lnTo>
                  <a:pt x="6708831" y="4284860"/>
                </a:lnTo>
                <a:lnTo>
                  <a:pt x="6719888" y="4246689"/>
                </a:lnTo>
                <a:lnTo>
                  <a:pt x="6726277" y="4202517"/>
                </a:lnTo>
                <a:lnTo>
                  <a:pt x="6744335" y="4165346"/>
                </a:lnTo>
                <a:lnTo>
                  <a:pt x="6751447" y="4154678"/>
                </a:lnTo>
                <a:lnTo>
                  <a:pt x="6765671" y="4154678"/>
                </a:lnTo>
                <a:lnTo>
                  <a:pt x="6776483" y="4096573"/>
                </a:lnTo>
                <a:lnTo>
                  <a:pt x="6797808" y="4049563"/>
                </a:lnTo>
                <a:lnTo>
                  <a:pt x="6827667" y="4012491"/>
                </a:lnTo>
                <a:lnTo>
                  <a:pt x="6864081" y="3984202"/>
                </a:lnTo>
                <a:lnTo>
                  <a:pt x="6905068" y="3963540"/>
                </a:lnTo>
                <a:lnTo>
                  <a:pt x="6948648" y="3949349"/>
                </a:lnTo>
                <a:lnTo>
                  <a:pt x="6992842" y="3940471"/>
                </a:lnTo>
                <a:lnTo>
                  <a:pt x="7035670" y="3935753"/>
                </a:lnTo>
                <a:lnTo>
                  <a:pt x="7075151" y="3934037"/>
                </a:lnTo>
                <a:lnTo>
                  <a:pt x="7109305" y="3934167"/>
                </a:lnTo>
                <a:lnTo>
                  <a:pt x="7153713" y="3935344"/>
                </a:lnTo>
                <a:lnTo>
                  <a:pt x="7160006" y="3934079"/>
                </a:lnTo>
                <a:lnTo>
                  <a:pt x="7185232" y="3929800"/>
                </a:lnTo>
                <a:lnTo>
                  <a:pt x="7212457" y="3934523"/>
                </a:lnTo>
                <a:lnTo>
                  <a:pt x="7241016" y="3934579"/>
                </a:lnTo>
                <a:lnTo>
                  <a:pt x="7237916" y="3881317"/>
                </a:lnTo>
                <a:lnTo>
                  <a:pt x="7203677" y="3849470"/>
                </a:lnTo>
                <a:lnTo>
                  <a:pt x="7167699" y="3820395"/>
                </a:lnTo>
                <a:lnTo>
                  <a:pt x="7130153" y="3793726"/>
                </a:lnTo>
                <a:lnTo>
                  <a:pt x="7091211" y="3769097"/>
                </a:lnTo>
                <a:lnTo>
                  <a:pt x="7051045" y="3746146"/>
                </a:lnTo>
                <a:lnTo>
                  <a:pt x="7009827" y="3724505"/>
                </a:lnTo>
                <a:lnTo>
                  <a:pt x="6967728" y="3703812"/>
                </a:lnTo>
                <a:lnTo>
                  <a:pt x="6924921" y="3683700"/>
                </a:lnTo>
                <a:lnTo>
                  <a:pt x="6837869" y="3643763"/>
                </a:lnTo>
                <a:lnTo>
                  <a:pt x="6793968" y="3623208"/>
                </a:lnTo>
                <a:lnTo>
                  <a:pt x="6750047" y="3601776"/>
                </a:lnTo>
                <a:lnTo>
                  <a:pt x="6706276" y="3579102"/>
                </a:lnTo>
                <a:lnTo>
                  <a:pt x="6662828" y="3554821"/>
                </a:lnTo>
                <a:lnTo>
                  <a:pt x="6619875" y="3528567"/>
                </a:lnTo>
                <a:lnTo>
                  <a:pt x="6669384" y="3520149"/>
                </a:lnTo>
                <a:lnTo>
                  <a:pt x="6715500" y="3520809"/>
                </a:lnTo>
                <a:lnTo>
                  <a:pt x="6758703" y="3528684"/>
                </a:lnTo>
                <a:lnTo>
                  <a:pt x="6799472" y="3541915"/>
                </a:lnTo>
                <a:lnTo>
                  <a:pt x="6838287" y="3558640"/>
                </a:lnTo>
                <a:lnTo>
                  <a:pt x="6911974" y="3595127"/>
                </a:lnTo>
                <a:lnTo>
                  <a:pt x="6947805" y="3611167"/>
                </a:lnTo>
                <a:lnTo>
                  <a:pt x="6983602" y="3623255"/>
                </a:lnTo>
                <a:lnTo>
                  <a:pt x="7019843" y="3629532"/>
                </a:lnTo>
                <a:lnTo>
                  <a:pt x="7057009" y="3628136"/>
                </a:lnTo>
                <a:lnTo>
                  <a:pt x="7069812" y="3611266"/>
                </a:lnTo>
                <a:lnTo>
                  <a:pt x="7070428" y="3593031"/>
                </a:lnTo>
                <a:lnTo>
                  <a:pt x="7062863" y="3573985"/>
                </a:lnTo>
                <a:lnTo>
                  <a:pt x="7051123" y="3554683"/>
                </a:lnTo>
                <a:lnTo>
                  <a:pt x="7039213" y="3535680"/>
                </a:lnTo>
                <a:lnTo>
                  <a:pt x="7031141" y="3517530"/>
                </a:lnTo>
                <a:lnTo>
                  <a:pt x="7030911" y="3500788"/>
                </a:lnTo>
                <a:lnTo>
                  <a:pt x="7042529" y="3486009"/>
                </a:lnTo>
                <a:lnTo>
                  <a:pt x="7070002" y="3473748"/>
                </a:lnTo>
                <a:lnTo>
                  <a:pt x="7117334" y="3464560"/>
                </a:lnTo>
                <a:lnTo>
                  <a:pt x="7068979" y="3436766"/>
                </a:lnTo>
                <a:lnTo>
                  <a:pt x="7025384" y="3408631"/>
                </a:lnTo>
                <a:lnTo>
                  <a:pt x="6985368" y="3379813"/>
                </a:lnTo>
                <a:lnTo>
                  <a:pt x="6947748" y="3349971"/>
                </a:lnTo>
                <a:lnTo>
                  <a:pt x="6911340" y="3318764"/>
                </a:lnTo>
                <a:lnTo>
                  <a:pt x="6872121" y="3279288"/>
                </a:lnTo>
                <a:lnTo>
                  <a:pt x="6842729" y="3242041"/>
                </a:lnTo>
                <a:lnTo>
                  <a:pt x="6822979" y="3205347"/>
                </a:lnTo>
                <a:lnTo>
                  <a:pt x="6812685" y="3167531"/>
                </a:lnTo>
                <a:lnTo>
                  <a:pt x="6811658" y="3126918"/>
                </a:lnTo>
                <a:lnTo>
                  <a:pt x="6819714" y="3081833"/>
                </a:lnTo>
                <a:lnTo>
                  <a:pt x="6836664" y="3030601"/>
                </a:lnTo>
                <a:lnTo>
                  <a:pt x="6853374" y="2988389"/>
                </a:lnTo>
                <a:lnTo>
                  <a:pt x="6869590" y="2946569"/>
                </a:lnTo>
                <a:lnTo>
                  <a:pt x="6882448" y="2904347"/>
                </a:lnTo>
                <a:lnTo>
                  <a:pt x="6889082" y="2860929"/>
                </a:lnTo>
                <a:lnTo>
                  <a:pt x="6886629" y="2815521"/>
                </a:lnTo>
                <a:lnTo>
                  <a:pt x="6872224" y="2767329"/>
                </a:lnTo>
                <a:lnTo>
                  <a:pt x="6860304" y="2729807"/>
                </a:lnTo>
                <a:lnTo>
                  <a:pt x="6860496" y="2700135"/>
                </a:lnTo>
                <a:lnTo>
                  <a:pt x="6875525" y="2681047"/>
                </a:lnTo>
                <a:lnTo>
                  <a:pt x="6908118" y="2675272"/>
                </a:lnTo>
                <a:lnTo>
                  <a:pt x="6960997" y="2685541"/>
                </a:lnTo>
                <a:lnTo>
                  <a:pt x="7011958" y="2693987"/>
                </a:lnTo>
                <a:lnTo>
                  <a:pt x="7051054" y="2687912"/>
                </a:lnTo>
                <a:lnTo>
                  <a:pt x="7078298" y="2668206"/>
                </a:lnTo>
                <a:lnTo>
                  <a:pt x="7093698" y="2635758"/>
                </a:lnTo>
                <a:lnTo>
                  <a:pt x="7097267" y="2591456"/>
                </a:lnTo>
                <a:lnTo>
                  <a:pt x="7089013" y="2536190"/>
                </a:lnTo>
                <a:lnTo>
                  <a:pt x="7082733" y="2487239"/>
                </a:lnTo>
                <a:lnTo>
                  <a:pt x="7092109" y="2456624"/>
                </a:lnTo>
                <a:lnTo>
                  <a:pt x="7119464" y="2442678"/>
                </a:lnTo>
                <a:lnTo>
                  <a:pt x="7167118" y="2443734"/>
                </a:lnTo>
                <a:lnTo>
                  <a:pt x="7209616" y="2451800"/>
                </a:lnTo>
                <a:lnTo>
                  <a:pt x="7295960" y="2474849"/>
                </a:lnTo>
                <a:lnTo>
                  <a:pt x="7341400" y="2483508"/>
                </a:lnTo>
                <a:lnTo>
                  <a:pt x="7389415" y="2486043"/>
                </a:lnTo>
                <a:lnTo>
                  <a:pt x="7440803" y="2479294"/>
                </a:lnTo>
                <a:lnTo>
                  <a:pt x="7412501" y="2441775"/>
                </a:lnTo>
                <a:lnTo>
                  <a:pt x="7379512" y="2413187"/>
                </a:lnTo>
                <a:lnTo>
                  <a:pt x="7342902" y="2391351"/>
                </a:lnTo>
                <a:lnTo>
                  <a:pt x="7303737" y="2374087"/>
                </a:lnTo>
                <a:lnTo>
                  <a:pt x="7263083" y="2359215"/>
                </a:lnTo>
                <a:lnTo>
                  <a:pt x="7222006" y="2344557"/>
                </a:lnTo>
                <a:lnTo>
                  <a:pt x="7181572" y="2327932"/>
                </a:lnTo>
                <a:lnTo>
                  <a:pt x="7142847" y="2307163"/>
                </a:lnTo>
                <a:lnTo>
                  <a:pt x="7106898" y="2280069"/>
                </a:lnTo>
                <a:lnTo>
                  <a:pt x="7074789" y="2244471"/>
                </a:lnTo>
                <a:lnTo>
                  <a:pt x="7131417" y="2244602"/>
                </a:lnTo>
                <a:lnTo>
                  <a:pt x="7184404" y="2245524"/>
                </a:lnTo>
                <a:lnTo>
                  <a:pt x="7234238" y="2248027"/>
                </a:lnTo>
                <a:lnTo>
                  <a:pt x="7281404" y="2252900"/>
                </a:lnTo>
                <a:lnTo>
                  <a:pt x="7326390" y="2260933"/>
                </a:lnTo>
                <a:lnTo>
                  <a:pt x="7369683" y="2272919"/>
                </a:lnTo>
                <a:lnTo>
                  <a:pt x="7396685" y="2280642"/>
                </a:lnTo>
                <a:lnTo>
                  <a:pt x="7423007" y="2284031"/>
                </a:lnTo>
                <a:lnTo>
                  <a:pt x="7446639" y="2277419"/>
                </a:lnTo>
                <a:lnTo>
                  <a:pt x="7465568" y="2255139"/>
                </a:lnTo>
                <a:lnTo>
                  <a:pt x="7471756" y="2223468"/>
                </a:lnTo>
                <a:lnTo>
                  <a:pt x="7458964" y="2201799"/>
                </a:lnTo>
                <a:lnTo>
                  <a:pt x="7436172" y="2188130"/>
                </a:lnTo>
                <a:lnTo>
                  <a:pt x="7412355" y="2180463"/>
                </a:lnTo>
                <a:lnTo>
                  <a:pt x="7365230" y="2162028"/>
                </a:lnTo>
                <a:lnTo>
                  <a:pt x="7321196" y="2137961"/>
                </a:lnTo>
                <a:lnTo>
                  <a:pt x="7279045" y="2110310"/>
                </a:lnTo>
                <a:lnTo>
                  <a:pt x="7237571" y="2081122"/>
                </a:lnTo>
                <a:lnTo>
                  <a:pt x="7195566" y="2052447"/>
                </a:lnTo>
                <a:lnTo>
                  <a:pt x="7153586" y="2025572"/>
                </a:lnTo>
                <a:lnTo>
                  <a:pt x="7068472" y="1972257"/>
                </a:lnTo>
                <a:lnTo>
                  <a:pt x="7025818" y="1944986"/>
                </a:lnTo>
                <a:lnTo>
                  <a:pt x="6983421" y="1916751"/>
                </a:lnTo>
                <a:lnTo>
                  <a:pt x="6941521" y="1887137"/>
                </a:lnTo>
                <a:lnTo>
                  <a:pt x="6900359" y="1855728"/>
                </a:lnTo>
                <a:lnTo>
                  <a:pt x="6860174" y="1822108"/>
                </a:lnTo>
                <a:lnTo>
                  <a:pt x="6821208" y="1785863"/>
                </a:lnTo>
                <a:lnTo>
                  <a:pt x="6783700" y="1746576"/>
                </a:lnTo>
                <a:lnTo>
                  <a:pt x="6747891" y="1703832"/>
                </a:lnTo>
                <a:lnTo>
                  <a:pt x="6799838" y="1719973"/>
                </a:lnTo>
                <a:lnTo>
                  <a:pt x="6849472" y="1739187"/>
                </a:lnTo>
                <a:lnTo>
                  <a:pt x="6897380" y="1760332"/>
                </a:lnTo>
                <a:lnTo>
                  <a:pt x="6990356" y="1803853"/>
                </a:lnTo>
                <a:lnTo>
                  <a:pt x="7036595" y="1823945"/>
                </a:lnTo>
                <a:lnTo>
                  <a:pt x="7083449" y="1841403"/>
                </a:lnTo>
                <a:lnTo>
                  <a:pt x="7131503" y="1855086"/>
                </a:lnTo>
                <a:lnTo>
                  <a:pt x="7181342" y="1863852"/>
                </a:lnTo>
                <a:lnTo>
                  <a:pt x="7147767" y="1827516"/>
                </a:lnTo>
                <a:lnTo>
                  <a:pt x="7112870" y="1793044"/>
                </a:lnTo>
                <a:lnTo>
                  <a:pt x="7076813" y="1760227"/>
                </a:lnTo>
                <a:lnTo>
                  <a:pt x="7039756" y="1728855"/>
                </a:lnTo>
                <a:lnTo>
                  <a:pt x="7001859" y="1698718"/>
                </a:lnTo>
                <a:lnTo>
                  <a:pt x="6963283" y="1669605"/>
                </a:lnTo>
                <a:lnTo>
                  <a:pt x="6924189" y="1641307"/>
                </a:lnTo>
                <a:lnTo>
                  <a:pt x="6884736" y="1613614"/>
                </a:lnTo>
                <a:lnTo>
                  <a:pt x="6765835" y="1532067"/>
                </a:lnTo>
                <a:lnTo>
                  <a:pt x="6726555" y="1504696"/>
                </a:lnTo>
                <a:lnTo>
                  <a:pt x="6692495" y="1481730"/>
                </a:lnTo>
                <a:lnTo>
                  <a:pt x="6662103" y="1457467"/>
                </a:lnTo>
                <a:lnTo>
                  <a:pt x="6639044" y="1426561"/>
                </a:lnTo>
                <a:lnTo>
                  <a:pt x="6626987" y="1383664"/>
                </a:lnTo>
                <a:lnTo>
                  <a:pt x="6617256" y="1335540"/>
                </a:lnTo>
                <a:lnTo>
                  <a:pt x="6603784" y="1290042"/>
                </a:lnTo>
                <a:lnTo>
                  <a:pt x="6586154" y="1247460"/>
                </a:lnTo>
                <a:lnTo>
                  <a:pt x="6563948" y="1208087"/>
                </a:lnTo>
                <a:lnTo>
                  <a:pt x="6536747" y="1172214"/>
                </a:lnTo>
                <a:lnTo>
                  <a:pt x="6504133" y="1140134"/>
                </a:lnTo>
                <a:lnTo>
                  <a:pt x="6465688" y="1112138"/>
                </a:lnTo>
                <a:lnTo>
                  <a:pt x="6420993" y="1088516"/>
                </a:lnTo>
                <a:lnTo>
                  <a:pt x="6431534" y="1056386"/>
                </a:lnTo>
                <a:lnTo>
                  <a:pt x="6476766" y="1062572"/>
                </a:lnTo>
                <a:lnTo>
                  <a:pt x="6520284" y="1079359"/>
                </a:lnTo>
                <a:lnTo>
                  <a:pt x="6564643" y="1097689"/>
                </a:lnTo>
                <a:lnTo>
                  <a:pt x="6612399" y="1108502"/>
                </a:lnTo>
                <a:lnTo>
                  <a:pt x="6666103" y="1102740"/>
                </a:lnTo>
                <a:lnTo>
                  <a:pt x="6630835" y="1063416"/>
                </a:lnTo>
                <a:lnTo>
                  <a:pt x="6596392" y="1025769"/>
                </a:lnTo>
                <a:lnTo>
                  <a:pt x="6561943" y="990130"/>
                </a:lnTo>
                <a:lnTo>
                  <a:pt x="6526657" y="956833"/>
                </a:lnTo>
                <a:lnTo>
                  <a:pt x="6489705" y="926209"/>
                </a:lnTo>
                <a:lnTo>
                  <a:pt x="6450255" y="898590"/>
                </a:lnTo>
                <a:lnTo>
                  <a:pt x="6407477" y="874307"/>
                </a:lnTo>
                <a:lnTo>
                  <a:pt x="6360541" y="853694"/>
                </a:lnTo>
                <a:lnTo>
                  <a:pt x="6319564" y="839463"/>
                </a:lnTo>
                <a:lnTo>
                  <a:pt x="6277162" y="825190"/>
                </a:lnTo>
                <a:lnTo>
                  <a:pt x="6234253" y="809500"/>
                </a:lnTo>
                <a:lnTo>
                  <a:pt x="6191758" y="791019"/>
                </a:lnTo>
                <a:lnTo>
                  <a:pt x="6150597" y="768370"/>
                </a:lnTo>
                <a:lnTo>
                  <a:pt x="6111689" y="740179"/>
                </a:lnTo>
                <a:lnTo>
                  <a:pt x="6075954" y="705071"/>
                </a:lnTo>
                <a:lnTo>
                  <a:pt x="6044311" y="661670"/>
                </a:lnTo>
                <a:lnTo>
                  <a:pt x="6095199" y="652973"/>
                </a:lnTo>
                <a:lnTo>
                  <a:pt x="6142008" y="654730"/>
                </a:lnTo>
                <a:lnTo>
                  <a:pt x="6185751" y="663681"/>
                </a:lnTo>
                <a:lnTo>
                  <a:pt x="6227439" y="676564"/>
                </a:lnTo>
                <a:lnTo>
                  <a:pt x="6268085" y="690117"/>
                </a:lnTo>
                <a:lnTo>
                  <a:pt x="6319638" y="708161"/>
                </a:lnTo>
                <a:lnTo>
                  <a:pt x="6525778" y="782310"/>
                </a:lnTo>
                <a:lnTo>
                  <a:pt x="6577330" y="800353"/>
                </a:lnTo>
                <a:lnTo>
                  <a:pt x="6606927" y="808688"/>
                </a:lnTo>
                <a:lnTo>
                  <a:pt x="6635893" y="808354"/>
                </a:lnTo>
                <a:lnTo>
                  <a:pt x="6662216" y="793353"/>
                </a:lnTo>
                <a:lnTo>
                  <a:pt x="6683883" y="757682"/>
                </a:lnTo>
                <a:lnTo>
                  <a:pt x="6630643" y="747449"/>
                </a:lnTo>
                <a:lnTo>
                  <a:pt x="6582927" y="729811"/>
                </a:lnTo>
                <a:lnTo>
                  <a:pt x="6539745" y="706073"/>
                </a:lnTo>
                <a:lnTo>
                  <a:pt x="6500107" y="677539"/>
                </a:lnTo>
                <a:lnTo>
                  <a:pt x="6463022" y="645512"/>
                </a:lnTo>
                <a:lnTo>
                  <a:pt x="6427498" y="611298"/>
                </a:lnTo>
                <a:lnTo>
                  <a:pt x="6392545" y="576199"/>
                </a:lnTo>
                <a:lnTo>
                  <a:pt x="6358432" y="540361"/>
                </a:lnTo>
                <a:lnTo>
                  <a:pt x="6322330" y="508190"/>
                </a:lnTo>
                <a:lnTo>
                  <a:pt x="6279585" y="488688"/>
                </a:lnTo>
                <a:lnTo>
                  <a:pt x="6225540" y="490854"/>
                </a:lnTo>
                <a:lnTo>
                  <a:pt x="6196481" y="491355"/>
                </a:lnTo>
                <a:lnTo>
                  <a:pt x="6174423" y="478853"/>
                </a:lnTo>
                <a:lnTo>
                  <a:pt x="6161032" y="456350"/>
                </a:lnTo>
                <a:lnTo>
                  <a:pt x="6157976" y="426847"/>
                </a:lnTo>
                <a:lnTo>
                  <a:pt x="6158543" y="368706"/>
                </a:lnTo>
                <a:lnTo>
                  <a:pt x="6146369" y="321387"/>
                </a:lnTo>
                <a:lnTo>
                  <a:pt x="6123503" y="283518"/>
                </a:lnTo>
                <a:lnTo>
                  <a:pt x="6091993" y="253730"/>
                </a:lnTo>
                <a:lnTo>
                  <a:pt x="6053886" y="230650"/>
                </a:lnTo>
                <a:lnTo>
                  <a:pt x="6011232" y="212909"/>
                </a:lnTo>
                <a:lnTo>
                  <a:pt x="5919687" y="185111"/>
                </a:lnTo>
                <a:lnTo>
                  <a:pt x="5874212" y="168867"/>
                </a:lnTo>
                <a:lnTo>
                  <a:pt x="5829504" y="150745"/>
                </a:lnTo>
                <a:lnTo>
                  <a:pt x="5785416" y="131088"/>
                </a:lnTo>
                <a:lnTo>
                  <a:pt x="5741797" y="110236"/>
                </a:lnTo>
                <a:lnTo>
                  <a:pt x="5698498" y="88530"/>
                </a:lnTo>
                <a:lnTo>
                  <a:pt x="5569029" y="21705"/>
                </a:lnTo>
                <a:lnTo>
                  <a:pt x="5525516" y="0"/>
                </a:lnTo>
                <a:close/>
              </a:path>
            </a:pathLst>
          </a:custGeom>
          <a:solidFill>
            <a:srgbClr val="E8E8E8">
              <a:alpha val="5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33018" rIns="0" bIns="0" rtlCol="0">
            <a:spAutoFit/>
          </a:bodyPr>
          <a:lstStyle/>
          <a:p>
            <a:pPr marL="805815">
              <a:lnSpc>
                <a:spcPct val="100000"/>
              </a:lnSpc>
              <a:spcBef>
                <a:spcPts val="105"/>
              </a:spcBef>
            </a:pPr>
            <a:r>
              <a:rPr spc="-110" dirty="0">
                <a:latin typeface="Trebuchet MS"/>
                <a:cs typeface="Trebuchet MS"/>
              </a:rPr>
              <a:t>Decision</a:t>
            </a:r>
            <a:r>
              <a:rPr spc="-450" dirty="0">
                <a:latin typeface="Trebuchet MS"/>
                <a:cs typeface="Trebuchet MS"/>
              </a:rPr>
              <a:t> </a:t>
            </a:r>
            <a:r>
              <a:rPr spc="-415" dirty="0">
                <a:latin typeface="Trebuchet MS"/>
                <a:cs typeface="Trebuchet MS"/>
              </a:rPr>
              <a:t>Tree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802640" y="1998090"/>
            <a:ext cx="5139055" cy="3736975"/>
          </a:xfrm>
          <a:prstGeom prst="rect">
            <a:avLst/>
          </a:prstGeom>
        </p:spPr>
        <p:txBody>
          <a:bodyPr vert="horz" wrap="square" lIns="0" tIns="83820" rIns="0" bIns="0" rtlCol="0">
            <a:spAutoFit/>
          </a:bodyPr>
          <a:lstStyle/>
          <a:p>
            <a:pPr marL="240029" marR="5715" indent="-227329" algn="just">
              <a:lnSpc>
                <a:spcPts val="2300"/>
              </a:lnSpc>
              <a:spcBef>
                <a:spcPts val="660"/>
              </a:spcBef>
              <a:buFont typeface="Arial MT"/>
              <a:buChar char="•"/>
              <a:tabLst>
                <a:tab pos="241300" algn="l"/>
              </a:tabLst>
            </a:pPr>
            <a:r>
              <a:rPr sz="2400" dirty="0">
                <a:latin typeface="Trebuchet MS"/>
                <a:cs typeface="Trebuchet MS"/>
              </a:rPr>
              <a:t>A</a:t>
            </a:r>
            <a:r>
              <a:rPr sz="2400" spc="150" dirty="0">
                <a:latin typeface="Trebuchet MS"/>
                <a:cs typeface="Trebuchet MS"/>
              </a:rPr>
              <a:t>  </a:t>
            </a:r>
            <a:r>
              <a:rPr sz="2400" dirty="0">
                <a:latin typeface="Trebuchet MS"/>
                <a:cs typeface="Trebuchet MS"/>
              </a:rPr>
              <a:t>Decision</a:t>
            </a:r>
            <a:r>
              <a:rPr sz="2400" spc="150" dirty="0">
                <a:latin typeface="Trebuchet MS"/>
                <a:cs typeface="Trebuchet MS"/>
              </a:rPr>
              <a:t>  </a:t>
            </a:r>
            <a:r>
              <a:rPr sz="2400" dirty="0">
                <a:latin typeface="Trebuchet MS"/>
                <a:cs typeface="Trebuchet MS"/>
              </a:rPr>
              <a:t>Tree</a:t>
            </a:r>
            <a:r>
              <a:rPr sz="2400" spc="150" dirty="0">
                <a:latin typeface="Trebuchet MS"/>
                <a:cs typeface="Trebuchet MS"/>
              </a:rPr>
              <a:t>  </a:t>
            </a:r>
            <a:r>
              <a:rPr sz="2400" dirty="0">
                <a:latin typeface="Trebuchet MS"/>
                <a:cs typeface="Trebuchet MS"/>
              </a:rPr>
              <a:t>is</a:t>
            </a:r>
            <a:r>
              <a:rPr sz="2400" spc="150" dirty="0">
                <a:latin typeface="Trebuchet MS"/>
                <a:cs typeface="Trebuchet MS"/>
              </a:rPr>
              <a:t>  </a:t>
            </a:r>
            <a:r>
              <a:rPr sz="2400" dirty="0">
                <a:latin typeface="Trebuchet MS"/>
                <a:cs typeface="Trebuchet MS"/>
              </a:rPr>
              <a:t>a</a:t>
            </a:r>
            <a:r>
              <a:rPr sz="2400" spc="155" dirty="0">
                <a:latin typeface="Trebuchet MS"/>
                <a:cs typeface="Trebuchet MS"/>
              </a:rPr>
              <a:t>  </a:t>
            </a:r>
            <a:r>
              <a:rPr sz="2400" spc="-10" dirty="0">
                <a:latin typeface="Trebuchet MS"/>
                <a:cs typeface="Trebuchet MS"/>
              </a:rPr>
              <a:t>supervised 	</a:t>
            </a:r>
            <a:r>
              <a:rPr sz="2400" dirty="0">
                <a:latin typeface="Trebuchet MS"/>
                <a:cs typeface="Trebuchet MS"/>
              </a:rPr>
              <a:t>learning</a:t>
            </a:r>
            <a:r>
              <a:rPr sz="2400" spc="75" dirty="0">
                <a:latin typeface="Trebuchet MS"/>
                <a:cs typeface="Trebuchet MS"/>
              </a:rPr>
              <a:t>  </a:t>
            </a:r>
            <a:r>
              <a:rPr sz="2400" dirty="0">
                <a:latin typeface="Trebuchet MS"/>
                <a:cs typeface="Trebuchet MS"/>
              </a:rPr>
              <a:t>algorithm</a:t>
            </a:r>
            <a:r>
              <a:rPr sz="2400" spc="70" dirty="0">
                <a:latin typeface="Trebuchet MS"/>
                <a:cs typeface="Trebuchet MS"/>
              </a:rPr>
              <a:t>  </a:t>
            </a:r>
            <a:r>
              <a:rPr sz="2400" dirty="0">
                <a:latin typeface="Trebuchet MS"/>
                <a:cs typeface="Trebuchet MS"/>
              </a:rPr>
              <a:t>used</a:t>
            </a:r>
            <a:r>
              <a:rPr sz="2400" spc="75" dirty="0">
                <a:latin typeface="Trebuchet MS"/>
                <a:cs typeface="Trebuchet MS"/>
              </a:rPr>
              <a:t>  </a:t>
            </a:r>
            <a:r>
              <a:rPr sz="2400" dirty="0">
                <a:latin typeface="Trebuchet MS"/>
                <a:cs typeface="Trebuchet MS"/>
              </a:rPr>
              <a:t>for</a:t>
            </a:r>
            <a:r>
              <a:rPr sz="2400" spc="70" dirty="0">
                <a:latin typeface="Trebuchet MS"/>
                <a:cs typeface="Trebuchet MS"/>
              </a:rPr>
              <a:t>  </a:t>
            </a:r>
            <a:r>
              <a:rPr sz="2400" spc="-20" dirty="0">
                <a:latin typeface="Trebuchet MS"/>
                <a:cs typeface="Trebuchet MS"/>
              </a:rPr>
              <a:t>both 	</a:t>
            </a:r>
            <a:r>
              <a:rPr sz="2400" spc="-30" dirty="0">
                <a:latin typeface="Trebuchet MS"/>
                <a:cs typeface="Trebuchet MS"/>
              </a:rPr>
              <a:t>classification</a:t>
            </a:r>
            <a:r>
              <a:rPr sz="2400" spc="-150" dirty="0">
                <a:latin typeface="Trebuchet MS"/>
                <a:cs typeface="Trebuchet MS"/>
              </a:rPr>
              <a:t> </a:t>
            </a:r>
            <a:r>
              <a:rPr sz="2400" spc="-10" dirty="0">
                <a:latin typeface="Trebuchet MS"/>
                <a:cs typeface="Trebuchet MS"/>
              </a:rPr>
              <a:t>and</a:t>
            </a:r>
            <a:r>
              <a:rPr sz="2400" spc="-155" dirty="0">
                <a:latin typeface="Trebuchet MS"/>
                <a:cs typeface="Trebuchet MS"/>
              </a:rPr>
              <a:t> </a:t>
            </a:r>
            <a:r>
              <a:rPr sz="2400" spc="-35" dirty="0">
                <a:latin typeface="Trebuchet MS"/>
                <a:cs typeface="Trebuchet MS"/>
              </a:rPr>
              <a:t>regression</a:t>
            </a:r>
            <a:r>
              <a:rPr sz="2400" spc="-165" dirty="0">
                <a:latin typeface="Trebuchet MS"/>
                <a:cs typeface="Trebuchet MS"/>
              </a:rPr>
              <a:t> </a:t>
            </a:r>
            <a:r>
              <a:rPr sz="2400" spc="-10" dirty="0">
                <a:latin typeface="Trebuchet MS"/>
                <a:cs typeface="Trebuchet MS"/>
              </a:rPr>
              <a:t>tasks.</a:t>
            </a:r>
            <a:endParaRPr sz="2400">
              <a:latin typeface="Trebuchet MS"/>
              <a:cs typeface="Trebuchet MS"/>
            </a:endParaRPr>
          </a:p>
          <a:p>
            <a:pPr marL="240029" marR="5080" indent="-227329" algn="just">
              <a:lnSpc>
                <a:spcPct val="80000"/>
              </a:lnSpc>
              <a:spcBef>
                <a:spcPts val="1025"/>
              </a:spcBef>
              <a:buFont typeface="Arial MT"/>
              <a:buChar char="•"/>
              <a:tabLst>
                <a:tab pos="241300" algn="l"/>
              </a:tabLst>
            </a:pPr>
            <a:r>
              <a:rPr sz="2400" dirty="0">
                <a:latin typeface="Trebuchet MS"/>
                <a:cs typeface="Trebuchet MS"/>
              </a:rPr>
              <a:t>It</a:t>
            </a:r>
            <a:r>
              <a:rPr sz="2400" spc="395" dirty="0">
                <a:latin typeface="Trebuchet MS"/>
                <a:cs typeface="Trebuchet MS"/>
              </a:rPr>
              <a:t> </a:t>
            </a:r>
            <a:r>
              <a:rPr sz="2400" dirty="0">
                <a:latin typeface="Trebuchet MS"/>
                <a:cs typeface="Trebuchet MS"/>
              </a:rPr>
              <a:t>works</a:t>
            </a:r>
            <a:r>
              <a:rPr sz="2400" spc="385" dirty="0">
                <a:latin typeface="Trebuchet MS"/>
                <a:cs typeface="Trebuchet MS"/>
              </a:rPr>
              <a:t> </a:t>
            </a:r>
            <a:r>
              <a:rPr sz="2400" dirty="0">
                <a:latin typeface="Trebuchet MS"/>
                <a:cs typeface="Trebuchet MS"/>
              </a:rPr>
              <a:t>by</a:t>
            </a:r>
            <a:r>
              <a:rPr sz="2400" spc="390" dirty="0">
                <a:latin typeface="Trebuchet MS"/>
                <a:cs typeface="Trebuchet MS"/>
              </a:rPr>
              <a:t> </a:t>
            </a:r>
            <a:r>
              <a:rPr sz="2400" dirty="0">
                <a:latin typeface="Trebuchet MS"/>
                <a:cs typeface="Trebuchet MS"/>
              </a:rPr>
              <a:t>splitting</a:t>
            </a:r>
            <a:r>
              <a:rPr sz="2400" spc="400" dirty="0">
                <a:latin typeface="Trebuchet MS"/>
                <a:cs typeface="Trebuchet MS"/>
              </a:rPr>
              <a:t> </a:t>
            </a:r>
            <a:r>
              <a:rPr sz="2400" dirty="0">
                <a:latin typeface="Trebuchet MS"/>
                <a:cs typeface="Trebuchet MS"/>
              </a:rPr>
              <a:t>the</a:t>
            </a:r>
            <a:r>
              <a:rPr sz="2400" spc="390" dirty="0">
                <a:latin typeface="Trebuchet MS"/>
                <a:cs typeface="Trebuchet MS"/>
              </a:rPr>
              <a:t> </a:t>
            </a:r>
            <a:r>
              <a:rPr sz="2400" dirty="0">
                <a:latin typeface="Trebuchet MS"/>
                <a:cs typeface="Trebuchet MS"/>
              </a:rPr>
              <a:t>data</a:t>
            </a:r>
            <a:r>
              <a:rPr sz="2400" spc="390" dirty="0">
                <a:latin typeface="Trebuchet MS"/>
                <a:cs typeface="Trebuchet MS"/>
              </a:rPr>
              <a:t> </a:t>
            </a:r>
            <a:r>
              <a:rPr sz="2400" spc="-20" dirty="0">
                <a:latin typeface="Trebuchet MS"/>
                <a:cs typeface="Trebuchet MS"/>
              </a:rPr>
              <a:t>into 	</a:t>
            </a:r>
            <a:r>
              <a:rPr sz="2400" dirty="0">
                <a:latin typeface="Trebuchet MS"/>
                <a:cs typeface="Trebuchet MS"/>
              </a:rPr>
              <a:t>subsets</a:t>
            </a:r>
            <a:r>
              <a:rPr sz="2400" spc="340" dirty="0">
                <a:latin typeface="Trebuchet MS"/>
                <a:cs typeface="Trebuchet MS"/>
              </a:rPr>
              <a:t>   </a:t>
            </a:r>
            <a:r>
              <a:rPr sz="2400" dirty="0">
                <a:latin typeface="Trebuchet MS"/>
                <a:cs typeface="Trebuchet MS"/>
              </a:rPr>
              <a:t>based</a:t>
            </a:r>
            <a:r>
              <a:rPr sz="2400" spc="340" dirty="0">
                <a:latin typeface="Trebuchet MS"/>
                <a:cs typeface="Trebuchet MS"/>
              </a:rPr>
              <a:t>   </a:t>
            </a:r>
            <a:r>
              <a:rPr sz="2400" dirty="0">
                <a:latin typeface="Trebuchet MS"/>
                <a:cs typeface="Trebuchet MS"/>
              </a:rPr>
              <a:t>on</a:t>
            </a:r>
            <a:r>
              <a:rPr sz="2400" spc="355" dirty="0">
                <a:latin typeface="Trebuchet MS"/>
                <a:cs typeface="Trebuchet MS"/>
              </a:rPr>
              <a:t>   </a:t>
            </a:r>
            <a:r>
              <a:rPr sz="2400" dirty="0">
                <a:latin typeface="Trebuchet MS"/>
                <a:cs typeface="Trebuchet MS"/>
              </a:rPr>
              <a:t>the</a:t>
            </a:r>
            <a:r>
              <a:rPr sz="2400" spc="340" dirty="0">
                <a:latin typeface="Trebuchet MS"/>
                <a:cs typeface="Trebuchet MS"/>
              </a:rPr>
              <a:t>   </a:t>
            </a:r>
            <a:r>
              <a:rPr sz="2400" spc="-20" dirty="0">
                <a:latin typeface="Trebuchet MS"/>
                <a:cs typeface="Trebuchet MS"/>
              </a:rPr>
              <a:t>most 	</a:t>
            </a:r>
            <a:r>
              <a:rPr sz="2400" dirty="0">
                <a:latin typeface="Trebuchet MS"/>
                <a:cs typeface="Trebuchet MS"/>
              </a:rPr>
              <a:t>significant</a:t>
            </a:r>
            <a:r>
              <a:rPr sz="2400" spc="290" dirty="0">
                <a:latin typeface="Trebuchet MS"/>
                <a:cs typeface="Trebuchet MS"/>
              </a:rPr>
              <a:t> </a:t>
            </a:r>
            <a:r>
              <a:rPr sz="2400" dirty="0">
                <a:latin typeface="Trebuchet MS"/>
                <a:cs typeface="Trebuchet MS"/>
              </a:rPr>
              <a:t>feature,</a:t>
            </a:r>
            <a:r>
              <a:rPr sz="2400" spc="295" dirty="0">
                <a:latin typeface="Trebuchet MS"/>
                <a:cs typeface="Trebuchet MS"/>
              </a:rPr>
              <a:t> </a:t>
            </a:r>
            <a:r>
              <a:rPr sz="2400" dirty="0">
                <a:latin typeface="Trebuchet MS"/>
                <a:cs typeface="Trebuchet MS"/>
              </a:rPr>
              <a:t>creating</a:t>
            </a:r>
            <a:r>
              <a:rPr sz="2400" spc="285" dirty="0">
                <a:latin typeface="Trebuchet MS"/>
                <a:cs typeface="Trebuchet MS"/>
              </a:rPr>
              <a:t> </a:t>
            </a:r>
            <a:r>
              <a:rPr sz="2400" dirty="0">
                <a:latin typeface="Trebuchet MS"/>
                <a:cs typeface="Trebuchet MS"/>
              </a:rPr>
              <a:t>a</a:t>
            </a:r>
            <a:r>
              <a:rPr sz="2400" spc="290" dirty="0">
                <a:latin typeface="Trebuchet MS"/>
                <a:cs typeface="Trebuchet MS"/>
              </a:rPr>
              <a:t> </a:t>
            </a:r>
            <a:r>
              <a:rPr sz="2400" spc="-75" dirty="0">
                <a:latin typeface="Trebuchet MS"/>
                <a:cs typeface="Trebuchet MS"/>
              </a:rPr>
              <a:t>tree 	</a:t>
            </a:r>
            <a:r>
              <a:rPr sz="2400" dirty="0">
                <a:latin typeface="Trebuchet MS"/>
                <a:cs typeface="Trebuchet MS"/>
              </a:rPr>
              <a:t>structure</a:t>
            </a:r>
            <a:r>
              <a:rPr sz="2400" spc="10" dirty="0">
                <a:latin typeface="Trebuchet MS"/>
                <a:cs typeface="Trebuchet MS"/>
              </a:rPr>
              <a:t> </a:t>
            </a:r>
            <a:r>
              <a:rPr sz="2400" dirty="0">
                <a:latin typeface="Trebuchet MS"/>
                <a:cs typeface="Trebuchet MS"/>
              </a:rPr>
              <a:t>where</a:t>
            </a:r>
            <a:r>
              <a:rPr sz="2400" spc="10" dirty="0">
                <a:latin typeface="Trebuchet MS"/>
                <a:cs typeface="Trebuchet MS"/>
              </a:rPr>
              <a:t> </a:t>
            </a:r>
            <a:r>
              <a:rPr sz="2400" dirty="0">
                <a:latin typeface="Trebuchet MS"/>
                <a:cs typeface="Trebuchet MS"/>
              </a:rPr>
              <a:t>each</a:t>
            </a:r>
            <a:r>
              <a:rPr sz="2400" spc="30" dirty="0">
                <a:latin typeface="Trebuchet MS"/>
                <a:cs typeface="Trebuchet MS"/>
              </a:rPr>
              <a:t> </a:t>
            </a:r>
            <a:r>
              <a:rPr sz="2400" spc="-10" dirty="0">
                <a:latin typeface="Trebuchet MS"/>
                <a:cs typeface="Trebuchet MS"/>
              </a:rPr>
              <a:t>internal</a:t>
            </a:r>
            <a:r>
              <a:rPr sz="2400" spc="15" dirty="0">
                <a:latin typeface="Trebuchet MS"/>
                <a:cs typeface="Trebuchet MS"/>
              </a:rPr>
              <a:t> </a:t>
            </a:r>
            <a:r>
              <a:rPr sz="2400" spc="-20" dirty="0">
                <a:latin typeface="Trebuchet MS"/>
                <a:cs typeface="Trebuchet MS"/>
              </a:rPr>
              <a:t>node 	</a:t>
            </a:r>
            <a:r>
              <a:rPr sz="2400" dirty="0">
                <a:latin typeface="Trebuchet MS"/>
                <a:cs typeface="Trebuchet MS"/>
              </a:rPr>
              <a:t>represents</a:t>
            </a:r>
            <a:r>
              <a:rPr sz="2400" spc="-50" dirty="0">
                <a:latin typeface="Trebuchet MS"/>
                <a:cs typeface="Trebuchet MS"/>
              </a:rPr>
              <a:t>  </a:t>
            </a:r>
            <a:r>
              <a:rPr sz="2400" dirty="0">
                <a:latin typeface="Trebuchet MS"/>
                <a:cs typeface="Trebuchet MS"/>
              </a:rPr>
              <a:t>a</a:t>
            </a:r>
            <a:r>
              <a:rPr sz="2400" spc="-55" dirty="0">
                <a:latin typeface="Trebuchet MS"/>
                <a:cs typeface="Trebuchet MS"/>
              </a:rPr>
              <a:t>  </a:t>
            </a:r>
            <a:r>
              <a:rPr sz="2400" dirty="0">
                <a:latin typeface="Trebuchet MS"/>
                <a:cs typeface="Trebuchet MS"/>
              </a:rPr>
              <a:t>decision</a:t>
            </a:r>
            <a:r>
              <a:rPr sz="2400" spc="-50" dirty="0">
                <a:latin typeface="Trebuchet MS"/>
                <a:cs typeface="Trebuchet MS"/>
              </a:rPr>
              <a:t>  </a:t>
            </a:r>
            <a:r>
              <a:rPr sz="2400" dirty="0">
                <a:latin typeface="Trebuchet MS"/>
                <a:cs typeface="Trebuchet MS"/>
              </a:rPr>
              <a:t>based</a:t>
            </a:r>
            <a:r>
              <a:rPr sz="2400" spc="-60" dirty="0">
                <a:latin typeface="Trebuchet MS"/>
                <a:cs typeface="Trebuchet MS"/>
              </a:rPr>
              <a:t>  </a:t>
            </a:r>
            <a:r>
              <a:rPr sz="2400" dirty="0">
                <a:latin typeface="Trebuchet MS"/>
                <a:cs typeface="Trebuchet MS"/>
              </a:rPr>
              <a:t>on</a:t>
            </a:r>
            <a:r>
              <a:rPr sz="2400" spc="-50" dirty="0">
                <a:latin typeface="Trebuchet MS"/>
                <a:cs typeface="Trebuchet MS"/>
              </a:rPr>
              <a:t>  a 	</a:t>
            </a:r>
            <a:r>
              <a:rPr sz="2400" spc="-90" dirty="0">
                <a:latin typeface="Trebuchet MS"/>
                <a:cs typeface="Trebuchet MS"/>
              </a:rPr>
              <a:t>feature,</a:t>
            </a:r>
            <a:r>
              <a:rPr sz="2400" dirty="0">
                <a:latin typeface="Trebuchet MS"/>
                <a:cs typeface="Trebuchet MS"/>
              </a:rPr>
              <a:t> each branch</a:t>
            </a:r>
            <a:r>
              <a:rPr sz="2400" spc="15" dirty="0">
                <a:latin typeface="Trebuchet MS"/>
                <a:cs typeface="Trebuchet MS"/>
              </a:rPr>
              <a:t> </a:t>
            </a:r>
            <a:r>
              <a:rPr sz="2400" dirty="0">
                <a:latin typeface="Trebuchet MS"/>
                <a:cs typeface="Trebuchet MS"/>
              </a:rPr>
              <a:t>represents</a:t>
            </a:r>
            <a:r>
              <a:rPr sz="2400" spc="10" dirty="0">
                <a:latin typeface="Trebuchet MS"/>
                <a:cs typeface="Trebuchet MS"/>
              </a:rPr>
              <a:t> </a:t>
            </a:r>
            <a:r>
              <a:rPr sz="2400" spc="-25" dirty="0">
                <a:latin typeface="Trebuchet MS"/>
                <a:cs typeface="Trebuchet MS"/>
              </a:rPr>
              <a:t>the 	</a:t>
            </a:r>
            <a:r>
              <a:rPr sz="2400" dirty="0">
                <a:latin typeface="Trebuchet MS"/>
                <a:cs typeface="Trebuchet MS"/>
              </a:rPr>
              <a:t>outcome</a:t>
            </a:r>
            <a:r>
              <a:rPr sz="2400" spc="5" dirty="0">
                <a:latin typeface="Trebuchet MS"/>
                <a:cs typeface="Trebuchet MS"/>
              </a:rPr>
              <a:t> </a:t>
            </a:r>
            <a:r>
              <a:rPr sz="2400" dirty="0">
                <a:latin typeface="Trebuchet MS"/>
                <a:cs typeface="Trebuchet MS"/>
              </a:rPr>
              <a:t>of</a:t>
            </a:r>
            <a:r>
              <a:rPr sz="2400" spc="10" dirty="0">
                <a:latin typeface="Trebuchet MS"/>
                <a:cs typeface="Trebuchet MS"/>
              </a:rPr>
              <a:t> </a:t>
            </a:r>
            <a:r>
              <a:rPr sz="2400" spc="-20" dirty="0">
                <a:latin typeface="Trebuchet MS"/>
                <a:cs typeface="Trebuchet MS"/>
              </a:rPr>
              <a:t>that</a:t>
            </a:r>
            <a:r>
              <a:rPr sz="2400" spc="10" dirty="0">
                <a:latin typeface="Trebuchet MS"/>
                <a:cs typeface="Trebuchet MS"/>
              </a:rPr>
              <a:t> </a:t>
            </a:r>
            <a:r>
              <a:rPr sz="2400" dirty="0">
                <a:latin typeface="Trebuchet MS"/>
                <a:cs typeface="Trebuchet MS"/>
              </a:rPr>
              <a:t>decision,</a:t>
            </a:r>
            <a:r>
              <a:rPr sz="2400" spc="5" dirty="0">
                <a:latin typeface="Trebuchet MS"/>
                <a:cs typeface="Trebuchet MS"/>
              </a:rPr>
              <a:t> </a:t>
            </a:r>
            <a:r>
              <a:rPr sz="2400" dirty="0">
                <a:latin typeface="Trebuchet MS"/>
                <a:cs typeface="Trebuchet MS"/>
              </a:rPr>
              <a:t>and</a:t>
            </a:r>
            <a:r>
              <a:rPr sz="2400" spc="5" dirty="0">
                <a:latin typeface="Trebuchet MS"/>
                <a:cs typeface="Trebuchet MS"/>
              </a:rPr>
              <a:t> </a:t>
            </a:r>
            <a:r>
              <a:rPr sz="2400" spc="-20" dirty="0">
                <a:latin typeface="Trebuchet MS"/>
                <a:cs typeface="Trebuchet MS"/>
              </a:rPr>
              <a:t>each 	</a:t>
            </a:r>
            <a:r>
              <a:rPr sz="2400" dirty="0">
                <a:latin typeface="Trebuchet MS"/>
                <a:cs typeface="Trebuchet MS"/>
              </a:rPr>
              <a:t>leaf</a:t>
            </a:r>
            <a:r>
              <a:rPr sz="2400" spc="450" dirty="0">
                <a:latin typeface="Trebuchet MS"/>
                <a:cs typeface="Trebuchet MS"/>
              </a:rPr>
              <a:t>  </a:t>
            </a:r>
            <a:r>
              <a:rPr sz="2400" dirty="0">
                <a:latin typeface="Trebuchet MS"/>
                <a:cs typeface="Trebuchet MS"/>
              </a:rPr>
              <a:t>node</a:t>
            </a:r>
            <a:r>
              <a:rPr sz="2400" spc="465" dirty="0">
                <a:latin typeface="Trebuchet MS"/>
                <a:cs typeface="Trebuchet MS"/>
              </a:rPr>
              <a:t>  </a:t>
            </a:r>
            <a:r>
              <a:rPr sz="2400" dirty="0">
                <a:latin typeface="Trebuchet MS"/>
                <a:cs typeface="Trebuchet MS"/>
              </a:rPr>
              <a:t>represents</a:t>
            </a:r>
            <a:r>
              <a:rPr sz="2400" spc="450" dirty="0">
                <a:latin typeface="Trebuchet MS"/>
                <a:cs typeface="Trebuchet MS"/>
              </a:rPr>
              <a:t>  </a:t>
            </a:r>
            <a:r>
              <a:rPr sz="2400" dirty="0">
                <a:latin typeface="Trebuchet MS"/>
                <a:cs typeface="Trebuchet MS"/>
              </a:rPr>
              <a:t>the</a:t>
            </a:r>
            <a:r>
              <a:rPr sz="2400" spc="450" dirty="0">
                <a:latin typeface="Trebuchet MS"/>
                <a:cs typeface="Trebuchet MS"/>
              </a:rPr>
              <a:t>  </a:t>
            </a:r>
            <a:r>
              <a:rPr sz="2400" spc="-55" dirty="0">
                <a:latin typeface="Trebuchet MS"/>
                <a:cs typeface="Trebuchet MS"/>
              </a:rPr>
              <a:t>final 	</a:t>
            </a:r>
            <a:r>
              <a:rPr sz="2400" spc="-10" dirty="0">
                <a:latin typeface="Trebuchet MS"/>
                <a:cs typeface="Trebuchet MS"/>
              </a:rPr>
              <a:t>prediction.</a:t>
            </a:r>
            <a:endParaRPr sz="2400">
              <a:latin typeface="Trebuchet MS"/>
              <a:cs typeface="Trebuchet MS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465189" y="247904"/>
            <a:ext cx="5101590" cy="6142990"/>
            <a:chOff x="6465189" y="247904"/>
            <a:chExt cx="5101590" cy="6142990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557391" y="247904"/>
              <a:ext cx="5009133" cy="318109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65189" y="3542525"/>
              <a:ext cx="5003038" cy="284822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6939" y="605155"/>
            <a:ext cx="7319645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100" dirty="0">
                <a:latin typeface="Trebuchet MS"/>
                <a:cs typeface="Trebuchet MS"/>
              </a:rPr>
              <a:t>How</a:t>
            </a:r>
            <a:r>
              <a:rPr spc="-450" dirty="0">
                <a:latin typeface="Trebuchet MS"/>
                <a:cs typeface="Trebuchet MS"/>
              </a:rPr>
              <a:t> </a:t>
            </a:r>
            <a:r>
              <a:rPr spc="-75" dirty="0">
                <a:latin typeface="Trebuchet MS"/>
                <a:cs typeface="Trebuchet MS"/>
              </a:rPr>
              <a:t>does</a:t>
            </a:r>
            <a:r>
              <a:rPr spc="-455" dirty="0">
                <a:latin typeface="Trebuchet MS"/>
                <a:cs typeface="Trebuchet MS"/>
              </a:rPr>
              <a:t> </a:t>
            </a:r>
            <a:r>
              <a:rPr spc="-170" dirty="0">
                <a:latin typeface="Trebuchet MS"/>
                <a:cs typeface="Trebuchet MS"/>
              </a:rPr>
              <a:t>a</a:t>
            </a:r>
            <a:r>
              <a:rPr spc="-455" dirty="0">
                <a:latin typeface="Trebuchet MS"/>
                <a:cs typeface="Trebuchet MS"/>
              </a:rPr>
              <a:t> </a:t>
            </a:r>
            <a:r>
              <a:rPr spc="-110" dirty="0">
                <a:latin typeface="Trebuchet MS"/>
                <a:cs typeface="Trebuchet MS"/>
              </a:rPr>
              <a:t>Decision</a:t>
            </a:r>
            <a:r>
              <a:rPr spc="-475" dirty="0">
                <a:latin typeface="Trebuchet MS"/>
                <a:cs typeface="Trebuchet MS"/>
              </a:rPr>
              <a:t> </a:t>
            </a:r>
            <a:r>
              <a:rPr spc="-390" dirty="0">
                <a:latin typeface="Trebuchet MS"/>
                <a:cs typeface="Trebuchet MS"/>
              </a:rPr>
              <a:t>Tree</a:t>
            </a:r>
            <a:r>
              <a:rPr spc="-455" dirty="0">
                <a:latin typeface="Trebuchet MS"/>
                <a:cs typeface="Trebuchet MS"/>
              </a:rPr>
              <a:t> </a:t>
            </a:r>
            <a:r>
              <a:rPr spc="-10" dirty="0">
                <a:latin typeface="Trebuchet MS"/>
                <a:cs typeface="Trebuchet MS"/>
              </a:rPr>
              <a:t>work?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98827" y="2345214"/>
            <a:ext cx="8491261" cy="3633551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7472045" cy="6858000"/>
          </a:xfrm>
          <a:custGeom>
            <a:avLst/>
            <a:gdLst/>
            <a:ahLst/>
            <a:cxnLst/>
            <a:rect l="l" t="t" r="r" b="b"/>
            <a:pathLst>
              <a:path w="7472045" h="6858000">
                <a:moveTo>
                  <a:pt x="5525516" y="0"/>
                </a:moveTo>
                <a:lnTo>
                  <a:pt x="0" y="0"/>
                </a:lnTo>
                <a:lnTo>
                  <a:pt x="0" y="6857999"/>
                </a:lnTo>
                <a:lnTo>
                  <a:pt x="6239764" y="6857999"/>
                </a:lnTo>
                <a:lnTo>
                  <a:pt x="6193250" y="6844361"/>
                </a:lnTo>
                <a:lnTo>
                  <a:pt x="6146997" y="6830265"/>
                </a:lnTo>
                <a:lnTo>
                  <a:pt x="6008950" y="6787309"/>
                </a:lnTo>
                <a:lnTo>
                  <a:pt x="5962890" y="6773463"/>
                </a:lnTo>
                <a:lnTo>
                  <a:pt x="5916667" y="6760201"/>
                </a:lnTo>
                <a:lnTo>
                  <a:pt x="5870194" y="6747730"/>
                </a:lnTo>
                <a:lnTo>
                  <a:pt x="5883527" y="6728336"/>
                </a:lnTo>
                <a:lnTo>
                  <a:pt x="5896848" y="6720612"/>
                </a:lnTo>
                <a:lnTo>
                  <a:pt x="5910146" y="6720222"/>
                </a:lnTo>
                <a:lnTo>
                  <a:pt x="5923407" y="6722833"/>
                </a:lnTo>
                <a:lnTo>
                  <a:pt x="5976985" y="6729798"/>
                </a:lnTo>
                <a:lnTo>
                  <a:pt x="6030845" y="6737060"/>
                </a:lnTo>
                <a:lnTo>
                  <a:pt x="6084697" y="6745507"/>
                </a:lnTo>
                <a:lnTo>
                  <a:pt x="6138254" y="6756030"/>
                </a:lnTo>
                <a:lnTo>
                  <a:pt x="6191224" y="6769517"/>
                </a:lnTo>
                <a:lnTo>
                  <a:pt x="6243320" y="6786858"/>
                </a:lnTo>
                <a:lnTo>
                  <a:pt x="6262249" y="6790581"/>
                </a:lnTo>
                <a:lnTo>
                  <a:pt x="6280547" y="6789970"/>
                </a:lnTo>
                <a:lnTo>
                  <a:pt x="6296202" y="6783356"/>
                </a:lnTo>
                <a:lnTo>
                  <a:pt x="6307201" y="6769073"/>
                </a:lnTo>
                <a:lnTo>
                  <a:pt x="6313202" y="6744896"/>
                </a:lnTo>
                <a:lnTo>
                  <a:pt x="6307201" y="6725056"/>
                </a:lnTo>
                <a:lnTo>
                  <a:pt x="6275197" y="6694373"/>
                </a:lnTo>
                <a:lnTo>
                  <a:pt x="6207300" y="6669474"/>
                </a:lnTo>
                <a:lnTo>
                  <a:pt x="6136640" y="6665912"/>
                </a:lnTo>
                <a:lnTo>
                  <a:pt x="6078151" y="6654206"/>
                </a:lnTo>
                <a:lnTo>
                  <a:pt x="6029918" y="6636274"/>
                </a:lnTo>
                <a:lnTo>
                  <a:pt x="5990955" y="6611227"/>
                </a:lnTo>
                <a:lnTo>
                  <a:pt x="5960280" y="6578177"/>
                </a:lnTo>
                <a:lnTo>
                  <a:pt x="5936906" y="6536232"/>
                </a:lnTo>
                <a:lnTo>
                  <a:pt x="5919851" y="6484505"/>
                </a:lnTo>
                <a:lnTo>
                  <a:pt x="5967078" y="6498567"/>
                </a:lnTo>
                <a:lnTo>
                  <a:pt x="6014231" y="6503359"/>
                </a:lnTo>
                <a:lnTo>
                  <a:pt x="6061253" y="6502240"/>
                </a:lnTo>
                <a:lnTo>
                  <a:pt x="6108087" y="6498570"/>
                </a:lnTo>
                <a:lnTo>
                  <a:pt x="6154674" y="6495709"/>
                </a:lnTo>
                <a:lnTo>
                  <a:pt x="6200956" y="6497017"/>
                </a:lnTo>
                <a:lnTo>
                  <a:pt x="6246876" y="6505854"/>
                </a:lnTo>
                <a:lnTo>
                  <a:pt x="6269695" y="6507687"/>
                </a:lnTo>
                <a:lnTo>
                  <a:pt x="6291215" y="6501852"/>
                </a:lnTo>
                <a:lnTo>
                  <a:pt x="6304759" y="6487346"/>
                </a:lnTo>
                <a:lnTo>
                  <a:pt x="6303645" y="6463169"/>
                </a:lnTo>
                <a:lnTo>
                  <a:pt x="6278356" y="6418702"/>
                </a:lnTo>
                <a:lnTo>
                  <a:pt x="6285197" y="6407139"/>
                </a:lnTo>
                <a:lnTo>
                  <a:pt x="6324981" y="6406248"/>
                </a:lnTo>
                <a:lnTo>
                  <a:pt x="6362986" y="6415701"/>
                </a:lnTo>
                <a:lnTo>
                  <a:pt x="6406992" y="6465278"/>
                </a:lnTo>
                <a:lnTo>
                  <a:pt x="6420993" y="6498742"/>
                </a:lnTo>
                <a:lnTo>
                  <a:pt x="6435699" y="6515133"/>
                </a:lnTo>
                <a:lnTo>
                  <a:pt x="6456442" y="6525856"/>
                </a:lnTo>
                <a:lnTo>
                  <a:pt x="6479876" y="6529246"/>
                </a:lnTo>
                <a:lnTo>
                  <a:pt x="6502654" y="6523634"/>
                </a:lnTo>
                <a:lnTo>
                  <a:pt x="6521546" y="6508852"/>
                </a:lnTo>
                <a:lnTo>
                  <a:pt x="6528435" y="6488066"/>
                </a:lnTo>
                <a:lnTo>
                  <a:pt x="6528658" y="6464610"/>
                </a:lnTo>
                <a:lnTo>
                  <a:pt x="6527546" y="6441821"/>
                </a:lnTo>
                <a:lnTo>
                  <a:pt x="6510211" y="6381351"/>
                </a:lnTo>
                <a:lnTo>
                  <a:pt x="6452870" y="6352895"/>
                </a:lnTo>
                <a:lnTo>
                  <a:pt x="6407329" y="6341558"/>
                </a:lnTo>
                <a:lnTo>
                  <a:pt x="6360097" y="6328886"/>
                </a:lnTo>
                <a:lnTo>
                  <a:pt x="6253988" y="6299542"/>
                </a:lnTo>
                <a:lnTo>
                  <a:pt x="6314254" y="6280533"/>
                </a:lnTo>
                <a:lnTo>
                  <a:pt x="6368542" y="6275530"/>
                </a:lnTo>
                <a:lnTo>
                  <a:pt x="6418830" y="6282533"/>
                </a:lnTo>
                <a:lnTo>
                  <a:pt x="6467094" y="6299542"/>
                </a:lnTo>
                <a:lnTo>
                  <a:pt x="6516495" y="6319293"/>
                </a:lnTo>
                <a:lnTo>
                  <a:pt x="6568780" y="6337164"/>
                </a:lnTo>
                <a:lnTo>
                  <a:pt x="6620887" y="6348718"/>
                </a:lnTo>
                <a:lnTo>
                  <a:pt x="6669758" y="6349515"/>
                </a:lnTo>
                <a:lnTo>
                  <a:pt x="6712331" y="6335115"/>
                </a:lnTo>
                <a:lnTo>
                  <a:pt x="6758917" y="6313819"/>
                </a:lnTo>
                <a:lnTo>
                  <a:pt x="6803244" y="6304677"/>
                </a:lnTo>
                <a:lnTo>
                  <a:pt x="6845999" y="6304430"/>
                </a:lnTo>
                <a:lnTo>
                  <a:pt x="6887864" y="6309817"/>
                </a:lnTo>
                <a:lnTo>
                  <a:pt x="6929525" y="6317576"/>
                </a:lnTo>
                <a:lnTo>
                  <a:pt x="6971665" y="6324447"/>
                </a:lnTo>
                <a:lnTo>
                  <a:pt x="7021021" y="6331921"/>
                </a:lnTo>
                <a:lnTo>
                  <a:pt x="7074728" y="6348420"/>
                </a:lnTo>
                <a:lnTo>
                  <a:pt x="7100013" y="6365624"/>
                </a:lnTo>
                <a:lnTo>
                  <a:pt x="7113839" y="6373977"/>
                </a:lnTo>
                <a:lnTo>
                  <a:pt x="7134772" y="6381891"/>
                </a:lnTo>
                <a:lnTo>
                  <a:pt x="7167547" y="6389160"/>
                </a:lnTo>
                <a:lnTo>
                  <a:pt x="7216902" y="6395580"/>
                </a:lnTo>
                <a:lnTo>
                  <a:pt x="7260137" y="6401697"/>
                </a:lnTo>
                <a:lnTo>
                  <a:pt x="7305439" y="6408670"/>
                </a:lnTo>
                <a:lnTo>
                  <a:pt x="7353989" y="6412227"/>
                </a:lnTo>
                <a:lnTo>
                  <a:pt x="7406971" y="6408102"/>
                </a:lnTo>
                <a:lnTo>
                  <a:pt x="7465568" y="6392024"/>
                </a:lnTo>
                <a:lnTo>
                  <a:pt x="7408631" y="6367348"/>
                </a:lnTo>
                <a:lnTo>
                  <a:pt x="7354056" y="6344759"/>
                </a:lnTo>
                <a:lnTo>
                  <a:pt x="7301652" y="6324043"/>
                </a:lnTo>
                <a:lnTo>
                  <a:pt x="7251228" y="6304991"/>
                </a:lnTo>
                <a:lnTo>
                  <a:pt x="7202592" y="6287390"/>
                </a:lnTo>
                <a:lnTo>
                  <a:pt x="7155553" y="6271028"/>
                </a:lnTo>
                <a:lnTo>
                  <a:pt x="7109921" y="6255695"/>
                </a:lnTo>
                <a:lnTo>
                  <a:pt x="7065504" y="6241179"/>
                </a:lnTo>
                <a:lnTo>
                  <a:pt x="6896164" y="6187051"/>
                </a:lnTo>
                <a:lnTo>
                  <a:pt x="6854955" y="6173445"/>
                </a:lnTo>
                <a:lnTo>
                  <a:pt x="6813814" y="6159387"/>
                </a:lnTo>
                <a:lnTo>
                  <a:pt x="6772550" y="6144666"/>
                </a:lnTo>
                <a:lnTo>
                  <a:pt x="6730972" y="6129069"/>
                </a:lnTo>
                <a:lnTo>
                  <a:pt x="6688889" y="6112385"/>
                </a:lnTo>
                <a:lnTo>
                  <a:pt x="6646109" y="6094403"/>
                </a:lnTo>
                <a:lnTo>
                  <a:pt x="6602441" y="6074910"/>
                </a:lnTo>
                <a:lnTo>
                  <a:pt x="6557695" y="6053697"/>
                </a:lnTo>
                <a:lnTo>
                  <a:pt x="6511678" y="6030550"/>
                </a:lnTo>
                <a:lnTo>
                  <a:pt x="6464201" y="6005259"/>
                </a:lnTo>
                <a:lnTo>
                  <a:pt x="6415071" y="5977612"/>
                </a:lnTo>
                <a:lnTo>
                  <a:pt x="6364097" y="5947397"/>
                </a:lnTo>
                <a:lnTo>
                  <a:pt x="6377432" y="5934721"/>
                </a:lnTo>
                <a:lnTo>
                  <a:pt x="6390767" y="5931384"/>
                </a:lnTo>
                <a:lnTo>
                  <a:pt x="6404102" y="5933383"/>
                </a:lnTo>
                <a:lnTo>
                  <a:pt x="6417437" y="5936716"/>
                </a:lnTo>
                <a:lnTo>
                  <a:pt x="6439478" y="5940274"/>
                </a:lnTo>
                <a:lnTo>
                  <a:pt x="6460887" y="5941166"/>
                </a:lnTo>
                <a:lnTo>
                  <a:pt x="6478320" y="5932721"/>
                </a:lnTo>
                <a:lnTo>
                  <a:pt x="6488430" y="5908268"/>
                </a:lnTo>
                <a:lnTo>
                  <a:pt x="6486597" y="5884869"/>
                </a:lnTo>
                <a:lnTo>
                  <a:pt x="6476429" y="5867806"/>
                </a:lnTo>
                <a:lnTo>
                  <a:pt x="6458927" y="5856744"/>
                </a:lnTo>
                <a:lnTo>
                  <a:pt x="6435090" y="5851347"/>
                </a:lnTo>
                <a:lnTo>
                  <a:pt x="6384431" y="5841468"/>
                </a:lnTo>
                <a:lnTo>
                  <a:pt x="6335249" y="5826846"/>
                </a:lnTo>
                <a:lnTo>
                  <a:pt x="6287246" y="5808667"/>
                </a:lnTo>
                <a:lnTo>
                  <a:pt x="6240122" y="5788116"/>
                </a:lnTo>
                <a:lnTo>
                  <a:pt x="6147308" y="5744641"/>
                </a:lnTo>
                <a:lnTo>
                  <a:pt x="6089142" y="5708627"/>
                </a:lnTo>
                <a:lnTo>
                  <a:pt x="6073906" y="5679112"/>
                </a:lnTo>
                <a:lnTo>
                  <a:pt x="6076315" y="5637923"/>
                </a:lnTo>
                <a:lnTo>
                  <a:pt x="6101134" y="5631591"/>
                </a:lnTo>
                <a:lnTo>
                  <a:pt x="6123321" y="5635263"/>
                </a:lnTo>
                <a:lnTo>
                  <a:pt x="6144199" y="5642935"/>
                </a:lnTo>
                <a:lnTo>
                  <a:pt x="6165088" y="5648604"/>
                </a:lnTo>
                <a:lnTo>
                  <a:pt x="6191796" y="5648269"/>
                </a:lnTo>
                <a:lnTo>
                  <a:pt x="6221492" y="5643264"/>
                </a:lnTo>
                <a:lnTo>
                  <a:pt x="6242544" y="5635592"/>
                </a:lnTo>
                <a:lnTo>
                  <a:pt x="6243320" y="5627255"/>
                </a:lnTo>
                <a:lnTo>
                  <a:pt x="6221013" y="5607449"/>
                </a:lnTo>
                <a:lnTo>
                  <a:pt x="6218603" y="5583352"/>
                </a:lnTo>
                <a:lnTo>
                  <a:pt x="6227698" y="5557639"/>
                </a:lnTo>
                <a:lnTo>
                  <a:pt x="6239908" y="5532984"/>
                </a:lnTo>
                <a:lnTo>
                  <a:pt x="6246841" y="5512062"/>
                </a:lnTo>
                <a:lnTo>
                  <a:pt x="6240108" y="5497547"/>
                </a:lnTo>
                <a:lnTo>
                  <a:pt x="6211316" y="5492115"/>
                </a:lnTo>
                <a:lnTo>
                  <a:pt x="6164376" y="5487328"/>
                </a:lnTo>
                <a:lnTo>
                  <a:pt x="6121057" y="5474321"/>
                </a:lnTo>
                <a:lnTo>
                  <a:pt x="6080507" y="5455122"/>
                </a:lnTo>
                <a:lnTo>
                  <a:pt x="6041874" y="5431760"/>
                </a:lnTo>
                <a:lnTo>
                  <a:pt x="5966952" y="5380658"/>
                </a:lnTo>
                <a:lnTo>
                  <a:pt x="5928959" y="5356976"/>
                </a:lnTo>
                <a:lnTo>
                  <a:pt x="5889476" y="5337244"/>
                </a:lnTo>
                <a:lnTo>
                  <a:pt x="5847650" y="5323490"/>
                </a:lnTo>
                <a:lnTo>
                  <a:pt x="5802630" y="5317744"/>
                </a:lnTo>
                <a:lnTo>
                  <a:pt x="5786573" y="5312354"/>
                </a:lnTo>
                <a:lnTo>
                  <a:pt x="5775516" y="5298630"/>
                </a:lnTo>
                <a:lnTo>
                  <a:pt x="5769126" y="5280239"/>
                </a:lnTo>
                <a:lnTo>
                  <a:pt x="5767070" y="5260848"/>
                </a:lnTo>
                <a:lnTo>
                  <a:pt x="5771349" y="5241734"/>
                </a:lnTo>
                <a:lnTo>
                  <a:pt x="5782628" y="5230622"/>
                </a:lnTo>
                <a:lnTo>
                  <a:pt x="5798574" y="5224843"/>
                </a:lnTo>
                <a:lnTo>
                  <a:pt x="5816854" y="5221732"/>
                </a:lnTo>
                <a:lnTo>
                  <a:pt x="5846912" y="5225399"/>
                </a:lnTo>
                <a:lnTo>
                  <a:pt x="5878624" y="5232400"/>
                </a:lnTo>
                <a:lnTo>
                  <a:pt x="5912313" y="5228732"/>
                </a:lnTo>
                <a:lnTo>
                  <a:pt x="5948299" y="5200396"/>
                </a:lnTo>
                <a:lnTo>
                  <a:pt x="5902306" y="5182220"/>
                </a:lnTo>
                <a:lnTo>
                  <a:pt x="5858567" y="5161675"/>
                </a:lnTo>
                <a:lnTo>
                  <a:pt x="5819950" y="5136388"/>
                </a:lnTo>
                <a:lnTo>
                  <a:pt x="5789323" y="5103988"/>
                </a:lnTo>
                <a:lnTo>
                  <a:pt x="5769556" y="5062107"/>
                </a:lnTo>
                <a:lnTo>
                  <a:pt x="5763514" y="5008372"/>
                </a:lnTo>
                <a:lnTo>
                  <a:pt x="5756978" y="4987536"/>
                </a:lnTo>
                <a:lnTo>
                  <a:pt x="5740464" y="4972367"/>
                </a:lnTo>
                <a:lnTo>
                  <a:pt x="5718616" y="4961866"/>
                </a:lnTo>
                <a:lnTo>
                  <a:pt x="5696077" y="4955032"/>
                </a:lnTo>
                <a:lnTo>
                  <a:pt x="5660740" y="4942732"/>
                </a:lnTo>
                <a:lnTo>
                  <a:pt x="5629402" y="4926076"/>
                </a:lnTo>
                <a:lnTo>
                  <a:pt x="5602066" y="4903418"/>
                </a:lnTo>
                <a:lnTo>
                  <a:pt x="5578729" y="4873117"/>
                </a:lnTo>
                <a:lnTo>
                  <a:pt x="5578729" y="4844669"/>
                </a:lnTo>
                <a:lnTo>
                  <a:pt x="5590222" y="4791385"/>
                </a:lnTo>
                <a:lnTo>
                  <a:pt x="5614346" y="4760633"/>
                </a:lnTo>
                <a:lnTo>
                  <a:pt x="5648370" y="4747632"/>
                </a:lnTo>
                <a:lnTo>
                  <a:pt x="5689563" y="4747604"/>
                </a:lnTo>
                <a:lnTo>
                  <a:pt x="5735193" y="4755769"/>
                </a:lnTo>
                <a:lnTo>
                  <a:pt x="5781391" y="4767737"/>
                </a:lnTo>
                <a:lnTo>
                  <a:pt x="5827790" y="4780397"/>
                </a:lnTo>
                <a:lnTo>
                  <a:pt x="5874592" y="4790884"/>
                </a:lnTo>
                <a:lnTo>
                  <a:pt x="5921996" y="4796333"/>
                </a:lnTo>
                <a:lnTo>
                  <a:pt x="5970205" y="4793880"/>
                </a:lnTo>
                <a:lnTo>
                  <a:pt x="6019419" y="4780661"/>
                </a:lnTo>
                <a:lnTo>
                  <a:pt x="5972760" y="4764559"/>
                </a:lnTo>
                <a:lnTo>
                  <a:pt x="5925369" y="4751149"/>
                </a:lnTo>
                <a:lnTo>
                  <a:pt x="5877565" y="4739437"/>
                </a:lnTo>
                <a:lnTo>
                  <a:pt x="5829670" y="4728428"/>
                </a:lnTo>
                <a:lnTo>
                  <a:pt x="5782006" y="4717126"/>
                </a:lnTo>
                <a:lnTo>
                  <a:pt x="5734892" y="4704536"/>
                </a:lnTo>
                <a:lnTo>
                  <a:pt x="5688650" y="4689663"/>
                </a:lnTo>
                <a:lnTo>
                  <a:pt x="5643601" y="4671512"/>
                </a:lnTo>
                <a:lnTo>
                  <a:pt x="5600065" y="4649089"/>
                </a:lnTo>
                <a:lnTo>
                  <a:pt x="5650878" y="4648512"/>
                </a:lnTo>
                <a:lnTo>
                  <a:pt x="5701282" y="4649760"/>
                </a:lnTo>
                <a:lnTo>
                  <a:pt x="5751304" y="4652722"/>
                </a:lnTo>
                <a:lnTo>
                  <a:pt x="5800972" y="4657289"/>
                </a:lnTo>
                <a:lnTo>
                  <a:pt x="5850312" y="4663354"/>
                </a:lnTo>
                <a:lnTo>
                  <a:pt x="5899352" y="4670807"/>
                </a:lnTo>
                <a:lnTo>
                  <a:pt x="5948119" y="4679539"/>
                </a:lnTo>
                <a:lnTo>
                  <a:pt x="5996640" y="4689441"/>
                </a:lnTo>
                <a:lnTo>
                  <a:pt x="6044943" y="4700405"/>
                </a:lnTo>
                <a:lnTo>
                  <a:pt x="6093055" y="4712322"/>
                </a:lnTo>
                <a:lnTo>
                  <a:pt x="6141002" y="4725083"/>
                </a:lnTo>
                <a:lnTo>
                  <a:pt x="6188814" y="4738579"/>
                </a:lnTo>
                <a:lnTo>
                  <a:pt x="6236515" y="4752701"/>
                </a:lnTo>
                <a:lnTo>
                  <a:pt x="6284135" y="4767341"/>
                </a:lnTo>
                <a:lnTo>
                  <a:pt x="6331700" y="4782390"/>
                </a:lnTo>
                <a:lnTo>
                  <a:pt x="6379237" y="4797738"/>
                </a:lnTo>
                <a:lnTo>
                  <a:pt x="6569653" y="4859955"/>
                </a:lnTo>
                <a:lnTo>
                  <a:pt x="6617460" y="4875170"/>
                </a:lnTo>
                <a:lnTo>
                  <a:pt x="6665404" y="4890033"/>
                </a:lnTo>
                <a:lnTo>
                  <a:pt x="6713510" y="4904433"/>
                </a:lnTo>
                <a:lnTo>
                  <a:pt x="6761806" y="4918263"/>
                </a:lnTo>
                <a:lnTo>
                  <a:pt x="6810321" y="4931414"/>
                </a:lnTo>
                <a:lnTo>
                  <a:pt x="6859080" y="4943776"/>
                </a:lnTo>
                <a:lnTo>
                  <a:pt x="6908111" y="4955241"/>
                </a:lnTo>
                <a:lnTo>
                  <a:pt x="6957441" y="4965700"/>
                </a:lnTo>
                <a:lnTo>
                  <a:pt x="6942626" y="4928344"/>
                </a:lnTo>
                <a:lnTo>
                  <a:pt x="6921500" y="4904692"/>
                </a:lnTo>
                <a:lnTo>
                  <a:pt x="6897041" y="4891065"/>
                </a:lnTo>
                <a:lnTo>
                  <a:pt x="6821668" y="4868590"/>
                </a:lnTo>
                <a:lnTo>
                  <a:pt x="6772220" y="4850984"/>
                </a:lnTo>
                <a:lnTo>
                  <a:pt x="6723712" y="4831330"/>
                </a:lnTo>
                <a:lnTo>
                  <a:pt x="6675972" y="4809990"/>
                </a:lnTo>
                <a:lnTo>
                  <a:pt x="6628829" y="4787328"/>
                </a:lnTo>
                <a:lnTo>
                  <a:pt x="6582113" y="4763705"/>
                </a:lnTo>
                <a:lnTo>
                  <a:pt x="6442817" y="4690704"/>
                </a:lnTo>
                <a:lnTo>
                  <a:pt x="6396101" y="4666869"/>
                </a:lnTo>
                <a:lnTo>
                  <a:pt x="6351485" y="4641754"/>
                </a:lnTo>
                <a:lnTo>
                  <a:pt x="6313869" y="4612640"/>
                </a:lnTo>
                <a:lnTo>
                  <a:pt x="6283587" y="4576857"/>
                </a:lnTo>
                <a:lnTo>
                  <a:pt x="6260973" y="4531741"/>
                </a:lnTo>
                <a:lnTo>
                  <a:pt x="6240822" y="4490495"/>
                </a:lnTo>
                <a:lnTo>
                  <a:pt x="6211300" y="4463621"/>
                </a:lnTo>
                <a:lnTo>
                  <a:pt x="6171087" y="4452106"/>
                </a:lnTo>
                <a:lnTo>
                  <a:pt x="6118860" y="4456938"/>
                </a:lnTo>
                <a:lnTo>
                  <a:pt x="6070317" y="4463938"/>
                </a:lnTo>
                <a:lnTo>
                  <a:pt x="6020737" y="4464939"/>
                </a:lnTo>
                <a:lnTo>
                  <a:pt x="5970467" y="4461938"/>
                </a:lnTo>
                <a:lnTo>
                  <a:pt x="5919851" y="4456938"/>
                </a:lnTo>
                <a:lnTo>
                  <a:pt x="5874738" y="4445757"/>
                </a:lnTo>
                <a:lnTo>
                  <a:pt x="5832502" y="4423824"/>
                </a:lnTo>
                <a:lnTo>
                  <a:pt x="5798611" y="4395746"/>
                </a:lnTo>
                <a:lnTo>
                  <a:pt x="5777738" y="4339590"/>
                </a:lnTo>
                <a:lnTo>
                  <a:pt x="5808518" y="4307697"/>
                </a:lnTo>
                <a:lnTo>
                  <a:pt x="5845286" y="4300474"/>
                </a:lnTo>
                <a:lnTo>
                  <a:pt x="5884698" y="4306585"/>
                </a:lnTo>
                <a:lnTo>
                  <a:pt x="5923407" y="4314698"/>
                </a:lnTo>
                <a:lnTo>
                  <a:pt x="6031357" y="4328922"/>
                </a:lnTo>
                <a:lnTo>
                  <a:pt x="6075819" y="4333700"/>
                </a:lnTo>
                <a:lnTo>
                  <a:pt x="6093968" y="4332478"/>
                </a:lnTo>
                <a:lnTo>
                  <a:pt x="6113562" y="4279925"/>
                </a:lnTo>
                <a:lnTo>
                  <a:pt x="6137944" y="4254743"/>
                </a:lnTo>
                <a:lnTo>
                  <a:pt x="6165804" y="4249902"/>
                </a:lnTo>
                <a:lnTo>
                  <a:pt x="6195835" y="4258372"/>
                </a:lnTo>
                <a:lnTo>
                  <a:pt x="6226728" y="4273124"/>
                </a:lnTo>
                <a:lnTo>
                  <a:pt x="6257174" y="4287131"/>
                </a:lnTo>
                <a:lnTo>
                  <a:pt x="6285865" y="4293362"/>
                </a:lnTo>
                <a:lnTo>
                  <a:pt x="6331147" y="4296362"/>
                </a:lnTo>
                <a:lnTo>
                  <a:pt x="6376083" y="4304030"/>
                </a:lnTo>
                <a:lnTo>
                  <a:pt x="6420329" y="4314364"/>
                </a:lnTo>
                <a:lnTo>
                  <a:pt x="6463538" y="4325366"/>
                </a:lnTo>
                <a:lnTo>
                  <a:pt x="6518359" y="4330533"/>
                </a:lnTo>
                <a:lnTo>
                  <a:pt x="6571488" y="4324032"/>
                </a:lnTo>
                <a:lnTo>
                  <a:pt x="6623951" y="4312864"/>
                </a:lnTo>
                <a:lnTo>
                  <a:pt x="6676771" y="4304030"/>
                </a:lnTo>
                <a:lnTo>
                  <a:pt x="6708831" y="4284860"/>
                </a:lnTo>
                <a:lnTo>
                  <a:pt x="6719888" y="4246689"/>
                </a:lnTo>
                <a:lnTo>
                  <a:pt x="6726277" y="4202517"/>
                </a:lnTo>
                <a:lnTo>
                  <a:pt x="6744335" y="4165346"/>
                </a:lnTo>
                <a:lnTo>
                  <a:pt x="6751447" y="4154678"/>
                </a:lnTo>
                <a:lnTo>
                  <a:pt x="6765671" y="4154678"/>
                </a:lnTo>
                <a:lnTo>
                  <a:pt x="6776483" y="4096573"/>
                </a:lnTo>
                <a:lnTo>
                  <a:pt x="6797808" y="4049563"/>
                </a:lnTo>
                <a:lnTo>
                  <a:pt x="6827667" y="4012491"/>
                </a:lnTo>
                <a:lnTo>
                  <a:pt x="6864081" y="3984202"/>
                </a:lnTo>
                <a:lnTo>
                  <a:pt x="6905068" y="3963540"/>
                </a:lnTo>
                <a:lnTo>
                  <a:pt x="6948648" y="3949349"/>
                </a:lnTo>
                <a:lnTo>
                  <a:pt x="6992842" y="3940471"/>
                </a:lnTo>
                <a:lnTo>
                  <a:pt x="7035670" y="3935753"/>
                </a:lnTo>
                <a:lnTo>
                  <a:pt x="7075151" y="3934037"/>
                </a:lnTo>
                <a:lnTo>
                  <a:pt x="7109305" y="3934167"/>
                </a:lnTo>
                <a:lnTo>
                  <a:pt x="7153713" y="3935344"/>
                </a:lnTo>
                <a:lnTo>
                  <a:pt x="7160006" y="3934079"/>
                </a:lnTo>
                <a:lnTo>
                  <a:pt x="7185232" y="3929800"/>
                </a:lnTo>
                <a:lnTo>
                  <a:pt x="7212457" y="3934523"/>
                </a:lnTo>
                <a:lnTo>
                  <a:pt x="7241016" y="3934579"/>
                </a:lnTo>
                <a:lnTo>
                  <a:pt x="7237916" y="3881317"/>
                </a:lnTo>
                <a:lnTo>
                  <a:pt x="7203677" y="3849470"/>
                </a:lnTo>
                <a:lnTo>
                  <a:pt x="7167699" y="3820395"/>
                </a:lnTo>
                <a:lnTo>
                  <a:pt x="7130153" y="3793726"/>
                </a:lnTo>
                <a:lnTo>
                  <a:pt x="7091211" y="3769097"/>
                </a:lnTo>
                <a:lnTo>
                  <a:pt x="7051045" y="3746146"/>
                </a:lnTo>
                <a:lnTo>
                  <a:pt x="7009827" y="3724505"/>
                </a:lnTo>
                <a:lnTo>
                  <a:pt x="6967728" y="3703812"/>
                </a:lnTo>
                <a:lnTo>
                  <a:pt x="6924921" y="3683700"/>
                </a:lnTo>
                <a:lnTo>
                  <a:pt x="6837869" y="3643763"/>
                </a:lnTo>
                <a:lnTo>
                  <a:pt x="6793968" y="3623208"/>
                </a:lnTo>
                <a:lnTo>
                  <a:pt x="6750047" y="3601776"/>
                </a:lnTo>
                <a:lnTo>
                  <a:pt x="6706276" y="3579102"/>
                </a:lnTo>
                <a:lnTo>
                  <a:pt x="6662828" y="3554821"/>
                </a:lnTo>
                <a:lnTo>
                  <a:pt x="6619875" y="3528567"/>
                </a:lnTo>
                <a:lnTo>
                  <a:pt x="6669384" y="3520149"/>
                </a:lnTo>
                <a:lnTo>
                  <a:pt x="6715500" y="3520809"/>
                </a:lnTo>
                <a:lnTo>
                  <a:pt x="6758703" y="3528684"/>
                </a:lnTo>
                <a:lnTo>
                  <a:pt x="6799472" y="3541915"/>
                </a:lnTo>
                <a:lnTo>
                  <a:pt x="6838287" y="3558640"/>
                </a:lnTo>
                <a:lnTo>
                  <a:pt x="6911974" y="3595127"/>
                </a:lnTo>
                <a:lnTo>
                  <a:pt x="6947805" y="3611167"/>
                </a:lnTo>
                <a:lnTo>
                  <a:pt x="6983602" y="3623255"/>
                </a:lnTo>
                <a:lnTo>
                  <a:pt x="7019843" y="3629532"/>
                </a:lnTo>
                <a:lnTo>
                  <a:pt x="7057009" y="3628136"/>
                </a:lnTo>
                <a:lnTo>
                  <a:pt x="7069812" y="3611266"/>
                </a:lnTo>
                <a:lnTo>
                  <a:pt x="7070428" y="3593031"/>
                </a:lnTo>
                <a:lnTo>
                  <a:pt x="7062863" y="3573985"/>
                </a:lnTo>
                <a:lnTo>
                  <a:pt x="7051123" y="3554683"/>
                </a:lnTo>
                <a:lnTo>
                  <a:pt x="7039213" y="3535680"/>
                </a:lnTo>
                <a:lnTo>
                  <a:pt x="7031141" y="3517530"/>
                </a:lnTo>
                <a:lnTo>
                  <a:pt x="7030911" y="3500788"/>
                </a:lnTo>
                <a:lnTo>
                  <a:pt x="7042529" y="3486009"/>
                </a:lnTo>
                <a:lnTo>
                  <a:pt x="7070002" y="3473748"/>
                </a:lnTo>
                <a:lnTo>
                  <a:pt x="7117334" y="3464560"/>
                </a:lnTo>
                <a:lnTo>
                  <a:pt x="7068979" y="3436766"/>
                </a:lnTo>
                <a:lnTo>
                  <a:pt x="7025384" y="3408631"/>
                </a:lnTo>
                <a:lnTo>
                  <a:pt x="6985368" y="3379813"/>
                </a:lnTo>
                <a:lnTo>
                  <a:pt x="6947748" y="3349971"/>
                </a:lnTo>
                <a:lnTo>
                  <a:pt x="6911340" y="3318764"/>
                </a:lnTo>
                <a:lnTo>
                  <a:pt x="6872121" y="3279288"/>
                </a:lnTo>
                <a:lnTo>
                  <a:pt x="6842729" y="3242041"/>
                </a:lnTo>
                <a:lnTo>
                  <a:pt x="6822979" y="3205347"/>
                </a:lnTo>
                <a:lnTo>
                  <a:pt x="6812685" y="3167531"/>
                </a:lnTo>
                <a:lnTo>
                  <a:pt x="6811658" y="3126918"/>
                </a:lnTo>
                <a:lnTo>
                  <a:pt x="6819714" y="3081833"/>
                </a:lnTo>
                <a:lnTo>
                  <a:pt x="6836664" y="3030601"/>
                </a:lnTo>
                <a:lnTo>
                  <a:pt x="6853374" y="2988389"/>
                </a:lnTo>
                <a:lnTo>
                  <a:pt x="6869590" y="2946569"/>
                </a:lnTo>
                <a:lnTo>
                  <a:pt x="6882448" y="2904347"/>
                </a:lnTo>
                <a:lnTo>
                  <a:pt x="6889082" y="2860929"/>
                </a:lnTo>
                <a:lnTo>
                  <a:pt x="6886629" y="2815521"/>
                </a:lnTo>
                <a:lnTo>
                  <a:pt x="6872224" y="2767329"/>
                </a:lnTo>
                <a:lnTo>
                  <a:pt x="6860304" y="2729807"/>
                </a:lnTo>
                <a:lnTo>
                  <a:pt x="6860496" y="2700135"/>
                </a:lnTo>
                <a:lnTo>
                  <a:pt x="6875525" y="2681047"/>
                </a:lnTo>
                <a:lnTo>
                  <a:pt x="6908118" y="2675272"/>
                </a:lnTo>
                <a:lnTo>
                  <a:pt x="6960997" y="2685541"/>
                </a:lnTo>
                <a:lnTo>
                  <a:pt x="7011958" y="2693987"/>
                </a:lnTo>
                <a:lnTo>
                  <a:pt x="7051054" y="2687912"/>
                </a:lnTo>
                <a:lnTo>
                  <a:pt x="7078298" y="2668206"/>
                </a:lnTo>
                <a:lnTo>
                  <a:pt x="7093698" y="2635758"/>
                </a:lnTo>
                <a:lnTo>
                  <a:pt x="7097267" y="2591456"/>
                </a:lnTo>
                <a:lnTo>
                  <a:pt x="7089013" y="2536190"/>
                </a:lnTo>
                <a:lnTo>
                  <a:pt x="7082733" y="2487239"/>
                </a:lnTo>
                <a:lnTo>
                  <a:pt x="7092109" y="2456624"/>
                </a:lnTo>
                <a:lnTo>
                  <a:pt x="7119464" y="2442678"/>
                </a:lnTo>
                <a:lnTo>
                  <a:pt x="7167118" y="2443734"/>
                </a:lnTo>
                <a:lnTo>
                  <a:pt x="7209616" y="2451800"/>
                </a:lnTo>
                <a:lnTo>
                  <a:pt x="7295960" y="2474849"/>
                </a:lnTo>
                <a:lnTo>
                  <a:pt x="7341400" y="2483508"/>
                </a:lnTo>
                <a:lnTo>
                  <a:pt x="7389415" y="2486043"/>
                </a:lnTo>
                <a:lnTo>
                  <a:pt x="7440803" y="2479294"/>
                </a:lnTo>
                <a:lnTo>
                  <a:pt x="7412501" y="2441775"/>
                </a:lnTo>
                <a:lnTo>
                  <a:pt x="7379512" y="2413187"/>
                </a:lnTo>
                <a:lnTo>
                  <a:pt x="7342902" y="2391351"/>
                </a:lnTo>
                <a:lnTo>
                  <a:pt x="7303737" y="2374087"/>
                </a:lnTo>
                <a:lnTo>
                  <a:pt x="7263083" y="2359215"/>
                </a:lnTo>
                <a:lnTo>
                  <a:pt x="7222006" y="2344557"/>
                </a:lnTo>
                <a:lnTo>
                  <a:pt x="7181572" y="2327932"/>
                </a:lnTo>
                <a:lnTo>
                  <a:pt x="7142847" y="2307163"/>
                </a:lnTo>
                <a:lnTo>
                  <a:pt x="7106898" y="2280069"/>
                </a:lnTo>
                <a:lnTo>
                  <a:pt x="7074789" y="2244471"/>
                </a:lnTo>
                <a:lnTo>
                  <a:pt x="7131417" y="2244602"/>
                </a:lnTo>
                <a:lnTo>
                  <a:pt x="7184404" y="2245524"/>
                </a:lnTo>
                <a:lnTo>
                  <a:pt x="7234238" y="2248027"/>
                </a:lnTo>
                <a:lnTo>
                  <a:pt x="7281404" y="2252900"/>
                </a:lnTo>
                <a:lnTo>
                  <a:pt x="7326390" y="2260933"/>
                </a:lnTo>
                <a:lnTo>
                  <a:pt x="7369683" y="2272919"/>
                </a:lnTo>
                <a:lnTo>
                  <a:pt x="7396685" y="2280642"/>
                </a:lnTo>
                <a:lnTo>
                  <a:pt x="7423007" y="2284031"/>
                </a:lnTo>
                <a:lnTo>
                  <a:pt x="7446639" y="2277419"/>
                </a:lnTo>
                <a:lnTo>
                  <a:pt x="7465568" y="2255139"/>
                </a:lnTo>
                <a:lnTo>
                  <a:pt x="7471756" y="2223468"/>
                </a:lnTo>
                <a:lnTo>
                  <a:pt x="7458964" y="2201799"/>
                </a:lnTo>
                <a:lnTo>
                  <a:pt x="7436172" y="2188130"/>
                </a:lnTo>
                <a:lnTo>
                  <a:pt x="7412355" y="2180463"/>
                </a:lnTo>
                <a:lnTo>
                  <a:pt x="7365230" y="2162028"/>
                </a:lnTo>
                <a:lnTo>
                  <a:pt x="7321196" y="2137961"/>
                </a:lnTo>
                <a:lnTo>
                  <a:pt x="7279045" y="2110310"/>
                </a:lnTo>
                <a:lnTo>
                  <a:pt x="7237571" y="2081122"/>
                </a:lnTo>
                <a:lnTo>
                  <a:pt x="7195566" y="2052447"/>
                </a:lnTo>
                <a:lnTo>
                  <a:pt x="7153586" y="2025572"/>
                </a:lnTo>
                <a:lnTo>
                  <a:pt x="7068472" y="1972257"/>
                </a:lnTo>
                <a:lnTo>
                  <a:pt x="7025818" y="1944986"/>
                </a:lnTo>
                <a:lnTo>
                  <a:pt x="6983421" y="1916751"/>
                </a:lnTo>
                <a:lnTo>
                  <a:pt x="6941521" y="1887137"/>
                </a:lnTo>
                <a:lnTo>
                  <a:pt x="6900359" y="1855728"/>
                </a:lnTo>
                <a:lnTo>
                  <a:pt x="6860174" y="1822108"/>
                </a:lnTo>
                <a:lnTo>
                  <a:pt x="6821208" y="1785863"/>
                </a:lnTo>
                <a:lnTo>
                  <a:pt x="6783700" y="1746576"/>
                </a:lnTo>
                <a:lnTo>
                  <a:pt x="6747891" y="1703832"/>
                </a:lnTo>
                <a:lnTo>
                  <a:pt x="6799838" y="1719973"/>
                </a:lnTo>
                <a:lnTo>
                  <a:pt x="6849472" y="1739187"/>
                </a:lnTo>
                <a:lnTo>
                  <a:pt x="6897380" y="1760332"/>
                </a:lnTo>
                <a:lnTo>
                  <a:pt x="6990356" y="1803853"/>
                </a:lnTo>
                <a:lnTo>
                  <a:pt x="7036595" y="1823945"/>
                </a:lnTo>
                <a:lnTo>
                  <a:pt x="7083449" y="1841403"/>
                </a:lnTo>
                <a:lnTo>
                  <a:pt x="7131503" y="1855086"/>
                </a:lnTo>
                <a:lnTo>
                  <a:pt x="7181342" y="1863852"/>
                </a:lnTo>
                <a:lnTo>
                  <a:pt x="7147767" y="1827516"/>
                </a:lnTo>
                <a:lnTo>
                  <a:pt x="7112870" y="1793044"/>
                </a:lnTo>
                <a:lnTo>
                  <a:pt x="7076813" y="1760227"/>
                </a:lnTo>
                <a:lnTo>
                  <a:pt x="7039756" y="1728855"/>
                </a:lnTo>
                <a:lnTo>
                  <a:pt x="7001859" y="1698718"/>
                </a:lnTo>
                <a:lnTo>
                  <a:pt x="6963283" y="1669605"/>
                </a:lnTo>
                <a:lnTo>
                  <a:pt x="6924189" y="1641307"/>
                </a:lnTo>
                <a:lnTo>
                  <a:pt x="6884736" y="1613614"/>
                </a:lnTo>
                <a:lnTo>
                  <a:pt x="6765835" y="1532067"/>
                </a:lnTo>
                <a:lnTo>
                  <a:pt x="6726555" y="1504696"/>
                </a:lnTo>
                <a:lnTo>
                  <a:pt x="6692495" y="1481730"/>
                </a:lnTo>
                <a:lnTo>
                  <a:pt x="6662103" y="1457467"/>
                </a:lnTo>
                <a:lnTo>
                  <a:pt x="6639044" y="1426561"/>
                </a:lnTo>
                <a:lnTo>
                  <a:pt x="6626987" y="1383664"/>
                </a:lnTo>
                <a:lnTo>
                  <a:pt x="6617256" y="1335540"/>
                </a:lnTo>
                <a:lnTo>
                  <a:pt x="6603784" y="1290042"/>
                </a:lnTo>
                <a:lnTo>
                  <a:pt x="6586154" y="1247460"/>
                </a:lnTo>
                <a:lnTo>
                  <a:pt x="6563948" y="1208087"/>
                </a:lnTo>
                <a:lnTo>
                  <a:pt x="6536747" y="1172214"/>
                </a:lnTo>
                <a:lnTo>
                  <a:pt x="6504133" y="1140134"/>
                </a:lnTo>
                <a:lnTo>
                  <a:pt x="6465688" y="1112138"/>
                </a:lnTo>
                <a:lnTo>
                  <a:pt x="6420993" y="1088516"/>
                </a:lnTo>
                <a:lnTo>
                  <a:pt x="6431534" y="1056386"/>
                </a:lnTo>
                <a:lnTo>
                  <a:pt x="6476766" y="1062572"/>
                </a:lnTo>
                <a:lnTo>
                  <a:pt x="6520284" y="1079359"/>
                </a:lnTo>
                <a:lnTo>
                  <a:pt x="6564643" y="1097689"/>
                </a:lnTo>
                <a:lnTo>
                  <a:pt x="6612399" y="1108502"/>
                </a:lnTo>
                <a:lnTo>
                  <a:pt x="6666103" y="1102740"/>
                </a:lnTo>
                <a:lnTo>
                  <a:pt x="6630835" y="1063416"/>
                </a:lnTo>
                <a:lnTo>
                  <a:pt x="6596392" y="1025769"/>
                </a:lnTo>
                <a:lnTo>
                  <a:pt x="6561943" y="990130"/>
                </a:lnTo>
                <a:lnTo>
                  <a:pt x="6526657" y="956833"/>
                </a:lnTo>
                <a:lnTo>
                  <a:pt x="6489705" y="926209"/>
                </a:lnTo>
                <a:lnTo>
                  <a:pt x="6450255" y="898590"/>
                </a:lnTo>
                <a:lnTo>
                  <a:pt x="6407477" y="874307"/>
                </a:lnTo>
                <a:lnTo>
                  <a:pt x="6360541" y="853694"/>
                </a:lnTo>
                <a:lnTo>
                  <a:pt x="6319564" y="839463"/>
                </a:lnTo>
                <a:lnTo>
                  <a:pt x="6277162" y="825190"/>
                </a:lnTo>
                <a:lnTo>
                  <a:pt x="6234253" y="809500"/>
                </a:lnTo>
                <a:lnTo>
                  <a:pt x="6191758" y="791019"/>
                </a:lnTo>
                <a:lnTo>
                  <a:pt x="6150597" y="768370"/>
                </a:lnTo>
                <a:lnTo>
                  <a:pt x="6111689" y="740179"/>
                </a:lnTo>
                <a:lnTo>
                  <a:pt x="6075954" y="705071"/>
                </a:lnTo>
                <a:lnTo>
                  <a:pt x="6044311" y="661670"/>
                </a:lnTo>
                <a:lnTo>
                  <a:pt x="6095199" y="652973"/>
                </a:lnTo>
                <a:lnTo>
                  <a:pt x="6142008" y="654730"/>
                </a:lnTo>
                <a:lnTo>
                  <a:pt x="6185751" y="663681"/>
                </a:lnTo>
                <a:lnTo>
                  <a:pt x="6227439" y="676564"/>
                </a:lnTo>
                <a:lnTo>
                  <a:pt x="6268085" y="690117"/>
                </a:lnTo>
                <a:lnTo>
                  <a:pt x="6319638" y="708161"/>
                </a:lnTo>
                <a:lnTo>
                  <a:pt x="6525778" y="782310"/>
                </a:lnTo>
                <a:lnTo>
                  <a:pt x="6577330" y="800353"/>
                </a:lnTo>
                <a:lnTo>
                  <a:pt x="6606927" y="808688"/>
                </a:lnTo>
                <a:lnTo>
                  <a:pt x="6635893" y="808354"/>
                </a:lnTo>
                <a:lnTo>
                  <a:pt x="6662216" y="793353"/>
                </a:lnTo>
                <a:lnTo>
                  <a:pt x="6683883" y="757682"/>
                </a:lnTo>
                <a:lnTo>
                  <a:pt x="6630643" y="747449"/>
                </a:lnTo>
                <a:lnTo>
                  <a:pt x="6582927" y="729811"/>
                </a:lnTo>
                <a:lnTo>
                  <a:pt x="6539745" y="706073"/>
                </a:lnTo>
                <a:lnTo>
                  <a:pt x="6500107" y="677539"/>
                </a:lnTo>
                <a:lnTo>
                  <a:pt x="6463022" y="645512"/>
                </a:lnTo>
                <a:lnTo>
                  <a:pt x="6427498" y="611298"/>
                </a:lnTo>
                <a:lnTo>
                  <a:pt x="6392545" y="576199"/>
                </a:lnTo>
                <a:lnTo>
                  <a:pt x="6358432" y="540361"/>
                </a:lnTo>
                <a:lnTo>
                  <a:pt x="6322330" y="508190"/>
                </a:lnTo>
                <a:lnTo>
                  <a:pt x="6279585" y="488688"/>
                </a:lnTo>
                <a:lnTo>
                  <a:pt x="6225540" y="490854"/>
                </a:lnTo>
                <a:lnTo>
                  <a:pt x="6196481" y="491355"/>
                </a:lnTo>
                <a:lnTo>
                  <a:pt x="6174423" y="478853"/>
                </a:lnTo>
                <a:lnTo>
                  <a:pt x="6161032" y="456350"/>
                </a:lnTo>
                <a:lnTo>
                  <a:pt x="6157976" y="426847"/>
                </a:lnTo>
                <a:lnTo>
                  <a:pt x="6158543" y="368706"/>
                </a:lnTo>
                <a:lnTo>
                  <a:pt x="6146369" y="321387"/>
                </a:lnTo>
                <a:lnTo>
                  <a:pt x="6123503" y="283518"/>
                </a:lnTo>
                <a:lnTo>
                  <a:pt x="6091993" y="253730"/>
                </a:lnTo>
                <a:lnTo>
                  <a:pt x="6053886" y="230650"/>
                </a:lnTo>
                <a:lnTo>
                  <a:pt x="6011232" y="212909"/>
                </a:lnTo>
                <a:lnTo>
                  <a:pt x="5919687" y="185111"/>
                </a:lnTo>
                <a:lnTo>
                  <a:pt x="5874212" y="168867"/>
                </a:lnTo>
                <a:lnTo>
                  <a:pt x="5829504" y="150745"/>
                </a:lnTo>
                <a:lnTo>
                  <a:pt x="5785416" y="131088"/>
                </a:lnTo>
                <a:lnTo>
                  <a:pt x="5741797" y="110236"/>
                </a:lnTo>
                <a:lnTo>
                  <a:pt x="5698498" y="88530"/>
                </a:lnTo>
                <a:lnTo>
                  <a:pt x="5569029" y="21705"/>
                </a:lnTo>
                <a:lnTo>
                  <a:pt x="5525516" y="0"/>
                </a:lnTo>
                <a:close/>
              </a:path>
            </a:pathLst>
          </a:custGeom>
          <a:solidFill>
            <a:srgbClr val="E8E8E8">
              <a:alpha val="5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35280" rIns="0" bIns="0" rtlCol="0">
            <a:spAutoFit/>
          </a:bodyPr>
          <a:lstStyle/>
          <a:p>
            <a:pPr marL="614680">
              <a:lnSpc>
                <a:spcPct val="100000"/>
              </a:lnSpc>
              <a:spcBef>
                <a:spcPts val="100"/>
              </a:spcBef>
            </a:pPr>
            <a:r>
              <a:rPr sz="3600" spc="-280" dirty="0">
                <a:latin typeface="Trebuchet MS"/>
                <a:cs typeface="Trebuchet MS"/>
              </a:rPr>
              <a:t>Training</a:t>
            </a:r>
            <a:r>
              <a:rPr sz="3600" spc="-340" dirty="0">
                <a:latin typeface="Trebuchet MS"/>
                <a:cs typeface="Trebuchet MS"/>
              </a:rPr>
              <a:t> </a:t>
            </a:r>
            <a:r>
              <a:rPr sz="3600" spc="-155" dirty="0">
                <a:latin typeface="Trebuchet MS"/>
                <a:cs typeface="Trebuchet MS"/>
              </a:rPr>
              <a:t>phase:</a:t>
            </a:r>
            <a:r>
              <a:rPr sz="3600" spc="-370" dirty="0">
                <a:latin typeface="Trebuchet MS"/>
                <a:cs typeface="Trebuchet MS"/>
              </a:rPr>
              <a:t> </a:t>
            </a:r>
            <a:r>
              <a:rPr sz="3600" spc="-95" dirty="0">
                <a:latin typeface="Trebuchet MS"/>
                <a:cs typeface="Trebuchet MS"/>
              </a:rPr>
              <a:t>Decision</a:t>
            </a:r>
            <a:r>
              <a:rPr sz="3600" spc="-325" dirty="0">
                <a:latin typeface="Trebuchet MS"/>
                <a:cs typeface="Trebuchet MS"/>
              </a:rPr>
              <a:t> Tree</a:t>
            </a:r>
            <a:r>
              <a:rPr sz="3600" spc="-350" dirty="0">
                <a:latin typeface="Trebuchet MS"/>
                <a:cs typeface="Trebuchet MS"/>
              </a:rPr>
              <a:t> </a:t>
            </a:r>
            <a:r>
              <a:rPr sz="3600" spc="-125" dirty="0">
                <a:latin typeface="Trebuchet MS"/>
                <a:cs typeface="Trebuchet MS"/>
              </a:rPr>
              <a:t>Induction</a:t>
            </a:r>
            <a:endParaRPr sz="360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33373" y="1564640"/>
            <a:ext cx="10071735" cy="4037965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12700" marR="5080">
              <a:lnSpc>
                <a:spcPts val="2520"/>
              </a:lnSpc>
              <a:spcBef>
                <a:spcPts val="480"/>
              </a:spcBef>
            </a:pPr>
            <a:r>
              <a:rPr sz="2400" dirty="0">
                <a:latin typeface="Times New Roman"/>
                <a:cs typeface="Times New Roman"/>
              </a:rPr>
              <a:t>Decision</a:t>
            </a:r>
            <a:r>
              <a:rPr sz="2400" spc="15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tree</a:t>
            </a:r>
            <a:r>
              <a:rPr sz="2400" spc="16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induction</a:t>
            </a:r>
            <a:r>
              <a:rPr sz="2400" spc="15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refers</a:t>
            </a:r>
            <a:r>
              <a:rPr sz="2400" spc="16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to</a:t>
            </a:r>
            <a:r>
              <a:rPr sz="2400" spc="1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1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process</a:t>
            </a:r>
            <a:r>
              <a:rPr sz="2400" spc="16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of</a:t>
            </a:r>
            <a:r>
              <a:rPr sz="2400" spc="15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generating</a:t>
            </a:r>
            <a:r>
              <a:rPr sz="2400" spc="1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</a:t>
            </a:r>
            <a:r>
              <a:rPr sz="2400" spc="15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decision</a:t>
            </a:r>
            <a:r>
              <a:rPr sz="2400" spc="1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tree</a:t>
            </a:r>
            <a:r>
              <a:rPr sz="2400" spc="16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from</a:t>
            </a:r>
            <a:r>
              <a:rPr sz="2400" spc="160" dirty="0">
                <a:latin typeface="Times New Roman"/>
                <a:cs typeface="Times New Roman"/>
              </a:rPr>
              <a:t> </a:t>
            </a:r>
            <a:r>
              <a:rPr sz="2400" spc="-50" dirty="0">
                <a:latin typeface="Times New Roman"/>
                <a:cs typeface="Times New Roman"/>
              </a:rPr>
              <a:t>a </a:t>
            </a:r>
            <a:r>
              <a:rPr sz="2400" dirty="0">
                <a:latin typeface="Times New Roman"/>
                <a:cs typeface="Times New Roman"/>
              </a:rPr>
              <a:t>given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data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20" dirty="0">
                <a:latin typeface="Times New Roman"/>
                <a:cs typeface="Times New Roman"/>
              </a:rPr>
              <a:t>set.</a:t>
            </a:r>
            <a:endParaRPr sz="2400">
              <a:latin typeface="Times New Roman"/>
              <a:cs typeface="Times New Roman"/>
            </a:endParaRPr>
          </a:p>
          <a:p>
            <a:pPr marL="324485" indent="-311785">
              <a:lnSpc>
                <a:spcPct val="100000"/>
              </a:lnSpc>
              <a:spcBef>
                <a:spcPts val="675"/>
              </a:spcBef>
              <a:buAutoNum type="arabicPeriod"/>
              <a:tabLst>
                <a:tab pos="324485" algn="l"/>
              </a:tabLst>
            </a:pPr>
            <a:r>
              <a:rPr sz="2400" spc="-35" dirty="0">
                <a:latin typeface="Trebuchet MS"/>
                <a:cs typeface="Trebuchet MS"/>
              </a:rPr>
              <a:t>Select</a:t>
            </a:r>
            <a:r>
              <a:rPr sz="2400" spc="-195" dirty="0">
                <a:latin typeface="Trebuchet MS"/>
                <a:cs typeface="Trebuchet MS"/>
              </a:rPr>
              <a:t> </a:t>
            </a:r>
            <a:r>
              <a:rPr sz="2400" spc="-80" dirty="0">
                <a:latin typeface="Trebuchet MS"/>
                <a:cs typeface="Trebuchet MS"/>
              </a:rPr>
              <a:t>the</a:t>
            </a:r>
            <a:r>
              <a:rPr sz="2400" spc="-204" dirty="0">
                <a:latin typeface="Trebuchet MS"/>
                <a:cs typeface="Trebuchet MS"/>
              </a:rPr>
              <a:t> </a:t>
            </a:r>
            <a:r>
              <a:rPr sz="2400" dirty="0">
                <a:latin typeface="Trebuchet MS"/>
                <a:cs typeface="Trebuchet MS"/>
              </a:rPr>
              <a:t>Best</a:t>
            </a:r>
            <a:r>
              <a:rPr sz="2400" spc="-229" dirty="0">
                <a:latin typeface="Trebuchet MS"/>
                <a:cs typeface="Trebuchet MS"/>
              </a:rPr>
              <a:t> </a:t>
            </a:r>
            <a:r>
              <a:rPr sz="2400" spc="-80" dirty="0">
                <a:latin typeface="Trebuchet MS"/>
                <a:cs typeface="Trebuchet MS"/>
              </a:rPr>
              <a:t>Feature</a:t>
            </a:r>
            <a:r>
              <a:rPr sz="2400" spc="-185" dirty="0">
                <a:latin typeface="Trebuchet MS"/>
                <a:cs typeface="Trebuchet MS"/>
              </a:rPr>
              <a:t> </a:t>
            </a:r>
            <a:r>
              <a:rPr sz="2400" spc="-90" dirty="0">
                <a:latin typeface="Trebuchet MS"/>
                <a:cs typeface="Trebuchet MS"/>
              </a:rPr>
              <a:t>to</a:t>
            </a:r>
            <a:r>
              <a:rPr sz="2400" spc="-220" dirty="0">
                <a:latin typeface="Trebuchet MS"/>
                <a:cs typeface="Trebuchet MS"/>
              </a:rPr>
              <a:t> </a:t>
            </a:r>
            <a:r>
              <a:rPr sz="2400" spc="-10" dirty="0">
                <a:latin typeface="Trebuchet MS"/>
                <a:cs typeface="Trebuchet MS"/>
              </a:rPr>
              <a:t>Split:</a:t>
            </a:r>
            <a:endParaRPr sz="2400">
              <a:latin typeface="Trebuchet MS"/>
              <a:cs typeface="Trebuchet MS"/>
            </a:endParaRPr>
          </a:p>
          <a:p>
            <a:pPr marL="698500" lvl="1" indent="-228600">
              <a:lnSpc>
                <a:spcPct val="100000"/>
              </a:lnSpc>
              <a:spcBef>
                <a:spcPts val="290"/>
              </a:spcBef>
              <a:buFont typeface="Arial MT"/>
              <a:buChar char="•"/>
              <a:tabLst>
                <a:tab pos="698500" algn="l"/>
              </a:tabLst>
            </a:pPr>
            <a:r>
              <a:rPr sz="2000" spc="60" dirty="0">
                <a:latin typeface="Trebuchet MS"/>
                <a:cs typeface="Trebuchet MS"/>
              </a:rPr>
              <a:t>Choose</a:t>
            </a:r>
            <a:r>
              <a:rPr sz="2000" spc="-185" dirty="0">
                <a:latin typeface="Trebuchet MS"/>
                <a:cs typeface="Trebuchet MS"/>
              </a:rPr>
              <a:t> </a:t>
            </a:r>
            <a:r>
              <a:rPr sz="2000" spc="-65" dirty="0">
                <a:latin typeface="Trebuchet MS"/>
                <a:cs typeface="Trebuchet MS"/>
              </a:rPr>
              <a:t>the</a:t>
            </a:r>
            <a:r>
              <a:rPr sz="2000" spc="-180" dirty="0">
                <a:latin typeface="Trebuchet MS"/>
                <a:cs typeface="Trebuchet MS"/>
              </a:rPr>
              <a:t> </a:t>
            </a:r>
            <a:r>
              <a:rPr sz="2000" spc="-80" dirty="0">
                <a:latin typeface="Trebuchet MS"/>
                <a:cs typeface="Trebuchet MS"/>
              </a:rPr>
              <a:t>feature</a:t>
            </a:r>
            <a:r>
              <a:rPr sz="2000" spc="-175" dirty="0">
                <a:latin typeface="Trebuchet MS"/>
                <a:cs typeface="Trebuchet MS"/>
              </a:rPr>
              <a:t> </a:t>
            </a:r>
            <a:r>
              <a:rPr sz="2000" spc="-75" dirty="0">
                <a:latin typeface="Trebuchet MS"/>
                <a:cs typeface="Trebuchet MS"/>
              </a:rPr>
              <a:t>that</a:t>
            </a:r>
            <a:r>
              <a:rPr sz="2000" spc="-180" dirty="0">
                <a:latin typeface="Trebuchet MS"/>
                <a:cs typeface="Trebuchet MS"/>
              </a:rPr>
              <a:t> </a:t>
            </a:r>
            <a:r>
              <a:rPr sz="2000" spc="-20" dirty="0">
                <a:latin typeface="Trebuchet MS"/>
                <a:cs typeface="Trebuchet MS"/>
              </a:rPr>
              <a:t>results</a:t>
            </a:r>
            <a:r>
              <a:rPr sz="2000" spc="-160" dirty="0">
                <a:latin typeface="Trebuchet MS"/>
                <a:cs typeface="Trebuchet MS"/>
              </a:rPr>
              <a:t> </a:t>
            </a:r>
            <a:r>
              <a:rPr sz="2000" spc="-50" dirty="0">
                <a:latin typeface="Trebuchet MS"/>
                <a:cs typeface="Trebuchet MS"/>
              </a:rPr>
              <a:t>in</a:t>
            </a:r>
            <a:r>
              <a:rPr sz="2000" spc="-165" dirty="0">
                <a:latin typeface="Trebuchet MS"/>
                <a:cs typeface="Trebuchet MS"/>
              </a:rPr>
              <a:t> </a:t>
            </a:r>
            <a:r>
              <a:rPr sz="2000" spc="-65" dirty="0">
                <a:latin typeface="Trebuchet MS"/>
                <a:cs typeface="Trebuchet MS"/>
              </a:rPr>
              <a:t>the</a:t>
            </a:r>
            <a:r>
              <a:rPr sz="2000" spc="-170" dirty="0">
                <a:latin typeface="Trebuchet MS"/>
                <a:cs typeface="Trebuchet MS"/>
              </a:rPr>
              <a:t> </a:t>
            </a:r>
            <a:r>
              <a:rPr sz="2000" spc="-50" dirty="0">
                <a:latin typeface="Trebuchet MS"/>
                <a:cs typeface="Trebuchet MS"/>
              </a:rPr>
              <a:t>largest</a:t>
            </a:r>
            <a:r>
              <a:rPr sz="2000" spc="-150" dirty="0">
                <a:latin typeface="Trebuchet MS"/>
                <a:cs typeface="Trebuchet MS"/>
              </a:rPr>
              <a:t> </a:t>
            </a:r>
            <a:r>
              <a:rPr sz="2000" spc="-40" dirty="0">
                <a:latin typeface="Trebuchet MS"/>
                <a:cs typeface="Trebuchet MS"/>
              </a:rPr>
              <a:t>gain</a:t>
            </a:r>
            <a:r>
              <a:rPr sz="2000" spc="-175" dirty="0">
                <a:latin typeface="Trebuchet MS"/>
                <a:cs typeface="Trebuchet MS"/>
              </a:rPr>
              <a:t> </a:t>
            </a:r>
            <a:r>
              <a:rPr sz="2000" spc="-50" dirty="0">
                <a:latin typeface="Trebuchet MS"/>
                <a:cs typeface="Trebuchet MS"/>
              </a:rPr>
              <a:t>in</a:t>
            </a:r>
            <a:r>
              <a:rPr sz="2000" spc="-165" dirty="0">
                <a:latin typeface="Trebuchet MS"/>
                <a:cs typeface="Trebuchet MS"/>
              </a:rPr>
              <a:t> </a:t>
            </a:r>
            <a:r>
              <a:rPr sz="2000" spc="-10" dirty="0">
                <a:latin typeface="Trebuchet MS"/>
                <a:cs typeface="Trebuchet MS"/>
              </a:rPr>
              <a:t>information.</a:t>
            </a:r>
            <a:endParaRPr sz="2000">
              <a:latin typeface="Trebuchet MS"/>
              <a:cs typeface="Trebuchet MS"/>
            </a:endParaRPr>
          </a:p>
          <a:p>
            <a:pPr marL="415925" indent="-311785">
              <a:lnSpc>
                <a:spcPct val="100000"/>
              </a:lnSpc>
              <a:spcBef>
                <a:spcPts val="190"/>
              </a:spcBef>
              <a:buAutoNum type="arabicPeriod"/>
              <a:tabLst>
                <a:tab pos="415925" algn="l"/>
              </a:tabLst>
            </a:pPr>
            <a:r>
              <a:rPr sz="2400" spc="-50" dirty="0">
                <a:latin typeface="Trebuchet MS"/>
                <a:cs typeface="Trebuchet MS"/>
              </a:rPr>
              <a:t>Split</a:t>
            </a:r>
            <a:r>
              <a:rPr sz="2400" spc="-195" dirty="0">
                <a:latin typeface="Trebuchet MS"/>
                <a:cs typeface="Trebuchet MS"/>
              </a:rPr>
              <a:t> </a:t>
            </a:r>
            <a:r>
              <a:rPr sz="2400" spc="-80" dirty="0">
                <a:latin typeface="Trebuchet MS"/>
                <a:cs typeface="Trebuchet MS"/>
              </a:rPr>
              <a:t>the</a:t>
            </a:r>
            <a:r>
              <a:rPr sz="2400" spc="-204" dirty="0">
                <a:latin typeface="Trebuchet MS"/>
                <a:cs typeface="Trebuchet MS"/>
              </a:rPr>
              <a:t> </a:t>
            </a:r>
            <a:r>
              <a:rPr sz="2400" spc="-10" dirty="0">
                <a:latin typeface="Trebuchet MS"/>
                <a:cs typeface="Trebuchet MS"/>
              </a:rPr>
              <a:t>Dataset:</a:t>
            </a:r>
            <a:endParaRPr sz="2400">
              <a:latin typeface="Trebuchet MS"/>
              <a:cs typeface="Trebuchet MS"/>
            </a:endParaRPr>
          </a:p>
          <a:p>
            <a:pPr marL="698500" lvl="1" indent="-228600">
              <a:lnSpc>
                <a:spcPct val="100000"/>
              </a:lnSpc>
              <a:spcBef>
                <a:spcPts val="280"/>
              </a:spcBef>
              <a:buFont typeface="Arial MT"/>
              <a:buChar char="•"/>
              <a:tabLst>
                <a:tab pos="698500" algn="l"/>
              </a:tabLst>
            </a:pPr>
            <a:r>
              <a:rPr sz="2000" spc="-40" dirty="0">
                <a:latin typeface="Trebuchet MS"/>
                <a:cs typeface="Trebuchet MS"/>
              </a:rPr>
              <a:t>Divide</a:t>
            </a:r>
            <a:r>
              <a:rPr sz="2000" spc="-145" dirty="0">
                <a:latin typeface="Trebuchet MS"/>
                <a:cs typeface="Trebuchet MS"/>
              </a:rPr>
              <a:t> </a:t>
            </a:r>
            <a:r>
              <a:rPr sz="2000" spc="-65" dirty="0">
                <a:latin typeface="Trebuchet MS"/>
                <a:cs typeface="Trebuchet MS"/>
              </a:rPr>
              <a:t>the</a:t>
            </a:r>
            <a:r>
              <a:rPr sz="2000" spc="-110" dirty="0">
                <a:latin typeface="Trebuchet MS"/>
                <a:cs typeface="Trebuchet MS"/>
              </a:rPr>
              <a:t> </a:t>
            </a:r>
            <a:r>
              <a:rPr sz="2000" spc="-30" dirty="0">
                <a:latin typeface="Trebuchet MS"/>
                <a:cs typeface="Trebuchet MS"/>
              </a:rPr>
              <a:t>dataset</a:t>
            </a:r>
            <a:r>
              <a:rPr sz="2000" spc="-120" dirty="0">
                <a:latin typeface="Trebuchet MS"/>
                <a:cs typeface="Trebuchet MS"/>
              </a:rPr>
              <a:t> </a:t>
            </a:r>
            <a:r>
              <a:rPr sz="2000" spc="-60" dirty="0">
                <a:latin typeface="Trebuchet MS"/>
                <a:cs typeface="Trebuchet MS"/>
              </a:rPr>
              <a:t>into</a:t>
            </a:r>
            <a:r>
              <a:rPr sz="2000" spc="-125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subsets</a:t>
            </a:r>
            <a:r>
              <a:rPr sz="2000" spc="-105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based</a:t>
            </a:r>
            <a:r>
              <a:rPr sz="2000" spc="-105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on</a:t>
            </a:r>
            <a:r>
              <a:rPr sz="2000" spc="-120" dirty="0">
                <a:latin typeface="Trebuchet MS"/>
                <a:cs typeface="Trebuchet MS"/>
              </a:rPr>
              <a:t> </a:t>
            </a:r>
            <a:r>
              <a:rPr sz="2000" spc="-65" dirty="0">
                <a:latin typeface="Trebuchet MS"/>
                <a:cs typeface="Trebuchet MS"/>
              </a:rPr>
              <a:t>the</a:t>
            </a:r>
            <a:r>
              <a:rPr sz="2000" spc="-110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chosen</a:t>
            </a:r>
            <a:r>
              <a:rPr sz="2000" spc="-120" dirty="0">
                <a:latin typeface="Trebuchet MS"/>
                <a:cs typeface="Trebuchet MS"/>
              </a:rPr>
              <a:t> </a:t>
            </a:r>
            <a:r>
              <a:rPr sz="2000" spc="-80" dirty="0">
                <a:latin typeface="Trebuchet MS"/>
                <a:cs typeface="Trebuchet MS"/>
              </a:rPr>
              <a:t>feature</a:t>
            </a:r>
            <a:r>
              <a:rPr sz="2000" spc="-135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and</a:t>
            </a:r>
            <a:r>
              <a:rPr sz="2000" spc="-114" dirty="0">
                <a:latin typeface="Trebuchet MS"/>
                <a:cs typeface="Trebuchet MS"/>
              </a:rPr>
              <a:t> </a:t>
            </a:r>
            <a:r>
              <a:rPr sz="2000" spc="-10" dirty="0">
                <a:latin typeface="Trebuchet MS"/>
                <a:cs typeface="Trebuchet MS"/>
              </a:rPr>
              <a:t>condition.</a:t>
            </a:r>
            <a:endParaRPr sz="2000">
              <a:latin typeface="Trebuchet MS"/>
              <a:cs typeface="Trebuchet MS"/>
            </a:endParaRPr>
          </a:p>
          <a:p>
            <a:pPr marL="324485" indent="-311785">
              <a:lnSpc>
                <a:spcPct val="100000"/>
              </a:lnSpc>
              <a:spcBef>
                <a:spcPts val="695"/>
              </a:spcBef>
              <a:buAutoNum type="arabicPeriod"/>
              <a:tabLst>
                <a:tab pos="324485" algn="l"/>
              </a:tabLst>
            </a:pPr>
            <a:r>
              <a:rPr sz="2400" spc="-55" dirty="0">
                <a:latin typeface="Trebuchet MS"/>
                <a:cs typeface="Trebuchet MS"/>
              </a:rPr>
              <a:t>Repeat</a:t>
            </a:r>
            <a:r>
              <a:rPr sz="2400" spc="-200" dirty="0">
                <a:latin typeface="Trebuchet MS"/>
                <a:cs typeface="Trebuchet MS"/>
              </a:rPr>
              <a:t> </a:t>
            </a:r>
            <a:r>
              <a:rPr sz="2400" spc="-114" dirty="0">
                <a:latin typeface="Trebuchet MS"/>
                <a:cs typeface="Trebuchet MS"/>
              </a:rPr>
              <a:t>for</a:t>
            </a:r>
            <a:r>
              <a:rPr sz="2400" spc="-210" dirty="0">
                <a:latin typeface="Trebuchet MS"/>
                <a:cs typeface="Trebuchet MS"/>
              </a:rPr>
              <a:t> </a:t>
            </a:r>
            <a:r>
              <a:rPr sz="2400" spc="40" dirty="0">
                <a:latin typeface="Trebuchet MS"/>
                <a:cs typeface="Trebuchet MS"/>
              </a:rPr>
              <a:t>Subsets</a:t>
            </a:r>
            <a:endParaRPr sz="2400">
              <a:latin typeface="Trebuchet MS"/>
              <a:cs typeface="Trebuchet MS"/>
            </a:endParaRPr>
          </a:p>
          <a:p>
            <a:pPr marL="698500" lvl="1" indent="-228600">
              <a:lnSpc>
                <a:spcPts val="2510"/>
              </a:lnSpc>
              <a:spcBef>
                <a:spcPts val="245"/>
              </a:spcBef>
              <a:buFont typeface="Arial MT"/>
              <a:buChar char="•"/>
              <a:tabLst>
                <a:tab pos="698500" algn="l"/>
              </a:tabLst>
            </a:pPr>
            <a:r>
              <a:rPr sz="2200" spc="-30" dirty="0">
                <a:latin typeface="Trebuchet MS"/>
                <a:cs typeface="Trebuchet MS"/>
              </a:rPr>
              <a:t>Apply</a:t>
            </a:r>
            <a:r>
              <a:rPr sz="2200" spc="-40" dirty="0">
                <a:latin typeface="Trebuchet MS"/>
                <a:cs typeface="Trebuchet MS"/>
              </a:rPr>
              <a:t> </a:t>
            </a:r>
            <a:r>
              <a:rPr sz="2200" spc="-70" dirty="0">
                <a:latin typeface="Trebuchet MS"/>
                <a:cs typeface="Trebuchet MS"/>
              </a:rPr>
              <a:t>the</a:t>
            </a:r>
            <a:r>
              <a:rPr sz="2200" spc="-45" dirty="0">
                <a:latin typeface="Trebuchet MS"/>
                <a:cs typeface="Trebuchet MS"/>
              </a:rPr>
              <a:t> </a:t>
            </a:r>
            <a:r>
              <a:rPr sz="2200" spc="50" dirty="0">
                <a:latin typeface="Trebuchet MS"/>
                <a:cs typeface="Trebuchet MS"/>
              </a:rPr>
              <a:t>same</a:t>
            </a:r>
            <a:r>
              <a:rPr sz="2200" spc="-50" dirty="0">
                <a:latin typeface="Trebuchet MS"/>
                <a:cs typeface="Trebuchet MS"/>
              </a:rPr>
              <a:t> </a:t>
            </a:r>
            <a:r>
              <a:rPr sz="2200" dirty="0">
                <a:latin typeface="Trebuchet MS"/>
                <a:cs typeface="Trebuchet MS"/>
              </a:rPr>
              <a:t>process</a:t>
            </a:r>
            <a:r>
              <a:rPr sz="2200" spc="-45" dirty="0">
                <a:latin typeface="Trebuchet MS"/>
                <a:cs typeface="Trebuchet MS"/>
              </a:rPr>
              <a:t> </a:t>
            </a:r>
            <a:r>
              <a:rPr sz="2200" dirty="0">
                <a:latin typeface="Trebuchet MS"/>
                <a:cs typeface="Trebuchet MS"/>
              </a:rPr>
              <a:t>on</a:t>
            </a:r>
            <a:r>
              <a:rPr sz="2200" spc="-40" dirty="0">
                <a:latin typeface="Trebuchet MS"/>
                <a:cs typeface="Trebuchet MS"/>
              </a:rPr>
              <a:t> </a:t>
            </a:r>
            <a:r>
              <a:rPr sz="2200" dirty="0">
                <a:latin typeface="Trebuchet MS"/>
                <a:cs typeface="Trebuchet MS"/>
              </a:rPr>
              <a:t>each</a:t>
            </a:r>
            <a:r>
              <a:rPr sz="2200" spc="-35" dirty="0">
                <a:latin typeface="Trebuchet MS"/>
                <a:cs typeface="Trebuchet MS"/>
              </a:rPr>
              <a:t> </a:t>
            </a:r>
            <a:r>
              <a:rPr sz="2200" dirty="0">
                <a:latin typeface="Trebuchet MS"/>
                <a:cs typeface="Trebuchet MS"/>
              </a:rPr>
              <a:t>subset</a:t>
            </a:r>
            <a:r>
              <a:rPr sz="2200" spc="-35" dirty="0">
                <a:latin typeface="Trebuchet MS"/>
                <a:cs typeface="Trebuchet MS"/>
              </a:rPr>
              <a:t> </a:t>
            </a:r>
            <a:r>
              <a:rPr sz="2200" spc="-85" dirty="0">
                <a:latin typeface="Trebuchet MS"/>
                <a:cs typeface="Trebuchet MS"/>
              </a:rPr>
              <a:t>to</a:t>
            </a:r>
            <a:r>
              <a:rPr sz="2200" spc="-40" dirty="0">
                <a:latin typeface="Trebuchet MS"/>
                <a:cs typeface="Trebuchet MS"/>
              </a:rPr>
              <a:t> </a:t>
            </a:r>
            <a:r>
              <a:rPr sz="2200" spc="-70" dirty="0">
                <a:latin typeface="Trebuchet MS"/>
                <a:cs typeface="Trebuchet MS"/>
              </a:rPr>
              <a:t>create</a:t>
            </a:r>
            <a:r>
              <a:rPr sz="2200" spc="-50" dirty="0">
                <a:latin typeface="Trebuchet MS"/>
                <a:cs typeface="Trebuchet MS"/>
              </a:rPr>
              <a:t> </a:t>
            </a:r>
            <a:r>
              <a:rPr sz="2200" spc="-90" dirty="0">
                <a:latin typeface="Trebuchet MS"/>
                <a:cs typeface="Trebuchet MS"/>
              </a:rPr>
              <a:t>further</a:t>
            </a:r>
            <a:r>
              <a:rPr sz="2200" spc="-45" dirty="0">
                <a:latin typeface="Trebuchet MS"/>
                <a:cs typeface="Trebuchet MS"/>
              </a:rPr>
              <a:t> </a:t>
            </a:r>
            <a:r>
              <a:rPr sz="2200" dirty="0">
                <a:latin typeface="Trebuchet MS"/>
                <a:cs typeface="Trebuchet MS"/>
              </a:rPr>
              <a:t>decision</a:t>
            </a:r>
            <a:r>
              <a:rPr sz="2200" spc="-40" dirty="0">
                <a:latin typeface="Trebuchet MS"/>
                <a:cs typeface="Trebuchet MS"/>
              </a:rPr>
              <a:t> </a:t>
            </a:r>
            <a:r>
              <a:rPr sz="2200" dirty="0">
                <a:latin typeface="Trebuchet MS"/>
                <a:cs typeface="Trebuchet MS"/>
              </a:rPr>
              <a:t>nodes</a:t>
            </a:r>
            <a:r>
              <a:rPr sz="2200" spc="-40" dirty="0">
                <a:latin typeface="Trebuchet MS"/>
                <a:cs typeface="Trebuchet MS"/>
              </a:rPr>
              <a:t> </a:t>
            </a:r>
            <a:r>
              <a:rPr sz="2200" spc="-25" dirty="0">
                <a:latin typeface="Trebuchet MS"/>
                <a:cs typeface="Trebuchet MS"/>
              </a:rPr>
              <a:t>and</a:t>
            </a:r>
            <a:endParaRPr sz="2200">
              <a:latin typeface="Trebuchet MS"/>
              <a:cs typeface="Trebuchet MS"/>
            </a:endParaRPr>
          </a:p>
          <a:p>
            <a:pPr marL="698500">
              <a:lnSpc>
                <a:spcPts val="2510"/>
              </a:lnSpc>
            </a:pPr>
            <a:r>
              <a:rPr sz="2200" spc="-80" dirty="0">
                <a:latin typeface="Trebuchet MS"/>
                <a:cs typeface="Trebuchet MS"/>
              </a:rPr>
              <a:t>leaf</a:t>
            </a:r>
            <a:r>
              <a:rPr sz="2200" spc="-180" dirty="0">
                <a:latin typeface="Trebuchet MS"/>
                <a:cs typeface="Trebuchet MS"/>
              </a:rPr>
              <a:t> </a:t>
            </a:r>
            <a:r>
              <a:rPr sz="2200" spc="-10" dirty="0">
                <a:latin typeface="Trebuchet MS"/>
                <a:cs typeface="Trebuchet MS"/>
              </a:rPr>
              <a:t>nodes,</a:t>
            </a:r>
            <a:r>
              <a:rPr sz="2200" spc="-175" dirty="0">
                <a:latin typeface="Trebuchet MS"/>
                <a:cs typeface="Trebuchet MS"/>
              </a:rPr>
              <a:t> </a:t>
            </a:r>
            <a:r>
              <a:rPr sz="2200" spc="-10" dirty="0">
                <a:latin typeface="Trebuchet MS"/>
                <a:cs typeface="Trebuchet MS"/>
              </a:rPr>
              <a:t>until:</a:t>
            </a:r>
            <a:endParaRPr sz="2200">
              <a:latin typeface="Trebuchet MS"/>
              <a:cs typeface="Trebuchet MS"/>
            </a:endParaRPr>
          </a:p>
          <a:p>
            <a:pPr marL="1155700" lvl="2" indent="-228600">
              <a:lnSpc>
                <a:spcPct val="100000"/>
              </a:lnSpc>
              <a:spcBef>
                <a:spcPts val="275"/>
              </a:spcBef>
              <a:buFont typeface="Arial MT"/>
              <a:buChar char="•"/>
              <a:tabLst>
                <a:tab pos="1155700" algn="l"/>
              </a:tabLst>
            </a:pPr>
            <a:r>
              <a:rPr sz="2000" spc="-60" dirty="0">
                <a:latin typeface="Trebuchet MS"/>
                <a:cs typeface="Trebuchet MS"/>
              </a:rPr>
              <a:t>All</a:t>
            </a:r>
            <a:r>
              <a:rPr sz="2000" spc="-140" dirty="0">
                <a:latin typeface="Trebuchet MS"/>
                <a:cs typeface="Trebuchet MS"/>
              </a:rPr>
              <a:t> </a:t>
            </a:r>
            <a:r>
              <a:rPr sz="2000" spc="-40" dirty="0">
                <a:latin typeface="Trebuchet MS"/>
                <a:cs typeface="Trebuchet MS"/>
              </a:rPr>
              <a:t>data</a:t>
            </a:r>
            <a:r>
              <a:rPr sz="2000" spc="-165" dirty="0">
                <a:latin typeface="Trebuchet MS"/>
                <a:cs typeface="Trebuchet MS"/>
              </a:rPr>
              <a:t> </a:t>
            </a:r>
            <a:r>
              <a:rPr sz="2000" spc="-20" dirty="0">
                <a:latin typeface="Trebuchet MS"/>
                <a:cs typeface="Trebuchet MS"/>
              </a:rPr>
              <a:t>points</a:t>
            </a:r>
            <a:r>
              <a:rPr sz="2000" spc="-155" dirty="0">
                <a:latin typeface="Trebuchet MS"/>
                <a:cs typeface="Trebuchet MS"/>
              </a:rPr>
              <a:t> </a:t>
            </a:r>
            <a:r>
              <a:rPr sz="2000" spc="-55" dirty="0">
                <a:latin typeface="Trebuchet MS"/>
                <a:cs typeface="Trebuchet MS"/>
              </a:rPr>
              <a:t>are</a:t>
            </a:r>
            <a:r>
              <a:rPr sz="2000" spc="-170" dirty="0">
                <a:latin typeface="Trebuchet MS"/>
                <a:cs typeface="Trebuchet MS"/>
              </a:rPr>
              <a:t> </a:t>
            </a:r>
            <a:r>
              <a:rPr sz="2000" spc="-60" dirty="0">
                <a:latin typeface="Trebuchet MS"/>
                <a:cs typeface="Trebuchet MS"/>
              </a:rPr>
              <a:t>correctly</a:t>
            </a:r>
            <a:r>
              <a:rPr sz="2000" spc="-160" dirty="0">
                <a:latin typeface="Trebuchet MS"/>
                <a:cs typeface="Trebuchet MS"/>
              </a:rPr>
              <a:t> </a:t>
            </a:r>
            <a:r>
              <a:rPr sz="2000" spc="-10" dirty="0">
                <a:latin typeface="Trebuchet MS"/>
                <a:cs typeface="Trebuchet MS"/>
              </a:rPr>
              <a:t>classified.</a:t>
            </a:r>
            <a:endParaRPr sz="2000">
              <a:latin typeface="Trebuchet MS"/>
              <a:cs typeface="Trebuchet MS"/>
            </a:endParaRPr>
          </a:p>
          <a:p>
            <a:pPr marL="1155700" lvl="2" indent="-228600">
              <a:lnSpc>
                <a:spcPct val="100000"/>
              </a:lnSpc>
              <a:spcBef>
                <a:spcPts val="265"/>
              </a:spcBef>
              <a:buFont typeface="Arial MT"/>
              <a:buChar char="•"/>
              <a:tabLst>
                <a:tab pos="1155700" algn="l"/>
              </a:tabLst>
            </a:pPr>
            <a:r>
              <a:rPr sz="2000" dirty="0">
                <a:latin typeface="Trebuchet MS"/>
                <a:cs typeface="Trebuchet MS"/>
              </a:rPr>
              <a:t>A</a:t>
            </a:r>
            <a:r>
              <a:rPr sz="2000" spc="-145" dirty="0">
                <a:latin typeface="Trebuchet MS"/>
                <a:cs typeface="Trebuchet MS"/>
              </a:rPr>
              <a:t> </a:t>
            </a:r>
            <a:r>
              <a:rPr sz="2000" spc="-25" dirty="0">
                <a:latin typeface="Trebuchet MS"/>
                <a:cs typeface="Trebuchet MS"/>
              </a:rPr>
              <a:t>stopping</a:t>
            </a:r>
            <a:r>
              <a:rPr sz="2000" spc="-135" dirty="0">
                <a:latin typeface="Trebuchet MS"/>
                <a:cs typeface="Trebuchet MS"/>
              </a:rPr>
              <a:t> </a:t>
            </a:r>
            <a:r>
              <a:rPr sz="2000" spc="-70" dirty="0">
                <a:latin typeface="Trebuchet MS"/>
                <a:cs typeface="Trebuchet MS"/>
              </a:rPr>
              <a:t>criterion</a:t>
            </a:r>
            <a:r>
              <a:rPr sz="2000" spc="-140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is</a:t>
            </a:r>
            <a:r>
              <a:rPr sz="2000" spc="-140" dirty="0">
                <a:latin typeface="Trebuchet MS"/>
                <a:cs typeface="Trebuchet MS"/>
              </a:rPr>
              <a:t> </a:t>
            </a:r>
            <a:r>
              <a:rPr sz="2000" spc="-60" dirty="0">
                <a:latin typeface="Trebuchet MS"/>
                <a:cs typeface="Trebuchet MS"/>
              </a:rPr>
              <a:t>met</a:t>
            </a:r>
            <a:r>
              <a:rPr sz="2000" spc="-140" dirty="0">
                <a:latin typeface="Trebuchet MS"/>
                <a:cs typeface="Trebuchet MS"/>
              </a:rPr>
              <a:t> (e.g.,</a:t>
            </a:r>
            <a:r>
              <a:rPr sz="2000" spc="-145" dirty="0">
                <a:latin typeface="Trebuchet MS"/>
                <a:cs typeface="Trebuchet MS"/>
              </a:rPr>
              <a:t> </a:t>
            </a:r>
            <a:r>
              <a:rPr sz="2000" spc="-10" dirty="0">
                <a:latin typeface="Trebuchet MS"/>
                <a:cs typeface="Trebuchet MS"/>
              </a:rPr>
              <a:t>maximum</a:t>
            </a:r>
            <a:r>
              <a:rPr sz="2000" spc="-160" dirty="0">
                <a:latin typeface="Trebuchet MS"/>
                <a:cs typeface="Trebuchet MS"/>
              </a:rPr>
              <a:t> </a:t>
            </a:r>
            <a:r>
              <a:rPr sz="2000" spc="-65" dirty="0">
                <a:latin typeface="Trebuchet MS"/>
                <a:cs typeface="Trebuchet MS"/>
              </a:rPr>
              <a:t>depth,</a:t>
            </a:r>
            <a:r>
              <a:rPr sz="2000" spc="-145" dirty="0">
                <a:latin typeface="Trebuchet MS"/>
                <a:cs typeface="Trebuchet MS"/>
              </a:rPr>
              <a:t> </a:t>
            </a:r>
            <a:r>
              <a:rPr sz="2000" spc="-20" dirty="0">
                <a:latin typeface="Trebuchet MS"/>
                <a:cs typeface="Trebuchet MS"/>
              </a:rPr>
              <a:t>minimum</a:t>
            </a:r>
            <a:r>
              <a:rPr sz="2000" spc="-175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samples</a:t>
            </a:r>
            <a:r>
              <a:rPr sz="2000" spc="-150" dirty="0">
                <a:latin typeface="Trebuchet MS"/>
                <a:cs typeface="Trebuchet MS"/>
              </a:rPr>
              <a:t> </a:t>
            </a:r>
            <a:r>
              <a:rPr sz="2000" spc="-50" dirty="0">
                <a:latin typeface="Trebuchet MS"/>
                <a:cs typeface="Trebuchet MS"/>
              </a:rPr>
              <a:t>in</a:t>
            </a:r>
            <a:r>
              <a:rPr sz="2000" spc="-150" dirty="0">
                <a:latin typeface="Trebuchet MS"/>
                <a:cs typeface="Trebuchet MS"/>
              </a:rPr>
              <a:t> </a:t>
            </a:r>
            <a:r>
              <a:rPr sz="2000" dirty="0">
                <a:latin typeface="Trebuchet MS"/>
                <a:cs typeface="Trebuchet MS"/>
              </a:rPr>
              <a:t>a</a:t>
            </a:r>
            <a:r>
              <a:rPr sz="2000" spc="-135" dirty="0">
                <a:latin typeface="Trebuchet MS"/>
                <a:cs typeface="Trebuchet MS"/>
              </a:rPr>
              <a:t> </a:t>
            </a:r>
            <a:r>
              <a:rPr sz="2000" spc="-10" dirty="0">
                <a:latin typeface="Trebuchet MS"/>
                <a:cs typeface="Trebuchet MS"/>
              </a:rPr>
              <a:t>leaf).</a:t>
            </a:r>
            <a:endParaRPr sz="20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83361" rIns="0" bIns="0" rtlCol="0">
            <a:spAutoFit/>
          </a:bodyPr>
          <a:lstStyle/>
          <a:p>
            <a:pPr marL="83185">
              <a:lnSpc>
                <a:spcPct val="100000"/>
              </a:lnSpc>
              <a:spcBef>
                <a:spcPts val="105"/>
              </a:spcBef>
            </a:pPr>
            <a:r>
              <a:rPr sz="3200" dirty="0"/>
              <a:t>Training</a:t>
            </a:r>
            <a:r>
              <a:rPr sz="3200" spc="-75" dirty="0"/>
              <a:t> </a:t>
            </a:r>
            <a:r>
              <a:rPr sz="3200" dirty="0"/>
              <a:t>on</a:t>
            </a:r>
            <a:r>
              <a:rPr sz="3200" spc="-45" dirty="0"/>
              <a:t> </a:t>
            </a:r>
            <a:r>
              <a:rPr sz="3200" dirty="0"/>
              <a:t>the</a:t>
            </a:r>
            <a:r>
              <a:rPr sz="3200" spc="-30" dirty="0"/>
              <a:t> </a:t>
            </a:r>
            <a:r>
              <a:rPr sz="3200" dirty="0"/>
              <a:t>sample</a:t>
            </a:r>
            <a:r>
              <a:rPr sz="3200" spc="-45" dirty="0"/>
              <a:t> </a:t>
            </a:r>
            <a:r>
              <a:rPr sz="3200" spc="-10" dirty="0"/>
              <a:t>dataset</a:t>
            </a:r>
            <a:endParaRPr sz="3200"/>
          </a:p>
        </p:txBody>
      </p:sp>
      <p:sp>
        <p:nvSpPr>
          <p:cNvPr id="3" name="object 3"/>
          <p:cNvSpPr txBox="1"/>
          <p:nvPr/>
        </p:nvSpPr>
        <p:spPr>
          <a:xfrm>
            <a:off x="571906" y="1673732"/>
            <a:ext cx="6056630" cy="1163955"/>
          </a:xfrm>
          <a:prstGeom prst="rect">
            <a:avLst/>
          </a:prstGeom>
        </p:spPr>
        <p:txBody>
          <a:bodyPr vert="horz" wrap="square" lIns="0" tIns="47625" rIns="0" bIns="0" rtlCol="0">
            <a:spAutoFit/>
          </a:bodyPr>
          <a:lstStyle/>
          <a:p>
            <a:pPr marL="241300" marR="5080" indent="-229235">
              <a:lnSpc>
                <a:spcPts val="2160"/>
              </a:lnSpc>
              <a:spcBef>
                <a:spcPts val="375"/>
              </a:spcBef>
              <a:buFont typeface="Arial MT"/>
              <a:buChar char="•"/>
              <a:tabLst>
                <a:tab pos="241300" algn="l"/>
                <a:tab pos="688975" algn="l"/>
                <a:tab pos="1730375" algn="l"/>
                <a:tab pos="2025650" algn="l"/>
                <a:tab pos="3054985" algn="l"/>
                <a:tab pos="3615690" algn="l"/>
                <a:tab pos="4290695" algn="l"/>
                <a:tab pos="4783455" algn="l"/>
                <a:tab pos="5734050" algn="l"/>
              </a:tabLst>
            </a:pPr>
            <a:r>
              <a:rPr sz="2000" spc="-25" dirty="0">
                <a:latin typeface="Times New Roman"/>
                <a:cs typeface="Times New Roman"/>
              </a:rPr>
              <a:t>To</a:t>
            </a:r>
            <a:r>
              <a:rPr sz="2000" dirty="0">
                <a:latin typeface="Times New Roman"/>
                <a:cs typeface="Times New Roman"/>
              </a:rPr>
              <a:t>	</a:t>
            </a:r>
            <a:r>
              <a:rPr sz="2000" spc="-10" dirty="0">
                <a:latin typeface="Times New Roman"/>
                <a:cs typeface="Times New Roman"/>
              </a:rPr>
              <a:t>generate</a:t>
            </a:r>
            <a:r>
              <a:rPr sz="2000" dirty="0">
                <a:latin typeface="Times New Roman"/>
                <a:cs typeface="Times New Roman"/>
              </a:rPr>
              <a:t>	</a:t>
            </a:r>
            <a:r>
              <a:rPr sz="2000" spc="-50" dirty="0">
                <a:latin typeface="Times New Roman"/>
                <a:cs typeface="Times New Roman"/>
              </a:rPr>
              <a:t>a</a:t>
            </a:r>
            <a:r>
              <a:rPr sz="2000" dirty="0">
                <a:latin typeface="Times New Roman"/>
                <a:cs typeface="Times New Roman"/>
              </a:rPr>
              <a:t>	</a:t>
            </a:r>
            <a:r>
              <a:rPr sz="2000" spc="-10" dirty="0">
                <a:latin typeface="Times New Roman"/>
                <a:cs typeface="Times New Roman"/>
              </a:rPr>
              <a:t>decision</a:t>
            </a:r>
            <a:r>
              <a:rPr sz="2000" dirty="0">
                <a:latin typeface="Times New Roman"/>
                <a:cs typeface="Times New Roman"/>
              </a:rPr>
              <a:t>	</a:t>
            </a:r>
            <a:r>
              <a:rPr sz="2000" spc="-20" dirty="0">
                <a:latin typeface="Times New Roman"/>
                <a:cs typeface="Times New Roman"/>
              </a:rPr>
              <a:t>tree</a:t>
            </a:r>
            <a:r>
              <a:rPr sz="2000" dirty="0">
                <a:latin typeface="Times New Roman"/>
                <a:cs typeface="Times New Roman"/>
              </a:rPr>
              <a:t>	</a:t>
            </a:r>
            <a:r>
              <a:rPr sz="2000" spc="-20" dirty="0">
                <a:latin typeface="Times New Roman"/>
                <a:cs typeface="Times New Roman"/>
              </a:rPr>
              <a:t>from</a:t>
            </a:r>
            <a:r>
              <a:rPr sz="2000" dirty="0">
                <a:latin typeface="Times New Roman"/>
                <a:cs typeface="Times New Roman"/>
              </a:rPr>
              <a:t>	</a:t>
            </a:r>
            <a:r>
              <a:rPr sz="2000" spc="-25" dirty="0">
                <a:latin typeface="Times New Roman"/>
                <a:cs typeface="Times New Roman"/>
              </a:rPr>
              <a:t>the</a:t>
            </a:r>
            <a:r>
              <a:rPr sz="2000" dirty="0">
                <a:latin typeface="Times New Roman"/>
                <a:cs typeface="Times New Roman"/>
              </a:rPr>
              <a:t>	</a:t>
            </a:r>
            <a:r>
              <a:rPr sz="2000" spc="-10" dirty="0">
                <a:latin typeface="Times New Roman"/>
                <a:cs typeface="Times New Roman"/>
              </a:rPr>
              <a:t>dataset,</a:t>
            </a:r>
            <a:r>
              <a:rPr sz="2000" dirty="0">
                <a:latin typeface="Times New Roman"/>
                <a:cs typeface="Times New Roman"/>
              </a:rPr>
              <a:t>	</a:t>
            </a:r>
            <a:r>
              <a:rPr sz="2000" spc="-25" dirty="0">
                <a:latin typeface="Times New Roman"/>
                <a:cs typeface="Times New Roman"/>
              </a:rPr>
              <a:t>the </a:t>
            </a:r>
            <a:r>
              <a:rPr sz="2000" dirty="0">
                <a:latin typeface="Times New Roman"/>
                <a:cs typeface="Times New Roman"/>
              </a:rPr>
              <a:t>following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steps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are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followed: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spc="-50" dirty="0">
                <a:latin typeface="Times New Roman"/>
                <a:cs typeface="Times New Roman"/>
              </a:rPr>
              <a:t>-</a:t>
            </a:r>
            <a:endParaRPr sz="2000">
              <a:latin typeface="Times New Roman"/>
              <a:cs typeface="Times New Roman"/>
            </a:endParaRPr>
          </a:p>
          <a:p>
            <a:pPr marL="698500" marR="5080" lvl="1" indent="-229235">
              <a:lnSpc>
                <a:spcPts val="1939"/>
              </a:lnSpc>
              <a:spcBef>
                <a:spcPts val="509"/>
              </a:spcBef>
              <a:buFont typeface="Arial MT"/>
              <a:buChar char="•"/>
              <a:tabLst>
                <a:tab pos="698500" algn="l"/>
                <a:tab pos="1452880" algn="l"/>
                <a:tab pos="1978660" algn="l"/>
                <a:tab pos="2362835" algn="l"/>
                <a:tab pos="2838450" algn="l"/>
                <a:tab pos="3756025" algn="l"/>
                <a:tab pos="4414520" algn="l"/>
                <a:tab pos="5327650" algn="l"/>
              </a:tabLst>
            </a:pPr>
            <a:r>
              <a:rPr sz="1800" spc="-10" dirty="0">
                <a:latin typeface="Times New Roman"/>
                <a:cs typeface="Times New Roman"/>
              </a:rPr>
              <a:t>Select</a:t>
            </a:r>
            <a:r>
              <a:rPr sz="1800" dirty="0">
                <a:latin typeface="Times New Roman"/>
                <a:cs typeface="Times New Roman"/>
              </a:rPr>
              <a:t>	</a:t>
            </a:r>
            <a:r>
              <a:rPr sz="1800" spc="-25" dirty="0">
                <a:latin typeface="Times New Roman"/>
                <a:cs typeface="Times New Roman"/>
              </a:rPr>
              <a:t>one</a:t>
            </a:r>
            <a:r>
              <a:rPr sz="1800" dirty="0">
                <a:latin typeface="Times New Roman"/>
                <a:cs typeface="Times New Roman"/>
              </a:rPr>
              <a:t>	</a:t>
            </a:r>
            <a:r>
              <a:rPr sz="1800" spc="-25" dirty="0">
                <a:latin typeface="Times New Roman"/>
                <a:cs typeface="Times New Roman"/>
              </a:rPr>
              <a:t>of</a:t>
            </a:r>
            <a:r>
              <a:rPr sz="1800" dirty="0">
                <a:latin typeface="Times New Roman"/>
                <a:cs typeface="Times New Roman"/>
              </a:rPr>
              <a:t>	</a:t>
            </a:r>
            <a:r>
              <a:rPr sz="1800" spc="-25" dirty="0">
                <a:latin typeface="Times New Roman"/>
                <a:cs typeface="Times New Roman"/>
              </a:rPr>
              <a:t>the</a:t>
            </a:r>
            <a:r>
              <a:rPr sz="1800" dirty="0">
                <a:latin typeface="Times New Roman"/>
                <a:cs typeface="Times New Roman"/>
              </a:rPr>
              <a:t>	</a:t>
            </a:r>
            <a:r>
              <a:rPr sz="1800" spc="-10" dirty="0">
                <a:latin typeface="Times New Roman"/>
                <a:cs typeface="Times New Roman"/>
              </a:rPr>
              <a:t>features</a:t>
            </a:r>
            <a:r>
              <a:rPr sz="1800" dirty="0">
                <a:latin typeface="Times New Roman"/>
                <a:cs typeface="Times New Roman"/>
              </a:rPr>
              <a:t>	</a:t>
            </a:r>
            <a:r>
              <a:rPr sz="1800" i="1" spc="-10" dirty="0">
                <a:latin typeface="Times New Roman"/>
                <a:cs typeface="Times New Roman"/>
              </a:rPr>
              <a:t>(age,</a:t>
            </a:r>
            <a:r>
              <a:rPr sz="1800" i="1" dirty="0">
                <a:latin typeface="Times New Roman"/>
                <a:cs typeface="Times New Roman"/>
              </a:rPr>
              <a:t>	</a:t>
            </a:r>
            <a:r>
              <a:rPr sz="1800" i="1" spc="-10" dirty="0">
                <a:latin typeface="Times New Roman"/>
                <a:cs typeface="Times New Roman"/>
              </a:rPr>
              <a:t>income,</a:t>
            </a:r>
            <a:r>
              <a:rPr sz="1800" i="1" dirty="0">
                <a:latin typeface="Times New Roman"/>
                <a:cs typeface="Times New Roman"/>
              </a:rPr>
              <a:t>	</a:t>
            </a:r>
            <a:r>
              <a:rPr sz="1800" i="1" spc="-10" dirty="0">
                <a:latin typeface="Times New Roman"/>
                <a:cs typeface="Times New Roman"/>
              </a:rPr>
              <a:t>student, credit_rating)</a:t>
            </a:r>
            <a:r>
              <a:rPr sz="1800" i="1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to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be</a:t>
            </a:r>
            <a:r>
              <a:rPr sz="1800" spc="-1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placed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at</a:t>
            </a:r>
            <a:r>
              <a:rPr sz="1800" spc="-1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-10" dirty="0">
                <a:latin typeface="Times New Roman"/>
                <a:cs typeface="Times New Roman"/>
              </a:rPr>
              <a:t> root.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29411" y="2847594"/>
            <a:ext cx="5598795" cy="1351280"/>
          </a:xfrm>
          <a:prstGeom prst="rect">
            <a:avLst/>
          </a:prstGeom>
        </p:spPr>
        <p:txBody>
          <a:bodyPr vert="horz" wrap="square" lIns="0" tIns="43815" rIns="0" bIns="0" rtlCol="0">
            <a:spAutoFit/>
          </a:bodyPr>
          <a:lstStyle/>
          <a:p>
            <a:pPr marL="241300" marR="5080" indent="-229235" algn="just">
              <a:lnSpc>
                <a:spcPts val="1939"/>
              </a:lnSpc>
              <a:spcBef>
                <a:spcPts val="345"/>
              </a:spcBef>
              <a:buFont typeface="Arial MT"/>
              <a:buChar char="•"/>
              <a:tabLst>
                <a:tab pos="241300" algn="l"/>
              </a:tabLst>
            </a:pPr>
            <a:r>
              <a:rPr sz="1800" dirty="0">
                <a:latin typeface="Times New Roman"/>
                <a:cs typeface="Times New Roman"/>
              </a:rPr>
              <a:t>Based</a:t>
            </a:r>
            <a:r>
              <a:rPr sz="1800" spc="29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on</a:t>
            </a:r>
            <a:r>
              <a:rPr sz="1800" spc="29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28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feature</a:t>
            </a:r>
            <a:r>
              <a:rPr sz="1800" spc="30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selected,</a:t>
            </a:r>
            <a:r>
              <a:rPr sz="1800" spc="28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create</a:t>
            </a:r>
            <a:r>
              <a:rPr sz="1800" spc="290" dirty="0">
                <a:latin typeface="Times New Roman"/>
                <a:cs typeface="Times New Roman"/>
              </a:rPr>
              <a:t> </a:t>
            </a:r>
            <a:r>
              <a:rPr sz="1800" i="1" dirty="0">
                <a:latin typeface="Times New Roman"/>
                <a:cs typeface="Times New Roman"/>
              </a:rPr>
              <a:t>‘x’</a:t>
            </a:r>
            <a:r>
              <a:rPr sz="1800" i="1" spc="29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branches</a:t>
            </a:r>
            <a:r>
              <a:rPr sz="1800" spc="280" dirty="0">
                <a:latin typeface="Times New Roman"/>
                <a:cs typeface="Times New Roman"/>
              </a:rPr>
              <a:t> </a:t>
            </a:r>
            <a:r>
              <a:rPr sz="1800" spc="-20" dirty="0">
                <a:latin typeface="Times New Roman"/>
                <a:cs typeface="Times New Roman"/>
              </a:rPr>
              <a:t>from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55" dirty="0">
                <a:latin typeface="Times New Roman"/>
                <a:cs typeface="Times New Roman"/>
              </a:rPr>
              <a:t>  </a:t>
            </a:r>
            <a:r>
              <a:rPr sz="1800" dirty="0">
                <a:latin typeface="Times New Roman"/>
                <a:cs typeface="Times New Roman"/>
              </a:rPr>
              <a:t>root,</a:t>
            </a:r>
            <a:r>
              <a:rPr sz="1800" spc="50" dirty="0">
                <a:latin typeface="Times New Roman"/>
                <a:cs typeface="Times New Roman"/>
              </a:rPr>
              <a:t>  </a:t>
            </a:r>
            <a:r>
              <a:rPr sz="1800" dirty="0">
                <a:latin typeface="Times New Roman"/>
                <a:cs typeface="Times New Roman"/>
              </a:rPr>
              <a:t>where</a:t>
            </a:r>
            <a:r>
              <a:rPr sz="1800" spc="50" dirty="0">
                <a:latin typeface="Times New Roman"/>
                <a:cs typeface="Times New Roman"/>
              </a:rPr>
              <a:t>  </a:t>
            </a:r>
            <a:r>
              <a:rPr sz="1800" i="1" dirty="0">
                <a:latin typeface="Times New Roman"/>
                <a:cs typeface="Times New Roman"/>
              </a:rPr>
              <a:t>x</a:t>
            </a:r>
            <a:r>
              <a:rPr sz="1800" i="1" spc="50" dirty="0">
                <a:latin typeface="Times New Roman"/>
                <a:cs typeface="Times New Roman"/>
              </a:rPr>
              <a:t>  </a:t>
            </a:r>
            <a:r>
              <a:rPr sz="1800" dirty="0">
                <a:latin typeface="Times New Roman"/>
                <a:cs typeface="Times New Roman"/>
              </a:rPr>
              <a:t>–</a:t>
            </a:r>
            <a:r>
              <a:rPr sz="1800" spc="45" dirty="0">
                <a:latin typeface="Times New Roman"/>
                <a:cs typeface="Times New Roman"/>
              </a:rPr>
              <a:t>  </a:t>
            </a:r>
            <a:r>
              <a:rPr sz="1800" dirty="0">
                <a:latin typeface="Times New Roman"/>
                <a:cs typeface="Times New Roman"/>
              </a:rPr>
              <a:t>number</a:t>
            </a:r>
            <a:r>
              <a:rPr sz="1800" spc="55" dirty="0">
                <a:latin typeface="Times New Roman"/>
                <a:cs typeface="Times New Roman"/>
              </a:rPr>
              <a:t> 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55" dirty="0">
                <a:latin typeface="Times New Roman"/>
                <a:cs typeface="Times New Roman"/>
              </a:rPr>
              <a:t>  </a:t>
            </a:r>
            <a:r>
              <a:rPr sz="1800" dirty="0">
                <a:latin typeface="Times New Roman"/>
                <a:cs typeface="Times New Roman"/>
              </a:rPr>
              <a:t>unique</a:t>
            </a:r>
            <a:r>
              <a:rPr sz="1800" spc="45" dirty="0">
                <a:latin typeface="Times New Roman"/>
                <a:cs typeface="Times New Roman"/>
              </a:rPr>
              <a:t>  </a:t>
            </a:r>
            <a:r>
              <a:rPr sz="1800" dirty="0">
                <a:latin typeface="Times New Roman"/>
                <a:cs typeface="Times New Roman"/>
              </a:rPr>
              <a:t>values</a:t>
            </a:r>
            <a:r>
              <a:rPr sz="1800" spc="45" dirty="0">
                <a:latin typeface="Times New Roman"/>
                <a:cs typeface="Times New Roman"/>
              </a:rPr>
              <a:t> 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45" dirty="0">
                <a:latin typeface="Times New Roman"/>
                <a:cs typeface="Times New Roman"/>
              </a:rPr>
              <a:t>  </a:t>
            </a:r>
            <a:r>
              <a:rPr sz="1800" spc="-25" dirty="0">
                <a:latin typeface="Times New Roman"/>
                <a:cs typeface="Times New Roman"/>
              </a:rPr>
              <a:t>the </a:t>
            </a:r>
            <a:r>
              <a:rPr sz="1800" spc="-10" dirty="0">
                <a:latin typeface="Times New Roman"/>
                <a:cs typeface="Times New Roman"/>
              </a:rPr>
              <a:t>feature.</a:t>
            </a:r>
            <a:endParaRPr sz="1800">
              <a:latin typeface="Times New Roman"/>
              <a:cs typeface="Times New Roman"/>
            </a:endParaRPr>
          </a:p>
          <a:p>
            <a:pPr marL="241300" marR="5080" indent="-229235" algn="just">
              <a:lnSpc>
                <a:spcPts val="1939"/>
              </a:lnSpc>
              <a:spcBef>
                <a:spcPts val="520"/>
              </a:spcBef>
              <a:buFont typeface="Arial MT"/>
              <a:buChar char="•"/>
              <a:tabLst>
                <a:tab pos="241300" algn="l"/>
              </a:tabLst>
            </a:pPr>
            <a:r>
              <a:rPr sz="1800" dirty="0">
                <a:latin typeface="Times New Roman"/>
                <a:cs typeface="Times New Roman"/>
              </a:rPr>
              <a:t>Follow</a:t>
            </a:r>
            <a:r>
              <a:rPr sz="1800" spc="36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37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same</a:t>
            </a:r>
            <a:r>
              <a:rPr sz="1800" spc="37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process</a:t>
            </a:r>
            <a:r>
              <a:rPr sz="1800" spc="36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to</a:t>
            </a:r>
            <a:r>
              <a:rPr sz="1800" spc="36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place</a:t>
            </a:r>
            <a:r>
              <a:rPr sz="1800" spc="36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other</a:t>
            </a:r>
            <a:r>
              <a:rPr sz="1800" spc="37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features</a:t>
            </a:r>
            <a:r>
              <a:rPr sz="1800" spc="35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at</a:t>
            </a:r>
            <a:r>
              <a:rPr sz="1800" spc="360" dirty="0">
                <a:latin typeface="Times New Roman"/>
                <a:cs typeface="Times New Roman"/>
              </a:rPr>
              <a:t> </a:t>
            </a:r>
            <a:r>
              <a:rPr sz="1800" spc="-25" dirty="0">
                <a:latin typeface="Times New Roman"/>
                <a:cs typeface="Times New Roman"/>
              </a:rPr>
              <a:t>the </a:t>
            </a:r>
            <a:r>
              <a:rPr sz="1800" dirty="0">
                <a:latin typeface="Times New Roman"/>
                <a:cs typeface="Times New Roman"/>
              </a:rPr>
              <a:t>internal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nodes.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71906" y="4267657"/>
            <a:ext cx="458978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sz="2000" dirty="0">
                <a:latin typeface="Times New Roman"/>
                <a:cs typeface="Times New Roman"/>
              </a:rPr>
              <a:t>The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leaf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nodes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will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have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target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classes.</a:t>
            </a:r>
            <a:endParaRPr sz="2000">
              <a:latin typeface="Times New Roman"/>
              <a:cs typeface="Times New Roman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15547" y="205231"/>
            <a:ext cx="4483183" cy="2835951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9014206" y="3118561"/>
            <a:ext cx="80581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60" dirty="0">
                <a:latin typeface="Trebuchet MS"/>
                <a:cs typeface="Trebuchet MS"/>
              </a:rPr>
              <a:t>Fig.</a:t>
            </a:r>
            <a:r>
              <a:rPr sz="1200" spc="-90" dirty="0">
                <a:latin typeface="Trebuchet MS"/>
                <a:cs typeface="Trebuchet MS"/>
              </a:rPr>
              <a:t> </a:t>
            </a:r>
            <a:r>
              <a:rPr sz="1200" spc="-10" dirty="0">
                <a:latin typeface="Trebuchet MS"/>
                <a:cs typeface="Trebuchet MS"/>
              </a:rPr>
              <a:t>Dataset</a:t>
            </a:r>
            <a:endParaRPr sz="1200">
              <a:latin typeface="Trebuchet MS"/>
              <a:cs typeface="Trebuchet MS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990922" y="3445814"/>
            <a:ext cx="4636479" cy="3138781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5783326" y="5895238"/>
            <a:ext cx="1922780" cy="666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400" spc="-95" dirty="0">
                <a:latin typeface="Trebuchet MS"/>
                <a:cs typeface="Trebuchet MS"/>
              </a:rPr>
              <a:t>Fig.</a:t>
            </a:r>
            <a:r>
              <a:rPr sz="1400" dirty="0">
                <a:latin typeface="Trebuchet MS"/>
                <a:cs typeface="Trebuchet MS"/>
              </a:rPr>
              <a:t> </a:t>
            </a:r>
            <a:r>
              <a:rPr sz="1400" spc="-70" dirty="0">
                <a:latin typeface="Trebuchet MS"/>
                <a:cs typeface="Trebuchet MS"/>
              </a:rPr>
              <a:t>Partially</a:t>
            </a:r>
            <a:r>
              <a:rPr sz="1400" spc="30" dirty="0">
                <a:latin typeface="Trebuchet MS"/>
                <a:cs typeface="Trebuchet MS"/>
              </a:rPr>
              <a:t> </a:t>
            </a:r>
            <a:r>
              <a:rPr sz="1400" spc="-10" dirty="0">
                <a:latin typeface="Trebuchet MS"/>
                <a:cs typeface="Trebuchet MS"/>
              </a:rPr>
              <a:t>constructed </a:t>
            </a:r>
            <a:r>
              <a:rPr sz="1400" dirty="0">
                <a:latin typeface="Trebuchet MS"/>
                <a:cs typeface="Trebuchet MS"/>
              </a:rPr>
              <a:t>decision</a:t>
            </a:r>
            <a:r>
              <a:rPr sz="1400" spc="-110" dirty="0">
                <a:latin typeface="Trebuchet MS"/>
                <a:cs typeface="Trebuchet MS"/>
              </a:rPr>
              <a:t> </a:t>
            </a:r>
            <a:r>
              <a:rPr sz="1400" spc="-105" dirty="0">
                <a:latin typeface="Trebuchet MS"/>
                <a:cs typeface="Trebuchet MS"/>
              </a:rPr>
              <a:t>tree</a:t>
            </a:r>
            <a:r>
              <a:rPr sz="1400" dirty="0">
                <a:latin typeface="Trebuchet MS"/>
                <a:cs typeface="Trebuchet MS"/>
              </a:rPr>
              <a:t> </a:t>
            </a:r>
            <a:r>
              <a:rPr sz="1400" spc="-75" dirty="0">
                <a:latin typeface="Trebuchet MS"/>
                <a:cs typeface="Trebuchet MS"/>
              </a:rPr>
              <a:t>with</a:t>
            </a:r>
            <a:r>
              <a:rPr sz="1400" spc="-25" dirty="0">
                <a:latin typeface="Trebuchet MS"/>
                <a:cs typeface="Trebuchet MS"/>
              </a:rPr>
              <a:t> </a:t>
            </a:r>
            <a:r>
              <a:rPr sz="1400" spc="-50" dirty="0">
                <a:latin typeface="Trebuchet MS"/>
                <a:cs typeface="Trebuchet MS"/>
              </a:rPr>
              <a:t>age</a:t>
            </a:r>
            <a:r>
              <a:rPr sz="1400" spc="-40" dirty="0">
                <a:latin typeface="Trebuchet MS"/>
                <a:cs typeface="Trebuchet MS"/>
              </a:rPr>
              <a:t> </a:t>
            </a:r>
            <a:r>
              <a:rPr sz="1400" spc="30" dirty="0">
                <a:latin typeface="Trebuchet MS"/>
                <a:cs typeface="Trebuchet MS"/>
              </a:rPr>
              <a:t>as </a:t>
            </a:r>
            <a:r>
              <a:rPr sz="1400" spc="-50" dirty="0">
                <a:latin typeface="Trebuchet MS"/>
                <a:cs typeface="Trebuchet MS"/>
              </a:rPr>
              <a:t>the</a:t>
            </a:r>
            <a:r>
              <a:rPr sz="1400" spc="-120" dirty="0">
                <a:latin typeface="Trebuchet MS"/>
                <a:cs typeface="Trebuchet MS"/>
              </a:rPr>
              <a:t> </a:t>
            </a:r>
            <a:r>
              <a:rPr sz="1400" spc="-50" dirty="0">
                <a:latin typeface="Trebuchet MS"/>
                <a:cs typeface="Trebuchet MS"/>
              </a:rPr>
              <a:t>root</a:t>
            </a:r>
            <a:r>
              <a:rPr sz="1400" spc="-114" dirty="0">
                <a:latin typeface="Trebuchet MS"/>
                <a:cs typeface="Trebuchet MS"/>
              </a:rPr>
              <a:t> </a:t>
            </a:r>
            <a:r>
              <a:rPr sz="1400" spc="-20" dirty="0">
                <a:latin typeface="Trebuchet MS"/>
                <a:cs typeface="Trebuchet MS"/>
              </a:rPr>
              <a:t>node</a:t>
            </a:r>
            <a:endParaRPr sz="14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6939" y="435991"/>
            <a:ext cx="906843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dirty="0"/>
              <a:t>Training</a:t>
            </a:r>
            <a:r>
              <a:rPr sz="4000" spc="-225" dirty="0"/>
              <a:t> </a:t>
            </a:r>
            <a:r>
              <a:rPr sz="4000" spc="-20" dirty="0"/>
              <a:t>phase:</a:t>
            </a:r>
            <a:r>
              <a:rPr sz="4000" spc="-229" dirty="0"/>
              <a:t> </a:t>
            </a:r>
            <a:r>
              <a:rPr sz="4000" dirty="0"/>
              <a:t>Attribute</a:t>
            </a:r>
            <a:r>
              <a:rPr sz="4000" spc="-130" dirty="0"/>
              <a:t> </a:t>
            </a:r>
            <a:r>
              <a:rPr sz="4000" dirty="0"/>
              <a:t>selection</a:t>
            </a:r>
            <a:r>
              <a:rPr sz="4000" spc="-130" dirty="0"/>
              <a:t> </a:t>
            </a:r>
            <a:r>
              <a:rPr sz="4000" spc="-10" dirty="0"/>
              <a:t>measures</a:t>
            </a:r>
            <a:endParaRPr sz="4000"/>
          </a:p>
        </p:txBody>
      </p:sp>
      <p:sp>
        <p:nvSpPr>
          <p:cNvPr id="3" name="object 3"/>
          <p:cNvSpPr txBox="1"/>
          <p:nvPr/>
        </p:nvSpPr>
        <p:spPr>
          <a:xfrm>
            <a:off x="916939" y="1385442"/>
            <a:ext cx="10276205" cy="3430904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240029" marR="5080" indent="-227965">
              <a:lnSpc>
                <a:spcPts val="3020"/>
              </a:lnSpc>
              <a:spcBef>
                <a:spcPts val="480"/>
              </a:spcBef>
              <a:buFont typeface="Arial MT"/>
              <a:buChar char="•"/>
              <a:tabLst>
                <a:tab pos="241300" algn="l"/>
              </a:tabLst>
            </a:pPr>
            <a:r>
              <a:rPr sz="2800" dirty="0">
                <a:latin typeface="Times New Roman"/>
                <a:cs typeface="Times New Roman"/>
              </a:rPr>
              <a:t>How</a:t>
            </a:r>
            <a:r>
              <a:rPr sz="2800" spc="-2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was</a:t>
            </a:r>
            <a:r>
              <a:rPr sz="2800" spc="-2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age</a:t>
            </a:r>
            <a:r>
              <a:rPr sz="2800" spc="-1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selected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to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be</a:t>
            </a:r>
            <a:r>
              <a:rPr sz="2800" spc="-1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placed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at</a:t>
            </a:r>
            <a:r>
              <a:rPr sz="2800" spc="-2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the</a:t>
            </a:r>
            <a:r>
              <a:rPr sz="2800" spc="-2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root,</a:t>
            </a:r>
            <a:r>
              <a:rPr sz="2800" spc="-2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out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of</a:t>
            </a:r>
            <a:r>
              <a:rPr sz="2800" spc="-1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the</a:t>
            </a:r>
            <a:r>
              <a:rPr sz="2800" spc="-2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features</a:t>
            </a:r>
            <a:r>
              <a:rPr sz="2800" spc="1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(age, 	</a:t>
            </a:r>
            <a:r>
              <a:rPr sz="2800" dirty="0">
                <a:latin typeface="Times New Roman"/>
                <a:cs typeface="Times New Roman"/>
              </a:rPr>
              <a:t>income,</a:t>
            </a:r>
            <a:r>
              <a:rPr sz="2800" spc="-2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student,</a:t>
            </a:r>
            <a:r>
              <a:rPr sz="2800" spc="-2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credit_rating)?</a:t>
            </a:r>
            <a:endParaRPr sz="2800">
              <a:latin typeface="Times New Roman"/>
              <a:cs typeface="Times New Roman"/>
            </a:endParaRPr>
          </a:p>
          <a:p>
            <a:pPr marL="697230" lvl="1" indent="-227329">
              <a:lnSpc>
                <a:spcPct val="100000"/>
              </a:lnSpc>
              <a:spcBef>
                <a:spcPts val="190"/>
              </a:spcBef>
              <a:buFont typeface="Arial MT"/>
              <a:buChar char="•"/>
              <a:tabLst>
                <a:tab pos="697230" algn="l"/>
              </a:tabLst>
            </a:pPr>
            <a:r>
              <a:rPr sz="2400" dirty="0">
                <a:latin typeface="Times New Roman"/>
                <a:cs typeface="Times New Roman"/>
              </a:rPr>
              <a:t>An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attribute</a:t>
            </a:r>
            <a:r>
              <a:rPr sz="2400" spc="-5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selection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measure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can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be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used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to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determine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best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attribute.</a:t>
            </a:r>
            <a:endParaRPr sz="240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spcBef>
                <a:spcPts val="1920"/>
              </a:spcBef>
              <a:buFont typeface="Arial MT"/>
              <a:buChar char="•"/>
            </a:pPr>
            <a:endParaRPr sz="2400">
              <a:latin typeface="Times New Roman"/>
              <a:cs typeface="Times New Roman"/>
            </a:endParaRPr>
          </a:p>
          <a:p>
            <a:pPr marL="240665" indent="-227965">
              <a:lnSpc>
                <a:spcPct val="100000"/>
              </a:lnSpc>
              <a:buFont typeface="Arial MT"/>
              <a:buChar char="•"/>
              <a:tabLst>
                <a:tab pos="240665" algn="l"/>
              </a:tabLst>
            </a:pPr>
            <a:r>
              <a:rPr sz="2800" dirty="0">
                <a:latin typeface="Times New Roman"/>
                <a:cs typeface="Times New Roman"/>
              </a:rPr>
              <a:t>Attribute</a:t>
            </a:r>
            <a:r>
              <a:rPr sz="2800" spc="-5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selection</a:t>
            </a:r>
            <a:r>
              <a:rPr sz="2800" spc="-5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measures</a:t>
            </a:r>
            <a:r>
              <a:rPr sz="2800" spc="-2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that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can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be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used:</a:t>
            </a:r>
            <a:r>
              <a:rPr sz="2800" spc="-20" dirty="0">
                <a:latin typeface="Times New Roman"/>
                <a:cs typeface="Times New Roman"/>
              </a:rPr>
              <a:t> </a:t>
            </a:r>
            <a:r>
              <a:rPr sz="2800" spc="-50" dirty="0">
                <a:latin typeface="Times New Roman"/>
                <a:cs typeface="Times New Roman"/>
              </a:rPr>
              <a:t>-</a:t>
            </a:r>
            <a:endParaRPr sz="2800">
              <a:latin typeface="Times New Roman"/>
              <a:cs typeface="Times New Roman"/>
            </a:endParaRPr>
          </a:p>
          <a:p>
            <a:pPr marL="697230" lvl="1" indent="-227329">
              <a:lnSpc>
                <a:spcPct val="100000"/>
              </a:lnSpc>
              <a:spcBef>
                <a:spcPts val="220"/>
              </a:spcBef>
              <a:buFont typeface="Arial MT"/>
              <a:buChar char="•"/>
              <a:tabLst>
                <a:tab pos="697230" algn="l"/>
              </a:tabLst>
            </a:pPr>
            <a:r>
              <a:rPr sz="2400" dirty="0">
                <a:latin typeface="Times New Roman"/>
                <a:cs typeface="Times New Roman"/>
              </a:rPr>
              <a:t>Information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spc="-20" dirty="0">
                <a:latin typeface="Times New Roman"/>
                <a:cs typeface="Times New Roman"/>
              </a:rPr>
              <a:t>gain</a:t>
            </a:r>
            <a:endParaRPr sz="2400">
              <a:latin typeface="Times New Roman"/>
              <a:cs typeface="Times New Roman"/>
            </a:endParaRPr>
          </a:p>
          <a:p>
            <a:pPr marL="697230" lvl="1" indent="-227329">
              <a:lnSpc>
                <a:spcPct val="100000"/>
              </a:lnSpc>
              <a:spcBef>
                <a:spcPts val="215"/>
              </a:spcBef>
              <a:buFont typeface="Arial MT"/>
              <a:buChar char="•"/>
              <a:tabLst>
                <a:tab pos="697230" algn="l"/>
              </a:tabLst>
            </a:pPr>
            <a:r>
              <a:rPr sz="2400" dirty="0">
                <a:latin typeface="Times New Roman"/>
                <a:cs typeface="Times New Roman"/>
              </a:rPr>
              <a:t>Gain </a:t>
            </a:r>
            <a:r>
              <a:rPr sz="2400" spc="-20" dirty="0">
                <a:latin typeface="Times New Roman"/>
                <a:cs typeface="Times New Roman"/>
              </a:rPr>
              <a:t>ratio</a:t>
            </a:r>
            <a:endParaRPr sz="2400">
              <a:latin typeface="Times New Roman"/>
              <a:cs typeface="Times New Roman"/>
            </a:endParaRPr>
          </a:p>
          <a:p>
            <a:pPr marL="697230" lvl="1" indent="-227329">
              <a:lnSpc>
                <a:spcPct val="100000"/>
              </a:lnSpc>
              <a:spcBef>
                <a:spcPts val="204"/>
              </a:spcBef>
              <a:buFont typeface="Arial MT"/>
              <a:buChar char="•"/>
              <a:tabLst>
                <a:tab pos="697230" algn="l"/>
              </a:tabLst>
            </a:pPr>
            <a:r>
              <a:rPr sz="2400" dirty="0">
                <a:latin typeface="Times New Roman"/>
                <a:cs typeface="Times New Roman"/>
              </a:rPr>
              <a:t>Gini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index</a:t>
            </a:r>
            <a:endParaRPr sz="2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6939" y="278638"/>
            <a:ext cx="321437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dirty="0"/>
              <a:t>Information</a:t>
            </a:r>
            <a:r>
              <a:rPr sz="3600" spc="-175" dirty="0"/>
              <a:t> </a:t>
            </a:r>
            <a:r>
              <a:rPr sz="3600" spc="-20" dirty="0"/>
              <a:t>Gain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850493" y="5170423"/>
            <a:ext cx="458406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240665" algn="l"/>
              </a:tabLst>
            </a:pPr>
            <a:r>
              <a:rPr sz="2000" dirty="0">
                <a:latin typeface="Times New Roman"/>
                <a:cs typeface="Times New Roman"/>
              </a:rPr>
              <a:t>The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information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gain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is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given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as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follows: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-50" dirty="0">
                <a:latin typeface="Times New Roman"/>
                <a:cs typeface="Times New Roman"/>
              </a:rPr>
              <a:t>-</a:t>
            </a:r>
            <a:endParaRPr sz="20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06037" y="2885516"/>
            <a:ext cx="2867229" cy="872642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4133" y="4323232"/>
            <a:ext cx="2608707" cy="745337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825093" y="1146175"/>
            <a:ext cx="10476230" cy="3206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6065" indent="-22796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66065" algn="l"/>
              </a:tabLst>
            </a:pPr>
            <a:r>
              <a:rPr sz="2000" dirty="0">
                <a:latin typeface="Times New Roman"/>
                <a:cs typeface="Times New Roman"/>
              </a:rPr>
              <a:t>Information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gain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is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metric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that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measures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how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much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information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is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gained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by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splitting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data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set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Times New Roman"/>
                <a:cs typeface="Times New Roman"/>
              </a:rPr>
              <a:t>on</a:t>
            </a:r>
            <a:endParaRPr sz="2000">
              <a:latin typeface="Times New Roman"/>
              <a:cs typeface="Times New Roman"/>
            </a:endParaRPr>
          </a:p>
          <a:p>
            <a:pPr marL="266700">
              <a:lnSpc>
                <a:spcPts val="2280"/>
              </a:lnSpc>
            </a:pPr>
            <a:r>
              <a:rPr sz="2000" dirty="0">
                <a:latin typeface="Times New Roman"/>
                <a:cs typeface="Times New Roman"/>
              </a:rPr>
              <a:t>a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particular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feature.</a:t>
            </a:r>
            <a:endParaRPr sz="2000">
              <a:latin typeface="Times New Roman"/>
              <a:cs typeface="Times New Roman"/>
            </a:endParaRPr>
          </a:p>
          <a:p>
            <a:pPr marL="266700" marR="32384" indent="-228600">
              <a:lnSpc>
                <a:spcPts val="2160"/>
              </a:lnSpc>
              <a:spcBef>
                <a:spcPts val="1025"/>
              </a:spcBef>
              <a:buFont typeface="Arial MT"/>
              <a:buChar char="•"/>
              <a:tabLst>
                <a:tab pos="266700" algn="l"/>
              </a:tabLst>
            </a:pPr>
            <a:r>
              <a:rPr sz="2000" dirty="0">
                <a:latin typeface="Times New Roman"/>
                <a:cs typeface="Times New Roman"/>
              </a:rPr>
              <a:t>Information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gain</a:t>
            </a:r>
            <a:r>
              <a:rPr sz="2000" spc="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is</a:t>
            </a:r>
            <a:r>
              <a:rPr sz="2000" spc="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calculated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by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comparing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the</a:t>
            </a:r>
            <a:r>
              <a:rPr sz="2000" spc="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entropy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 the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original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dataset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to</a:t>
            </a:r>
            <a:r>
              <a:rPr sz="2000" spc="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the</a:t>
            </a:r>
            <a:r>
              <a:rPr sz="2000" spc="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entropy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25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Times New Roman"/>
                <a:cs typeface="Times New Roman"/>
              </a:rPr>
              <a:t>the </a:t>
            </a:r>
            <a:r>
              <a:rPr sz="2000" dirty="0">
                <a:latin typeface="Times New Roman"/>
                <a:cs typeface="Times New Roman"/>
              </a:rPr>
              <a:t>child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sets.</a:t>
            </a:r>
            <a:r>
              <a:rPr sz="2000" spc="-125" dirty="0">
                <a:latin typeface="Times New Roman"/>
                <a:cs typeface="Times New Roman"/>
              </a:rPr>
              <a:t> </a:t>
            </a:r>
            <a:r>
              <a:rPr sz="2000" spc="-20" dirty="0">
                <a:latin typeface="Times New Roman"/>
                <a:cs typeface="Times New Roman"/>
              </a:rPr>
              <a:t>A</a:t>
            </a:r>
            <a:r>
              <a:rPr sz="2000" spc="-114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higher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information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gain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indicates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that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the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feature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is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more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effective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at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splitting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the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data.</a:t>
            </a:r>
            <a:endParaRPr sz="2000">
              <a:latin typeface="Times New Roman"/>
              <a:cs typeface="Times New Roman"/>
            </a:endParaRPr>
          </a:p>
          <a:p>
            <a:pPr marL="266065" indent="-227965">
              <a:lnSpc>
                <a:spcPct val="100000"/>
              </a:lnSpc>
              <a:spcBef>
                <a:spcPts val="740"/>
              </a:spcBef>
              <a:buFont typeface="Arial MT"/>
              <a:buChar char="•"/>
              <a:tabLst>
                <a:tab pos="266065" algn="l"/>
              </a:tabLst>
            </a:pPr>
            <a:r>
              <a:rPr sz="2000" dirty="0">
                <a:latin typeface="Times New Roman"/>
                <a:cs typeface="Times New Roman"/>
              </a:rPr>
              <a:t>The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entropy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the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original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dataset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(D)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is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given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as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follows: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50" dirty="0">
                <a:latin typeface="Times New Roman"/>
                <a:cs typeface="Times New Roman"/>
              </a:rPr>
              <a:t>-</a:t>
            </a:r>
            <a:endParaRPr sz="20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869"/>
              </a:spcBef>
              <a:buFont typeface="Arial MT"/>
              <a:buChar char="•"/>
            </a:pPr>
            <a:endParaRPr sz="2000">
              <a:latin typeface="Times New Roman"/>
              <a:cs typeface="Times New Roman"/>
            </a:endParaRPr>
          </a:p>
          <a:p>
            <a:pPr marL="5641975">
              <a:lnSpc>
                <a:spcPct val="100000"/>
              </a:lnSpc>
            </a:pPr>
            <a:r>
              <a:rPr sz="1400" dirty="0">
                <a:latin typeface="Times New Roman"/>
                <a:cs typeface="Times New Roman"/>
              </a:rPr>
              <a:t>where,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p</a:t>
            </a:r>
            <a:r>
              <a:rPr sz="1350" baseline="-21604" dirty="0">
                <a:latin typeface="Times New Roman"/>
                <a:cs typeface="Times New Roman"/>
              </a:rPr>
              <a:t>i</a:t>
            </a:r>
            <a:r>
              <a:rPr sz="1350" spc="157" baseline="-21604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–</a:t>
            </a:r>
            <a:r>
              <a:rPr sz="1400" spc="-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probability</a:t>
            </a:r>
            <a:r>
              <a:rPr sz="1400" spc="-5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that</a:t>
            </a:r>
            <a:r>
              <a:rPr sz="1400" spc="-3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that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a</a:t>
            </a:r>
            <a:r>
              <a:rPr sz="1400" spc="-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tuple</a:t>
            </a:r>
            <a:r>
              <a:rPr sz="1400" spc="-4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in</a:t>
            </a:r>
            <a:r>
              <a:rPr sz="1400" spc="-2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D</a:t>
            </a:r>
            <a:r>
              <a:rPr sz="1400" spc="-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belongs</a:t>
            </a:r>
            <a:r>
              <a:rPr sz="1400" spc="-4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to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class</a:t>
            </a:r>
            <a:r>
              <a:rPr sz="1400" spc="-25" dirty="0">
                <a:latin typeface="Times New Roman"/>
                <a:cs typeface="Times New Roman"/>
              </a:rPr>
              <a:t> </a:t>
            </a:r>
            <a:r>
              <a:rPr sz="1400" spc="-50" dirty="0">
                <a:latin typeface="Times New Roman"/>
                <a:cs typeface="Times New Roman"/>
              </a:rPr>
              <a:t>C</a:t>
            </a:r>
            <a:endParaRPr sz="14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4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520"/>
              </a:spcBef>
            </a:pPr>
            <a:endParaRPr sz="1400">
              <a:latin typeface="Times New Roman"/>
              <a:cs typeface="Times New Roman"/>
            </a:endParaRPr>
          </a:p>
          <a:p>
            <a:pPr marL="266065" indent="-227965">
              <a:lnSpc>
                <a:spcPct val="100000"/>
              </a:lnSpc>
              <a:buFont typeface="Arial MT"/>
              <a:buChar char="•"/>
              <a:tabLst>
                <a:tab pos="266065" algn="l"/>
              </a:tabLst>
            </a:pPr>
            <a:r>
              <a:rPr sz="2000" dirty="0">
                <a:latin typeface="Times New Roman"/>
                <a:cs typeface="Times New Roman"/>
              </a:rPr>
              <a:t>The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entropy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the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child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set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is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given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as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follows: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-50" dirty="0">
                <a:latin typeface="Times New Roman"/>
                <a:cs typeface="Times New Roman"/>
              </a:rPr>
              <a:t>-</a:t>
            </a:r>
            <a:endParaRPr sz="2000">
              <a:latin typeface="Times New Roman"/>
              <a:cs typeface="Times New Roman"/>
            </a:endParaRPr>
          </a:p>
        </p:txBody>
      </p: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604133" y="5540006"/>
            <a:ext cx="3053334" cy="463981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6429502" y="4551679"/>
            <a:ext cx="4177029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latin typeface="Times New Roman"/>
                <a:cs typeface="Times New Roman"/>
              </a:rPr>
              <a:t>where,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|D</a:t>
            </a:r>
            <a:r>
              <a:rPr sz="1575" baseline="-21164" dirty="0">
                <a:latin typeface="Times New Roman"/>
                <a:cs typeface="Times New Roman"/>
              </a:rPr>
              <a:t>j</a:t>
            </a:r>
            <a:r>
              <a:rPr sz="1600" dirty="0">
                <a:latin typeface="Times New Roman"/>
                <a:cs typeface="Times New Roman"/>
              </a:rPr>
              <a:t>|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–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number</a:t>
            </a:r>
            <a:r>
              <a:rPr sz="1600" spc="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of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samples</a:t>
            </a:r>
            <a:r>
              <a:rPr sz="1600" spc="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in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subset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spc="-50" dirty="0">
                <a:latin typeface="Times New Roman"/>
                <a:cs typeface="Times New Roman"/>
              </a:rPr>
              <a:t>j</a:t>
            </a:r>
            <a:endParaRPr sz="1600">
              <a:latin typeface="Times New Roman"/>
              <a:cs typeface="Times New Roman"/>
            </a:endParaRPr>
          </a:p>
          <a:p>
            <a:pPr marL="647700">
              <a:lnSpc>
                <a:spcPct val="100000"/>
              </a:lnSpc>
            </a:pPr>
            <a:r>
              <a:rPr sz="1600" dirty="0">
                <a:latin typeface="Times New Roman"/>
                <a:cs typeface="Times New Roman"/>
              </a:rPr>
              <a:t>|D|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-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total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number of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samples</a:t>
            </a:r>
            <a:r>
              <a:rPr sz="1600" spc="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in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the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dataset</a:t>
            </a:r>
            <a:endParaRPr sz="1600">
              <a:latin typeface="Times New Roman"/>
              <a:cs typeface="Times New Roman"/>
            </a:endParaRPr>
          </a:p>
          <a:p>
            <a:pPr marL="647700">
              <a:lnSpc>
                <a:spcPct val="100000"/>
              </a:lnSpc>
            </a:pPr>
            <a:r>
              <a:rPr sz="1600" dirty="0">
                <a:latin typeface="Times New Roman"/>
                <a:cs typeface="Times New Roman"/>
              </a:rPr>
              <a:t>Info(D</a:t>
            </a:r>
            <a:r>
              <a:rPr sz="1575" baseline="-21164" dirty="0">
                <a:latin typeface="Times New Roman"/>
                <a:cs typeface="Times New Roman"/>
              </a:rPr>
              <a:t>j</a:t>
            </a:r>
            <a:r>
              <a:rPr sz="1600" dirty="0">
                <a:latin typeface="Times New Roman"/>
                <a:cs typeface="Times New Roman"/>
              </a:rPr>
              <a:t>)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–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entropy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of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subset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spc="-25" dirty="0">
                <a:latin typeface="Times New Roman"/>
                <a:cs typeface="Times New Roman"/>
              </a:rPr>
              <a:t>D</a:t>
            </a:r>
            <a:r>
              <a:rPr sz="1575" spc="-37" baseline="-21164" dirty="0">
                <a:latin typeface="Times New Roman"/>
                <a:cs typeface="Times New Roman"/>
              </a:rPr>
              <a:t>j</a:t>
            </a:r>
            <a:endParaRPr sz="1575" baseline="-21164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6939" y="431038"/>
            <a:ext cx="455993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spc="-190" dirty="0">
                <a:latin typeface="Trebuchet MS"/>
                <a:cs typeface="Trebuchet MS"/>
              </a:rPr>
              <a:t>Information</a:t>
            </a:r>
            <a:r>
              <a:rPr sz="3200" spc="-340" dirty="0">
                <a:latin typeface="Trebuchet MS"/>
                <a:cs typeface="Trebuchet MS"/>
              </a:rPr>
              <a:t> </a:t>
            </a:r>
            <a:r>
              <a:rPr sz="3200" spc="-200" dirty="0">
                <a:latin typeface="Trebuchet MS"/>
                <a:cs typeface="Trebuchet MS"/>
              </a:rPr>
              <a:t>gain</a:t>
            </a:r>
            <a:r>
              <a:rPr sz="3200" spc="-290" dirty="0">
                <a:latin typeface="Trebuchet MS"/>
                <a:cs typeface="Trebuchet MS"/>
              </a:rPr>
              <a:t> </a:t>
            </a:r>
            <a:r>
              <a:rPr sz="3200" spc="-120" dirty="0">
                <a:latin typeface="Trebuchet MS"/>
                <a:cs typeface="Trebuchet MS"/>
              </a:rPr>
              <a:t>calculation</a:t>
            </a:r>
            <a:endParaRPr sz="320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16939" y="1214754"/>
            <a:ext cx="17024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/>
                <a:cs typeface="Times New Roman"/>
              </a:rPr>
              <a:t>Entropy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dataset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16939" y="2336419"/>
            <a:ext cx="57226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/>
                <a:cs typeface="Times New Roman"/>
              </a:rPr>
              <a:t>Entropy</a:t>
            </a:r>
            <a:r>
              <a:rPr sz="1800" spc="-4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child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set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created</a:t>
            </a:r>
            <a:r>
              <a:rPr sz="1800" spc="-4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when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split</a:t>
            </a:r>
            <a:r>
              <a:rPr sz="1800" spc="-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on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-4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attribute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i="1" spc="-25" dirty="0">
                <a:latin typeface="Times New Roman"/>
                <a:cs typeface="Times New Roman"/>
              </a:rPr>
              <a:t>age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16939" y="5189982"/>
            <a:ext cx="15690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/>
                <a:cs typeface="Times New Roman"/>
              </a:rPr>
              <a:t>Information</a:t>
            </a:r>
            <a:r>
              <a:rPr sz="1800" spc="-70" dirty="0">
                <a:latin typeface="Times New Roman"/>
                <a:cs typeface="Times New Roman"/>
              </a:rPr>
              <a:t> </a:t>
            </a:r>
            <a:r>
              <a:rPr sz="1800" spc="-20" dirty="0">
                <a:latin typeface="Times New Roman"/>
                <a:cs typeface="Times New Roman"/>
              </a:rPr>
              <a:t>gain</a:t>
            </a:r>
            <a:endParaRPr sz="1800">
              <a:latin typeface="Times New Roman"/>
              <a:cs typeface="Times New Roman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62264" y="238125"/>
            <a:ext cx="4684829" cy="2963736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2143458" y="1239519"/>
            <a:ext cx="4493895" cy="1016000"/>
            <a:chOff x="2143458" y="1239519"/>
            <a:chExt cx="4493895" cy="1016000"/>
          </a:xfrm>
        </p:grpSpPr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143458" y="1599437"/>
              <a:ext cx="4493307" cy="615004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689858" y="1239519"/>
              <a:ext cx="1834514" cy="448945"/>
            </a:xfrm>
            <a:custGeom>
              <a:avLst/>
              <a:gdLst/>
              <a:ahLst/>
              <a:cxnLst/>
              <a:rect l="l" t="t" r="r" b="b"/>
              <a:pathLst>
                <a:path w="1834514" h="448944">
                  <a:moveTo>
                    <a:pt x="76200" y="372364"/>
                  </a:moveTo>
                  <a:lnTo>
                    <a:pt x="47625" y="372364"/>
                  </a:lnTo>
                  <a:lnTo>
                    <a:pt x="47625" y="47117"/>
                  </a:lnTo>
                  <a:lnTo>
                    <a:pt x="28575" y="47117"/>
                  </a:lnTo>
                  <a:lnTo>
                    <a:pt x="28575" y="372364"/>
                  </a:lnTo>
                  <a:lnTo>
                    <a:pt x="0" y="372364"/>
                  </a:lnTo>
                  <a:lnTo>
                    <a:pt x="38100" y="448564"/>
                  </a:lnTo>
                  <a:lnTo>
                    <a:pt x="69850" y="385064"/>
                  </a:lnTo>
                  <a:lnTo>
                    <a:pt x="76200" y="372364"/>
                  </a:lnTo>
                  <a:close/>
                </a:path>
                <a:path w="1834514" h="448944">
                  <a:moveTo>
                    <a:pt x="1834007" y="15494"/>
                  </a:moveTo>
                  <a:lnTo>
                    <a:pt x="1822704" y="0"/>
                  </a:lnTo>
                  <a:lnTo>
                    <a:pt x="1400378" y="307378"/>
                  </a:lnTo>
                  <a:lnTo>
                    <a:pt x="1383538" y="284226"/>
                  </a:lnTo>
                  <a:lnTo>
                    <a:pt x="1344422" y="359918"/>
                  </a:lnTo>
                  <a:lnTo>
                    <a:pt x="1428369" y="345821"/>
                  </a:lnTo>
                  <a:lnTo>
                    <a:pt x="1416989" y="330200"/>
                  </a:lnTo>
                  <a:lnTo>
                    <a:pt x="1411566" y="322745"/>
                  </a:lnTo>
                  <a:lnTo>
                    <a:pt x="1834007" y="15494"/>
                  </a:lnTo>
                  <a:close/>
                </a:path>
              </a:pathLst>
            </a:custGeom>
            <a:solidFill>
              <a:srgbClr val="155F8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011297" y="1688134"/>
              <a:ext cx="1264285" cy="558165"/>
            </a:xfrm>
            <a:custGeom>
              <a:avLst/>
              <a:gdLst/>
              <a:ahLst/>
              <a:cxnLst/>
              <a:rect l="l" t="t" r="r" b="b"/>
              <a:pathLst>
                <a:path w="1264285" h="558164">
                  <a:moveTo>
                    <a:pt x="1264221" y="0"/>
                  </a:moveTo>
                  <a:lnTo>
                    <a:pt x="0" y="0"/>
                  </a:lnTo>
                  <a:lnTo>
                    <a:pt x="0" y="557733"/>
                  </a:lnTo>
                  <a:lnTo>
                    <a:pt x="1264221" y="557733"/>
                  </a:lnTo>
                  <a:lnTo>
                    <a:pt x="1264221" y="0"/>
                  </a:lnTo>
                  <a:close/>
                </a:path>
              </a:pathLst>
            </a:custGeom>
            <a:solidFill>
              <a:srgbClr val="FFFF00">
                <a:alpha val="14117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011297" y="1688134"/>
              <a:ext cx="1264285" cy="558165"/>
            </a:xfrm>
            <a:custGeom>
              <a:avLst/>
              <a:gdLst/>
              <a:ahLst/>
              <a:cxnLst/>
              <a:rect l="l" t="t" r="r" b="b"/>
              <a:pathLst>
                <a:path w="1264285" h="558164">
                  <a:moveTo>
                    <a:pt x="0" y="557733"/>
                  </a:moveTo>
                  <a:lnTo>
                    <a:pt x="1264221" y="557733"/>
                  </a:lnTo>
                  <a:lnTo>
                    <a:pt x="1264221" y="0"/>
                  </a:lnTo>
                  <a:lnTo>
                    <a:pt x="0" y="0"/>
                  </a:lnTo>
                  <a:lnTo>
                    <a:pt x="0" y="557733"/>
                  </a:lnTo>
                  <a:close/>
                </a:path>
              </a:pathLst>
            </a:custGeom>
            <a:ln w="19050">
              <a:solidFill>
                <a:srgbClr val="04233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493132" y="1680514"/>
              <a:ext cx="1025525" cy="558165"/>
            </a:xfrm>
            <a:custGeom>
              <a:avLst/>
              <a:gdLst/>
              <a:ahLst/>
              <a:cxnLst/>
              <a:rect l="l" t="t" r="r" b="b"/>
              <a:pathLst>
                <a:path w="1025525" h="558164">
                  <a:moveTo>
                    <a:pt x="1025029" y="0"/>
                  </a:moveTo>
                  <a:lnTo>
                    <a:pt x="0" y="0"/>
                  </a:lnTo>
                  <a:lnTo>
                    <a:pt x="0" y="557733"/>
                  </a:lnTo>
                  <a:lnTo>
                    <a:pt x="1025029" y="557733"/>
                  </a:lnTo>
                  <a:lnTo>
                    <a:pt x="1025029" y="0"/>
                  </a:lnTo>
                  <a:close/>
                </a:path>
              </a:pathLst>
            </a:custGeom>
            <a:solidFill>
              <a:srgbClr val="92D050">
                <a:alpha val="14117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493132" y="1680514"/>
              <a:ext cx="1025525" cy="558165"/>
            </a:xfrm>
            <a:custGeom>
              <a:avLst/>
              <a:gdLst/>
              <a:ahLst/>
              <a:cxnLst/>
              <a:rect l="l" t="t" r="r" b="b"/>
              <a:pathLst>
                <a:path w="1025525" h="558164">
                  <a:moveTo>
                    <a:pt x="0" y="557733"/>
                  </a:moveTo>
                  <a:lnTo>
                    <a:pt x="1025029" y="557733"/>
                  </a:lnTo>
                  <a:lnTo>
                    <a:pt x="1025029" y="0"/>
                  </a:lnTo>
                  <a:lnTo>
                    <a:pt x="0" y="0"/>
                  </a:lnTo>
                  <a:lnTo>
                    <a:pt x="0" y="557733"/>
                  </a:lnTo>
                  <a:close/>
                </a:path>
              </a:pathLst>
            </a:custGeom>
            <a:ln w="19050">
              <a:solidFill>
                <a:srgbClr val="04233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935366" y="2792158"/>
            <a:ext cx="4999990" cy="1186815"/>
            <a:chOff x="935366" y="2792158"/>
            <a:chExt cx="4999990" cy="1186815"/>
          </a:xfrm>
        </p:grpSpPr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35366" y="2792158"/>
              <a:ext cx="3340088" cy="595150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205096" y="2792158"/>
              <a:ext cx="1729994" cy="619442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734058" y="3359467"/>
              <a:ext cx="2759074" cy="619442"/>
            </a:xfrm>
            <a:prstGeom prst="rect">
              <a:avLst/>
            </a:prstGeom>
          </p:spPr>
        </p:pic>
      </p:grpSp>
      <p:pic>
        <p:nvPicPr>
          <p:cNvPr id="18" name="object 1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78182" y="5702697"/>
            <a:ext cx="5193313" cy="255630"/>
          </a:xfrm>
          <a:prstGeom prst="rect">
            <a:avLst/>
          </a:prstGeom>
        </p:spPr>
      </p:pic>
      <p:pic>
        <p:nvPicPr>
          <p:cNvPr id="19" name="object 1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713719" y="4205314"/>
            <a:ext cx="1112100" cy="156838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6990922" y="3445814"/>
            <a:ext cx="4636479" cy="3138781"/>
          </a:xfrm>
          <a:prstGeom prst="rect">
            <a:avLst/>
          </a:prstGeom>
        </p:spPr>
      </p:pic>
      <p:sp>
        <p:nvSpPr>
          <p:cNvPr id="21" name="object 21"/>
          <p:cNvSpPr txBox="1"/>
          <p:nvPr/>
        </p:nvSpPr>
        <p:spPr>
          <a:xfrm>
            <a:off x="3135629" y="998042"/>
            <a:ext cx="157543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spc="-25" dirty="0">
                <a:solidFill>
                  <a:srgbClr val="FF0000"/>
                </a:solidFill>
                <a:latin typeface="Trebuchet MS"/>
                <a:cs typeface="Trebuchet MS"/>
              </a:rPr>
              <a:t>buys_computer:</a:t>
            </a:r>
            <a:r>
              <a:rPr sz="1400" spc="-40" dirty="0">
                <a:solidFill>
                  <a:srgbClr val="FF0000"/>
                </a:solidFill>
                <a:latin typeface="Trebuchet MS"/>
                <a:cs typeface="Trebuchet MS"/>
              </a:rPr>
              <a:t> </a:t>
            </a:r>
            <a:r>
              <a:rPr sz="1400" spc="-25" dirty="0">
                <a:solidFill>
                  <a:srgbClr val="FF0000"/>
                </a:solidFill>
                <a:latin typeface="Trebuchet MS"/>
                <a:cs typeface="Trebuchet MS"/>
              </a:rPr>
              <a:t>yes</a:t>
            </a:r>
            <a:endParaRPr sz="1400">
              <a:latin typeface="Trebuchet MS"/>
              <a:cs typeface="Trebuchet MS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925948" y="958976"/>
            <a:ext cx="1511935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spc="-25" dirty="0">
                <a:solidFill>
                  <a:srgbClr val="FF0000"/>
                </a:solidFill>
                <a:latin typeface="Trebuchet MS"/>
                <a:cs typeface="Trebuchet MS"/>
              </a:rPr>
              <a:t>buys_computer:</a:t>
            </a:r>
            <a:r>
              <a:rPr sz="1400" spc="-40" dirty="0">
                <a:solidFill>
                  <a:srgbClr val="FF0000"/>
                </a:solidFill>
                <a:latin typeface="Trebuchet MS"/>
                <a:cs typeface="Trebuchet MS"/>
              </a:rPr>
              <a:t> </a:t>
            </a:r>
            <a:r>
              <a:rPr sz="1400" spc="-25" dirty="0">
                <a:solidFill>
                  <a:srgbClr val="FF0000"/>
                </a:solidFill>
                <a:latin typeface="Trebuchet MS"/>
                <a:cs typeface="Trebuchet MS"/>
              </a:rPr>
              <a:t>no</a:t>
            </a:r>
            <a:endParaRPr sz="1400">
              <a:latin typeface="Trebuchet MS"/>
              <a:cs typeface="Trebuchet MS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35686" y="3631819"/>
            <a:ext cx="820419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0" dirty="0">
                <a:solidFill>
                  <a:srgbClr val="FF0000"/>
                </a:solidFill>
                <a:latin typeface="Trebuchet MS"/>
                <a:cs typeface="Trebuchet MS"/>
              </a:rPr>
              <a:t>age:</a:t>
            </a:r>
            <a:r>
              <a:rPr sz="1400" spc="-110" dirty="0">
                <a:solidFill>
                  <a:srgbClr val="FF0000"/>
                </a:solidFill>
                <a:latin typeface="Trebuchet MS"/>
                <a:cs typeface="Trebuchet MS"/>
              </a:rPr>
              <a:t> </a:t>
            </a:r>
            <a:r>
              <a:rPr sz="1400" spc="-10" dirty="0">
                <a:solidFill>
                  <a:srgbClr val="FF0000"/>
                </a:solidFill>
                <a:latin typeface="Trebuchet MS"/>
                <a:cs typeface="Trebuchet MS"/>
              </a:rPr>
              <a:t>youth</a:t>
            </a:r>
            <a:endParaRPr sz="1400">
              <a:latin typeface="Trebuchet MS"/>
              <a:cs typeface="Trebuchet MS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820800" y="2799003"/>
            <a:ext cx="5123815" cy="1188085"/>
            <a:chOff x="820800" y="2799003"/>
            <a:chExt cx="5123815" cy="1188085"/>
          </a:xfrm>
        </p:grpSpPr>
        <p:sp>
          <p:nvSpPr>
            <p:cNvPr id="25" name="object 25"/>
            <p:cNvSpPr/>
            <p:nvPr/>
          </p:nvSpPr>
          <p:spPr>
            <a:xfrm>
              <a:off x="820800" y="3340480"/>
              <a:ext cx="1038225" cy="280670"/>
            </a:xfrm>
            <a:custGeom>
              <a:avLst/>
              <a:gdLst/>
              <a:ahLst/>
              <a:cxnLst/>
              <a:rect l="l" t="t" r="r" b="b"/>
              <a:pathLst>
                <a:path w="1038225" h="280670">
                  <a:moveTo>
                    <a:pt x="961808" y="27788"/>
                  </a:moveTo>
                  <a:lnTo>
                    <a:pt x="0" y="262128"/>
                  </a:lnTo>
                  <a:lnTo>
                    <a:pt x="4508" y="280543"/>
                  </a:lnTo>
                  <a:lnTo>
                    <a:pt x="966320" y="46312"/>
                  </a:lnTo>
                  <a:lnTo>
                    <a:pt x="961808" y="27788"/>
                  </a:lnTo>
                  <a:close/>
                </a:path>
                <a:path w="1038225" h="280670">
                  <a:moveTo>
                    <a:pt x="1031340" y="24765"/>
                  </a:moveTo>
                  <a:lnTo>
                    <a:pt x="974217" y="24765"/>
                  </a:lnTo>
                  <a:lnTo>
                    <a:pt x="978662" y="43307"/>
                  </a:lnTo>
                  <a:lnTo>
                    <a:pt x="966320" y="46312"/>
                  </a:lnTo>
                  <a:lnTo>
                    <a:pt x="973074" y="74041"/>
                  </a:lnTo>
                  <a:lnTo>
                    <a:pt x="1031340" y="24765"/>
                  </a:lnTo>
                  <a:close/>
                </a:path>
                <a:path w="1038225" h="280670">
                  <a:moveTo>
                    <a:pt x="974217" y="24765"/>
                  </a:moveTo>
                  <a:lnTo>
                    <a:pt x="961808" y="27788"/>
                  </a:lnTo>
                  <a:lnTo>
                    <a:pt x="966320" y="46312"/>
                  </a:lnTo>
                  <a:lnTo>
                    <a:pt x="978662" y="43307"/>
                  </a:lnTo>
                  <a:lnTo>
                    <a:pt x="974217" y="24765"/>
                  </a:lnTo>
                  <a:close/>
                </a:path>
                <a:path w="1038225" h="280670">
                  <a:moveTo>
                    <a:pt x="955040" y="0"/>
                  </a:moveTo>
                  <a:lnTo>
                    <a:pt x="961808" y="27788"/>
                  </a:lnTo>
                  <a:lnTo>
                    <a:pt x="974217" y="24765"/>
                  </a:lnTo>
                  <a:lnTo>
                    <a:pt x="1031340" y="24765"/>
                  </a:lnTo>
                  <a:lnTo>
                    <a:pt x="1038098" y="19050"/>
                  </a:lnTo>
                  <a:lnTo>
                    <a:pt x="955040" y="0"/>
                  </a:lnTo>
                  <a:close/>
                </a:path>
              </a:pathLst>
            </a:custGeom>
            <a:solidFill>
              <a:srgbClr val="155F8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1947798" y="2816783"/>
              <a:ext cx="2257425" cy="558165"/>
            </a:xfrm>
            <a:custGeom>
              <a:avLst/>
              <a:gdLst/>
              <a:ahLst/>
              <a:cxnLst/>
              <a:rect l="l" t="t" r="r" b="b"/>
              <a:pathLst>
                <a:path w="2257425" h="558164">
                  <a:moveTo>
                    <a:pt x="2257298" y="0"/>
                  </a:moveTo>
                  <a:lnTo>
                    <a:pt x="0" y="0"/>
                  </a:lnTo>
                  <a:lnTo>
                    <a:pt x="0" y="557733"/>
                  </a:lnTo>
                  <a:lnTo>
                    <a:pt x="2257298" y="557733"/>
                  </a:lnTo>
                  <a:lnTo>
                    <a:pt x="2257298" y="0"/>
                  </a:lnTo>
                  <a:close/>
                </a:path>
              </a:pathLst>
            </a:custGeom>
            <a:solidFill>
              <a:srgbClr val="FFC000">
                <a:alpha val="14117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1947798" y="2816783"/>
              <a:ext cx="2257425" cy="558165"/>
            </a:xfrm>
            <a:custGeom>
              <a:avLst/>
              <a:gdLst/>
              <a:ahLst/>
              <a:cxnLst/>
              <a:rect l="l" t="t" r="r" b="b"/>
              <a:pathLst>
                <a:path w="2257425" h="558164">
                  <a:moveTo>
                    <a:pt x="0" y="557733"/>
                  </a:moveTo>
                  <a:lnTo>
                    <a:pt x="2257298" y="557733"/>
                  </a:lnTo>
                  <a:lnTo>
                    <a:pt x="2257298" y="0"/>
                  </a:lnTo>
                  <a:lnTo>
                    <a:pt x="0" y="0"/>
                  </a:lnTo>
                  <a:lnTo>
                    <a:pt x="0" y="557733"/>
                  </a:lnTo>
                  <a:close/>
                </a:path>
              </a:pathLst>
            </a:custGeom>
            <a:ln w="19049">
              <a:solidFill>
                <a:srgbClr val="04233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4389500" y="2808528"/>
              <a:ext cx="1545590" cy="558165"/>
            </a:xfrm>
            <a:custGeom>
              <a:avLst/>
              <a:gdLst/>
              <a:ahLst/>
              <a:cxnLst/>
              <a:rect l="l" t="t" r="r" b="b"/>
              <a:pathLst>
                <a:path w="1545589" h="558164">
                  <a:moveTo>
                    <a:pt x="1545589" y="0"/>
                  </a:moveTo>
                  <a:lnTo>
                    <a:pt x="0" y="0"/>
                  </a:lnTo>
                  <a:lnTo>
                    <a:pt x="0" y="557733"/>
                  </a:lnTo>
                  <a:lnTo>
                    <a:pt x="1545589" y="557733"/>
                  </a:lnTo>
                  <a:lnTo>
                    <a:pt x="1545589" y="0"/>
                  </a:lnTo>
                  <a:close/>
                </a:path>
              </a:pathLst>
            </a:custGeom>
            <a:solidFill>
              <a:srgbClr val="00AFEF">
                <a:alpha val="14117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4389500" y="2808528"/>
              <a:ext cx="1545590" cy="558165"/>
            </a:xfrm>
            <a:custGeom>
              <a:avLst/>
              <a:gdLst/>
              <a:ahLst/>
              <a:cxnLst/>
              <a:rect l="l" t="t" r="r" b="b"/>
              <a:pathLst>
                <a:path w="1545589" h="558164">
                  <a:moveTo>
                    <a:pt x="0" y="557733"/>
                  </a:moveTo>
                  <a:lnTo>
                    <a:pt x="1545589" y="557733"/>
                  </a:lnTo>
                  <a:lnTo>
                    <a:pt x="1545589" y="0"/>
                  </a:lnTo>
                  <a:lnTo>
                    <a:pt x="0" y="0"/>
                  </a:lnTo>
                  <a:lnTo>
                    <a:pt x="0" y="557733"/>
                  </a:lnTo>
                  <a:close/>
                </a:path>
              </a:pathLst>
            </a:custGeom>
            <a:ln w="19049">
              <a:solidFill>
                <a:srgbClr val="04233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1988058" y="3419779"/>
              <a:ext cx="2520315" cy="558165"/>
            </a:xfrm>
            <a:custGeom>
              <a:avLst/>
              <a:gdLst/>
              <a:ahLst/>
              <a:cxnLst/>
              <a:rect l="l" t="t" r="r" b="b"/>
              <a:pathLst>
                <a:path w="2520315" h="558164">
                  <a:moveTo>
                    <a:pt x="2520315" y="0"/>
                  </a:moveTo>
                  <a:lnTo>
                    <a:pt x="0" y="0"/>
                  </a:lnTo>
                  <a:lnTo>
                    <a:pt x="0" y="557733"/>
                  </a:lnTo>
                  <a:lnTo>
                    <a:pt x="2520315" y="557733"/>
                  </a:lnTo>
                  <a:lnTo>
                    <a:pt x="2520315" y="0"/>
                  </a:lnTo>
                  <a:close/>
                </a:path>
              </a:pathLst>
            </a:custGeom>
            <a:solidFill>
              <a:srgbClr val="6F2F9F">
                <a:alpha val="14117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1988058" y="3419779"/>
              <a:ext cx="2520315" cy="558165"/>
            </a:xfrm>
            <a:custGeom>
              <a:avLst/>
              <a:gdLst/>
              <a:ahLst/>
              <a:cxnLst/>
              <a:rect l="l" t="t" r="r" b="b"/>
              <a:pathLst>
                <a:path w="2520315" h="558164">
                  <a:moveTo>
                    <a:pt x="0" y="557733"/>
                  </a:moveTo>
                  <a:lnTo>
                    <a:pt x="2520315" y="557733"/>
                  </a:lnTo>
                  <a:lnTo>
                    <a:pt x="2520315" y="0"/>
                  </a:lnTo>
                  <a:lnTo>
                    <a:pt x="0" y="0"/>
                  </a:lnTo>
                  <a:lnTo>
                    <a:pt x="0" y="557733"/>
                  </a:lnTo>
                  <a:close/>
                </a:path>
              </a:pathLst>
            </a:custGeom>
            <a:ln w="19049">
              <a:solidFill>
                <a:srgbClr val="04233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6001258" y="3617721"/>
            <a:ext cx="137922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0" dirty="0">
                <a:solidFill>
                  <a:srgbClr val="FF0000"/>
                </a:solidFill>
                <a:latin typeface="Trebuchet MS"/>
                <a:cs typeface="Trebuchet MS"/>
              </a:rPr>
              <a:t>age:</a:t>
            </a:r>
            <a:r>
              <a:rPr sz="1400" spc="-110" dirty="0">
                <a:solidFill>
                  <a:srgbClr val="FF0000"/>
                </a:solidFill>
                <a:latin typeface="Trebuchet MS"/>
                <a:cs typeface="Trebuchet MS"/>
              </a:rPr>
              <a:t> </a:t>
            </a:r>
            <a:r>
              <a:rPr sz="1400" spc="-20" dirty="0">
                <a:solidFill>
                  <a:srgbClr val="FF0000"/>
                </a:solidFill>
                <a:latin typeface="Trebuchet MS"/>
                <a:cs typeface="Trebuchet MS"/>
              </a:rPr>
              <a:t>middle_aged</a:t>
            </a:r>
            <a:endParaRPr sz="1400">
              <a:latin typeface="Trebuchet MS"/>
              <a:cs typeface="Trebuchet MS"/>
            </a:endParaRPr>
          </a:p>
        </p:txBody>
      </p:sp>
      <p:sp>
        <p:nvSpPr>
          <p:cNvPr id="33" name="object 33"/>
          <p:cNvSpPr/>
          <p:nvPr/>
        </p:nvSpPr>
        <p:spPr>
          <a:xfrm>
            <a:off x="4554474" y="3327145"/>
            <a:ext cx="2143760" cy="908685"/>
          </a:xfrm>
          <a:custGeom>
            <a:avLst/>
            <a:gdLst/>
            <a:ahLst/>
            <a:cxnLst/>
            <a:rect l="l" t="t" r="r" b="b"/>
            <a:pathLst>
              <a:path w="2143759" h="908685">
                <a:moveTo>
                  <a:pt x="350647" y="896366"/>
                </a:moveTo>
                <a:lnTo>
                  <a:pt x="56883" y="553948"/>
                </a:lnTo>
                <a:lnTo>
                  <a:pt x="68110" y="544322"/>
                </a:lnTo>
                <a:lnTo>
                  <a:pt x="78486" y="535432"/>
                </a:lnTo>
                <a:lnTo>
                  <a:pt x="0" y="502412"/>
                </a:lnTo>
                <a:lnTo>
                  <a:pt x="20701" y="584962"/>
                </a:lnTo>
                <a:lnTo>
                  <a:pt x="42392" y="566369"/>
                </a:lnTo>
                <a:lnTo>
                  <a:pt x="336296" y="908685"/>
                </a:lnTo>
                <a:lnTo>
                  <a:pt x="350647" y="896366"/>
                </a:lnTo>
                <a:close/>
              </a:path>
              <a:path w="2143759" h="908685">
                <a:moveTo>
                  <a:pt x="2143379" y="261493"/>
                </a:moveTo>
                <a:lnTo>
                  <a:pt x="1501648" y="26720"/>
                </a:lnTo>
                <a:lnTo>
                  <a:pt x="1503248" y="22352"/>
                </a:lnTo>
                <a:lnTo>
                  <a:pt x="1511427" y="0"/>
                </a:lnTo>
                <a:lnTo>
                  <a:pt x="1426845" y="9525"/>
                </a:lnTo>
                <a:lnTo>
                  <a:pt x="1485265" y="71501"/>
                </a:lnTo>
                <a:lnTo>
                  <a:pt x="1495094" y="44615"/>
                </a:lnTo>
                <a:lnTo>
                  <a:pt x="2136902" y="279412"/>
                </a:lnTo>
                <a:lnTo>
                  <a:pt x="2143379" y="261493"/>
                </a:lnTo>
                <a:close/>
              </a:path>
            </a:pathLst>
          </a:custGeom>
          <a:solidFill>
            <a:srgbClr val="155F8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 txBox="1"/>
          <p:nvPr/>
        </p:nvSpPr>
        <p:spPr>
          <a:xfrm>
            <a:off x="4411217" y="4249927"/>
            <a:ext cx="86677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0" dirty="0">
                <a:solidFill>
                  <a:srgbClr val="FF0000"/>
                </a:solidFill>
                <a:latin typeface="Trebuchet MS"/>
                <a:cs typeface="Trebuchet MS"/>
              </a:rPr>
              <a:t>age:</a:t>
            </a:r>
            <a:r>
              <a:rPr sz="1400" spc="-110" dirty="0">
                <a:solidFill>
                  <a:srgbClr val="FF0000"/>
                </a:solidFill>
                <a:latin typeface="Trebuchet MS"/>
                <a:cs typeface="Trebuchet MS"/>
              </a:rPr>
              <a:t> </a:t>
            </a:r>
            <a:r>
              <a:rPr sz="1400" spc="-10" dirty="0">
                <a:solidFill>
                  <a:srgbClr val="FF0000"/>
                </a:solidFill>
                <a:latin typeface="Trebuchet MS"/>
                <a:cs typeface="Trebuchet MS"/>
              </a:rPr>
              <a:t>senior</a:t>
            </a:r>
            <a:endParaRPr sz="14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62625" y="632294"/>
            <a:ext cx="4636479" cy="3138781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5735" rIns="0" bIns="0" rtlCol="0">
            <a:spAutoFit/>
          </a:bodyPr>
          <a:lstStyle/>
          <a:p>
            <a:pPr marL="427990">
              <a:lnSpc>
                <a:spcPct val="100000"/>
              </a:lnSpc>
              <a:spcBef>
                <a:spcPts val="105"/>
              </a:spcBef>
            </a:pPr>
            <a:r>
              <a:rPr sz="3200" spc="-190" dirty="0">
                <a:latin typeface="Trebuchet MS"/>
                <a:cs typeface="Trebuchet MS"/>
              </a:rPr>
              <a:t>Information</a:t>
            </a:r>
            <a:r>
              <a:rPr sz="3200" spc="-340" dirty="0">
                <a:latin typeface="Trebuchet MS"/>
                <a:cs typeface="Trebuchet MS"/>
              </a:rPr>
              <a:t> </a:t>
            </a:r>
            <a:r>
              <a:rPr sz="3200" spc="-200" dirty="0">
                <a:latin typeface="Trebuchet MS"/>
                <a:cs typeface="Trebuchet MS"/>
              </a:rPr>
              <a:t>gain</a:t>
            </a:r>
            <a:r>
              <a:rPr sz="3200" spc="-290" dirty="0">
                <a:latin typeface="Trebuchet MS"/>
                <a:cs typeface="Trebuchet MS"/>
              </a:rPr>
              <a:t> </a:t>
            </a:r>
            <a:r>
              <a:rPr sz="3200" spc="-120" dirty="0">
                <a:latin typeface="Trebuchet MS"/>
                <a:cs typeface="Trebuchet MS"/>
              </a:rPr>
              <a:t>calculation</a:t>
            </a:r>
            <a:endParaRPr sz="320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16939" y="2198395"/>
            <a:ext cx="10355580" cy="37553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6378575">
              <a:lnSpc>
                <a:spcPct val="118300"/>
              </a:lnSpc>
              <a:spcBef>
                <a:spcPts val="100"/>
              </a:spcBef>
            </a:pPr>
            <a:r>
              <a:rPr sz="2200" dirty="0">
                <a:latin typeface="Times New Roman"/>
                <a:cs typeface="Times New Roman"/>
              </a:rPr>
              <a:t>The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gain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for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the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other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attributes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spc="-25" dirty="0">
                <a:latin typeface="Times New Roman"/>
                <a:cs typeface="Times New Roman"/>
              </a:rPr>
              <a:t>are </a:t>
            </a:r>
            <a:r>
              <a:rPr sz="2200" dirty="0">
                <a:latin typeface="Times New Roman"/>
                <a:cs typeface="Times New Roman"/>
              </a:rPr>
              <a:t>Gain(income)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=</a:t>
            </a:r>
            <a:r>
              <a:rPr sz="2200" spc="-6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0.029</a:t>
            </a:r>
            <a:r>
              <a:rPr sz="2200" spc="-75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bits</a:t>
            </a:r>
            <a:endParaRPr sz="2200">
              <a:latin typeface="Times New Roman"/>
              <a:cs typeface="Times New Roman"/>
            </a:endParaRPr>
          </a:p>
          <a:p>
            <a:pPr marL="12700" marR="6708140">
              <a:lnSpc>
                <a:spcPct val="100000"/>
              </a:lnSpc>
            </a:pPr>
            <a:r>
              <a:rPr sz="2200" dirty="0">
                <a:latin typeface="Times New Roman"/>
                <a:cs typeface="Times New Roman"/>
              </a:rPr>
              <a:t>Gain(student)</a:t>
            </a:r>
            <a:r>
              <a:rPr sz="2200" spc="-6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=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0.151</a:t>
            </a:r>
            <a:r>
              <a:rPr sz="2200" spc="-65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bits </a:t>
            </a:r>
            <a:r>
              <a:rPr sz="2200" dirty="0">
                <a:latin typeface="Times New Roman"/>
                <a:cs typeface="Times New Roman"/>
              </a:rPr>
              <a:t>Gain(credit_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rating)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=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0.048</a:t>
            </a:r>
            <a:r>
              <a:rPr sz="2200" spc="-55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bits</a:t>
            </a:r>
            <a:endParaRPr sz="2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30"/>
              </a:spcBef>
            </a:pPr>
            <a:endParaRPr sz="2200">
              <a:latin typeface="Times New Roman"/>
              <a:cs typeface="Times New Roman"/>
            </a:endParaRPr>
          </a:p>
          <a:p>
            <a:pPr marL="241300" indent="-228600">
              <a:lnSpc>
                <a:spcPct val="100000"/>
              </a:lnSpc>
              <a:buFont typeface="Arial MT"/>
              <a:buChar char="•"/>
              <a:tabLst>
                <a:tab pos="241300" algn="l"/>
              </a:tabLst>
            </a:pPr>
            <a:r>
              <a:rPr sz="2200" dirty="0">
                <a:latin typeface="Times New Roman"/>
                <a:cs typeface="Times New Roman"/>
              </a:rPr>
              <a:t>Since,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age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has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the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highest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gain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value,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it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is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selected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to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be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placed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at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the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root.</a:t>
            </a:r>
            <a:endParaRPr sz="2200">
              <a:latin typeface="Times New Roman"/>
              <a:cs typeface="Times New Roman"/>
            </a:endParaRPr>
          </a:p>
          <a:p>
            <a:pPr marL="241300" marR="5080" indent="-229235">
              <a:lnSpc>
                <a:spcPts val="2160"/>
              </a:lnSpc>
              <a:spcBef>
                <a:spcPts val="1035"/>
              </a:spcBef>
              <a:buFont typeface="Arial MT"/>
              <a:buChar char="•"/>
              <a:tabLst>
                <a:tab pos="241300" algn="l"/>
              </a:tabLst>
            </a:pPr>
            <a:r>
              <a:rPr sz="2000" dirty="0">
                <a:latin typeface="Times New Roman"/>
                <a:cs typeface="Times New Roman"/>
              </a:rPr>
              <a:t>The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data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is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split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as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shown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in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the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figure.</a:t>
            </a:r>
            <a:r>
              <a:rPr sz="2000" spc="-8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The tuples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for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the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partition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middle_aged</a:t>
            </a:r>
            <a:r>
              <a:rPr sz="2000" i="1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belong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to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the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spc="-20" dirty="0">
                <a:latin typeface="Times New Roman"/>
                <a:cs typeface="Times New Roman"/>
              </a:rPr>
              <a:t>same </a:t>
            </a:r>
            <a:r>
              <a:rPr sz="2000" dirty="0">
                <a:latin typeface="Times New Roman"/>
                <a:cs typeface="Times New Roman"/>
              </a:rPr>
              <a:t>category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(class: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yes),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pure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partition.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Hence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 leaf node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is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created.</a:t>
            </a:r>
            <a:endParaRPr sz="2000">
              <a:latin typeface="Times New Roman"/>
              <a:cs typeface="Times New Roman"/>
            </a:endParaRPr>
          </a:p>
          <a:p>
            <a:pPr marL="241300" indent="-228600">
              <a:lnSpc>
                <a:spcPts val="2280"/>
              </a:lnSpc>
              <a:spcBef>
                <a:spcPts val="725"/>
              </a:spcBef>
              <a:buFont typeface="Arial MT"/>
              <a:buChar char="•"/>
              <a:tabLst>
                <a:tab pos="241300" algn="l"/>
              </a:tabLst>
            </a:pPr>
            <a:r>
              <a:rPr sz="2000" dirty="0">
                <a:latin typeface="Times New Roman"/>
                <a:cs typeface="Times New Roman"/>
              </a:rPr>
              <a:t>For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the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other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two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impure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partitions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(youth,</a:t>
            </a:r>
            <a:r>
              <a:rPr sz="2000" i="1" spc="-3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senior)</a:t>
            </a:r>
            <a:r>
              <a:rPr sz="2000" dirty="0">
                <a:latin typeface="Times New Roman"/>
                <a:cs typeface="Times New Roman"/>
              </a:rPr>
              <a:t>,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the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same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procedure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is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followed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on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Times New Roman"/>
                <a:cs typeface="Times New Roman"/>
              </a:rPr>
              <a:t>the</a:t>
            </a:r>
            <a:endParaRPr sz="2000">
              <a:latin typeface="Times New Roman"/>
              <a:cs typeface="Times New Roman"/>
            </a:endParaRPr>
          </a:p>
          <a:p>
            <a:pPr marL="241300">
              <a:lnSpc>
                <a:spcPts val="2280"/>
              </a:lnSpc>
            </a:pPr>
            <a:r>
              <a:rPr sz="2000" dirty="0">
                <a:latin typeface="Times New Roman"/>
                <a:cs typeface="Times New Roman"/>
              </a:rPr>
              <a:t>remaining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features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(income,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student,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credit_rating).</a:t>
            </a:r>
            <a:endParaRPr sz="2000">
              <a:latin typeface="Times New Roman"/>
              <a:cs typeface="Times New Roman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10258" y="1498116"/>
            <a:ext cx="6072449" cy="298903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7EBD7-A8DE-66E9-E068-189695BFE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8350"/>
          </a:xfrm>
        </p:spPr>
        <p:txBody>
          <a:bodyPr>
            <a:norm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Flu prediction - Decision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F1221-AF51-8FB3-FE27-BA816C93D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3500"/>
            <a:ext cx="10515600" cy="4843463"/>
          </a:xfrm>
        </p:spPr>
        <p:txBody>
          <a:bodyPr/>
          <a:lstStyle/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predict whether a person has Flu based on basic symptoms.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B3841E3-8FA4-27D0-2774-E88E3B87C79A}"/>
              </a:ext>
            </a:extLst>
          </p:cNvPr>
          <p:cNvGraphicFramePr>
            <a:graphicFrameLocks noGrp="1"/>
          </p:cNvGraphicFramePr>
          <p:nvPr/>
        </p:nvGraphicFramePr>
        <p:xfrm>
          <a:off x="1361356" y="2838450"/>
          <a:ext cx="3629744" cy="2560320"/>
        </p:xfrm>
        <a:graphic>
          <a:graphicData uri="http://schemas.openxmlformats.org/drawingml/2006/table">
            <a:tbl>
              <a:tblPr/>
              <a:tblGrid>
                <a:gridCol w="829394">
                  <a:extLst>
                    <a:ext uri="{9D8B030D-6E8A-4147-A177-3AD203B41FA5}">
                      <a16:colId xmlns:a16="http://schemas.microsoft.com/office/drawing/2014/main" val="167718118"/>
                    </a:ext>
                  </a:extLst>
                </a:gridCol>
                <a:gridCol w="895350">
                  <a:extLst>
                    <a:ext uri="{9D8B030D-6E8A-4147-A177-3AD203B41FA5}">
                      <a16:colId xmlns:a16="http://schemas.microsoft.com/office/drawing/2014/main" val="604093550"/>
                    </a:ext>
                  </a:extLst>
                </a:gridCol>
                <a:gridCol w="1228725">
                  <a:extLst>
                    <a:ext uri="{9D8B030D-6E8A-4147-A177-3AD203B41FA5}">
                      <a16:colId xmlns:a16="http://schemas.microsoft.com/office/drawing/2014/main" val="3906449701"/>
                    </a:ext>
                  </a:extLst>
                </a:gridCol>
                <a:gridCol w="676275">
                  <a:extLst>
                    <a:ext uri="{9D8B030D-6E8A-4147-A177-3AD203B41FA5}">
                      <a16:colId xmlns:a16="http://schemas.microsoft.com/office/drawing/2014/main" val="518760138"/>
                    </a:ext>
                  </a:extLst>
                </a:gridCol>
              </a:tblGrid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Cough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Body Pain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067698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6413179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999020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6480437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966045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000943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277877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10EB6019-3135-AA47-BA0B-9D77B0BD29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112" y="2509269"/>
            <a:ext cx="4302532" cy="34038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37D3F2F-9D97-6AD6-222C-232085EE2B5F}"/>
              </a:ext>
            </a:extLst>
          </p:cNvPr>
          <p:cNvSpPr txBox="1"/>
          <p:nvPr/>
        </p:nvSpPr>
        <p:spPr>
          <a:xfrm>
            <a:off x="2562225" y="5543789"/>
            <a:ext cx="1485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Dataset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34A931-6AF4-3F3F-4CB8-5118DA9500FE}"/>
              </a:ext>
            </a:extLst>
          </p:cNvPr>
          <p:cNvSpPr txBox="1"/>
          <p:nvPr/>
        </p:nvSpPr>
        <p:spPr>
          <a:xfrm>
            <a:off x="8467725" y="6071473"/>
            <a:ext cx="1485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Decision Tree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676C81-0E98-17A5-5CEA-0B30D6D3A446}"/>
              </a:ext>
            </a:extLst>
          </p:cNvPr>
          <p:cNvSpPr txBox="1"/>
          <p:nvPr/>
        </p:nvSpPr>
        <p:spPr>
          <a:xfrm>
            <a:off x="10087694" y="2245427"/>
            <a:ext cx="1485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Root node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263B4A6-7751-ADB6-F06B-BB779AB90719}"/>
              </a:ext>
            </a:extLst>
          </p:cNvPr>
          <p:cNvCxnSpPr/>
          <p:nvPr/>
        </p:nvCxnSpPr>
        <p:spPr>
          <a:xfrm flipH="1">
            <a:off x="9505950" y="2438400"/>
            <a:ext cx="447675" cy="26670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A2ADE70-5915-F3DD-BFBC-AF0462BBAB29}"/>
              </a:ext>
            </a:extLst>
          </p:cNvPr>
          <p:cNvSpPr txBox="1"/>
          <p:nvPr/>
        </p:nvSpPr>
        <p:spPr>
          <a:xfrm>
            <a:off x="10459502" y="5291375"/>
            <a:ext cx="1485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Leaf node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2D3A208-9FAA-0351-1E79-AD62DB4E2D2D}"/>
              </a:ext>
            </a:extLst>
          </p:cNvPr>
          <p:cNvCxnSpPr>
            <a:cxnSpLocks/>
          </p:cNvCxnSpPr>
          <p:nvPr/>
        </p:nvCxnSpPr>
        <p:spPr>
          <a:xfrm flipH="1" flipV="1">
            <a:off x="10391443" y="4591050"/>
            <a:ext cx="524540" cy="63136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8E5BA8B-945A-BD52-9D38-1C358DFDD480}"/>
              </a:ext>
            </a:extLst>
          </p:cNvPr>
          <p:cNvSpPr txBox="1"/>
          <p:nvPr/>
        </p:nvSpPr>
        <p:spPr>
          <a:xfrm>
            <a:off x="6398635" y="2921510"/>
            <a:ext cx="1485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Internal node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3C66892-D78A-E472-653D-C6BC632BF30C}"/>
              </a:ext>
            </a:extLst>
          </p:cNvPr>
          <p:cNvCxnSpPr>
            <a:cxnSpLocks/>
          </p:cNvCxnSpPr>
          <p:nvPr/>
        </p:nvCxnSpPr>
        <p:spPr>
          <a:xfrm>
            <a:off x="7096125" y="3326276"/>
            <a:ext cx="374962" cy="43609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80524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40594-3B90-A170-3748-6137228B5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5CD7D-AC48-C977-4CE7-3A5922934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35049"/>
          </a:xfrm>
        </p:spPr>
        <p:txBody>
          <a:bodyPr>
            <a:norm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Tree Induction (Training)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F86C1-2BD6-2735-277C-F1A4F997D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525" y="1669457"/>
            <a:ext cx="6496050" cy="495041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Determine which feature 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{Fever, cough, Body pain}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to be placed at the root.</a:t>
            </a:r>
          </a:p>
          <a:p>
            <a:pPr marL="457200" lvl="1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How?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Choose each feature and check how well the target classes get separated.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 the best feature as the root.</a:t>
            </a:r>
          </a:p>
          <a:p>
            <a:pPr marL="85725" lvl="1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5725" lvl="1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DADAE9C-7D1F-D67C-5B81-C72F985AE780}"/>
              </a:ext>
            </a:extLst>
          </p:cNvPr>
          <p:cNvGraphicFramePr>
            <a:graphicFrameLocks noGrp="1"/>
          </p:cNvGraphicFramePr>
          <p:nvPr/>
        </p:nvGraphicFramePr>
        <p:xfrm>
          <a:off x="7724056" y="1990725"/>
          <a:ext cx="3629744" cy="2560320"/>
        </p:xfrm>
        <a:graphic>
          <a:graphicData uri="http://schemas.openxmlformats.org/drawingml/2006/table">
            <a:tbl>
              <a:tblPr/>
              <a:tblGrid>
                <a:gridCol w="829394">
                  <a:extLst>
                    <a:ext uri="{9D8B030D-6E8A-4147-A177-3AD203B41FA5}">
                      <a16:colId xmlns:a16="http://schemas.microsoft.com/office/drawing/2014/main" val="167718118"/>
                    </a:ext>
                  </a:extLst>
                </a:gridCol>
                <a:gridCol w="895350">
                  <a:extLst>
                    <a:ext uri="{9D8B030D-6E8A-4147-A177-3AD203B41FA5}">
                      <a16:colId xmlns:a16="http://schemas.microsoft.com/office/drawing/2014/main" val="604093550"/>
                    </a:ext>
                  </a:extLst>
                </a:gridCol>
                <a:gridCol w="1228725">
                  <a:extLst>
                    <a:ext uri="{9D8B030D-6E8A-4147-A177-3AD203B41FA5}">
                      <a16:colId xmlns:a16="http://schemas.microsoft.com/office/drawing/2014/main" val="3906449701"/>
                    </a:ext>
                  </a:extLst>
                </a:gridCol>
                <a:gridCol w="676275">
                  <a:extLst>
                    <a:ext uri="{9D8B030D-6E8A-4147-A177-3AD203B41FA5}">
                      <a16:colId xmlns:a16="http://schemas.microsoft.com/office/drawing/2014/main" val="518760138"/>
                    </a:ext>
                  </a:extLst>
                </a:gridCol>
              </a:tblGrid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Cough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Body Pain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067698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6413179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999020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6480437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966045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000943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2778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67697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6201B-9A3D-3A6E-9660-CF2624055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C9F0D-5A26-5A37-78C7-0ABE51BBCE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35049"/>
          </a:xfrm>
        </p:spPr>
        <p:txBody>
          <a:bodyPr>
            <a:norm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Tree Induction (Training)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968EDF-783E-F229-801E-78424CB48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525" y="1669457"/>
            <a:ext cx="6496050" cy="921343"/>
          </a:xfrm>
        </p:spPr>
        <p:txBody>
          <a:bodyPr>
            <a:normAutofit/>
          </a:bodyPr>
          <a:lstStyle/>
          <a:p>
            <a:pPr marL="600075" lvl="1" indent="-514350">
              <a:buFont typeface="+mj-lt"/>
              <a:buAutoNum type="arabicPeriod" startAt="2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Upon determining the root, the dataset is divided into subsets.</a:t>
            </a:r>
          </a:p>
          <a:p>
            <a:pPr lvl="1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9D7F6A-BDAD-41F1-A507-41EFEBCA9519}"/>
              </a:ext>
            </a:extLst>
          </p:cNvPr>
          <p:cNvGraphicFramePr>
            <a:graphicFrameLocks noGrp="1"/>
          </p:cNvGraphicFramePr>
          <p:nvPr/>
        </p:nvGraphicFramePr>
        <p:xfrm>
          <a:off x="1456606" y="2987041"/>
          <a:ext cx="3629744" cy="2560320"/>
        </p:xfrm>
        <a:graphic>
          <a:graphicData uri="http://schemas.openxmlformats.org/drawingml/2006/table">
            <a:tbl>
              <a:tblPr/>
              <a:tblGrid>
                <a:gridCol w="829394">
                  <a:extLst>
                    <a:ext uri="{9D8B030D-6E8A-4147-A177-3AD203B41FA5}">
                      <a16:colId xmlns:a16="http://schemas.microsoft.com/office/drawing/2014/main" val="167718118"/>
                    </a:ext>
                  </a:extLst>
                </a:gridCol>
                <a:gridCol w="895350">
                  <a:extLst>
                    <a:ext uri="{9D8B030D-6E8A-4147-A177-3AD203B41FA5}">
                      <a16:colId xmlns:a16="http://schemas.microsoft.com/office/drawing/2014/main" val="604093550"/>
                    </a:ext>
                  </a:extLst>
                </a:gridCol>
                <a:gridCol w="1228725">
                  <a:extLst>
                    <a:ext uri="{9D8B030D-6E8A-4147-A177-3AD203B41FA5}">
                      <a16:colId xmlns:a16="http://schemas.microsoft.com/office/drawing/2014/main" val="3906449701"/>
                    </a:ext>
                  </a:extLst>
                </a:gridCol>
                <a:gridCol w="676275">
                  <a:extLst>
                    <a:ext uri="{9D8B030D-6E8A-4147-A177-3AD203B41FA5}">
                      <a16:colId xmlns:a16="http://schemas.microsoft.com/office/drawing/2014/main" val="518760138"/>
                    </a:ext>
                  </a:extLst>
                </a:gridCol>
              </a:tblGrid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Cough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Body Pain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067698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6413179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999020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6480437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966045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000943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277877"/>
                  </a:ext>
                </a:extLst>
              </a:tr>
            </a:tbl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A9E79431-B3FA-5519-9CDE-C83655EB8E13}"/>
              </a:ext>
            </a:extLst>
          </p:cNvPr>
          <p:cNvGrpSpPr/>
          <p:nvPr/>
        </p:nvGrpSpPr>
        <p:grpSpPr>
          <a:xfrm>
            <a:off x="8210550" y="1995488"/>
            <a:ext cx="2016546" cy="1309690"/>
            <a:chOff x="2266950" y="1663241"/>
            <a:chExt cx="1982842" cy="125792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9CDD206-A8CA-452C-570B-36AFC56BEA87}"/>
                </a:ext>
              </a:extLst>
            </p:cNvPr>
            <p:cNvSpPr/>
            <p:nvPr/>
          </p:nvSpPr>
          <p:spPr>
            <a:xfrm>
              <a:off x="2455658" y="1663241"/>
              <a:ext cx="1514475" cy="842962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IN" sz="2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Fever</a:t>
              </a:r>
              <a:endParaRPr kumimoji="0" lang="en-I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C583320-D778-261E-70F7-A85479F73D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66950" y="2454426"/>
              <a:ext cx="549822" cy="39354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B453253-3930-0328-43BC-0355885E77E5}"/>
                </a:ext>
              </a:extLst>
            </p:cNvPr>
            <p:cNvCxnSpPr>
              <a:cxnSpLocks/>
            </p:cNvCxnSpPr>
            <p:nvPr/>
          </p:nvCxnSpPr>
          <p:spPr>
            <a:xfrm>
              <a:off x="3699970" y="2414636"/>
              <a:ext cx="549822" cy="50652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8BB82B39-CBE1-6E77-8EC1-09AED52D2F0E}"/>
              </a:ext>
            </a:extLst>
          </p:cNvPr>
          <p:cNvSpPr txBox="1"/>
          <p:nvPr/>
        </p:nvSpPr>
        <p:spPr>
          <a:xfrm>
            <a:off x="7897563" y="2734113"/>
            <a:ext cx="585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Yes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7477516-A73C-C64D-3487-6D42EF2288BE}"/>
              </a:ext>
            </a:extLst>
          </p:cNvPr>
          <p:cNvSpPr txBox="1"/>
          <p:nvPr/>
        </p:nvSpPr>
        <p:spPr>
          <a:xfrm>
            <a:off x="9914109" y="2721178"/>
            <a:ext cx="585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No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F816178E-2497-6C5A-D5D4-768BB8BC432E}"/>
              </a:ext>
            </a:extLst>
          </p:cNvPr>
          <p:cNvGraphicFramePr>
            <a:graphicFrameLocks noGrp="1"/>
          </p:cNvGraphicFramePr>
          <p:nvPr/>
        </p:nvGraphicFramePr>
        <p:xfrm>
          <a:off x="5765726" y="3228975"/>
          <a:ext cx="2800350" cy="1463040"/>
        </p:xfrm>
        <a:graphic>
          <a:graphicData uri="http://schemas.openxmlformats.org/drawingml/2006/table">
            <a:tbl>
              <a:tblPr/>
              <a:tblGrid>
                <a:gridCol w="895350">
                  <a:extLst>
                    <a:ext uri="{9D8B030D-6E8A-4147-A177-3AD203B41FA5}">
                      <a16:colId xmlns:a16="http://schemas.microsoft.com/office/drawing/2014/main" val="604093550"/>
                    </a:ext>
                  </a:extLst>
                </a:gridCol>
                <a:gridCol w="1228725">
                  <a:extLst>
                    <a:ext uri="{9D8B030D-6E8A-4147-A177-3AD203B41FA5}">
                      <a16:colId xmlns:a16="http://schemas.microsoft.com/office/drawing/2014/main" val="3906449701"/>
                    </a:ext>
                  </a:extLst>
                </a:gridCol>
                <a:gridCol w="676275">
                  <a:extLst>
                    <a:ext uri="{9D8B030D-6E8A-4147-A177-3AD203B41FA5}">
                      <a16:colId xmlns:a16="http://schemas.microsoft.com/office/drawing/2014/main" val="518760138"/>
                    </a:ext>
                  </a:extLst>
                </a:gridCol>
              </a:tblGrid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Cough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Body Pain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067698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6413179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999020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000943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883E6D74-F758-4401-DF1E-432527708D95}"/>
              </a:ext>
            </a:extLst>
          </p:cNvPr>
          <p:cNvGraphicFramePr>
            <a:graphicFrameLocks noGrp="1"/>
          </p:cNvGraphicFramePr>
          <p:nvPr/>
        </p:nvGraphicFramePr>
        <p:xfrm>
          <a:off x="9234511" y="3305178"/>
          <a:ext cx="2800350" cy="1463040"/>
        </p:xfrm>
        <a:graphic>
          <a:graphicData uri="http://schemas.openxmlformats.org/drawingml/2006/table">
            <a:tbl>
              <a:tblPr/>
              <a:tblGrid>
                <a:gridCol w="895350">
                  <a:extLst>
                    <a:ext uri="{9D8B030D-6E8A-4147-A177-3AD203B41FA5}">
                      <a16:colId xmlns:a16="http://schemas.microsoft.com/office/drawing/2014/main" val="604093550"/>
                    </a:ext>
                  </a:extLst>
                </a:gridCol>
                <a:gridCol w="1228725">
                  <a:extLst>
                    <a:ext uri="{9D8B030D-6E8A-4147-A177-3AD203B41FA5}">
                      <a16:colId xmlns:a16="http://schemas.microsoft.com/office/drawing/2014/main" val="3906449701"/>
                    </a:ext>
                  </a:extLst>
                </a:gridCol>
                <a:gridCol w="676275">
                  <a:extLst>
                    <a:ext uri="{9D8B030D-6E8A-4147-A177-3AD203B41FA5}">
                      <a16:colId xmlns:a16="http://schemas.microsoft.com/office/drawing/2014/main" val="518760138"/>
                    </a:ext>
                  </a:extLst>
                </a:gridCol>
              </a:tblGrid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Cough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Body Pain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067698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6480437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966045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277877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C3DA41C1-5CA1-70A7-67C1-A84B24E3D5E9}"/>
              </a:ext>
            </a:extLst>
          </p:cNvPr>
          <p:cNvSpPr txBox="1"/>
          <p:nvPr/>
        </p:nvSpPr>
        <p:spPr>
          <a:xfrm>
            <a:off x="5675238" y="4811831"/>
            <a:ext cx="2981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Impure partition as target classes are not same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286BC0-D179-0F22-7C5E-2795038AA1B3}"/>
              </a:ext>
            </a:extLst>
          </p:cNvPr>
          <p:cNvSpPr txBox="1"/>
          <p:nvPr/>
        </p:nvSpPr>
        <p:spPr>
          <a:xfrm>
            <a:off x="9144023" y="4811831"/>
            <a:ext cx="2981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Pure partition as target classes are same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E4CADFB-4B90-D088-C9D1-0FA87D693EE4}"/>
              </a:ext>
            </a:extLst>
          </p:cNvPr>
          <p:cNvSpPr txBox="1">
            <a:spLocks/>
          </p:cNvSpPr>
          <p:nvPr/>
        </p:nvSpPr>
        <p:spPr>
          <a:xfrm>
            <a:off x="838199" y="5894108"/>
            <a:ext cx="7191375" cy="9213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00075" marR="0" lvl="1" indent="-51435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+mj-lt"/>
              <a:buAutoNum type="arabicPeriod" startAt="3"/>
              <a:tabLst/>
              <a:defRPr/>
            </a:pPr>
            <a:r>
              <a:rPr kumimoji="0" lang="en-IN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Repeat the process for the impure partition.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IN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IN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217914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9CF7B-53FC-C131-4D5D-1A5640F33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0C896-A523-D80D-BDE9-BC4357AD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35049"/>
          </a:xfrm>
        </p:spPr>
        <p:txBody>
          <a:bodyPr>
            <a:norm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Tree Induction (Training)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C42477-C1A3-CF26-30C5-F1494AF39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1525" y="1669457"/>
                <a:ext cx="6496050" cy="49504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I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Determining the best feature to be placed at the root.</a:t>
                </a:r>
              </a:p>
              <a:p>
                <a:pPr lvl="1"/>
                <a:r>
                  <a:rPr lang="en-I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Compute entropy of the dataset.</a:t>
                </a:r>
              </a:p>
              <a:p>
                <a:pPr marL="914400" lvl="2" indent="0">
                  <a:buNone/>
                </a:pPr>
                <a:r>
                  <a:rPr lang="pl-PL" sz="24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Entropy(</a:t>
                </a:r>
                <a:r>
                  <a:rPr lang="en-IN" sz="24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</a:t>
                </a:r>
                <a:r>
                  <a:rPr lang="pl-PL" sz="24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)=−∑p</a:t>
                </a:r>
                <a:r>
                  <a:rPr lang="pl-PL" sz="2400" baseline="-250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pl-PL" sz="24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​log</a:t>
                </a:r>
                <a:r>
                  <a:rPr lang="pl-PL" sz="2400" baseline="-250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r>
                  <a:rPr lang="pl-PL" sz="24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​(p</a:t>
                </a:r>
                <a:r>
                  <a:rPr lang="pl-PL" sz="2400" baseline="-250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pl-PL" sz="24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​)</a:t>
                </a:r>
                <a:endParaRPr lang="en-IN" sz="2400" dirty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914400" lvl="2" indent="0">
                  <a:buNone/>
                </a:pPr>
                <a:r>
                  <a:rPr lang="en-IN" sz="24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where, </a:t>
                </a:r>
                <a:r>
                  <a:rPr lang="pl-PL" sz="24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lang="pl-PL" sz="2400" baseline="-250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pl-PL" sz="24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 </a:t>
                </a:r>
                <a:r>
                  <a:rPr lang="en-IN" sz="24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 probability of class </a:t>
                </a:r>
                <a:r>
                  <a:rPr lang="en-IN" sz="2400" dirty="0" err="1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endParaRPr lang="en-IN" sz="2400" dirty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914400" lvl="2" indent="0">
                  <a:buNone/>
                </a:pPr>
                <a:endParaRPr lang="en-IN" sz="24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r>
                  <a:rPr lang="en-I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Compute entropy of the child sets.</a:t>
                </a:r>
              </a:p>
              <a:p>
                <a:pPr marL="457200" lvl="1" indent="0">
                  <a:buNone/>
                </a:pPr>
                <a:r>
                  <a:rPr lang="en-I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en-IN" dirty="0" err="1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Entropy</a:t>
                </a:r>
                <a:r>
                  <a:rPr lang="en-IN" baseline="-25000" dirty="0" err="1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</a:t>
                </a:r>
                <a:r>
                  <a:rPr lang="en-IN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(D)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IN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IN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IN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IN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p>
                      <m:e>
                        <m:f>
                          <m:fPr>
                            <m:ctrlPr>
                              <a:rPr lang="en-IN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begChr m:val="|"/>
                                <m:endChr m:val="|"/>
                                <m:ctrlPr>
                                  <a:rPr lang="en-IN" b="0" i="1" smtClean="0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IN" b="0" i="1" smtClean="0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  <m:r>
                                  <a:rPr lang="en-IN" b="0" i="1" baseline="-25000" smtClean="0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e>
                            </m:d>
                          </m:num>
                          <m:den>
                            <m:d>
                              <m:dPr>
                                <m:begChr m:val="|"/>
                                <m:endChr m:val="|"/>
                                <m:ctrlPr>
                                  <a:rPr lang="en-IN" b="0" i="1" smtClean="0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IN" b="0" i="1" smtClean="0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</m:d>
                          </m:den>
                        </m:f>
                        <m:r>
                          <a:rPr lang="en-IN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𝐸𝑛𝑡𝑟𝑜𝑝𝑦</m:t>
                        </m:r>
                        <m:r>
                          <a:rPr lang="en-IN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IN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𝐷𝑗</m:t>
                        </m:r>
                        <m:r>
                          <a:rPr lang="en-IN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I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>
                  <a:buNone/>
                </a:pPr>
                <a:r>
                  <a:rPr lang="en-I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   </a:t>
                </a:r>
                <a:r>
                  <a:rPr lang="en-IN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where, F – selected input feature</a:t>
                </a:r>
              </a:p>
              <a:p>
                <a:pPr marL="457200" lvl="1" indent="0">
                  <a:buNone/>
                </a:pPr>
                <a:r>
                  <a:rPr lang="en-IN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               |</a:t>
                </a:r>
                <a:r>
                  <a:rPr lang="en-IN" dirty="0" err="1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Dj</a:t>
                </a:r>
                <a:r>
                  <a:rPr lang="en-IN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| - no. of samples in subset j</a:t>
                </a:r>
              </a:p>
              <a:p>
                <a:pPr marL="457200" lvl="1" indent="0">
                  <a:buNone/>
                </a:pPr>
                <a:r>
                  <a:rPr lang="en-IN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               |D| - total no. of samples</a:t>
                </a:r>
              </a:p>
              <a:p>
                <a:pPr marL="457200" lvl="1" indent="0">
                  <a:buNone/>
                </a:pPr>
                <a:r>
                  <a:rPr lang="en-IN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               Entropy(</a:t>
                </a:r>
                <a:r>
                  <a:rPr lang="en-IN" dirty="0" err="1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</a:t>
                </a:r>
                <a:r>
                  <a:rPr lang="en-IN" baseline="-25000" dirty="0" err="1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j</a:t>
                </a:r>
                <a:r>
                  <a:rPr lang="en-IN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– entropy of subset j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C42477-C1A3-CF26-30C5-F1494AF39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1525" y="1669457"/>
                <a:ext cx="6496050" cy="4950418"/>
              </a:xfrm>
              <a:blipFill>
                <a:blip r:embed="rId2"/>
                <a:stretch>
                  <a:fillRect l="-2911" t="-1970" r="-1784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B84B31B-67F2-6BDD-19D8-02DF59D40138}"/>
              </a:ext>
            </a:extLst>
          </p:cNvPr>
          <p:cNvGraphicFramePr>
            <a:graphicFrameLocks noGrp="1"/>
          </p:cNvGraphicFramePr>
          <p:nvPr/>
        </p:nvGraphicFramePr>
        <p:xfrm>
          <a:off x="7790731" y="1819275"/>
          <a:ext cx="3629744" cy="2560320"/>
        </p:xfrm>
        <a:graphic>
          <a:graphicData uri="http://schemas.openxmlformats.org/drawingml/2006/table">
            <a:tbl>
              <a:tblPr/>
              <a:tblGrid>
                <a:gridCol w="829394">
                  <a:extLst>
                    <a:ext uri="{9D8B030D-6E8A-4147-A177-3AD203B41FA5}">
                      <a16:colId xmlns:a16="http://schemas.microsoft.com/office/drawing/2014/main" val="167718118"/>
                    </a:ext>
                  </a:extLst>
                </a:gridCol>
                <a:gridCol w="895350">
                  <a:extLst>
                    <a:ext uri="{9D8B030D-6E8A-4147-A177-3AD203B41FA5}">
                      <a16:colId xmlns:a16="http://schemas.microsoft.com/office/drawing/2014/main" val="604093550"/>
                    </a:ext>
                  </a:extLst>
                </a:gridCol>
                <a:gridCol w="1228725">
                  <a:extLst>
                    <a:ext uri="{9D8B030D-6E8A-4147-A177-3AD203B41FA5}">
                      <a16:colId xmlns:a16="http://schemas.microsoft.com/office/drawing/2014/main" val="3906449701"/>
                    </a:ext>
                  </a:extLst>
                </a:gridCol>
                <a:gridCol w="676275">
                  <a:extLst>
                    <a:ext uri="{9D8B030D-6E8A-4147-A177-3AD203B41FA5}">
                      <a16:colId xmlns:a16="http://schemas.microsoft.com/office/drawing/2014/main" val="518760138"/>
                    </a:ext>
                  </a:extLst>
                </a:gridCol>
              </a:tblGrid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Cough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Body Pain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067698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6413179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999020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6480437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966045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000943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2778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4476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E8B51-5DF4-A0DF-5D6E-06BBB91FB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39B79-DF8D-B0C1-8AB0-C40219737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35049"/>
          </a:xfrm>
        </p:spPr>
        <p:txBody>
          <a:bodyPr>
            <a:norm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Tree Induction (Training)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F69DC7-8650-6388-16BE-22E0C6C2A0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1525" y="1669457"/>
                <a:ext cx="6496050" cy="49504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I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Determining the best feature to be placed at the root.</a:t>
                </a:r>
              </a:p>
              <a:p>
                <a:pPr marL="0" indent="0">
                  <a:buNone/>
                </a:pPr>
                <a:r>
                  <a:rPr lang="en-I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Compute entropy of the dataset.</a:t>
                </a:r>
              </a:p>
              <a:p>
                <a:pPr marL="361950" lvl="2" indent="0">
                  <a:buNone/>
                </a:pPr>
                <a:r>
                  <a:rPr lang="pl-PL" sz="24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Entropy(</a:t>
                </a:r>
                <a:r>
                  <a:rPr lang="en-IN" sz="24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</a:t>
                </a:r>
                <a:r>
                  <a:rPr lang="pl-PL" sz="24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)=−∑p</a:t>
                </a:r>
                <a:r>
                  <a:rPr lang="pl-PL" sz="2400" baseline="-250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pl-PL" sz="24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​log</a:t>
                </a:r>
                <a:r>
                  <a:rPr lang="pl-PL" sz="2400" baseline="-250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r>
                  <a:rPr lang="pl-PL" sz="24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​(p</a:t>
                </a:r>
                <a:r>
                  <a:rPr lang="pl-PL" sz="2400" baseline="-250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pl-PL" sz="24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​)</a:t>
                </a:r>
                <a:endParaRPr lang="en-IN" sz="2400" dirty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61950" lvl="2" indent="0">
                  <a:buNone/>
                </a:pPr>
                <a:r>
                  <a:rPr lang="en-IN" sz="24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where, </a:t>
                </a:r>
                <a:r>
                  <a:rPr lang="pl-PL" sz="24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lang="pl-PL" sz="2400" baseline="-250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pl-PL" sz="24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 </a:t>
                </a:r>
                <a:r>
                  <a:rPr lang="en-IN" sz="24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 probability of class I</a:t>
                </a:r>
              </a:p>
              <a:p>
                <a:pPr marL="85725" lvl="2" indent="0">
                  <a:buNone/>
                </a:pPr>
                <a:endParaRPr lang="en-IN" sz="2400" dirty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85725" lvl="2" indent="0">
                  <a:buNone/>
                </a:pPr>
                <a:r>
                  <a:rPr lang="en-IN" sz="24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Entropy(D) = -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IN" sz="240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IN" sz="240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IN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IN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6</m:t>
                            </m:r>
                          </m:den>
                        </m:f>
                        <m:r>
                          <a:rPr lang="en-I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𝑙𝑜𝑔</m:t>
                        </m:r>
                        <m:f>
                          <m:fPr>
                            <m:ctrlPr>
                              <a:rPr lang="en-IN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IN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IN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6</m:t>
                            </m:r>
                          </m:den>
                        </m:f>
                        <m:r>
                          <a:rPr lang="en-I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 </m:t>
                        </m:r>
                        <m:f>
                          <m:fPr>
                            <m:ctrlPr>
                              <a:rPr lang="en-IN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IN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 lang="en-IN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6</m:t>
                            </m:r>
                          </m:den>
                        </m:f>
                        <m:r>
                          <a:rPr lang="en-I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en-I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𝑙𝑜𝑔</m:t>
                        </m:r>
                        <m:f>
                          <m:fPr>
                            <m:ctrlPr>
                              <a:rPr lang="en-IN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IN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IN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6</m:t>
                            </m:r>
                          </m:den>
                        </m:f>
                        <m:r>
                          <a:rPr lang="en-I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IN" sz="2400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0.918</a:t>
                </a:r>
              </a:p>
              <a:p>
                <a:pPr marL="914400" lvl="2" indent="0">
                  <a:buNone/>
                </a:pPr>
                <a:endParaRPr lang="en-IN" sz="24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914400" lvl="2" indent="0">
                  <a:buNone/>
                </a:pPr>
                <a:endParaRPr lang="en-IN" sz="24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F69DC7-8650-6388-16BE-22E0C6C2A0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1525" y="1669457"/>
                <a:ext cx="6496050" cy="4950418"/>
              </a:xfrm>
              <a:blipFill>
                <a:blip r:embed="rId2"/>
                <a:stretch>
                  <a:fillRect l="-1972" t="-2217" r="-159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2C7EF2E-6918-2248-2D59-FC376EA2B7F9}"/>
              </a:ext>
            </a:extLst>
          </p:cNvPr>
          <p:cNvGraphicFramePr>
            <a:graphicFrameLocks noGrp="1"/>
          </p:cNvGraphicFramePr>
          <p:nvPr/>
        </p:nvGraphicFramePr>
        <p:xfrm>
          <a:off x="7790731" y="1669457"/>
          <a:ext cx="3629744" cy="2560320"/>
        </p:xfrm>
        <a:graphic>
          <a:graphicData uri="http://schemas.openxmlformats.org/drawingml/2006/table">
            <a:tbl>
              <a:tblPr/>
              <a:tblGrid>
                <a:gridCol w="829394">
                  <a:extLst>
                    <a:ext uri="{9D8B030D-6E8A-4147-A177-3AD203B41FA5}">
                      <a16:colId xmlns:a16="http://schemas.microsoft.com/office/drawing/2014/main" val="167718118"/>
                    </a:ext>
                  </a:extLst>
                </a:gridCol>
                <a:gridCol w="895350">
                  <a:extLst>
                    <a:ext uri="{9D8B030D-6E8A-4147-A177-3AD203B41FA5}">
                      <a16:colId xmlns:a16="http://schemas.microsoft.com/office/drawing/2014/main" val="604093550"/>
                    </a:ext>
                  </a:extLst>
                </a:gridCol>
                <a:gridCol w="1228725">
                  <a:extLst>
                    <a:ext uri="{9D8B030D-6E8A-4147-A177-3AD203B41FA5}">
                      <a16:colId xmlns:a16="http://schemas.microsoft.com/office/drawing/2014/main" val="3906449701"/>
                    </a:ext>
                  </a:extLst>
                </a:gridCol>
                <a:gridCol w="676275">
                  <a:extLst>
                    <a:ext uri="{9D8B030D-6E8A-4147-A177-3AD203B41FA5}">
                      <a16:colId xmlns:a16="http://schemas.microsoft.com/office/drawing/2014/main" val="518760138"/>
                    </a:ext>
                  </a:extLst>
                </a:gridCol>
              </a:tblGrid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Cough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Body Pain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067698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6413179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999020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6480437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966045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000943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27787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9C9A7E97-B8DE-07F1-95A3-2A0EA8477784}"/>
              </a:ext>
            </a:extLst>
          </p:cNvPr>
          <p:cNvSpPr txBox="1"/>
          <p:nvPr/>
        </p:nvSpPr>
        <p:spPr>
          <a:xfrm>
            <a:off x="2667000" y="4876800"/>
            <a:ext cx="1295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Flu = Yes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179C3E-02E4-FC6F-8434-2748CEC1E2B2}"/>
              </a:ext>
            </a:extLst>
          </p:cNvPr>
          <p:cNvSpPr txBox="1"/>
          <p:nvPr/>
        </p:nvSpPr>
        <p:spPr>
          <a:xfrm>
            <a:off x="4114800" y="4876800"/>
            <a:ext cx="1295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Flu = No</a:t>
            </a:r>
          </a:p>
        </p:txBody>
      </p:sp>
    </p:spTree>
    <p:extLst>
      <p:ext uri="{BB962C8B-B14F-4D97-AF65-F5344CB8AC3E}">
        <p14:creationId xmlns:p14="http://schemas.microsoft.com/office/powerpoint/2010/main" val="205161046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1B964-786B-9ABD-5459-057641684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6A347-C013-E450-B2BB-7099D185A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35049"/>
          </a:xfrm>
        </p:spPr>
        <p:txBody>
          <a:bodyPr>
            <a:norm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Tree Induction (Training)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2C0A38-954E-B632-DA9D-CFF86E7711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1525" y="1669457"/>
                <a:ext cx="6496050" cy="4950418"/>
              </a:xfrm>
            </p:spPr>
            <p:txBody>
              <a:bodyPr>
                <a:normAutofit/>
              </a:bodyPr>
              <a:lstStyle/>
              <a:p>
                <a:pPr marL="0" lvl="1" indent="0">
                  <a:buNone/>
                </a:pPr>
                <a:r>
                  <a:rPr lang="en-I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Compute entropy of the child set</a:t>
                </a:r>
              </a:p>
              <a:p>
                <a:pPr marL="0" lvl="1" indent="0">
                  <a:buNone/>
                </a:pPr>
                <a:r>
                  <a:rPr lang="en-IN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</a:t>
                </a:r>
                <a:r>
                  <a:rPr lang="en-IN" dirty="0" err="1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Entropy</a:t>
                </a:r>
                <a:r>
                  <a:rPr lang="en-IN" baseline="-25000" dirty="0" err="1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</a:t>
                </a:r>
                <a:r>
                  <a:rPr lang="en-IN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(D)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IN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IN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IN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IN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p>
                      <m:e>
                        <m:f>
                          <m:fPr>
                            <m:ctrlPr>
                              <a:rPr lang="en-IN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begChr m:val="|"/>
                                <m:endChr m:val="|"/>
                                <m:ctrlPr>
                                  <a:rPr lang="en-IN" b="0" i="1" smtClean="0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IN" b="0" i="1" smtClean="0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  <m:r>
                                  <a:rPr lang="en-IN" b="0" i="1" baseline="-25000" smtClean="0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e>
                            </m:d>
                          </m:num>
                          <m:den>
                            <m:d>
                              <m:dPr>
                                <m:begChr m:val="|"/>
                                <m:endChr m:val="|"/>
                                <m:ctrlPr>
                                  <a:rPr lang="en-IN" b="0" i="1" smtClean="0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IN" b="0" i="1" smtClean="0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</m:d>
                          </m:den>
                        </m:f>
                        <m:r>
                          <a:rPr lang="en-IN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𝐸𝑛𝑡𝑟𝑜𝑝𝑦</m:t>
                        </m:r>
                        <m:r>
                          <a:rPr lang="en-IN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IN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𝐷𝑗</m:t>
                        </m:r>
                        <m:r>
                          <a:rPr lang="en-IN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I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lvl="1" indent="0">
                  <a:buNone/>
                </a:pPr>
                <a:endParaRPr lang="en-I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lvl="1" indent="0">
                  <a:buNone/>
                </a:pPr>
                <a:r>
                  <a:rPr lang="en-I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</a:t>
                </a:r>
                <a:r>
                  <a:rPr lang="en-IN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Entropy</a:t>
                </a:r>
                <a:r>
                  <a:rPr lang="en-IN" baseline="-25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Fever</a:t>
                </a:r>
                <a:r>
                  <a:rPr lang="en-I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(D)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I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3</m:t>
                        </m:r>
                      </m:num>
                      <m:den>
                        <m:r>
                          <a:rPr lang="en-I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6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IN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I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I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I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I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I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en-I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𝑙𝑜𝑔</m:t>
                        </m:r>
                        <m:f>
                          <m:fPr>
                            <m:ctrlPr>
                              <a:rPr lang="en-I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I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I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I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 − </m:t>
                        </m:r>
                        <m:f>
                          <m:fPr>
                            <m:ctrlPr>
                              <a:rPr lang="en-I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I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I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den>
                        </m:f>
                        <m:func>
                          <m:funcPr>
                            <m:ctrlPr>
                              <a:rPr lang="en-I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IN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log</m:t>
                            </m:r>
                          </m:fName>
                          <m:e>
                            <m:f>
                              <m:fPr>
                                <m:ctrlPr>
                                  <a:rPr lang="en-IN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IN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IN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3</m:t>
                                </m:r>
                              </m:den>
                            </m:f>
                          </m:e>
                        </m:func>
                      </m:e>
                    </m:d>
                  </m:oMath>
                </a14:m>
                <a:r>
                  <a:rPr lang="en-I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lvl="1" indent="0">
                  <a:buNone/>
                </a:pPr>
                <a:r>
                  <a:rPr lang="en-I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                       </a:t>
                </a:r>
              </a:p>
              <a:p>
                <a:pPr marL="0" lvl="1" indent="0">
                  <a:buNone/>
                </a:pPr>
                <a:r>
                  <a:rPr lang="en-I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                    +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I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3</m:t>
                        </m:r>
                      </m:num>
                      <m:den>
                        <m:r>
                          <a:rPr lang="en-I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6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I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I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I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  <m:r>
                          <a:rPr lang="en-I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 − </m:t>
                        </m:r>
                        <m:f>
                          <m:fPr>
                            <m:ctrlPr>
                              <a:rPr lang="en-IN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IN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IN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den>
                        </m:f>
                        <m:func>
                          <m:funcPr>
                            <m:ctrlPr>
                              <a:rPr lang="en-IN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IN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log</m:t>
                            </m:r>
                          </m:fName>
                          <m:e>
                            <m:f>
                              <m:fPr>
                                <m:ctrlPr>
                                  <a:rPr lang="en-IN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IN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3</m:t>
                                </m:r>
                              </m:num>
                              <m:den>
                                <m:r>
                                  <a:rPr lang="en-IN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3</m:t>
                                </m:r>
                              </m:den>
                            </m:f>
                          </m:e>
                        </m:func>
                      </m:e>
                    </m:d>
                  </m:oMath>
                </a14:m>
                <a:r>
                  <a:rPr lang="en-I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lvl="1" indent="0">
                  <a:buNone/>
                </a:pPr>
                <a:endParaRPr lang="en-IN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lvl="1" indent="0">
                  <a:buNone/>
                </a:pPr>
                <a:r>
                  <a:rPr lang="en-I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                     = 0.459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2C0A38-954E-B632-DA9D-CFF86E7711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1525" y="1669457"/>
                <a:ext cx="6496050" cy="4950418"/>
              </a:xfrm>
              <a:blipFill>
                <a:blip r:embed="rId2"/>
                <a:stretch>
                  <a:fillRect l="-1502" t="-1724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90F2C00-CBD4-3CAB-77BE-2F76F89DB22D}"/>
              </a:ext>
            </a:extLst>
          </p:cNvPr>
          <p:cNvGraphicFramePr>
            <a:graphicFrameLocks noGrp="1"/>
          </p:cNvGraphicFramePr>
          <p:nvPr/>
        </p:nvGraphicFramePr>
        <p:xfrm>
          <a:off x="7657381" y="1400175"/>
          <a:ext cx="3629744" cy="2560320"/>
        </p:xfrm>
        <a:graphic>
          <a:graphicData uri="http://schemas.openxmlformats.org/drawingml/2006/table">
            <a:tbl>
              <a:tblPr/>
              <a:tblGrid>
                <a:gridCol w="829394">
                  <a:extLst>
                    <a:ext uri="{9D8B030D-6E8A-4147-A177-3AD203B41FA5}">
                      <a16:colId xmlns:a16="http://schemas.microsoft.com/office/drawing/2014/main" val="167718118"/>
                    </a:ext>
                  </a:extLst>
                </a:gridCol>
                <a:gridCol w="895350">
                  <a:extLst>
                    <a:ext uri="{9D8B030D-6E8A-4147-A177-3AD203B41FA5}">
                      <a16:colId xmlns:a16="http://schemas.microsoft.com/office/drawing/2014/main" val="604093550"/>
                    </a:ext>
                  </a:extLst>
                </a:gridCol>
                <a:gridCol w="1228725">
                  <a:extLst>
                    <a:ext uri="{9D8B030D-6E8A-4147-A177-3AD203B41FA5}">
                      <a16:colId xmlns:a16="http://schemas.microsoft.com/office/drawing/2014/main" val="3906449701"/>
                    </a:ext>
                  </a:extLst>
                </a:gridCol>
                <a:gridCol w="676275">
                  <a:extLst>
                    <a:ext uri="{9D8B030D-6E8A-4147-A177-3AD203B41FA5}">
                      <a16:colId xmlns:a16="http://schemas.microsoft.com/office/drawing/2014/main" val="518760138"/>
                    </a:ext>
                  </a:extLst>
                </a:gridCol>
              </a:tblGrid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Cough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Body Pain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067698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6413179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999020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6480437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966045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000943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277877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0ECAB1E-6F4B-62B6-77FC-C029B98D8F61}"/>
              </a:ext>
            </a:extLst>
          </p:cNvPr>
          <p:cNvGraphicFramePr>
            <a:graphicFrameLocks noGrp="1"/>
          </p:cNvGraphicFramePr>
          <p:nvPr/>
        </p:nvGraphicFramePr>
        <p:xfrm>
          <a:off x="5942881" y="4568190"/>
          <a:ext cx="2800350" cy="1463040"/>
        </p:xfrm>
        <a:graphic>
          <a:graphicData uri="http://schemas.openxmlformats.org/drawingml/2006/table">
            <a:tbl>
              <a:tblPr/>
              <a:tblGrid>
                <a:gridCol w="895350">
                  <a:extLst>
                    <a:ext uri="{9D8B030D-6E8A-4147-A177-3AD203B41FA5}">
                      <a16:colId xmlns:a16="http://schemas.microsoft.com/office/drawing/2014/main" val="604093550"/>
                    </a:ext>
                  </a:extLst>
                </a:gridCol>
                <a:gridCol w="1228725">
                  <a:extLst>
                    <a:ext uri="{9D8B030D-6E8A-4147-A177-3AD203B41FA5}">
                      <a16:colId xmlns:a16="http://schemas.microsoft.com/office/drawing/2014/main" val="3906449701"/>
                    </a:ext>
                  </a:extLst>
                </a:gridCol>
                <a:gridCol w="676275">
                  <a:extLst>
                    <a:ext uri="{9D8B030D-6E8A-4147-A177-3AD203B41FA5}">
                      <a16:colId xmlns:a16="http://schemas.microsoft.com/office/drawing/2014/main" val="518760138"/>
                    </a:ext>
                  </a:extLst>
                </a:gridCol>
              </a:tblGrid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Cough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Body Pain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067698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6413179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999020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000943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40F96AC-886A-05D6-94E7-263912A14BF3}"/>
              </a:ext>
            </a:extLst>
          </p:cNvPr>
          <p:cNvGraphicFramePr>
            <a:graphicFrameLocks noGrp="1"/>
          </p:cNvGraphicFramePr>
          <p:nvPr/>
        </p:nvGraphicFramePr>
        <p:xfrm>
          <a:off x="9267825" y="4568190"/>
          <a:ext cx="2800350" cy="1463040"/>
        </p:xfrm>
        <a:graphic>
          <a:graphicData uri="http://schemas.openxmlformats.org/drawingml/2006/table">
            <a:tbl>
              <a:tblPr/>
              <a:tblGrid>
                <a:gridCol w="895350">
                  <a:extLst>
                    <a:ext uri="{9D8B030D-6E8A-4147-A177-3AD203B41FA5}">
                      <a16:colId xmlns:a16="http://schemas.microsoft.com/office/drawing/2014/main" val="604093550"/>
                    </a:ext>
                  </a:extLst>
                </a:gridCol>
                <a:gridCol w="1228725">
                  <a:extLst>
                    <a:ext uri="{9D8B030D-6E8A-4147-A177-3AD203B41FA5}">
                      <a16:colId xmlns:a16="http://schemas.microsoft.com/office/drawing/2014/main" val="3906449701"/>
                    </a:ext>
                  </a:extLst>
                </a:gridCol>
                <a:gridCol w="676275">
                  <a:extLst>
                    <a:ext uri="{9D8B030D-6E8A-4147-A177-3AD203B41FA5}">
                      <a16:colId xmlns:a16="http://schemas.microsoft.com/office/drawing/2014/main" val="518760138"/>
                    </a:ext>
                  </a:extLst>
                </a:gridCol>
              </a:tblGrid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Cough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Body Pain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067698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6480437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966045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277877"/>
                  </a:ext>
                </a:extLst>
              </a:tr>
            </a:tbl>
          </a:graphicData>
        </a:graphic>
      </p:graphicFrame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725E80E-B10C-8790-694F-7668D128F0F9}"/>
              </a:ext>
            </a:extLst>
          </p:cNvPr>
          <p:cNvCxnSpPr/>
          <p:nvPr/>
        </p:nvCxnSpPr>
        <p:spPr>
          <a:xfrm flipH="1">
            <a:off x="8129915" y="4006127"/>
            <a:ext cx="485775" cy="459105"/>
          </a:xfrm>
          <a:prstGeom prst="straightConnector1">
            <a:avLst/>
          </a:prstGeom>
          <a:ln w="254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C752269-2200-9CDB-4AC6-6CBE37371768}"/>
              </a:ext>
            </a:extLst>
          </p:cNvPr>
          <p:cNvCxnSpPr>
            <a:cxnSpLocks/>
          </p:cNvCxnSpPr>
          <p:nvPr/>
        </p:nvCxnSpPr>
        <p:spPr>
          <a:xfrm>
            <a:off x="9963807" y="4052580"/>
            <a:ext cx="283779" cy="367020"/>
          </a:xfrm>
          <a:prstGeom prst="straightConnector1">
            <a:avLst/>
          </a:prstGeom>
          <a:ln w="254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302FA00-D6AD-90B1-91C1-6C8CB001688F}"/>
              </a:ext>
            </a:extLst>
          </p:cNvPr>
          <p:cNvSpPr txBox="1"/>
          <p:nvPr/>
        </p:nvSpPr>
        <p:spPr>
          <a:xfrm>
            <a:off x="4953000" y="2718714"/>
            <a:ext cx="1295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Flu = No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FCB669-262D-C4E1-C939-748A48B0BDF1}"/>
              </a:ext>
            </a:extLst>
          </p:cNvPr>
          <p:cNvSpPr txBox="1"/>
          <p:nvPr/>
        </p:nvSpPr>
        <p:spPr>
          <a:xfrm>
            <a:off x="3609975" y="2680335"/>
            <a:ext cx="1295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Flu = Yes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1179AB-9A9E-F4B6-7B28-2E7C89D1929C}"/>
              </a:ext>
            </a:extLst>
          </p:cNvPr>
          <p:cNvSpPr txBox="1"/>
          <p:nvPr/>
        </p:nvSpPr>
        <p:spPr>
          <a:xfrm>
            <a:off x="6096000" y="3118824"/>
            <a:ext cx="1524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Fever = Yes</a:t>
            </a:r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8CA79F99-CEE5-30C9-024F-B1548FEA635B}"/>
              </a:ext>
            </a:extLst>
          </p:cNvPr>
          <p:cNvSpPr/>
          <p:nvPr/>
        </p:nvSpPr>
        <p:spPr>
          <a:xfrm>
            <a:off x="6096000" y="2718714"/>
            <a:ext cx="76200" cy="1241781"/>
          </a:xfrm>
          <a:prstGeom prst="rightBrac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4382E7-74DB-FFBE-1F7F-D281D0350EDC}"/>
              </a:ext>
            </a:extLst>
          </p:cNvPr>
          <p:cNvSpPr txBox="1"/>
          <p:nvPr/>
        </p:nvSpPr>
        <p:spPr>
          <a:xfrm>
            <a:off x="5342087" y="4135787"/>
            <a:ext cx="1524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Fever = No</a:t>
            </a:r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D7974778-3D6B-E4FC-76B6-50178F59A567}"/>
              </a:ext>
            </a:extLst>
          </p:cNvPr>
          <p:cNvSpPr/>
          <p:nvPr/>
        </p:nvSpPr>
        <p:spPr>
          <a:xfrm>
            <a:off x="5342087" y="3735677"/>
            <a:ext cx="76200" cy="1241781"/>
          </a:xfrm>
          <a:prstGeom prst="rightBrac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FB0D6D-7F45-9478-0911-1173667885F1}"/>
              </a:ext>
            </a:extLst>
          </p:cNvPr>
          <p:cNvSpPr txBox="1"/>
          <p:nvPr/>
        </p:nvSpPr>
        <p:spPr>
          <a:xfrm>
            <a:off x="2971800" y="4577348"/>
            <a:ext cx="1295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Flu = Yes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F8B919-03A2-1B83-DD13-3D82F902637D}"/>
              </a:ext>
            </a:extLst>
          </p:cNvPr>
          <p:cNvSpPr txBox="1"/>
          <p:nvPr/>
        </p:nvSpPr>
        <p:spPr>
          <a:xfrm>
            <a:off x="4295775" y="4621530"/>
            <a:ext cx="1295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Flu = No</a:t>
            </a:r>
          </a:p>
        </p:txBody>
      </p:sp>
    </p:spTree>
    <p:extLst>
      <p:ext uri="{BB962C8B-B14F-4D97-AF65-F5344CB8AC3E}">
        <p14:creationId xmlns:p14="http://schemas.microsoft.com/office/powerpoint/2010/main" val="28999084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75CB7-3E1A-6A45-7044-B02E82578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A38B8-06D4-D478-85B0-1AB091428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35049"/>
          </a:xfrm>
        </p:spPr>
        <p:txBody>
          <a:bodyPr>
            <a:norm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Tree Induction (Training)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1A41D-EE7C-AA7B-DD83-837C496D02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00" y="1669457"/>
            <a:ext cx="6848475" cy="4950418"/>
          </a:xfrm>
        </p:spPr>
        <p:txBody>
          <a:bodyPr>
            <a:normAutofit/>
          </a:bodyPr>
          <a:lstStyle/>
          <a:p>
            <a:pPr marL="0" lvl="1" indent="0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 information gain</a:t>
            </a:r>
          </a:p>
          <a:p>
            <a:pPr marL="0" lvl="1" indent="0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Info. Gain (Fever) = Entropy(D) -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Entropy</a:t>
            </a:r>
            <a:r>
              <a:rPr lang="en-IN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Fever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 </a:t>
            </a:r>
          </a:p>
          <a:p>
            <a:pPr marL="0" lvl="1" indent="0">
              <a:buNone/>
            </a:pPr>
            <a:r>
              <a:rPr lang="en-I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= 0.459</a:t>
            </a:r>
          </a:p>
          <a:p>
            <a:pPr marL="0" lvl="1" indent="0">
              <a:buNone/>
            </a:pPr>
            <a:endParaRPr lang="en-IN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1" indent="0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Info. Gain (Cough) = Entropy(D) -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Entropy</a:t>
            </a:r>
            <a:r>
              <a:rPr lang="en-IN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Fever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 </a:t>
            </a:r>
          </a:p>
          <a:p>
            <a:pPr marL="0" lvl="1" indent="0">
              <a:buNone/>
            </a:pPr>
            <a:r>
              <a:rPr lang="en-I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= 0.044</a:t>
            </a:r>
          </a:p>
          <a:p>
            <a:pPr marL="0" lvl="1" indent="0">
              <a:buNone/>
            </a:pPr>
            <a:endParaRPr lang="en-IN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1" indent="0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Info. Gain (Body Pain) = Entropy(D) -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Entropy</a:t>
            </a:r>
            <a:r>
              <a:rPr lang="en-IN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Fever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 </a:t>
            </a:r>
          </a:p>
          <a:p>
            <a:pPr marL="0" lvl="1" indent="0">
              <a:buNone/>
            </a:pPr>
            <a:r>
              <a:rPr lang="en-I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= 0.458</a:t>
            </a:r>
          </a:p>
          <a:p>
            <a:pPr marL="0" lvl="1" indent="0">
              <a:buNone/>
            </a:pPr>
            <a:endParaRPr lang="en-IN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1" indent="0">
              <a:buNone/>
            </a:pPr>
            <a:r>
              <a:rPr lang="en-I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Choose the feature with the highest Info. Gain as the root.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1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1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A376686-B358-35B1-0347-6D2D3323A154}"/>
              </a:ext>
            </a:extLst>
          </p:cNvPr>
          <p:cNvGraphicFramePr>
            <a:graphicFrameLocks noGrp="1"/>
          </p:cNvGraphicFramePr>
          <p:nvPr/>
        </p:nvGraphicFramePr>
        <p:xfrm>
          <a:off x="7657381" y="1400175"/>
          <a:ext cx="3629744" cy="2560320"/>
        </p:xfrm>
        <a:graphic>
          <a:graphicData uri="http://schemas.openxmlformats.org/drawingml/2006/table">
            <a:tbl>
              <a:tblPr/>
              <a:tblGrid>
                <a:gridCol w="829394">
                  <a:extLst>
                    <a:ext uri="{9D8B030D-6E8A-4147-A177-3AD203B41FA5}">
                      <a16:colId xmlns:a16="http://schemas.microsoft.com/office/drawing/2014/main" val="167718118"/>
                    </a:ext>
                  </a:extLst>
                </a:gridCol>
                <a:gridCol w="895350">
                  <a:extLst>
                    <a:ext uri="{9D8B030D-6E8A-4147-A177-3AD203B41FA5}">
                      <a16:colId xmlns:a16="http://schemas.microsoft.com/office/drawing/2014/main" val="604093550"/>
                    </a:ext>
                  </a:extLst>
                </a:gridCol>
                <a:gridCol w="1228725">
                  <a:extLst>
                    <a:ext uri="{9D8B030D-6E8A-4147-A177-3AD203B41FA5}">
                      <a16:colId xmlns:a16="http://schemas.microsoft.com/office/drawing/2014/main" val="3906449701"/>
                    </a:ext>
                  </a:extLst>
                </a:gridCol>
                <a:gridCol w="676275">
                  <a:extLst>
                    <a:ext uri="{9D8B030D-6E8A-4147-A177-3AD203B41FA5}">
                      <a16:colId xmlns:a16="http://schemas.microsoft.com/office/drawing/2014/main" val="518760138"/>
                    </a:ext>
                  </a:extLst>
                </a:gridCol>
              </a:tblGrid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Cough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Body Pain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067698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6413179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999020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6480437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966045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000943"/>
                  </a:ext>
                </a:extLst>
              </a:tr>
              <a:tr h="3633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2778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20911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32CC1-1983-06E2-0798-C297B069F0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Spam Email Classification - Demo</a:t>
            </a:r>
          </a:p>
        </p:txBody>
      </p:sp>
    </p:spTree>
    <p:extLst>
      <p:ext uri="{BB962C8B-B14F-4D97-AF65-F5344CB8AC3E}">
        <p14:creationId xmlns:p14="http://schemas.microsoft.com/office/powerpoint/2010/main" val="285792132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B7D43-09D3-690F-83C4-D83D7821B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Step1</a:t>
            </a:r>
            <a: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Importing the libraries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8BB343-1171-75C8-2489-5BF925C0A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 pandas as pd</a:t>
            </a:r>
          </a:p>
          <a:p>
            <a:pPr marL="0" indent="0">
              <a:buNone/>
            </a:pP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sklearn.feature_extraction.text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import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CountVectorizer</a:t>
            </a:r>
            <a:endParaRPr lang="en-IN" i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sklearn.model_selection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import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train_test_split</a:t>
            </a:r>
            <a:endParaRPr lang="en-IN" i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sklearn.tree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import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DecisionTreeClassifier</a:t>
            </a:r>
            <a:endParaRPr lang="en-IN" i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sklearn.metrics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import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accuracy_score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confusion_matrix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classification_report</a:t>
            </a:r>
            <a:endParaRPr lang="en-IN" i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sklearn.tree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import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plot_tree</a:t>
            </a:r>
            <a:endParaRPr lang="en-IN" i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matplotlib.pyplot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plt</a:t>
            </a:r>
            <a:endParaRPr lang="en-IN" i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i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166899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EB471-9940-6C36-59B2-6EBFF793A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525" y="212725"/>
            <a:ext cx="10515600" cy="968375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1: Dataset Preparation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397BD-8338-104B-C404-C8224D56FF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8899"/>
            <a:ext cx="10515600" cy="4616648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labeled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dataset of email messages is prepared.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message is tagged as spam or ham (normal email).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contains two columns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→ email content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label → class (spam / ham)</a:t>
            </a:r>
          </a:p>
          <a:p>
            <a:pPr marL="0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is imported into a pandas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dataframe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df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0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082ABEE-F87C-EC0E-17F0-899A11D591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4593818"/>
              </p:ext>
            </p:extLst>
          </p:nvPr>
        </p:nvGraphicFramePr>
        <p:xfrm>
          <a:off x="2133600" y="3276600"/>
          <a:ext cx="7924800" cy="1672465"/>
        </p:xfrm>
        <a:graphic>
          <a:graphicData uri="http://schemas.openxmlformats.org/drawingml/2006/table">
            <a:tbl>
              <a:tblPr/>
              <a:tblGrid>
                <a:gridCol w="6617616">
                  <a:extLst>
                    <a:ext uri="{9D8B030D-6E8A-4147-A177-3AD203B41FA5}">
                      <a16:colId xmlns:a16="http://schemas.microsoft.com/office/drawing/2014/main" val="1658178023"/>
                    </a:ext>
                  </a:extLst>
                </a:gridCol>
                <a:gridCol w="1307184">
                  <a:extLst>
                    <a:ext uri="{9D8B030D-6E8A-4147-A177-3AD203B41FA5}">
                      <a16:colId xmlns:a16="http://schemas.microsoft.com/office/drawing/2014/main" val="2778486308"/>
                    </a:ext>
                  </a:extLst>
                </a:gridCol>
              </a:tblGrid>
              <a:tr h="288386">
                <a:tc>
                  <a:txBody>
                    <a:bodyPr/>
                    <a:lstStyle/>
                    <a:p>
                      <a:pPr marL="180000" algn="l" fontAlgn="b">
                        <a:buNone/>
                      </a:pPr>
                      <a:r>
                        <a:rPr lang="en-IN" sz="2000" b="1" i="0" u="none" strike="noStrike" dirty="0">
                          <a:solidFill>
                            <a:schemeClr val="accent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Email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0000" algn="l" fontAlgn="b">
                        <a:buNone/>
                      </a:pPr>
                      <a:r>
                        <a:rPr lang="en-IN" sz="2000" b="1" i="0" u="none" strike="noStrike" dirty="0">
                          <a:solidFill>
                            <a:schemeClr val="accent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label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6182290"/>
                  </a:ext>
                </a:extLst>
              </a:tr>
              <a:tr h="288386">
                <a:tc>
                  <a:txBody>
                    <a:bodyPr/>
                    <a:lstStyle/>
                    <a:p>
                      <a:pPr marL="180000" algn="l" fontAlgn="b">
                        <a:buNone/>
                      </a:pPr>
                      <a:r>
                        <a:rPr lang="en-IN" sz="2000" b="0" i="0" u="none" strike="noStrike">
                          <a:solidFill>
                            <a:schemeClr val="accent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 we will meet tomorrow at the office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0000" algn="l" fontAlgn="b">
                        <a:buNone/>
                      </a:pPr>
                      <a:r>
                        <a:rPr lang="en-IN" sz="2000" b="0" i="0" u="none" strike="noStrike">
                          <a:solidFill>
                            <a:schemeClr val="accent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ham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4187349"/>
                  </a:ext>
                </a:extLst>
              </a:tr>
              <a:tr h="367540">
                <a:tc>
                  <a:txBody>
                    <a:bodyPr/>
                    <a:lstStyle/>
                    <a:p>
                      <a:pPr marL="180000" algn="l" fontAlgn="b">
                        <a:buNone/>
                      </a:pPr>
                      <a:r>
                        <a:rPr lang="en-IN" sz="2000" b="0" i="0" u="none" strike="noStrike">
                          <a:solidFill>
                            <a:schemeClr val="accent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Congratulations you have won a free iPhone click now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0000" algn="l" fontAlgn="b">
                        <a:buNone/>
                      </a:pPr>
                      <a:r>
                        <a:rPr lang="en-IN" sz="2000" b="0" i="0" u="none" strike="noStrike">
                          <a:solidFill>
                            <a:schemeClr val="accent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spam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2615727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marL="180000" algn="l" fontAlgn="b">
                        <a:buNone/>
                      </a:pPr>
                      <a:r>
                        <a:rPr lang="en-IN" sz="2000" b="0" i="0" u="none" strike="noStrike">
                          <a:solidFill>
                            <a:schemeClr val="accent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Please find the attached assignment for today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0000" algn="l" fontAlgn="b">
                        <a:buNone/>
                      </a:pPr>
                      <a:r>
                        <a:rPr lang="en-IN" sz="2000" b="0" i="0" u="none" strike="noStrike">
                          <a:solidFill>
                            <a:schemeClr val="accent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ham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7095699"/>
                  </a:ext>
                </a:extLst>
              </a:tr>
              <a:tr h="288386">
                <a:tc>
                  <a:txBody>
                    <a:bodyPr/>
                    <a:lstStyle/>
                    <a:p>
                      <a:pPr marL="180000" algn="l" fontAlgn="b">
                        <a:buNone/>
                      </a:pPr>
                      <a:r>
                        <a:rPr lang="en-IN" sz="2000" b="0" i="0" u="none" strike="noStrike">
                          <a:solidFill>
                            <a:schemeClr val="accent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Limited time offer buy one get one free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0000" algn="l" fontAlgn="b">
                        <a:buNone/>
                      </a:pPr>
                      <a:r>
                        <a:rPr lang="en-IN" sz="2000" b="0" i="0" u="none" strike="noStrike" dirty="0">
                          <a:solidFill>
                            <a:schemeClr val="accent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spam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9358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003008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A4CBB-F193-6E70-00C0-175314C67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9325"/>
          </a:xfrm>
        </p:spPr>
        <p:txBody>
          <a:bodyPr>
            <a:normAutofit fontScale="90000"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2: Data preprocessing (Label Encoding)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3F873-EA81-4187-8C8B-EE8493BDAA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0350"/>
            <a:ext cx="10515600" cy="4351338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Textual labels are represented using numbers.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ham → 0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spam → 1</a:t>
            </a:r>
          </a:p>
          <a:p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df["label"] = df["label"].map({"ham": 0, "spam": 1})</a:t>
            </a:r>
          </a:p>
          <a:p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E9DDEEF-1935-FD6E-2A34-C97C517A8669}"/>
              </a:ext>
            </a:extLst>
          </p:cNvPr>
          <p:cNvGraphicFramePr>
            <a:graphicFrameLocks noGrp="1"/>
          </p:cNvGraphicFramePr>
          <p:nvPr/>
        </p:nvGraphicFramePr>
        <p:xfrm>
          <a:off x="2028825" y="3655185"/>
          <a:ext cx="7924800" cy="1672465"/>
        </p:xfrm>
        <a:graphic>
          <a:graphicData uri="http://schemas.openxmlformats.org/drawingml/2006/table">
            <a:tbl>
              <a:tblPr/>
              <a:tblGrid>
                <a:gridCol w="6617616">
                  <a:extLst>
                    <a:ext uri="{9D8B030D-6E8A-4147-A177-3AD203B41FA5}">
                      <a16:colId xmlns:a16="http://schemas.microsoft.com/office/drawing/2014/main" val="1658178023"/>
                    </a:ext>
                  </a:extLst>
                </a:gridCol>
                <a:gridCol w="1307184">
                  <a:extLst>
                    <a:ext uri="{9D8B030D-6E8A-4147-A177-3AD203B41FA5}">
                      <a16:colId xmlns:a16="http://schemas.microsoft.com/office/drawing/2014/main" val="2778486308"/>
                    </a:ext>
                  </a:extLst>
                </a:gridCol>
              </a:tblGrid>
              <a:tr h="288386">
                <a:tc>
                  <a:txBody>
                    <a:bodyPr/>
                    <a:lstStyle/>
                    <a:p>
                      <a:pPr marL="180000" algn="l" fontAlgn="b">
                        <a:buNone/>
                      </a:pPr>
                      <a:r>
                        <a:rPr lang="en-IN" sz="2000" b="1" i="0" u="none" strike="noStrike" dirty="0">
                          <a:solidFill>
                            <a:schemeClr val="accent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Email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0000" algn="l" fontAlgn="b">
                        <a:buNone/>
                      </a:pPr>
                      <a:r>
                        <a:rPr lang="en-IN" sz="2000" b="1" i="0" u="none" strike="noStrike" dirty="0">
                          <a:solidFill>
                            <a:schemeClr val="accent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label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6182290"/>
                  </a:ext>
                </a:extLst>
              </a:tr>
              <a:tr h="288386">
                <a:tc>
                  <a:txBody>
                    <a:bodyPr/>
                    <a:lstStyle/>
                    <a:p>
                      <a:pPr marL="180000" algn="l" fontAlgn="b">
                        <a:buNone/>
                      </a:pPr>
                      <a:r>
                        <a:rPr lang="en-IN" sz="2000" b="0" i="0" u="none" strike="noStrike">
                          <a:solidFill>
                            <a:schemeClr val="accent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 we will meet tomorrow at the office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0000" algn="l" fontAlgn="b">
                        <a:buNone/>
                      </a:pPr>
                      <a:r>
                        <a:rPr lang="en-IN" sz="2000" b="0" i="0" u="none" strike="noStrike" dirty="0">
                          <a:solidFill>
                            <a:schemeClr val="accent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4187349"/>
                  </a:ext>
                </a:extLst>
              </a:tr>
              <a:tr h="367540">
                <a:tc>
                  <a:txBody>
                    <a:bodyPr/>
                    <a:lstStyle/>
                    <a:p>
                      <a:pPr marL="180000" algn="l" fontAlgn="b">
                        <a:buNone/>
                      </a:pPr>
                      <a:r>
                        <a:rPr lang="en-IN" sz="2000" b="0" i="0" u="none" strike="noStrike">
                          <a:solidFill>
                            <a:schemeClr val="accent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Congratulations you have won a free iPhone click now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0000" algn="l" fontAlgn="b">
                        <a:buNone/>
                      </a:pPr>
                      <a:r>
                        <a:rPr lang="en-IN" sz="2000" b="0" i="0" u="none" strike="noStrike" dirty="0">
                          <a:solidFill>
                            <a:schemeClr val="accent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2615727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marL="180000" algn="l" fontAlgn="b">
                        <a:buNone/>
                      </a:pPr>
                      <a:r>
                        <a:rPr lang="en-IN" sz="2000" b="0" i="0" u="none" strike="noStrike">
                          <a:solidFill>
                            <a:schemeClr val="accent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Please find the attached assignment for today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0000" algn="l" fontAlgn="b">
                        <a:buNone/>
                      </a:pPr>
                      <a:r>
                        <a:rPr lang="en-IN" sz="2000" b="0" i="0" u="none" strike="noStrike" dirty="0">
                          <a:solidFill>
                            <a:schemeClr val="accent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7095699"/>
                  </a:ext>
                </a:extLst>
              </a:tr>
              <a:tr h="288386">
                <a:tc>
                  <a:txBody>
                    <a:bodyPr/>
                    <a:lstStyle/>
                    <a:p>
                      <a:pPr marL="180000" algn="l" fontAlgn="b">
                        <a:buNone/>
                      </a:pPr>
                      <a:r>
                        <a:rPr lang="en-IN" sz="2000" b="0" i="0" u="none" strike="noStrike" dirty="0">
                          <a:solidFill>
                            <a:schemeClr val="accent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Limited time offer buy one get one free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0000" algn="l" fontAlgn="b">
                        <a:buNone/>
                      </a:pPr>
                      <a:r>
                        <a:rPr lang="en-IN" sz="2000" b="0" i="0" u="none" strike="noStrike" dirty="0">
                          <a:solidFill>
                            <a:schemeClr val="accent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9358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88471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B5D10-DD4A-E391-42B3-363808238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25525"/>
          </a:xfrm>
        </p:spPr>
        <p:txBody>
          <a:bodyPr>
            <a:norm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3: Text Feature Extraction (Bag of Words)</a:t>
            </a:r>
            <a:endParaRPr lang="en-IN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A21129-5B04-0776-7F4E-76B074C826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95425"/>
            <a:ext cx="10953751" cy="49974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Technique Used: </a:t>
            </a:r>
            <a:r>
              <a:rPr lang="en-I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CountVectorizer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a feature extraction technique that converts textual data into numerical form by counting how often words appear in a document.</a:t>
            </a:r>
          </a:p>
          <a:p>
            <a:pPr marL="0" indent="0">
              <a:buNone/>
            </a:pP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1: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Tokenization of the email text into words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Example: 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“Win a free prize”                                   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“Win”, “a”, “free”, “prize”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2: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Removal of common English stop-words </a:t>
            </a:r>
            <a:r>
              <a:rPr lang="en-I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(is, am, are, the, a, an, in)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“Win”, “a”, “free”, “prize”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“Win”, “free”, “prize”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</a:p>
          <a:p>
            <a:pPr lvl="1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A8626DC8-BABA-7FD6-5601-746F47A49728}"/>
              </a:ext>
            </a:extLst>
          </p:cNvPr>
          <p:cNvSpPr/>
          <p:nvPr/>
        </p:nvSpPr>
        <p:spPr>
          <a:xfrm>
            <a:off x="4038600" y="3276600"/>
            <a:ext cx="1895476" cy="5786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Tokenization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F5288A1B-9016-3524-C334-48D0C389B7BC}"/>
              </a:ext>
            </a:extLst>
          </p:cNvPr>
          <p:cNvSpPr/>
          <p:nvPr/>
        </p:nvSpPr>
        <p:spPr>
          <a:xfrm>
            <a:off x="4267200" y="4343400"/>
            <a:ext cx="2000250" cy="21927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39940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03C30-209C-0381-F6E9-DA0CF46CC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ADEA1-DDCE-8D6E-1153-F3AA53583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25525"/>
          </a:xfrm>
        </p:spPr>
        <p:txBody>
          <a:bodyPr>
            <a:norm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3: Text Feature Extraction (Bag of Words)</a:t>
            </a:r>
            <a:endParaRPr lang="en-IN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32DDD-0046-4BFE-BCE4-4AB87573A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5424"/>
            <a:ext cx="10515600" cy="51339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3: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Building a vocabulary of unique words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 all unique words and assign each word a feature index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</a:p>
          <a:p>
            <a:pPr lvl="1"/>
            <a:r>
              <a:rPr lang="en-I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Email 1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"free win prize“</a:t>
            </a:r>
          </a:p>
          <a:p>
            <a:pPr lvl="1"/>
            <a:r>
              <a:rPr lang="en-I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Email 2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"meeting tomorrow“</a:t>
            </a:r>
          </a:p>
          <a:p>
            <a:pPr lvl="1"/>
            <a:r>
              <a:rPr lang="en-I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vector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["free", "win", "prize", “meeting", "tomorrow"]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 each email into a word-count vector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42537EA-6D55-1ADB-9772-63CB4932F33D}"/>
              </a:ext>
            </a:extLst>
          </p:cNvPr>
          <p:cNvGraphicFramePr>
            <a:graphicFrameLocks noGrp="1"/>
          </p:cNvGraphicFramePr>
          <p:nvPr/>
        </p:nvGraphicFramePr>
        <p:xfrm>
          <a:off x="1695450" y="4895850"/>
          <a:ext cx="7953375" cy="1188720"/>
        </p:xfrm>
        <a:graphic>
          <a:graphicData uri="http://schemas.openxmlformats.org/drawingml/2006/table">
            <a:tbl>
              <a:tblPr/>
              <a:tblGrid>
                <a:gridCol w="2761985">
                  <a:extLst>
                    <a:ext uri="{9D8B030D-6E8A-4147-A177-3AD203B41FA5}">
                      <a16:colId xmlns:a16="http://schemas.microsoft.com/office/drawing/2014/main" val="3217163907"/>
                    </a:ext>
                  </a:extLst>
                </a:gridCol>
                <a:gridCol w="821884">
                  <a:extLst>
                    <a:ext uri="{9D8B030D-6E8A-4147-A177-3AD203B41FA5}">
                      <a16:colId xmlns:a16="http://schemas.microsoft.com/office/drawing/2014/main" val="2524824789"/>
                    </a:ext>
                  </a:extLst>
                </a:gridCol>
                <a:gridCol w="936323">
                  <a:extLst>
                    <a:ext uri="{9D8B030D-6E8A-4147-A177-3AD203B41FA5}">
                      <a16:colId xmlns:a16="http://schemas.microsoft.com/office/drawing/2014/main" val="801431063"/>
                    </a:ext>
                  </a:extLst>
                </a:gridCol>
                <a:gridCol w="894709">
                  <a:extLst>
                    <a:ext uri="{9D8B030D-6E8A-4147-A177-3AD203B41FA5}">
                      <a16:colId xmlns:a16="http://schemas.microsoft.com/office/drawing/2014/main" val="3188086199"/>
                    </a:ext>
                  </a:extLst>
                </a:gridCol>
                <a:gridCol w="1248430">
                  <a:extLst>
                    <a:ext uri="{9D8B030D-6E8A-4147-A177-3AD203B41FA5}">
                      <a16:colId xmlns:a16="http://schemas.microsoft.com/office/drawing/2014/main" val="2479350346"/>
                    </a:ext>
                  </a:extLst>
                </a:gridCol>
                <a:gridCol w="1290044">
                  <a:extLst>
                    <a:ext uri="{9D8B030D-6E8A-4147-A177-3AD203B41FA5}">
                      <a16:colId xmlns:a16="http://schemas.microsoft.com/office/drawing/2014/main" val="377183144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Email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free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prize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meeting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tomorrow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4343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"free win prize"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99682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"meeting tomorrow"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67287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D7A2678-A1D9-1D80-32AC-963C0D6DCBC9}"/>
              </a:ext>
            </a:extLst>
          </p:cNvPr>
          <p:cNvSpPr txBox="1"/>
          <p:nvPr/>
        </p:nvSpPr>
        <p:spPr>
          <a:xfrm>
            <a:off x="2038349" y="6308209"/>
            <a:ext cx="79533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1" i="1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Bag of Words representation, word order does not matter, frequency matters</a:t>
            </a:r>
          </a:p>
        </p:txBody>
      </p:sp>
    </p:spTree>
    <p:extLst>
      <p:ext uri="{BB962C8B-B14F-4D97-AF65-F5344CB8AC3E}">
        <p14:creationId xmlns:p14="http://schemas.microsoft.com/office/powerpoint/2010/main" val="261060837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7A43B-CF74-580A-AC52-45C7251E1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EC68A-AEAE-516C-DE6D-6C29DFDDB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25525"/>
          </a:xfrm>
        </p:spPr>
        <p:txBody>
          <a:bodyPr>
            <a:normAutofit fontScale="90000"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4: Feature Matrix and Target Vector Formation</a:t>
            </a:r>
            <a:endParaRPr lang="en-IN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407479-1865-EA3A-9134-2B33C8152B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5424"/>
            <a:ext cx="10515600" cy="5133975"/>
          </a:xfrm>
        </p:spPr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is represented as (X, Y)</a:t>
            </a:r>
          </a:p>
          <a:p>
            <a:pPr marL="0" indent="0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Matrix (X)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Label (Y): y – {ham , spam}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 {0, 1}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FF41096-AF81-3FE8-DB27-10191100A6E0}"/>
              </a:ext>
            </a:extLst>
          </p:cNvPr>
          <p:cNvGraphicFramePr>
            <a:graphicFrameLocks noGrp="1"/>
          </p:cNvGraphicFramePr>
          <p:nvPr/>
        </p:nvGraphicFramePr>
        <p:xfrm>
          <a:off x="3295650" y="2537837"/>
          <a:ext cx="6400800" cy="1188720"/>
        </p:xfrm>
        <a:graphic>
          <a:graphicData uri="http://schemas.openxmlformats.org/drawingml/2006/table">
            <a:tbl>
              <a:tblPr/>
              <a:tblGrid>
                <a:gridCol w="1209410">
                  <a:extLst>
                    <a:ext uri="{9D8B030D-6E8A-4147-A177-3AD203B41FA5}">
                      <a16:colId xmlns:a16="http://schemas.microsoft.com/office/drawing/2014/main" val="3217163907"/>
                    </a:ext>
                  </a:extLst>
                </a:gridCol>
                <a:gridCol w="821884">
                  <a:extLst>
                    <a:ext uri="{9D8B030D-6E8A-4147-A177-3AD203B41FA5}">
                      <a16:colId xmlns:a16="http://schemas.microsoft.com/office/drawing/2014/main" val="2524824789"/>
                    </a:ext>
                  </a:extLst>
                </a:gridCol>
                <a:gridCol w="936323">
                  <a:extLst>
                    <a:ext uri="{9D8B030D-6E8A-4147-A177-3AD203B41FA5}">
                      <a16:colId xmlns:a16="http://schemas.microsoft.com/office/drawing/2014/main" val="801431063"/>
                    </a:ext>
                  </a:extLst>
                </a:gridCol>
                <a:gridCol w="894709">
                  <a:extLst>
                    <a:ext uri="{9D8B030D-6E8A-4147-A177-3AD203B41FA5}">
                      <a16:colId xmlns:a16="http://schemas.microsoft.com/office/drawing/2014/main" val="3188086199"/>
                    </a:ext>
                  </a:extLst>
                </a:gridCol>
                <a:gridCol w="1248430">
                  <a:extLst>
                    <a:ext uri="{9D8B030D-6E8A-4147-A177-3AD203B41FA5}">
                      <a16:colId xmlns:a16="http://schemas.microsoft.com/office/drawing/2014/main" val="2479350346"/>
                    </a:ext>
                  </a:extLst>
                </a:gridCol>
                <a:gridCol w="1290044">
                  <a:extLst>
                    <a:ext uri="{9D8B030D-6E8A-4147-A177-3AD203B41FA5}">
                      <a16:colId xmlns:a16="http://schemas.microsoft.com/office/drawing/2014/main" val="377183144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free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prize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meeting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tomorrow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4343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99682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672872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8D67EDD-4FBD-B9C6-1B98-2D4AEDCAF69C}"/>
              </a:ext>
            </a:extLst>
          </p:cNvPr>
          <p:cNvGraphicFramePr>
            <a:graphicFrameLocks noGrp="1"/>
          </p:cNvGraphicFramePr>
          <p:nvPr/>
        </p:nvGraphicFramePr>
        <p:xfrm>
          <a:off x="2352674" y="4909561"/>
          <a:ext cx="7543801" cy="1344588"/>
        </p:xfrm>
        <a:graphic>
          <a:graphicData uri="http://schemas.openxmlformats.org/drawingml/2006/table">
            <a:tbl>
              <a:tblPr/>
              <a:tblGrid>
                <a:gridCol w="1235715">
                  <a:extLst>
                    <a:ext uri="{9D8B030D-6E8A-4147-A177-3AD203B41FA5}">
                      <a16:colId xmlns:a16="http://schemas.microsoft.com/office/drawing/2014/main" val="3217163907"/>
                    </a:ext>
                  </a:extLst>
                </a:gridCol>
                <a:gridCol w="839761">
                  <a:extLst>
                    <a:ext uri="{9D8B030D-6E8A-4147-A177-3AD203B41FA5}">
                      <a16:colId xmlns:a16="http://schemas.microsoft.com/office/drawing/2014/main" val="2524824789"/>
                    </a:ext>
                  </a:extLst>
                </a:gridCol>
                <a:gridCol w="956689">
                  <a:extLst>
                    <a:ext uri="{9D8B030D-6E8A-4147-A177-3AD203B41FA5}">
                      <a16:colId xmlns:a16="http://schemas.microsoft.com/office/drawing/2014/main" val="801431063"/>
                    </a:ext>
                  </a:extLst>
                </a:gridCol>
                <a:gridCol w="914170">
                  <a:extLst>
                    <a:ext uri="{9D8B030D-6E8A-4147-A177-3AD203B41FA5}">
                      <a16:colId xmlns:a16="http://schemas.microsoft.com/office/drawing/2014/main" val="3188086199"/>
                    </a:ext>
                  </a:extLst>
                </a:gridCol>
                <a:gridCol w="1275584">
                  <a:extLst>
                    <a:ext uri="{9D8B030D-6E8A-4147-A177-3AD203B41FA5}">
                      <a16:colId xmlns:a16="http://schemas.microsoft.com/office/drawing/2014/main" val="2479350346"/>
                    </a:ext>
                  </a:extLst>
                </a:gridCol>
                <a:gridCol w="1318103">
                  <a:extLst>
                    <a:ext uri="{9D8B030D-6E8A-4147-A177-3AD203B41FA5}">
                      <a16:colId xmlns:a16="http://schemas.microsoft.com/office/drawing/2014/main" val="3771831442"/>
                    </a:ext>
                  </a:extLst>
                </a:gridCol>
                <a:gridCol w="1003779">
                  <a:extLst>
                    <a:ext uri="{9D8B030D-6E8A-4147-A177-3AD203B41FA5}">
                      <a16:colId xmlns:a16="http://schemas.microsoft.com/office/drawing/2014/main" val="3637121702"/>
                    </a:ext>
                  </a:extLst>
                </a:gridCol>
              </a:tblGrid>
              <a:tr h="5482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free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prize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meeting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tomorrow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Label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4343634"/>
                  </a:ext>
                </a:extLst>
              </a:tr>
              <a:tr h="3981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9968276"/>
                  </a:ext>
                </a:extLst>
              </a:tr>
              <a:tr h="3981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6728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718787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987E7-7647-BCA5-B6C3-9EF08B3E6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1CFCC-164C-A42E-986E-4ED52D0F9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25525"/>
          </a:xfrm>
        </p:spPr>
        <p:txBody>
          <a:bodyPr>
            <a:norm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Steps 3 and 4</a:t>
            </a:r>
            <a:endParaRPr lang="en-IN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6C552C-EFFD-32BA-4BE6-F490D1B736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9275"/>
            <a:ext cx="10515600" cy="4810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vectorizer =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CountVectorizer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stop_words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english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")</a:t>
            </a:r>
          </a:p>
          <a:p>
            <a:pPr marL="0" indent="0">
              <a:buNone/>
            </a:pP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 =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vectorizer.fit_transform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df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["text"])</a:t>
            </a:r>
          </a:p>
          <a:p>
            <a:pPr marL="0" indent="0">
              <a:buNone/>
            </a:pP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 =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df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["label"]</a:t>
            </a:r>
          </a:p>
        </p:txBody>
      </p:sp>
    </p:spTree>
    <p:extLst>
      <p:ext uri="{BB962C8B-B14F-4D97-AF65-F5344CB8AC3E}">
        <p14:creationId xmlns:p14="http://schemas.microsoft.com/office/powerpoint/2010/main" val="13932171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F27EA-31CC-5EC2-7AFD-2F0AB9032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0EAE1-7798-3420-EF76-7D7D52A8E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25525"/>
          </a:xfrm>
        </p:spPr>
        <p:txBody>
          <a:bodyPr>
            <a:normAutofit/>
          </a:bodyPr>
          <a:lstStyle/>
          <a:p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5: </a:t>
            </a:r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Train–Test Split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59D96F-FC66-D20F-69F9-716F177507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5424"/>
            <a:ext cx="10515600" cy="5133975"/>
          </a:xfrm>
        </p:spPr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is divided into training set and testing set.</a:t>
            </a:r>
          </a:p>
          <a:p>
            <a:pPr marL="542925" indent="0">
              <a:buNone/>
            </a:pP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X_train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X_test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y_train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y_test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train_test_split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</a:p>
          <a:p>
            <a:pPr marL="542925" indent="0">
              <a:buNone/>
            </a:pP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   X, y,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test_size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=0.25,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random_state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=42</a:t>
            </a:r>
          </a:p>
          <a:p>
            <a:pPr marL="542925" indent="0">
              <a:buNone/>
            </a:pP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6</a:t>
            </a:r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Decision Tree is trained</a:t>
            </a:r>
          </a:p>
          <a:p>
            <a:pPr marL="542925" indent="0">
              <a:buNone/>
            </a:pP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dt =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DecisionTreeClassifier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</a:p>
          <a:p>
            <a:pPr marL="542925" indent="0">
              <a:buNone/>
            </a:pP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   criterion="entropy",   # uses Information Gain</a:t>
            </a:r>
          </a:p>
          <a:p>
            <a:pPr marL="542925" indent="0">
              <a:buNone/>
            </a:pP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max_depth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=5,           # prevents overfitting</a:t>
            </a:r>
          </a:p>
          <a:p>
            <a:pPr marL="542925" indent="0">
              <a:buNone/>
            </a:pP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random_state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=42</a:t>
            </a:r>
          </a:p>
          <a:p>
            <a:pPr marL="542925" indent="0">
              <a:buNone/>
            </a:pP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542925" indent="0">
              <a:buNone/>
            </a:pP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dt.fit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X_train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y_train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>
              <a:buNone/>
            </a:pPr>
            <a:endParaRPr lang="en-I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84283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5506B-592E-1E02-9980-57B44778F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ADE703-AD1B-C42C-BFA7-4A365EC82D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00076"/>
            <a:ext cx="10515600" cy="60293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6</a:t>
            </a:r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Decision Tree is tested</a:t>
            </a:r>
          </a:p>
          <a:p>
            <a:pPr marL="447675" indent="0">
              <a:buNone/>
            </a:pP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y_pred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dt.predict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IN" i="1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X_test</a:t>
            </a: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>
              <a:buNone/>
            </a:pPr>
            <a:endParaRPr lang="en-I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9</a:t>
            </a:r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Prediction done using the decision tree</a:t>
            </a:r>
          </a:p>
          <a:p>
            <a:pPr marL="447675" indent="0">
              <a:buNone/>
            </a:pP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sample = ["You have won a free cash prize"]</a:t>
            </a:r>
          </a:p>
          <a:p>
            <a:pPr marL="447675" indent="0">
              <a:buNone/>
            </a:pPr>
            <a:r>
              <a:rPr lang="en-IN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 - spam</a:t>
            </a:r>
          </a:p>
          <a:p>
            <a:pPr marL="0" indent="0">
              <a:buNone/>
            </a:pPr>
            <a:endParaRPr lang="en-I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60075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6939" y="429513"/>
            <a:ext cx="6249670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K</a:t>
            </a:r>
            <a:r>
              <a:rPr spc="5" dirty="0"/>
              <a:t> </a:t>
            </a:r>
            <a:r>
              <a:rPr dirty="0"/>
              <a:t>Nearest</a:t>
            </a:r>
            <a:r>
              <a:rPr spc="-15" dirty="0"/>
              <a:t> </a:t>
            </a:r>
            <a:r>
              <a:rPr dirty="0"/>
              <a:t>Neighbor</a:t>
            </a:r>
            <a:r>
              <a:rPr spc="-35" dirty="0"/>
              <a:t> </a:t>
            </a:r>
            <a:r>
              <a:rPr spc="-10" dirty="0"/>
              <a:t>(KNN)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240029" marR="5080" indent="-227965">
              <a:lnSpc>
                <a:spcPts val="2590"/>
              </a:lnSpc>
              <a:spcBef>
                <a:spcPts val="425"/>
              </a:spcBef>
              <a:buFont typeface="Arial MT"/>
              <a:buChar char="•"/>
              <a:tabLst>
                <a:tab pos="241300" algn="l"/>
              </a:tabLst>
            </a:pPr>
            <a:r>
              <a:rPr dirty="0"/>
              <a:t>The</a:t>
            </a:r>
            <a:r>
              <a:rPr spc="160" dirty="0"/>
              <a:t> </a:t>
            </a:r>
            <a:r>
              <a:rPr dirty="0"/>
              <a:t>K</a:t>
            </a:r>
            <a:r>
              <a:rPr spc="165" dirty="0"/>
              <a:t> </a:t>
            </a:r>
            <a:r>
              <a:rPr dirty="0"/>
              <a:t>Nearest</a:t>
            </a:r>
            <a:r>
              <a:rPr spc="170" dirty="0"/>
              <a:t> </a:t>
            </a:r>
            <a:r>
              <a:rPr dirty="0"/>
              <a:t>Neighbor</a:t>
            </a:r>
            <a:r>
              <a:rPr spc="170" dirty="0"/>
              <a:t> </a:t>
            </a:r>
            <a:r>
              <a:rPr dirty="0"/>
              <a:t>(KNN)</a:t>
            </a:r>
            <a:r>
              <a:rPr spc="170" dirty="0"/>
              <a:t> </a:t>
            </a:r>
            <a:r>
              <a:rPr dirty="0"/>
              <a:t>is</a:t>
            </a:r>
            <a:r>
              <a:rPr spc="155" dirty="0"/>
              <a:t> </a:t>
            </a:r>
            <a:r>
              <a:rPr dirty="0"/>
              <a:t>an</a:t>
            </a:r>
            <a:r>
              <a:rPr spc="165" dirty="0"/>
              <a:t> </a:t>
            </a:r>
            <a:r>
              <a:rPr spc="-30" dirty="0"/>
              <a:t>algorithm</a:t>
            </a:r>
            <a:r>
              <a:rPr spc="170" dirty="0"/>
              <a:t> </a:t>
            </a:r>
            <a:r>
              <a:rPr spc="-10" dirty="0"/>
              <a:t>that</a:t>
            </a:r>
            <a:r>
              <a:rPr spc="175" dirty="0"/>
              <a:t> </a:t>
            </a:r>
            <a:r>
              <a:rPr dirty="0"/>
              <a:t>can</a:t>
            </a:r>
            <a:r>
              <a:rPr spc="160" dirty="0"/>
              <a:t> </a:t>
            </a:r>
            <a:r>
              <a:rPr dirty="0"/>
              <a:t>be</a:t>
            </a:r>
            <a:r>
              <a:rPr spc="165" dirty="0"/>
              <a:t> </a:t>
            </a:r>
            <a:r>
              <a:rPr dirty="0"/>
              <a:t>used</a:t>
            </a:r>
            <a:r>
              <a:rPr spc="170" dirty="0"/>
              <a:t> </a:t>
            </a:r>
            <a:r>
              <a:rPr dirty="0"/>
              <a:t>for</a:t>
            </a:r>
            <a:r>
              <a:rPr spc="170" dirty="0"/>
              <a:t> </a:t>
            </a:r>
            <a:r>
              <a:rPr spc="-20" dirty="0"/>
              <a:t>both 	</a:t>
            </a:r>
            <a:r>
              <a:rPr spc="-30" dirty="0"/>
              <a:t>classification</a:t>
            </a:r>
            <a:r>
              <a:rPr spc="-145" dirty="0"/>
              <a:t> </a:t>
            </a:r>
            <a:r>
              <a:rPr spc="-10" dirty="0"/>
              <a:t>and</a:t>
            </a:r>
            <a:r>
              <a:rPr spc="-150" dirty="0"/>
              <a:t> </a:t>
            </a:r>
            <a:r>
              <a:rPr spc="-35" dirty="0"/>
              <a:t>regression</a:t>
            </a:r>
            <a:r>
              <a:rPr spc="-160" dirty="0"/>
              <a:t> </a:t>
            </a:r>
            <a:r>
              <a:rPr spc="-55" dirty="0"/>
              <a:t>(mostly</a:t>
            </a:r>
            <a:r>
              <a:rPr spc="-165" dirty="0"/>
              <a:t> </a:t>
            </a:r>
            <a:r>
              <a:rPr dirty="0"/>
              <a:t>used</a:t>
            </a:r>
            <a:r>
              <a:rPr spc="-170" dirty="0"/>
              <a:t> </a:t>
            </a:r>
            <a:r>
              <a:rPr spc="-114" dirty="0"/>
              <a:t>for</a:t>
            </a:r>
            <a:r>
              <a:rPr spc="-150" dirty="0"/>
              <a:t> </a:t>
            </a:r>
            <a:r>
              <a:rPr spc="-10" dirty="0"/>
              <a:t>classification).</a:t>
            </a:r>
          </a:p>
          <a:p>
            <a:pPr marL="240029" marR="5715" indent="-227965">
              <a:lnSpc>
                <a:spcPts val="2590"/>
              </a:lnSpc>
              <a:spcBef>
                <a:spcPts val="1000"/>
              </a:spcBef>
              <a:buFont typeface="Arial MT"/>
              <a:buChar char="•"/>
              <a:tabLst>
                <a:tab pos="241300" algn="l"/>
              </a:tabLst>
            </a:pPr>
            <a:r>
              <a:rPr dirty="0"/>
              <a:t>It</a:t>
            </a:r>
            <a:r>
              <a:rPr spc="-15" dirty="0"/>
              <a:t> </a:t>
            </a:r>
            <a:r>
              <a:rPr spc="-10" dirty="0"/>
              <a:t>relies</a:t>
            </a:r>
            <a:r>
              <a:rPr spc="-25" dirty="0"/>
              <a:t> </a:t>
            </a:r>
            <a:r>
              <a:rPr dirty="0"/>
              <a:t>on</a:t>
            </a:r>
            <a:r>
              <a:rPr spc="-20" dirty="0"/>
              <a:t> </a:t>
            </a:r>
            <a:r>
              <a:rPr dirty="0"/>
              <a:t>the</a:t>
            </a:r>
            <a:r>
              <a:rPr spc="-20" dirty="0"/>
              <a:t> </a:t>
            </a:r>
            <a:r>
              <a:rPr dirty="0"/>
              <a:t>idea</a:t>
            </a:r>
            <a:r>
              <a:rPr spc="-15" dirty="0"/>
              <a:t> </a:t>
            </a:r>
            <a:r>
              <a:rPr spc="-30" dirty="0"/>
              <a:t>that</a:t>
            </a:r>
            <a:r>
              <a:rPr spc="-10" dirty="0"/>
              <a:t> </a:t>
            </a:r>
            <a:r>
              <a:rPr dirty="0"/>
              <a:t>similar</a:t>
            </a:r>
            <a:r>
              <a:rPr spc="-15" dirty="0"/>
              <a:t> </a:t>
            </a:r>
            <a:r>
              <a:rPr dirty="0"/>
              <a:t>data</a:t>
            </a:r>
            <a:r>
              <a:rPr spc="-20" dirty="0"/>
              <a:t> </a:t>
            </a:r>
            <a:r>
              <a:rPr dirty="0"/>
              <a:t>points</a:t>
            </a:r>
            <a:r>
              <a:rPr spc="-20" dirty="0"/>
              <a:t> </a:t>
            </a:r>
            <a:r>
              <a:rPr dirty="0"/>
              <a:t>tend</a:t>
            </a:r>
            <a:r>
              <a:rPr spc="-20" dirty="0"/>
              <a:t> </a:t>
            </a:r>
            <a:r>
              <a:rPr dirty="0"/>
              <a:t>to</a:t>
            </a:r>
            <a:r>
              <a:rPr spc="-20" dirty="0"/>
              <a:t> </a:t>
            </a:r>
            <a:r>
              <a:rPr dirty="0"/>
              <a:t>have</a:t>
            </a:r>
            <a:r>
              <a:rPr spc="-20" dirty="0"/>
              <a:t> </a:t>
            </a:r>
            <a:r>
              <a:rPr dirty="0"/>
              <a:t>similar labels</a:t>
            </a:r>
            <a:r>
              <a:rPr spc="-20" dirty="0"/>
              <a:t> </a:t>
            </a:r>
            <a:r>
              <a:rPr spc="-25" dirty="0"/>
              <a:t>or 	</a:t>
            </a:r>
            <a:r>
              <a:rPr spc="-10" dirty="0"/>
              <a:t>values.</a:t>
            </a:r>
          </a:p>
          <a:p>
            <a:pPr marL="240665" indent="-227965">
              <a:lnSpc>
                <a:spcPct val="100000"/>
              </a:lnSpc>
              <a:spcBef>
                <a:spcPts val="685"/>
              </a:spcBef>
              <a:buFont typeface="Arial MT"/>
              <a:buChar char="•"/>
              <a:tabLst>
                <a:tab pos="240665" algn="l"/>
              </a:tabLst>
            </a:pPr>
            <a:r>
              <a:rPr spc="-114" dirty="0"/>
              <a:t>Training</a:t>
            </a:r>
            <a:r>
              <a:rPr spc="-190" dirty="0"/>
              <a:t> </a:t>
            </a:r>
            <a:r>
              <a:rPr spc="-25" dirty="0"/>
              <a:t>phase:</a:t>
            </a:r>
            <a:r>
              <a:rPr spc="-185" dirty="0"/>
              <a:t> </a:t>
            </a:r>
            <a:r>
              <a:rPr spc="-10" dirty="0">
                <a:solidFill>
                  <a:srgbClr val="FF0000"/>
                </a:solidFill>
              </a:rPr>
              <a:t>stores</a:t>
            </a:r>
            <a:r>
              <a:rPr spc="-200" dirty="0">
                <a:solidFill>
                  <a:srgbClr val="FF0000"/>
                </a:solidFill>
              </a:rPr>
              <a:t> </a:t>
            </a:r>
            <a:r>
              <a:rPr spc="-80" dirty="0">
                <a:solidFill>
                  <a:srgbClr val="FF0000"/>
                </a:solidFill>
              </a:rPr>
              <a:t>the</a:t>
            </a:r>
            <a:r>
              <a:rPr spc="-210" dirty="0">
                <a:solidFill>
                  <a:srgbClr val="FF0000"/>
                </a:solidFill>
              </a:rPr>
              <a:t> </a:t>
            </a:r>
            <a:r>
              <a:rPr spc="-105" dirty="0">
                <a:solidFill>
                  <a:srgbClr val="FF0000"/>
                </a:solidFill>
              </a:rPr>
              <a:t>entire</a:t>
            </a:r>
            <a:r>
              <a:rPr spc="-195" dirty="0">
                <a:solidFill>
                  <a:srgbClr val="FF0000"/>
                </a:solidFill>
              </a:rPr>
              <a:t> </a:t>
            </a:r>
            <a:r>
              <a:rPr spc="-50" dirty="0">
                <a:solidFill>
                  <a:srgbClr val="FF0000"/>
                </a:solidFill>
              </a:rPr>
              <a:t>dataset</a:t>
            </a:r>
            <a:r>
              <a:rPr spc="-170" dirty="0">
                <a:solidFill>
                  <a:srgbClr val="FF0000"/>
                </a:solidFill>
              </a:rPr>
              <a:t> </a:t>
            </a:r>
            <a:r>
              <a:rPr spc="-105" dirty="0">
                <a:solidFill>
                  <a:srgbClr val="FF0000"/>
                </a:solidFill>
              </a:rPr>
              <a:t>(lazy</a:t>
            </a:r>
            <a:r>
              <a:rPr spc="-215" dirty="0">
                <a:solidFill>
                  <a:srgbClr val="FF0000"/>
                </a:solidFill>
              </a:rPr>
              <a:t> </a:t>
            </a:r>
            <a:r>
              <a:rPr spc="-10" dirty="0">
                <a:solidFill>
                  <a:srgbClr val="FF0000"/>
                </a:solidFill>
              </a:rPr>
              <a:t>learner)</a:t>
            </a:r>
          </a:p>
          <a:p>
            <a:pPr marL="240029" marR="6350" indent="-227965">
              <a:lnSpc>
                <a:spcPts val="2590"/>
              </a:lnSpc>
              <a:spcBef>
                <a:spcPts val="1040"/>
              </a:spcBef>
              <a:buFont typeface="Arial MT"/>
              <a:buChar char="•"/>
              <a:tabLst>
                <a:tab pos="241300" algn="l"/>
              </a:tabLst>
            </a:pPr>
            <a:r>
              <a:rPr spc="-105" dirty="0"/>
              <a:t>Testing</a:t>
            </a:r>
            <a:r>
              <a:rPr spc="-180" dirty="0"/>
              <a:t> </a:t>
            </a:r>
            <a:r>
              <a:rPr spc="-25" dirty="0"/>
              <a:t>phase:</a:t>
            </a:r>
            <a:r>
              <a:rPr spc="-185" dirty="0"/>
              <a:t> </a:t>
            </a:r>
            <a:r>
              <a:rPr spc="-20" dirty="0">
                <a:solidFill>
                  <a:srgbClr val="FF0000"/>
                </a:solidFill>
              </a:rPr>
              <a:t>calculates</a:t>
            </a:r>
            <a:r>
              <a:rPr spc="-185" dirty="0">
                <a:solidFill>
                  <a:srgbClr val="FF0000"/>
                </a:solidFill>
              </a:rPr>
              <a:t> </a:t>
            </a:r>
            <a:r>
              <a:rPr spc="-25" dirty="0">
                <a:solidFill>
                  <a:srgbClr val="FF0000"/>
                </a:solidFill>
              </a:rPr>
              <a:t>distance</a:t>
            </a:r>
            <a:r>
              <a:rPr spc="-175" dirty="0">
                <a:solidFill>
                  <a:srgbClr val="FF0000"/>
                </a:solidFill>
              </a:rPr>
              <a:t> </a:t>
            </a:r>
            <a:r>
              <a:rPr spc="-75" dirty="0">
                <a:solidFill>
                  <a:srgbClr val="FF0000"/>
                </a:solidFill>
              </a:rPr>
              <a:t>between</a:t>
            </a:r>
            <a:r>
              <a:rPr spc="-204" dirty="0">
                <a:solidFill>
                  <a:srgbClr val="FF0000"/>
                </a:solidFill>
              </a:rPr>
              <a:t> </a:t>
            </a:r>
            <a:r>
              <a:rPr spc="-60" dirty="0">
                <a:solidFill>
                  <a:srgbClr val="FF0000"/>
                </a:solidFill>
              </a:rPr>
              <a:t>input</a:t>
            </a:r>
            <a:r>
              <a:rPr spc="-175" dirty="0">
                <a:solidFill>
                  <a:srgbClr val="FF0000"/>
                </a:solidFill>
              </a:rPr>
              <a:t> </a:t>
            </a:r>
            <a:r>
              <a:rPr spc="-60" dirty="0">
                <a:solidFill>
                  <a:srgbClr val="FF0000"/>
                </a:solidFill>
              </a:rPr>
              <a:t>data</a:t>
            </a:r>
            <a:r>
              <a:rPr spc="-185" dirty="0">
                <a:solidFill>
                  <a:srgbClr val="FF0000"/>
                </a:solidFill>
              </a:rPr>
              <a:t> </a:t>
            </a:r>
            <a:r>
              <a:rPr spc="-65" dirty="0">
                <a:solidFill>
                  <a:srgbClr val="FF0000"/>
                </a:solidFill>
              </a:rPr>
              <a:t>point</a:t>
            </a:r>
            <a:r>
              <a:rPr spc="-185" dirty="0">
                <a:solidFill>
                  <a:srgbClr val="FF0000"/>
                </a:solidFill>
              </a:rPr>
              <a:t> </a:t>
            </a:r>
            <a:r>
              <a:rPr spc="-90" dirty="0">
                <a:solidFill>
                  <a:srgbClr val="FF0000"/>
                </a:solidFill>
              </a:rPr>
              <a:t>to</a:t>
            </a:r>
            <a:r>
              <a:rPr spc="-185" dirty="0">
                <a:solidFill>
                  <a:srgbClr val="FF0000"/>
                </a:solidFill>
              </a:rPr>
              <a:t> </a:t>
            </a:r>
            <a:r>
              <a:rPr spc="-75" dirty="0">
                <a:solidFill>
                  <a:srgbClr val="FF0000"/>
                </a:solidFill>
              </a:rPr>
              <a:t>all</a:t>
            </a:r>
            <a:r>
              <a:rPr spc="-190" dirty="0">
                <a:solidFill>
                  <a:srgbClr val="FF0000"/>
                </a:solidFill>
              </a:rPr>
              <a:t> </a:t>
            </a:r>
            <a:r>
              <a:rPr spc="-80" dirty="0">
                <a:solidFill>
                  <a:srgbClr val="FF0000"/>
                </a:solidFill>
              </a:rPr>
              <a:t>the</a:t>
            </a:r>
            <a:r>
              <a:rPr spc="-195" dirty="0">
                <a:solidFill>
                  <a:srgbClr val="FF0000"/>
                </a:solidFill>
              </a:rPr>
              <a:t> </a:t>
            </a:r>
            <a:r>
              <a:rPr spc="-10" dirty="0">
                <a:solidFill>
                  <a:srgbClr val="FF0000"/>
                </a:solidFill>
              </a:rPr>
              <a:t>training 	</a:t>
            </a:r>
            <a:r>
              <a:rPr spc="-25" dirty="0">
                <a:solidFill>
                  <a:srgbClr val="FF0000"/>
                </a:solidFill>
              </a:rPr>
              <a:t>examples</a:t>
            </a:r>
            <a:r>
              <a:rPr spc="-185" dirty="0">
                <a:solidFill>
                  <a:srgbClr val="FF0000"/>
                </a:solidFill>
              </a:rPr>
              <a:t> </a:t>
            </a:r>
            <a:r>
              <a:rPr dirty="0">
                <a:solidFill>
                  <a:srgbClr val="FF0000"/>
                </a:solidFill>
              </a:rPr>
              <a:t>using</a:t>
            </a:r>
            <a:r>
              <a:rPr spc="-204" dirty="0">
                <a:solidFill>
                  <a:srgbClr val="FF0000"/>
                </a:solidFill>
              </a:rPr>
              <a:t> </a:t>
            </a:r>
            <a:r>
              <a:rPr dirty="0">
                <a:solidFill>
                  <a:srgbClr val="FF0000"/>
                </a:solidFill>
              </a:rPr>
              <a:t>a</a:t>
            </a:r>
            <a:r>
              <a:rPr spc="-195" dirty="0">
                <a:solidFill>
                  <a:srgbClr val="FF0000"/>
                </a:solidFill>
              </a:rPr>
              <a:t> </a:t>
            </a:r>
            <a:r>
              <a:rPr spc="-25" dirty="0">
                <a:solidFill>
                  <a:srgbClr val="FF0000"/>
                </a:solidFill>
              </a:rPr>
              <a:t>distance</a:t>
            </a:r>
            <a:r>
              <a:rPr spc="-185" dirty="0">
                <a:solidFill>
                  <a:srgbClr val="FF0000"/>
                </a:solidFill>
              </a:rPr>
              <a:t> </a:t>
            </a:r>
            <a:r>
              <a:rPr spc="-65" dirty="0">
                <a:solidFill>
                  <a:srgbClr val="FF0000"/>
                </a:solidFill>
              </a:rPr>
              <a:t>metric</a:t>
            </a:r>
            <a:r>
              <a:rPr spc="-204" dirty="0">
                <a:solidFill>
                  <a:srgbClr val="FF0000"/>
                </a:solidFill>
              </a:rPr>
              <a:t> </a:t>
            </a:r>
            <a:r>
              <a:rPr spc="-130" dirty="0">
                <a:solidFill>
                  <a:srgbClr val="FF0000"/>
                </a:solidFill>
              </a:rPr>
              <a:t>(E.g.</a:t>
            </a:r>
            <a:r>
              <a:rPr spc="-195" dirty="0">
                <a:solidFill>
                  <a:srgbClr val="FF0000"/>
                </a:solidFill>
              </a:rPr>
              <a:t> </a:t>
            </a:r>
            <a:r>
              <a:rPr spc="-25" dirty="0">
                <a:solidFill>
                  <a:srgbClr val="FF0000"/>
                </a:solidFill>
              </a:rPr>
              <a:t>Euclidean</a:t>
            </a:r>
            <a:r>
              <a:rPr spc="-190" dirty="0">
                <a:solidFill>
                  <a:srgbClr val="FF0000"/>
                </a:solidFill>
              </a:rPr>
              <a:t> </a:t>
            </a:r>
            <a:r>
              <a:rPr spc="-100" dirty="0">
                <a:solidFill>
                  <a:srgbClr val="FF0000"/>
                </a:solidFill>
              </a:rPr>
              <a:t>dist.,</a:t>
            </a:r>
            <a:r>
              <a:rPr spc="-190" dirty="0">
                <a:solidFill>
                  <a:srgbClr val="FF0000"/>
                </a:solidFill>
              </a:rPr>
              <a:t> </a:t>
            </a:r>
            <a:r>
              <a:rPr spc="-30" dirty="0">
                <a:solidFill>
                  <a:srgbClr val="FF0000"/>
                </a:solidFill>
              </a:rPr>
              <a:t>Manhattan</a:t>
            </a:r>
            <a:r>
              <a:rPr spc="-175" dirty="0">
                <a:solidFill>
                  <a:srgbClr val="FF0000"/>
                </a:solidFill>
              </a:rPr>
              <a:t> </a:t>
            </a:r>
            <a:r>
              <a:rPr spc="-100" dirty="0">
                <a:solidFill>
                  <a:srgbClr val="FF0000"/>
                </a:solidFill>
              </a:rPr>
              <a:t>dist.,</a:t>
            </a:r>
            <a:r>
              <a:rPr spc="-195" dirty="0">
                <a:solidFill>
                  <a:srgbClr val="FF0000"/>
                </a:solidFill>
              </a:rPr>
              <a:t> </a:t>
            </a:r>
            <a:r>
              <a:rPr spc="-10" dirty="0">
                <a:solidFill>
                  <a:srgbClr val="FF0000"/>
                </a:solidFill>
              </a:rPr>
              <a:t>etc.)</a:t>
            </a:r>
          </a:p>
          <a:p>
            <a:pPr marL="240665" indent="-227965">
              <a:lnSpc>
                <a:spcPct val="100000"/>
              </a:lnSpc>
              <a:spcBef>
                <a:spcPts val="670"/>
              </a:spcBef>
              <a:buFont typeface="Arial MT"/>
              <a:buChar char="•"/>
              <a:tabLst>
                <a:tab pos="240665" algn="l"/>
              </a:tabLst>
            </a:pPr>
            <a:r>
              <a:rPr spc="-80" dirty="0"/>
              <a:t>Parameter</a:t>
            </a:r>
            <a:r>
              <a:rPr spc="-200" dirty="0"/>
              <a:t> </a:t>
            </a:r>
            <a:r>
              <a:rPr spc="-85" dirty="0"/>
              <a:t>tuning:</a:t>
            </a:r>
            <a:r>
              <a:rPr spc="-190" dirty="0"/>
              <a:t> </a:t>
            </a:r>
            <a:r>
              <a:rPr spc="-60" dirty="0"/>
              <a:t>value</a:t>
            </a:r>
            <a:r>
              <a:rPr spc="-200" dirty="0"/>
              <a:t> </a:t>
            </a:r>
            <a:r>
              <a:rPr spc="-80" dirty="0"/>
              <a:t>of</a:t>
            </a:r>
            <a:r>
              <a:rPr spc="-300" dirty="0"/>
              <a:t> </a:t>
            </a:r>
            <a:r>
              <a:rPr spc="-185" dirty="0"/>
              <a:t>‘k’</a:t>
            </a:r>
            <a:r>
              <a:rPr spc="-315" dirty="0"/>
              <a:t> </a:t>
            </a:r>
            <a:r>
              <a:rPr spc="-10" dirty="0"/>
              <a:t>determined.</a:t>
            </a:r>
          </a:p>
          <a:p>
            <a:pPr marL="240665" indent="-227965">
              <a:lnSpc>
                <a:spcPct val="100000"/>
              </a:lnSpc>
              <a:spcBef>
                <a:spcPts val="720"/>
              </a:spcBef>
              <a:buFont typeface="Arial MT"/>
              <a:buChar char="•"/>
              <a:tabLst>
                <a:tab pos="240665" algn="l"/>
              </a:tabLst>
            </a:pPr>
            <a:r>
              <a:rPr dirty="0"/>
              <a:t>Classify</a:t>
            </a:r>
            <a:r>
              <a:rPr spc="-185" dirty="0"/>
              <a:t> </a:t>
            </a:r>
            <a:r>
              <a:rPr spc="-60" dirty="0"/>
              <a:t>input</a:t>
            </a:r>
            <a:r>
              <a:rPr spc="-185" dirty="0"/>
              <a:t> </a:t>
            </a:r>
            <a:r>
              <a:rPr spc="-60" dirty="0"/>
              <a:t>value</a:t>
            </a:r>
            <a:r>
              <a:rPr spc="-195" dirty="0"/>
              <a:t> </a:t>
            </a:r>
            <a:r>
              <a:rPr dirty="0"/>
              <a:t>using</a:t>
            </a:r>
            <a:r>
              <a:rPr spc="-185" dirty="0"/>
              <a:t> </a:t>
            </a:r>
            <a:r>
              <a:rPr spc="-80" dirty="0"/>
              <a:t>the</a:t>
            </a:r>
            <a:r>
              <a:rPr spc="-215" dirty="0"/>
              <a:t> </a:t>
            </a:r>
            <a:r>
              <a:rPr spc="-60" dirty="0"/>
              <a:t>value</a:t>
            </a:r>
            <a:r>
              <a:rPr spc="-185" dirty="0"/>
              <a:t> </a:t>
            </a:r>
            <a:r>
              <a:rPr spc="-75" dirty="0"/>
              <a:t>of</a:t>
            </a:r>
            <a:r>
              <a:rPr spc="-315" dirty="0"/>
              <a:t> </a:t>
            </a:r>
            <a:r>
              <a:rPr spc="-285" dirty="0"/>
              <a:t>‘k’.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76134" y="4574628"/>
            <a:ext cx="4274820" cy="2004059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35609" y="300354"/>
            <a:ext cx="112268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spc="-25" dirty="0"/>
              <a:t>KNN</a:t>
            </a:r>
            <a:endParaRPr sz="400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46961" y="422068"/>
            <a:ext cx="5894975" cy="622995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635609" y="1178178"/>
            <a:ext cx="4972685" cy="44157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265" indent="-456565">
              <a:lnSpc>
                <a:spcPct val="100000"/>
              </a:lnSpc>
              <a:spcBef>
                <a:spcPts val="100"/>
              </a:spcBef>
              <a:buAutoNum type="arabicPeriod"/>
              <a:tabLst>
                <a:tab pos="469265" algn="l"/>
              </a:tabLst>
            </a:pPr>
            <a:r>
              <a:rPr sz="2400" b="1" dirty="0">
                <a:latin typeface="Times New Roman"/>
                <a:cs typeface="Times New Roman"/>
              </a:rPr>
              <a:t>Choose</a:t>
            </a:r>
            <a:r>
              <a:rPr sz="2400" b="1" spc="-10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K</a:t>
            </a:r>
            <a:r>
              <a:rPr sz="2400" b="1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→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number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of</a:t>
            </a:r>
            <a:endParaRPr sz="2400">
              <a:latin typeface="Times New Roman"/>
              <a:cs typeface="Times New Roman"/>
            </a:endParaRPr>
          </a:p>
          <a:p>
            <a:pPr marL="469900">
              <a:lnSpc>
                <a:spcPct val="100000"/>
              </a:lnSpc>
            </a:pPr>
            <a:r>
              <a:rPr sz="2400" dirty="0">
                <a:latin typeface="Times New Roman"/>
                <a:cs typeface="Times New Roman"/>
              </a:rPr>
              <a:t>neighbours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to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consider.</a:t>
            </a:r>
            <a:endParaRPr sz="2400">
              <a:latin typeface="Times New Roman"/>
              <a:cs typeface="Times New Roman"/>
            </a:endParaRPr>
          </a:p>
          <a:p>
            <a:pPr marL="469900" marR="5080" indent="-457200">
              <a:lnSpc>
                <a:spcPct val="100000"/>
              </a:lnSpc>
              <a:buAutoNum type="arabicPeriod" startAt="2"/>
              <a:tabLst>
                <a:tab pos="469900" algn="l"/>
              </a:tabLst>
            </a:pPr>
            <a:r>
              <a:rPr sz="2400" b="1" dirty="0">
                <a:latin typeface="Times New Roman"/>
                <a:cs typeface="Times New Roman"/>
              </a:rPr>
              <a:t>Compute</a:t>
            </a:r>
            <a:r>
              <a:rPr sz="2400" b="1" spc="-40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distances</a:t>
            </a:r>
            <a:r>
              <a:rPr sz="2400" b="1" spc="-5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→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for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new </a:t>
            </a:r>
            <a:r>
              <a:rPr sz="2400" dirty="0">
                <a:latin typeface="Times New Roman"/>
                <a:cs typeface="Times New Roman"/>
              </a:rPr>
              <a:t>input,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calculate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its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distance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(e.g., </a:t>
            </a:r>
            <a:r>
              <a:rPr sz="2400" dirty="0">
                <a:latin typeface="Times New Roman"/>
                <a:cs typeface="Times New Roman"/>
              </a:rPr>
              <a:t>Euclidean,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Manhattan)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to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all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training samples.</a:t>
            </a:r>
            <a:endParaRPr sz="2400">
              <a:latin typeface="Times New Roman"/>
              <a:cs typeface="Times New Roman"/>
            </a:endParaRPr>
          </a:p>
          <a:p>
            <a:pPr marL="469900" marR="167005" indent="-457200">
              <a:lnSpc>
                <a:spcPct val="100000"/>
              </a:lnSpc>
              <a:spcBef>
                <a:spcPts val="5"/>
              </a:spcBef>
              <a:buAutoNum type="arabicPeriod" startAt="2"/>
              <a:tabLst>
                <a:tab pos="469900" algn="l"/>
              </a:tabLst>
            </a:pPr>
            <a:r>
              <a:rPr sz="2400" b="1" dirty="0">
                <a:latin typeface="Times New Roman"/>
                <a:cs typeface="Times New Roman"/>
              </a:rPr>
              <a:t>Find</a:t>
            </a:r>
            <a:r>
              <a:rPr sz="2400" b="1" spc="-45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the</a:t>
            </a:r>
            <a:r>
              <a:rPr sz="2400" b="1" spc="-35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K</a:t>
            </a:r>
            <a:r>
              <a:rPr sz="2400" b="1" spc="-40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nearest</a:t>
            </a:r>
            <a:r>
              <a:rPr sz="2400" b="1" spc="-45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neighbors</a:t>
            </a:r>
            <a:r>
              <a:rPr sz="2400" b="1" spc="-50" dirty="0">
                <a:latin typeface="Times New Roman"/>
                <a:cs typeface="Times New Roman"/>
              </a:rPr>
              <a:t> </a:t>
            </a:r>
            <a:r>
              <a:rPr sz="2400" spc="-50" dirty="0">
                <a:latin typeface="Times New Roman"/>
                <a:cs typeface="Times New Roman"/>
              </a:rPr>
              <a:t>→ </a:t>
            </a:r>
            <a:r>
              <a:rPr sz="2400" dirty="0">
                <a:latin typeface="Times New Roman"/>
                <a:cs typeface="Times New Roman"/>
              </a:rPr>
              <a:t>pick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K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training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points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closest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to </a:t>
            </a:r>
            <a:r>
              <a:rPr sz="2400" dirty="0">
                <a:latin typeface="Times New Roman"/>
                <a:cs typeface="Times New Roman"/>
              </a:rPr>
              <a:t>the </a:t>
            </a:r>
            <a:r>
              <a:rPr sz="2400" spc="-10" dirty="0">
                <a:latin typeface="Times New Roman"/>
                <a:cs typeface="Times New Roman"/>
              </a:rPr>
              <a:t>input.</a:t>
            </a:r>
            <a:endParaRPr sz="2400">
              <a:latin typeface="Times New Roman"/>
              <a:cs typeface="Times New Roman"/>
            </a:endParaRPr>
          </a:p>
          <a:p>
            <a:pPr marL="469900" marR="60325" indent="-457200">
              <a:lnSpc>
                <a:spcPct val="100000"/>
              </a:lnSpc>
              <a:buAutoNum type="arabicPeriod" startAt="2"/>
              <a:tabLst>
                <a:tab pos="469900" algn="l"/>
              </a:tabLst>
            </a:pPr>
            <a:r>
              <a:rPr sz="2400" b="1" dirty="0">
                <a:latin typeface="Times New Roman"/>
                <a:cs typeface="Times New Roman"/>
              </a:rPr>
              <a:t>Make</a:t>
            </a:r>
            <a:r>
              <a:rPr sz="2400" b="1" spc="-35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a</a:t>
            </a:r>
            <a:r>
              <a:rPr sz="2400" b="1" spc="-5" dirty="0">
                <a:latin typeface="Times New Roman"/>
                <a:cs typeface="Times New Roman"/>
              </a:rPr>
              <a:t> </a:t>
            </a:r>
            <a:r>
              <a:rPr sz="2400" b="1" dirty="0">
                <a:latin typeface="Times New Roman"/>
                <a:cs typeface="Times New Roman"/>
              </a:rPr>
              <a:t>decision</a:t>
            </a:r>
            <a:r>
              <a:rPr sz="2400" b="1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→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assign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20" dirty="0">
                <a:latin typeface="Times New Roman"/>
                <a:cs typeface="Times New Roman"/>
              </a:rPr>
              <a:t>most </a:t>
            </a:r>
            <a:r>
              <a:rPr sz="2400" dirty="0">
                <a:latin typeface="Times New Roman"/>
                <a:cs typeface="Times New Roman"/>
              </a:rPr>
              <a:t>frequent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class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among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spc="-50" dirty="0">
                <a:latin typeface="Times New Roman"/>
                <a:cs typeface="Times New Roman"/>
              </a:rPr>
              <a:t>K </a:t>
            </a:r>
            <a:r>
              <a:rPr sz="2400" spc="-10" dirty="0">
                <a:latin typeface="Times New Roman"/>
                <a:cs typeface="Times New Roman"/>
              </a:rPr>
              <a:t>neighbors.</a:t>
            </a:r>
            <a:endParaRPr sz="2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6939" y="476249"/>
            <a:ext cx="335534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dirty="0"/>
              <a:t>KNN</a:t>
            </a:r>
            <a:r>
              <a:rPr sz="4000" spc="-60" dirty="0"/>
              <a:t> </a:t>
            </a:r>
            <a:r>
              <a:rPr sz="4000" dirty="0"/>
              <a:t>-</a:t>
            </a:r>
            <a:r>
              <a:rPr sz="4000" spc="-45" dirty="0"/>
              <a:t> </a:t>
            </a:r>
            <a:r>
              <a:rPr sz="4000" spc="-10" dirty="0"/>
              <a:t>Example</a:t>
            </a:r>
            <a:endParaRPr sz="4000"/>
          </a:p>
        </p:txBody>
      </p:sp>
      <p:sp>
        <p:nvSpPr>
          <p:cNvPr id="3" name="object 3"/>
          <p:cNvSpPr txBox="1"/>
          <p:nvPr/>
        </p:nvSpPr>
        <p:spPr>
          <a:xfrm>
            <a:off x="916939" y="1402537"/>
            <a:ext cx="6198870" cy="1835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indent="-227329">
              <a:lnSpc>
                <a:spcPts val="2735"/>
              </a:lnSpc>
              <a:spcBef>
                <a:spcPts val="100"/>
              </a:spcBef>
              <a:buFont typeface="Arial MT"/>
              <a:buChar char="•"/>
              <a:tabLst>
                <a:tab pos="240029" algn="l"/>
              </a:tabLst>
            </a:pPr>
            <a:r>
              <a:rPr sz="2400" dirty="0">
                <a:latin typeface="Times New Roman"/>
                <a:cs typeface="Times New Roman"/>
              </a:rPr>
              <a:t>There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are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two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categories</a:t>
            </a:r>
            <a:r>
              <a:rPr sz="2400" spc="-170" dirty="0">
                <a:latin typeface="Times New Roman"/>
                <a:cs typeface="Times New Roman"/>
              </a:rPr>
              <a:t> </a:t>
            </a:r>
            <a:r>
              <a:rPr sz="2400" spc="-20" dirty="0">
                <a:latin typeface="Times New Roman"/>
                <a:cs typeface="Times New Roman"/>
              </a:rPr>
              <a:t>A</a:t>
            </a:r>
            <a:r>
              <a:rPr sz="2400" spc="-1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and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B, and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we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have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50" dirty="0">
                <a:latin typeface="Times New Roman"/>
                <a:cs typeface="Times New Roman"/>
              </a:rPr>
              <a:t>a</a:t>
            </a:r>
            <a:endParaRPr sz="2400">
              <a:latin typeface="Times New Roman"/>
              <a:cs typeface="Times New Roman"/>
            </a:endParaRPr>
          </a:p>
          <a:p>
            <a:pPr marL="241300">
              <a:lnSpc>
                <a:spcPts val="2735"/>
              </a:lnSpc>
            </a:pPr>
            <a:r>
              <a:rPr sz="2400" dirty="0">
                <a:latin typeface="Times New Roman"/>
                <a:cs typeface="Times New Roman"/>
              </a:rPr>
              <a:t>new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data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point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to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classify.</a:t>
            </a:r>
            <a:endParaRPr sz="2400">
              <a:latin typeface="Times New Roman"/>
              <a:cs typeface="Times New Roman"/>
            </a:endParaRPr>
          </a:p>
          <a:p>
            <a:pPr marL="984885" lvl="1" indent="-514984">
              <a:lnSpc>
                <a:spcPct val="100000"/>
              </a:lnSpc>
              <a:spcBef>
                <a:spcPts val="215"/>
              </a:spcBef>
              <a:buAutoNum type="arabicPeriod"/>
              <a:tabLst>
                <a:tab pos="984885" algn="l"/>
              </a:tabLst>
            </a:pPr>
            <a:r>
              <a:rPr sz="2400" dirty="0">
                <a:latin typeface="Times New Roman"/>
                <a:cs typeface="Times New Roman"/>
              </a:rPr>
              <a:t>Let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K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=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50" dirty="0">
                <a:latin typeface="Times New Roman"/>
                <a:cs typeface="Times New Roman"/>
              </a:rPr>
              <a:t>5</a:t>
            </a:r>
            <a:endParaRPr sz="2400">
              <a:latin typeface="Times New Roman"/>
              <a:cs typeface="Times New Roman"/>
            </a:endParaRPr>
          </a:p>
          <a:p>
            <a:pPr marL="984885" marR="85725" lvl="1" indent="-515620">
              <a:lnSpc>
                <a:spcPts val="2590"/>
              </a:lnSpc>
              <a:spcBef>
                <a:spcPts val="535"/>
              </a:spcBef>
              <a:buAutoNum type="arabicPeriod"/>
              <a:tabLst>
                <a:tab pos="984885" algn="l"/>
              </a:tabLst>
            </a:pPr>
            <a:r>
              <a:rPr sz="2400" dirty="0">
                <a:latin typeface="Times New Roman"/>
                <a:cs typeface="Times New Roman"/>
              </a:rPr>
              <a:t>Calculate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distance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(Euclidean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distance)</a:t>
            </a:r>
            <a:r>
              <a:rPr sz="2400" spc="-25" dirty="0">
                <a:latin typeface="Times New Roman"/>
                <a:cs typeface="Times New Roman"/>
              </a:rPr>
              <a:t> of </a:t>
            </a:r>
            <a:r>
              <a:rPr sz="2400" dirty="0">
                <a:latin typeface="Times New Roman"/>
                <a:cs typeface="Times New Roman"/>
              </a:rPr>
              <a:t>new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data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point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to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all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data</a:t>
            </a:r>
            <a:r>
              <a:rPr sz="2400" spc="-10" dirty="0">
                <a:latin typeface="Times New Roman"/>
                <a:cs typeface="Times New Roman"/>
              </a:rPr>
              <a:t> points.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668014" y="3315715"/>
            <a:ext cx="2745105" cy="316230"/>
          </a:xfrm>
          <a:custGeom>
            <a:avLst/>
            <a:gdLst/>
            <a:ahLst/>
            <a:cxnLst/>
            <a:rect l="l" t="t" r="r" b="b"/>
            <a:pathLst>
              <a:path w="2745104" h="316229">
                <a:moveTo>
                  <a:pt x="285623" y="61595"/>
                </a:moveTo>
                <a:lnTo>
                  <a:pt x="282194" y="52070"/>
                </a:lnTo>
                <a:lnTo>
                  <a:pt x="265112" y="58242"/>
                </a:lnTo>
                <a:lnTo>
                  <a:pt x="250126" y="67183"/>
                </a:lnTo>
                <a:lnTo>
                  <a:pt x="217932" y="110070"/>
                </a:lnTo>
                <a:lnTo>
                  <a:pt x="208216" y="148412"/>
                </a:lnTo>
                <a:lnTo>
                  <a:pt x="207010" y="170053"/>
                </a:lnTo>
                <a:lnTo>
                  <a:pt x="208102" y="189560"/>
                </a:lnTo>
                <a:lnTo>
                  <a:pt x="208216" y="191706"/>
                </a:lnTo>
                <a:lnTo>
                  <a:pt x="217932" y="229997"/>
                </a:lnTo>
                <a:lnTo>
                  <a:pt x="250075" y="272732"/>
                </a:lnTo>
                <a:lnTo>
                  <a:pt x="282194" y="287782"/>
                </a:lnTo>
                <a:lnTo>
                  <a:pt x="285242" y="278257"/>
                </a:lnTo>
                <a:lnTo>
                  <a:pt x="271780" y="272338"/>
                </a:lnTo>
                <a:lnTo>
                  <a:pt x="260172" y="264071"/>
                </a:lnTo>
                <a:lnTo>
                  <a:pt x="236347" y="225425"/>
                </a:lnTo>
                <a:lnTo>
                  <a:pt x="228523" y="170053"/>
                </a:lnTo>
                <a:lnTo>
                  <a:pt x="228473" y="168783"/>
                </a:lnTo>
                <a:lnTo>
                  <a:pt x="229349" y="148640"/>
                </a:lnTo>
                <a:lnTo>
                  <a:pt x="242443" y="98933"/>
                </a:lnTo>
                <a:lnTo>
                  <a:pt x="271995" y="67576"/>
                </a:lnTo>
                <a:lnTo>
                  <a:pt x="285623" y="61595"/>
                </a:lnTo>
                <a:close/>
              </a:path>
              <a:path w="2745104" h="316229">
                <a:moveTo>
                  <a:pt x="1188466" y="170053"/>
                </a:moveTo>
                <a:lnTo>
                  <a:pt x="1187259" y="148640"/>
                </a:lnTo>
                <a:lnTo>
                  <a:pt x="1187246" y="148412"/>
                </a:lnTo>
                <a:lnTo>
                  <a:pt x="1183589" y="128422"/>
                </a:lnTo>
                <a:lnTo>
                  <a:pt x="1158138" y="78905"/>
                </a:lnTo>
                <a:lnTo>
                  <a:pt x="1113282" y="52070"/>
                </a:lnTo>
                <a:lnTo>
                  <a:pt x="1109853" y="61595"/>
                </a:lnTo>
                <a:lnTo>
                  <a:pt x="1123492" y="67576"/>
                </a:lnTo>
                <a:lnTo>
                  <a:pt x="1135253" y="75793"/>
                </a:lnTo>
                <a:lnTo>
                  <a:pt x="1159103" y="113728"/>
                </a:lnTo>
                <a:lnTo>
                  <a:pt x="1165974" y="148412"/>
                </a:lnTo>
                <a:lnTo>
                  <a:pt x="1166012" y="148640"/>
                </a:lnTo>
                <a:lnTo>
                  <a:pt x="1166876" y="168783"/>
                </a:lnTo>
                <a:lnTo>
                  <a:pt x="1166012" y="189560"/>
                </a:lnTo>
                <a:lnTo>
                  <a:pt x="1163408" y="208432"/>
                </a:lnTo>
                <a:lnTo>
                  <a:pt x="1145019" y="253479"/>
                </a:lnTo>
                <a:lnTo>
                  <a:pt x="1110234" y="278257"/>
                </a:lnTo>
                <a:lnTo>
                  <a:pt x="1113282" y="287782"/>
                </a:lnTo>
                <a:lnTo>
                  <a:pt x="1158265" y="261073"/>
                </a:lnTo>
                <a:lnTo>
                  <a:pt x="1183601" y="211683"/>
                </a:lnTo>
                <a:lnTo>
                  <a:pt x="1187246" y="191706"/>
                </a:lnTo>
                <a:lnTo>
                  <a:pt x="1188466" y="170053"/>
                </a:lnTo>
                <a:close/>
              </a:path>
              <a:path w="2745104" h="316229">
                <a:moveTo>
                  <a:pt x="2744978" y="0"/>
                </a:moveTo>
                <a:lnTo>
                  <a:pt x="184658" y="127"/>
                </a:lnTo>
                <a:lnTo>
                  <a:pt x="159258" y="127"/>
                </a:lnTo>
                <a:lnTo>
                  <a:pt x="83820" y="282956"/>
                </a:lnTo>
                <a:lnTo>
                  <a:pt x="40767" y="186944"/>
                </a:lnTo>
                <a:lnTo>
                  <a:pt x="0" y="205613"/>
                </a:lnTo>
                <a:lnTo>
                  <a:pt x="3937" y="214884"/>
                </a:lnTo>
                <a:lnTo>
                  <a:pt x="24892" y="205613"/>
                </a:lnTo>
                <a:lnTo>
                  <a:pt x="76327" y="316230"/>
                </a:lnTo>
                <a:lnTo>
                  <a:pt x="88392" y="316230"/>
                </a:lnTo>
                <a:lnTo>
                  <a:pt x="169164" y="16764"/>
                </a:lnTo>
                <a:lnTo>
                  <a:pt x="2744978" y="16764"/>
                </a:lnTo>
                <a:lnTo>
                  <a:pt x="2744978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840859" y="3215386"/>
            <a:ext cx="41783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1300" dirty="0">
                <a:solidFill>
                  <a:srgbClr val="006FC0"/>
                </a:solidFill>
                <a:latin typeface="Cambria Math"/>
                <a:cs typeface="Cambria Math"/>
              </a:rPr>
              <a:t>2</a:t>
            </a:r>
            <a:r>
              <a:rPr sz="1300" spc="16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3000" spc="-75" baseline="-16666" dirty="0">
                <a:solidFill>
                  <a:srgbClr val="006FC0"/>
                </a:solidFill>
                <a:latin typeface="Cambria Math"/>
                <a:cs typeface="Cambria Math"/>
              </a:rPr>
              <a:t>+</a:t>
            </a:r>
            <a:endParaRPr sz="3000" baseline="-16666">
              <a:latin typeface="Cambria Math"/>
              <a:cs typeface="Cambria Math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5298440" y="3367785"/>
            <a:ext cx="996950" cy="236220"/>
          </a:xfrm>
          <a:custGeom>
            <a:avLst/>
            <a:gdLst/>
            <a:ahLst/>
            <a:cxnLst/>
            <a:rect l="l" t="t" r="r" b="b"/>
            <a:pathLst>
              <a:path w="996950" h="236220">
                <a:moveTo>
                  <a:pt x="921512" y="0"/>
                </a:moveTo>
                <a:lnTo>
                  <a:pt x="918083" y="9525"/>
                </a:lnTo>
                <a:lnTo>
                  <a:pt x="931723" y="15501"/>
                </a:lnTo>
                <a:lnTo>
                  <a:pt x="943483" y="23717"/>
                </a:lnTo>
                <a:lnTo>
                  <a:pt x="967337" y="61652"/>
                </a:lnTo>
                <a:lnTo>
                  <a:pt x="975106" y="116712"/>
                </a:lnTo>
                <a:lnTo>
                  <a:pt x="974244" y="137479"/>
                </a:lnTo>
                <a:lnTo>
                  <a:pt x="961136" y="188467"/>
                </a:lnTo>
                <a:lnTo>
                  <a:pt x="931918" y="220257"/>
                </a:lnTo>
                <a:lnTo>
                  <a:pt x="918463" y="226187"/>
                </a:lnTo>
                <a:lnTo>
                  <a:pt x="921512" y="235712"/>
                </a:lnTo>
                <a:lnTo>
                  <a:pt x="966499" y="208994"/>
                </a:lnTo>
                <a:lnTo>
                  <a:pt x="991838" y="159607"/>
                </a:lnTo>
                <a:lnTo>
                  <a:pt x="996696" y="117983"/>
                </a:lnTo>
                <a:lnTo>
                  <a:pt x="995492" y="96565"/>
                </a:lnTo>
                <a:lnTo>
                  <a:pt x="995479" y="96335"/>
                </a:lnTo>
                <a:lnTo>
                  <a:pt x="985712" y="57993"/>
                </a:lnTo>
                <a:lnTo>
                  <a:pt x="953516" y="15112"/>
                </a:lnTo>
                <a:lnTo>
                  <a:pt x="938561" y="6163"/>
                </a:lnTo>
                <a:lnTo>
                  <a:pt x="921512" y="0"/>
                </a:lnTo>
                <a:close/>
              </a:path>
              <a:path w="996950" h="236220">
                <a:moveTo>
                  <a:pt x="75184" y="0"/>
                </a:moveTo>
                <a:lnTo>
                  <a:pt x="30214" y="26824"/>
                </a:lnTo>
                <a:lnTo>
                  <a:pt x="4857" y="76342"/>
                </a:lnTo>
                <a:lnTo>
                  <a:pt x="71" y="116712"/>
                </a:lnTo>
                <a:lnTo>
                  <a:pt x="0" y="117983"/>
                </a:lnTo>
                <a:lnTo>
                  <a:pt x="1093" y="137479"/>
                </a:lnTo>
                <a:lnTo>
                  <a:pt x="1214" y="139628"/>
                </a:lnTo>
                <a:lnTo>
                  <a:pt x="4857" y="159607"/>
                </a:lnTo>
                <a:lnTo>
                  <a:pt x="30196" y="208994"/>
                </a:lnTo>
                <a:lnTo>
                  <a:pt x="75184" y="235712"/>
                </a:lnTo>
                <a:lnTo>
                  <a:pt x="78232" y="226187"/>
                </a:lnTo>
                <a:lnTo>
                  <a:pt x="64777" y="220257"/>
                </a:lnTo>
                <a:lnTo>
                  <a:pt x="53181" y="211994"/>
                </a:lnTo>
                <a:lnTo>
                  <a:pt x="29392" y="173345"/>
                </a:lnTo>
                <a:lnTo>
                  <a:pt x="21516" y="117983"/>
                </a:lnTo>
                <a:lnTo>
                  <a:pt x="21462" y="116712"/>
                </a:lnTo>
                <a:lnTo>
                  <a:pt x="22344" y="96565"/>
                </a:lnTo>
                <a:lnTo>
                  <a:pt x="35560" y="46862"/>
                </a:lnTo>
                <a:lnTo>
                  <a:pt x="64992" y="15501"/>
                </a:lnTo>
                <a:lnTo>
                  <a:pt x="78612" y="9525"/>
                </a:lnTo>
                <a:lnTo>
                  <a:pt x="75184" y="0"/>
                </a:lnTo>
                <a:close/>
              </a:path>
            </a:pathLst>
          </a:custGeom>
          <a:solidFill>
            <a:srgbClr val="006F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161794" y="3291585"/>
            <a:ext cx="410273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105"/>
              </a:spcBef>
              <a:tabLst>
                <a:tab pos="1796414" algn="l"/>
                <a:tab pos="3219450" algn="l"/>
              </a:tabLst>
            </a:pPr>
            <a:r>
              <a:rPr sz="2000" i="1" dirty="0">
                <a:solidFill>
                  <a:srgbClr val="006FC0"/>
                </a:solidFill>
                <a:latin typeface="Times New Roman"/>
                <a:cs typeface="Times New Roman"/>
              </a:rPr>
              <a:t>Dist(p</a:t>
            </a:r>
            <a:r>
              <a:rPr sz="1950" i="1" baseline="-21367" dirty="0">
                <a:solidFill>
                  <a:srgbClr val="006FC0"/>
                </a:solidFill>
                <a:latin typeface="Times New Roman"/>
                <a:cs typeface="Times New Roman"/>
              </a:rPr>
              <a:t>1</a:t>
            </a:r>
            <a:r>
              <a:rPr sz="2000" i="1" dirty="0">
                <a:solidFill>
                  <a:srgbClr val="006FC0"/>
                </a:solidFill>
                <a:latin typeface="Times New Roman"/>
                <a:cs typeface="Times New Roman"/>
              </a:rPr>
              <a:t>,</a:t>
            </a:r>
            <a:r>
              <a:rPr sz="2000" i="1" spc="-15" dirty="0">
                <a:solidFill>
                  <a:srgbClr val="006FC0"/>
                </a:solidFill>
                <a:latin typeface="Times New Roman"/>
                <a:cs typeface="Times New Roman"/>
              </a:rPr>
              <a:t> </a:t>
            </a:r>
            <a:r>
              <a:rPr sz="2000" i="1" dirty="0">
                <a:solidFill>
                  <a:srgbClr val="006FC0"/>
                </a:solidFill>
                <a:latin typeface="Times New Roman"/>
                <a:cs typeface="Times New Roman"/>
              </a:rPr>
              <a:t>p</a:t>
            </a:r>
            <a:r>
              <a:rPr sz="1950" i="1" baseline="-21367" dirty="0">
                <a:solidFill>
                  <a:srgbClr val="006FC0"/>
                </a:solidFill>
                <a:latin typeface="Times New Roman"/>
                <a:cs typeface="Times New Roman"/>
              </a:rPr>
              <a:t>2</a:t>
            </a:r>
            <a:r>
              <a:rPr sz="2000" i="1" dirty="0">
                <a:solidFill>
                  <a:srgbClr val="006FC0"/>
                </a:solidFill>
                <a:latin typeface="Times New Roman"/>
                <a:cs typeface="Times New Roman"/>
              </a:rPr>
              <a:t>)</a:t>
            </a:r>
            <a:r>
              <a:rPr sz="2000" i="1" spc="-5" dirty="0">
                <a:solidFill>
                  <a:srgbClr val="006FC0"/>
                </a:solidFill>
                <a:latin typeface="Times New Roman"/>
                <a:cs typeface="Times New Roman"/>
              </a:rPr>
              <a:t> </a:t>
            </a:r>
            <a:r>
              <a:rPr sz="2000" i="1" spc="-50" dirty="0">
                <a:solidFill>
                  <a:srgbClr val="006FC0"/>
                </a:solidFill>
                <a:latin typeface="Times New Roman"/>
                <a:cs typeface="Times New Roman"/>
              </a:rPr>
              <a:t>=</a:t>
            </a:r>
            <a:r>
              <a:rPr sz="2000" i="1" dirty="0">
                <a:solidFill>
                  <a:srgbClr val="006FC0"/>
                </a:solidFill>
                <a:latin typeface="Times New Roman"/>
                <a:cs typeface="Times New Roman"/>
              </a:rPr>
              <a:t>	</a:t>
            </a:r>
            <a:r>
              <a:rPr sz="2000" dirty="0">
                <a:solidFill>
                  <a:srgbClr val="006FC0"/>
                </a:solidFill>
                <a:latin typeface="Cambria Math"/>
                <a:cs typeface="Cambria Math"/>
              </a:rPr>
              <a:t>𝑥</a:t>
            </a:r>
            <a:r>
              <a:rPr sz="1950" baseline="-21367" dirty="0">
                <a:solidFill>
                  <a:srgbClr val="006FC0"/>
                </a:solidFill>
                <a:latin typeface="Cambria Math"/>
                <a:cs typeface="Cambria Math"/>
              </a:rPr>
              <a:t>2</a:t>
            </a:r>
            <a:r>
              <a:rPr sz="1950" spc="217" baseline="-21367" dirty="0">
                <a:solidFill>
                  <a:srgbClr val="006FC0"/>
                </a:solidFill>
                <a:latin typeface="Cambria Math"/>
                <a:cs typeface="Cambria Math"/>
              </a:rPr>
              <a:t>  </a:t>
            </a:r>
            <a:r>
              <a:rPr sz="2000" dirty="0">
                <a:solidFill>
                  <a:srgbClr val="006FC0"/>
                </a:solidFill>
                <a:latin typeface="Cambria Math"/>
                <a:cs typeface="Cambria Math"/>
              </a:rPr>
              <a:t>− </a:t>
            </a:r>
            <a:r>
              <a:rPr sz="2000" spc="-25" dirty="0">
                <a:solidFill>
                  <a:srgbClr val="006FC0"/>
                </a:solidFill>
                <a:latin typeface="Cambria Math"/>
                <a:cs typeface="Cambria Math"/>
              </a:rPr>
              <a:t>𝑥</a:t>
            </a:r>
            <a:r>
              <a:rPr sz="1950" spc="-37" baseline="-21367" dirty="0">
                <a:solidFill>
                  <a:srgbClr val="006FC0"/>
                </a:solidFill>
                <a:latin typeface="Cambria Math"/>
                <a:cs typeface="Cambria Math"/>
              </a:rPr>
              <a:t>1</a:t>
            </a:r>
            <a:r>
              <a:rPr sz="1950" baseline="-21367" dirty="0">
                <a:solidFill>
                  <a:srgbClr val="006FC0"/>
                </a:solidFill>
                <a:latin typeface="Cambria Math"/>
                <a:cs typeface="Cambria Math"/>
              </a:rPr>
              <a:t>	</a:t>
            </a:r>
            <a:r>
              <a:rPr sz="2000" dirty="0">
                <a:solidFill>
                  <a:srgbClr val="006FC0"/>
                </a:solidFill>
                <a:latin typeface="Cambria Math"/>
                <a:cs typeface="Cambria Math"/>
              </a:rPr>
              <a:t>𝑦</a:t>
            </a:r>
            <a:r>
              <a:rPr sz="1950" baseline="-21367" dirty="0">
                <a:solidFill>
                  <a:srgbClr val="006FC0"/>
                </a:solidFill>
                <a:latin typeface="Cambria Math"/>
                <a:cs typeface="Cambria Math"/>
              </a:rPr>
              <a:t>2</a:t>
            </a:r>
            <a:r>
              <a:rPr sz="1950" spc="225" baseline="-21367" dirty="0">
                <a:solidFill>
                  <a:srgbClr val="006FC0"/>
                </a:solidFill>
                <a:latin typeface="Cambria Math"/>
                <a:cs typeface="Cambria Math"/>
              </a:rPr>
              <a:t>  </a:t>
            </a:r>
            <a:r>
              <a:rPr sz="2000" dirty="0">
                <a:solidFill>
                  <a:srgbClr val="006FC0"/>
                </a:solidFill>
                <a:latin typeface="Cambria Math"/>
                <a:cs typeface="Cambria Math"/>
              </a:rPr>
              <a:t>−</a:t>
            </a:r>
            <a:r>
              <a:rPr sz="2000" spc="-5" dirty="0">
                <a:solidFill>
                  <a:srgbClr val="006FC0"/>
                </a:solidFill>
                <a:latin typeface="Cambria Math"/>
                <a:cs typeface="Cambria Math"/>
              </a:rPr>
              <a:t> </a:t>
            </a:r>
            <a:r>
              <a:rPr sz="2000" spc="-25" dirty="0">
                <a:solidFill>
                  <a:srgbClr val="006FC0"/>
                </a:solidFill>
                <a:latin typeface="Cambria Math"/>
                <a:cs typeface="Cambria Math"/>
              </a:rPr>
              <a:t>𝑦</a:t>
            </a:r>
            <a:r>
              <a:rPr sz="1950" spc="-37" baseline="-21367" dirty="0">
                <a:solidFill>
                  <a:srgbClr val="006FC0"/>
                </a:solidFill>
                <a:latin typeface="Cambria Math"/>
                <a:cs typeface="Cambria Math"/>
              </a:rPr>
              <a:t>1</a:t>
            </a:r>
            <a:endParaRPr sz="1950" baseline="-21367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306692" y="3300729"/>
            <a:ext cx="119380" cy="2286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300" spc="-50" dirty="0">
                <a:solidFill>
                  <a:srgbClr val="006FC0"/>
                </a:solidFill>
                <a:latin typeface="Cambria Math"/>
                <a:cs typeface="Cambria Math"/>
              </a:rPr>
              <a:t>2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374394" y="3636009"/>
            <a:ext cx="6433185" cy="3027680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527685" marR="1554480" indent="-515620">
              <a:lnSpc>
                <a:spcPts val="2590"/>
              </a:lnSpc>
              <a:spcBef>
                <a:spcPts val="425"/>
              </a:spcBef>
              <a:buAutoNum type="arabicPeriod" startAt="3"/>
              <a:tabLst>
                <a:tab pos="527685" algn="l"/>
              </a:tabLst>
            </a:pPr>
            <a:r>
              <a:rPr sz="2400" spc="-10" dirty="0">
                <a:latin typeface="Times New Roman"/>
                <a:cs typeface="Times New Roman"/>
              </a:rPr>
              <a:t>Take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K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nearest</a:t>
            </a:r>
            <a:r>
              <a:rPr sz="2400" spc="-6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neighbors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as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per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the </a:t>
            </a:r>
            <a:r>
              <a:rPr sz="2400" dirty="0">
                <a:latin typeface="Times New Roman"/>
                <a:cs typeface="Times New Roman"/>
              </a:rPr>
              <a:t>calculated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distance.</a:t>
            </a:r>
            <a:endParaRPr sz="2400">
              <a:latin typeface="Times New Roman"/>
              <a:cs typeface="Times New Roman"/>
            </a:endParaRPr>
          </a:p>
          <a:p>
            <a:pPr marL="977265">
              <a:lnSpc>
                <a:spcPct val="100000"/>
              </a:lnSpc>
              <a:spcBef>
                <a:spcPts val="200"/>
              </a:spcBef>
            </a:pPr>
            <a:r>
              <a:rPr sz="2200" i="1" dirty="0">
                <a:solidFill>
                  <a:srgbClr val="006FC0"/>
                </a:solidFill>
                <a:latin typeface="Times New Roman"/>
                <a:cs typeface="Times New Roman"/>
              </a:rPr>
              <a:t>Nearest</a:t>
            </a:r>
            <a:r>
              <a:rPr sz="2200" i="1" spc="-55" dirty="0">
                <a:solidFill>
                  <a:srgbClr val="006FC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006FC0"/>
                </a:solidFill>
                <a:latin typeface="Times New Roman"/>
                <a:cs typeface="Times New Roman"/>
              </a:rPr>
              <a:t>neighbors</a:t>
            </a:r>
            <a:r>
              <a:rPr sz="2200" i="1" spc="-75" dirty="0">
                <a:solidFill>
                  <a:srgbClr val="006FC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006FC0"/>
                </a:solidFill>
                <a:latin typeface="Times New Roman"/>
                <a:cs typeface="Times New Roman"/>
              </a:rPr>
              <a:t>in</a:t>
            </a:r>
            <a:r>
              <a:rPr sz="2200" i="1" spc="-50" dirty="0">
                <a:solidFill>
                  <a:srgbClr val="006FC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006FC0"/>
                </a:solidFill>
                <a:latin typeface="Times New Roman"/>
                <a:cs typeface="Times New Roman"/>
              </a:rPr>
              <a:t>category</a:t>
            </a:r>
            <a:r>
              <a:rPr sz="2200" i="1" spc="-100" dirty="0">
                <a:solidFill>
                  <a:srgbClr val="006FC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006FC0"/>
                </a:solidFill>
                <a:latin typeface="Times New Roman"/>
                <a:cs typeface="Times New Roman"/>
              </a:rPr>
              <a:t>A</a:t>
            </a:r>
            <a:r>
              <a:rPr sz="2200" i="1" spc="-85" dirty="0">
                <a:solidFill>
                  <a:srgbClr val="006FC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006FC0"/>
                </a:solidFill>
                <a:latin typeface="Times New Roman"/>
                <a:cs typeface="Times New Roman"/>
              </a:rPr>
              <a:t>=</a:t>
            </a:r>
            <a:r>
              <a:rPr sz="2200" i="1" spc="-50" dirty="0">
                <a:solidFill>
                  <a:srgbClr val="006FC0"/>
                </a:solidFill>
                <a:latin typeface="Times New Roman"/>
                <a:cs typeface="Times New Roman"/>
              </a:rPr>
              <a:t> 3</a:t>
            </a:r>
            <a:endParaRPr sz="2200">
              <a:latin typeface="Times New Roman"/>
              <a:cs typeface="Times New Roman"/>
            </a:endParaRPr>
          </a:p>
          <a:p>
            <a:pPr marL="1028700">
              <a:lnSpc>
                <a:spcPct val="100000"/>
              </a:lnSpc>
              <a:spcBef>
                <a:spcPts val="245"/>
              </a:spcBef>
            </a:pPr>
            <a:r>
              <a:rPr sz="2200" i="1" dirty="0">
                <a:solidFill>
                  <a:srgbClr val="006FC0"/>
                </a:solidFill>
                <a:latin typeface="Times New Roman"/>
                <a:cs typeface="Times New Roman"/>
              </a:rPr>
              <a:t>Nearest</a:t>
            </a:r>
            <a:r>
              <a:rPr sz="2200" i="1" spc="-60" dirty="0">
                <a:solidFill>
                  <a:srgbClr val="006FC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006FC0"/>
                </a:solidFill>
                <a:latin typeface="Times New Roman"/>
                <a:cs typeface="Times New Roman"/>
              </a:rPr>
              <a:t>neighbors</a:t>
            </a:r>
            <a:r>
              <a:rPr sz="2200" i="1" spc="-50" dirty="0">
                <a:solidFill>
                  <a:srgbClr val="006FC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006FC0"/>
                </a:solidFill>
                <a:latin typeface="Times New Roman"/>
                <a:cs typeface="Times New Roman"/>
              </a:rPr>
              <a:t>in</a:t>
            </a:r>
            <a:r>
              <a:rPr sz="2200" i="1" spc="-50" dirty="0">
                <a:solidFill>
                  <a:srgbClr val="006FC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006FC0"/>
                </a:solidFill>
                <a:latin typeface="Times New Roman"/>
                <a:cs typeface="Times New Roman"/>
              </a:rPr>
              <a:t>category</a:t>
            </a:r>
            <a:r>
              <a:rPr sz="2200" i="1" spc="-50" dirty="0">
                <a:solidFill>
                  <a:srgbClr val="006FC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006FC0"/>
                </a:solidFill>
                <a:latin typeface="Times New Roman"/>
                <a:cs typeface="Times New Roman"/>
              </a:rPr>
              <a:t>B</a:t>
            </a:r>
            <a:r>
              <a:rPr sz="2200" i="1" spc="-35" dirty="0">
                <a:solidFill>
                  <a:srgbClr val="006FC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006FC0"/>
                </a:solidFill>
                <a:latin typeface="Times New Roman"/>
                <a:cs typeface="Times New Roman"/>
              </a:rPr>
              <a:t>=</a:t>
            </a:r>
            <a:r>
              <a:rPr sz="2200" i="1" spc="-20" dirty="0">
                <a:solidFill>
                  <a:srgbClr val="006FC0"/>
                </a:solidFill>
                <a:latin typeface="Times New Roman"/>
                <a:cs typeface="Times New Roman"/>
              </a:rPr>
              <a:t> </a:t>
            </a:r>
            <a:r>
              <a:rPr sz="2200" i="1" spc="-50" dirty="0">
                <a:solidFill>
                  <a:srgbClr val="006FC0"/>
                </a:solidFill>
                <a:latin typeface="Times New Roman"/>
                <a:cs typeface="Times New Roman"/>
              </a:rPr>
              <a:t>2</a:t>
            </a:r>
            <a:endParaRPr sz="2200">
              <a:latin typeface="Times New Roman"/>
              <a:cs typeface="Times New Roman"/>
            </a:endParaRPr>
          </a:p>
          <a:p>
            <a:pPr marL="527685" marR="711835" indent="-515620">
              <a:lnSpc>
                <a:spcPts val="2590"/>
              </a:lnSpc>
              <a:spcBef>
                <a:spcPts val="535"/>
              </a:spcBef>
              <a:buAutoNum type="arabicPeriod" startAt="4"/>
              <a:tabLst>
                <a:tab pos="527685" algn="l"/>
              </a:tabLst>
            </a:pP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new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data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point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is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assigned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to</a:t>
            </a:r>
            <a:r>
              <a:rPr sz="2400" spc="-10" dirty="0">
                <a:latin typeface="Times New Roman"/>
                <a:cs typeface="Times New Roman"/>
              </a:rPr>
              <a:t> category </a:t>
            </a:r>
            <a:r>
              <a:rPr sz="2400" spc="-50" dirty="0">
                <a:latin typeface="Times New Roman"/>
                <a:cs typeface="Times New Roman"/>
              </a:rPr>
              <a:t>A</a:t>
            </a:r>
            <a:endParaRPr sz="2400">
              <a:latin typeface="Times New Roman"/>
              <a:cs typeface="Times New Roman"/>
            </a:endParaRPr>
          </a:p>
          <a:p>
            <a:pPr marL="4458970" marR="5080">
              <a:lnSpc>
                <a:spcPct val="100000"/>
              </a:lnSpc>
              <a:spcBef>
                <a:spcPts val="2370"/>
              </a:spcBef>
            </a:pPr>
            <a:r>
              <a:rPr sz="1800" i="1" dirty="0">
                <a:latin typeface="Times New Roman"/>
                <a:cs typeface="Times New Roman"/>
              </a:rPr>
              <a:t>K</a:t>
            </a:r>
            <a:r>
              <a:rPr sz="1800" i="1" spc="-50" dirty="0">
                <a:latin typeface="Times New Roman"/>
                <a:cs typeface="Times New Roman"/>
              </a:rPr>
              <a:t> </a:t>
            </a:r>
            <a:r>
              <a:rPr sz="1800" i="1" spc="-10" dirty="0">
                <a:latin typeface="Times New Roman"/>
                <a:cs typeface="Times New Roman"/>
              </a:rPr>
              <a:t>nearest</a:t>
            </a:r>
            <a:r>
              <a:rPr sz="1800" i="1" spc="-25" dirty="0">
                <a:latin typeface="Times New Roman"/>
                <a:cs typeface="Times New Roman"/>
              </a:rPr>
              <a:t> </a:t>
            </a:r>
            <a:r>
              <a:rPr sz="1800" i="1" spc="-10" dirty="0">
                <a:latin typeface="Times New Roman"/>
                <a:cs typeface="Times New Roman"/>
              </a:rPr>
              <a:t>neighbours encircled</a:t>
            </a:r>
            <a:endParaRPr sz="1800">
              <a:latin typeface="Times New Roman"/>
              <a:cs typeface="Times New Roman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32259" y="149352"/>
            <a:ext cx="3550019" cy="3010281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8290306" y="3131946"/>
            <a:ext cx="271145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/>
                <a:cs typeface="Times New Roman"/>
              </a:rPr>
              <a:t>Distance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new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data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point</a:t>
            </a:r>
            <a:r>
              <a:rPr sz="1800" spc="-30" dirty="0">
                <a:latin typeface="Times New Roman"/>
                <a:cs typeface="Times New Roman"/>
              </a:rPr>
              <a:t> </a:t>
            </a:r>
            <a:r>
              <a:rPr sz="1800" spc="-25" dirty="0">
                <a:latin typeface="Times New Roman"/>
                <a:cs typeface="Times New Roman"/>
              </a:rPr>
              <a:t>to </a:t>
            </a:r>
            <a:r>
              <a:rPr sz="1800" dirty="0">
                <a:latin typeface="Times New Roman"/>
                <a:cs typeface="Times New Roman"/>
              </a:rPr>
              <a:t>every</a:t>
            </a:r>
            <a:r>
              <a:rPr sz="1800" spc="-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data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point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calculated.</a:t>
            </a:r>
            <a:endParaRPr sz="1800">
              <a:latin typeface="Times New Roman"/>
              <a:cs typeface="Times New Roman"/>
            </a:endParaRPr>
          </a:p>
        </p:txBody>
      </p:sp>
      <p:pic>
        <p:nvPicPr>
          <p:cNvPr id="12" name="object 1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911338" y="3924973"/>
            <a:ext cx="3485853" cy="2783713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61137" rIns="0" bIns="0" rtlCol="0">
            <a:spAutoFit/>
          </a:bodyPr>
          <a:lstStyle/>
          <a:p>
            <a:pPr marL="427990">
              <a:lnSpc>
                <a:spcPct val="100000"/>
              </a:lnSpc>
              <a:spcBef>
                <a:spcPts val="105"/>
              </a:spcBef>
            </a:pPr>
            <a:r>
              <a:rPr dirty="0"/>
              <a:t>Determining</a:t>
            </a:r>
            <a:r>
              <a:rPr spc="-25" dirty="0"/>
              <a:t> </a:t>
            </a:r>
            <a:r>
              <a:rPr dirty="0"/>
              <a:t>value</a:t>
            </a:r>
            <a:r>
              <a:rPr spc="-30" dirty="0"/>
              <a:t> </a:t>
            </a:r>
            <a:r>
              <a:rPr dirty="0"/>
              <a:t>of</a:t>
            </a:r>
            <a:r>
              <a:rPr spc="5" dirty="0"/>
              <a:t> </a:t>
            </a:r>
            <a:r>
              <a:rPr spc="-25" dirty="0"/>
              <a:t>‘K’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39" y="1811782"/>
            <a:ext cx="10359390" cy="1872614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240029" marR="5080" indent="-227965" algn="just">
              <a:lnSpc>
                <a:spcPts val="2590"/>
              </a:lnSpc>
              <a:spcBef>
                <a:spcPts val="425"/>
              </a:spcBef>
              <a:buFont typeface="Arial MT"/>
              <a:buChar char="•"/>
              <a:tabLst>
                <a:tab pos="241300" algn="l"/>
              </a:tabLst>
            </a:pP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4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selection</a:t>
            </a:r>
            <a:r>
              <a:rPr sz="2400" spc="4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of</a:t>
            </a:r>
            <a:r>
              <a:rPr sz="2400" spc="4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4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optimal</a:t>
            </a:r>
            <a:r>
              <a:rPr sz="2400" spc="4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‘k’</a:t>
            </a:r>
            <a:r>
              <a:rPr sz="2400" spc="254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value</a:t>
            </a:r>
            <a:r>
              <a:rPr sz="2400" spc="4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depends</a:t>
            </a:r>
            <a:r>
              <a:rPr sz="2400" spc="4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on</a:t>
            </a:r>
            <a:r>
              <a:rPr sz="2400" spc="4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4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specific</a:t>
            </a:r>
            <a:r>
              <a:rPr sz="2400" spc="4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dataset</a:t>
            </a:r>
            <a:r>
              <a:rPr sz="2400" spc="4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and</a:t>
            </a:r>
            <a:r>
              <a:rPr sz="2400" spc="430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the 	</a:t>
            </a:r>
            <a:r>
              <a:rPr sz="2400" dirty="0">
                <a:latin typeface="Times New Roman"/>
                <a:cs typeface="Times New Roman"/>
              </a:rPr>
              <a:t>characteristics</a:t>
            </a:r>
            <a:r>
              <a:rPr sz="2400" spc="17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of</a:t>
            </a:r>
            <a:r>
              <a:rPr sz="2400" spc="16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17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problem,</a:t>
            </a:r>
            <a:r>
              <a:rPr sz="2400" spc="16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and</a:t>
            </a:r>
            <a:r>
              <a:rPr sz="2400" spc="16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it</a:t>
            </a:r>
            <a:r>
              <a:rPr sz="2400" spc="17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can</a:t>
            </a:r>
            <a:r>
              <a:rPr sz="2400" spc="16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significantly</a:t>
            </a:r>
            <a:r>
              <a:rPr sz="2400" spc="16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impact</a:t>
            </a:r>
            <a:r>
              <a:rPr sz="2400" spc="17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17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performance</a:t>
            </a:r>
            <a:r>
              <a:rPr sz="2400" spc="180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of 	</a:t>
            </a: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-10" dirty="0">
                <a:latin typeface="Times New Roman"/>
                <a:cs typeface="Times New Roman"/>
              </a:rPr>
              <a:t> algorithm.</a:t>
            </a:r>
            <a:endParaRPr sz="2400">
              <a:latin typeface="Times New Roman"/>
              <a:cs typeface="Times New Roman"/>
            </a:endParaRPr>
          </a:p>
          <a:p>
            <a:pPr marL="240665" indent="-227965" algn="just">
              <a:lnSpc>
                <a:spcPct val="100000"/>
              </a:lnSpc>
              <a:spcBef>
                <a:spcPts val="680"/>
              </a:spcBef>
              <a:buFont typeface="Arial MT"/>
              <a:buChar char="•"/>
              <a:tabLst>
                <a:tab pos="240665" algn="l"/>
              </a:tabLst>
            </a:pPr>
            <a:r>
              <a:rPr sz="2400" spc="-10" dirty="0">
                <a:latin typeface="Times New Roman"/>
                <a:cs typeface="Times New Roman"/>
              </a:rPr>
              <a:t>Considerations</a:t>
            </a:r>
            <a:endParaRPr sz="2400">
              <a:latin typeface="Times New Roman"/>
              <a:cs typeface="Times New Roman"/>
            </a:endParaRPr>
          </a:p>
          <a:p>
            <a:pPr marL="697865" lvl="1" indent="-227965" algn="just">
              <a:lnSpc>
                <a:spcPct val="100000"/>
              </a:lnSpc>
              <a:spcBef>
                <a:spcPts val="245"/>
              </a:spcBef>
              <a:buFont typeface="Arial MT"/>
              <a:buChar char="•"/>
              <a:tabLst>
                <a:tab pos="697865" algn="l"/>
              </a:tabLst>
            </a:pPr>
            <a:r>
              <a:rPr sz="2200" dirty="0">
                <a:latin typeface="Times New Roman"/>
                <a:cs typeface="Times New Roman"/>
              </a:rPr>
              <a:t>Odd</a:t>
            </a:r>
            <a:r>
              <a:rPr sz="2200" spc="-6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value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of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‘k’</a:t>
            </a:r>
            <a:r>
              <a:rPr sz="2200" spc="-1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more</a:t>
            </a:r>
            <a:r>
              <a:rPr sz="2200" spc="-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suitable.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374394" y="3689730"/>
            <a:ext cx="6855459" cy="13925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665" indent="-227965">
              <a:lnSpc>
                <a:spcPts val="2510"/>
              </a:lnSpc>
              <a:spcBef>
                <a:spcPts val="95"/>
              </a:spcBef>
              <a:buFont typeface="Arial MT"/>
              <a:buChar char="•"/>
              <a:tabLst>
                <a:tab pos="240665" algn="l"/>
                <a:tab pos="1290955" algn="l"/>
                <a:tab pos="2077085" algn="l"/>
                <a:tab pos="2492375" algn="l"/>
                <a:tab pos="2980055" algn="l"/>
                <a:tab pos="3547110" algn="l"/>
                <a:tab pos="3990340" algn="l"/>
                <a:tab pos="4827270" algn="l"/>
                <a:tab pos="5628640" algn="l"/>
                <a:tab pos="6456680" algn="l"/>
              </a:tabLst>
            </a:pPr>
            <a:r>
              <a:rPr sz="2200" spc="-10" dirty="0">
                <a:latin typeface="Times New Roman"/>
                <a:cs typeface="Times New Roman"/>
              </a:rPr>
              <a:t>Smaller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0" dirty="0">
                <a:latin typeface="Times New Roman"/>
                <a:cs typeface="Times New Roman"/>
              </a:rPr>
              <a:t>value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5" dirty="0">
                <a:latin typeface="Times New Roman"/>
                <a:cs typeface="Times New Roman"/>
              </a:rPr>
              <a:t>of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5" dirty="0">
                <a:latin typeface="Times New Roman"/>
                <a:cs typeface="Times New Roman"/>
              </a:rPr>
              <a:t>‘k’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5" dirty="0">
                <a:latin typeface="Times New Roman"/>
                <a:cs typeface="Times New Roman"/>
              </a:rPr>
              <a:t>can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5" dirty="0">
                <a:latin typeface="Times New Roman"/>
                <a:cs typeface="Times New Roman"/>
              </a:rPr>
              <a:t>be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noisy,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while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larger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5" dirty="0">
                <a:latin typeface="Times New Roman"/>
                <a:cs typeface="Times New Roman"/>
              </a:rPr>
              <a:t>can</a:t>
            </a:r>
            <a:endParaRPr sz="2200">
              <a:latin typeface="Times New Roman"/>
              <a:cs typeface="Times New Roman"/>
            </a:endParaRPr>
          </a:p>
          <a:p>
            <a:pPr marL="241300">
              <a:lnSpc>
                <a:spcPts val="2510"/>
              </a:lnSpc>
            </a:pPr>
            <a:r>
              <a:rPr sz="2200" dirty="0">
                <a:latin typeface="Times New Roman"/>
                <a:cs typeface="Times New Roman"/>
              </a:rPr>
              <a:t>computationally</a:t>
            </a:r>
            <a:r>
              <a:rPr sz="2200" spc="-13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expensive.</a:t>
            </a:r>
            <a:endParaRPr sz="2200">
              <a:latin typeface="Times New Roman"/>
              <a:cs typeface="Times New Roman"/>
            </a:endParaRPr>
          </a:p>
          <a:p>
            <a:pPr marL="240665" indent="-227965">
              <a:lnSpc>
                <a:spcPct val="100000"/>
              </a:lnSpc>
              <a:spcBef>
                <a:spcPts val="229"/>
              </a:spcBef>
              <a:buFont typeface="Arial MT"/>
              <a:buChar char="•"/>
              <a:tabLst>
                <a:tab pos="240665" algn="l"/>
              </a:tabLst>
            </a:pPr>
            <a:r>
              <a:rPr sz="2200" dirty="0">
                <a:latin typeface="Times New Roman"/>
                <a:cs typeface="Times New Roman"/>
              </a:rPr>
              <a:t>Cross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validation</a:t>
            </a:r>
            <a:endParaRPr sz="2200">
              <a:latin typeface="Times New Roman"/>
              <a:cs typeface="Times New Roman"/>
            </a:endParaRPr>
          </a:p>
          <a:p>
            <a:pPr marL="240665" indent="-227965">
              <a:lnSpc>
                <a:spcPct val="100000"/>
              </a:lnSpc>
              <a:spcBef>
                <a:spcPts val="240"/>
              </a:spcBef>
              <a:buFont typeface="Arial MT"/>
              <a:buChar char="•"/>
              <a:tabLst>
                <a:tab pos="240665" algn="l"/>
              </a:tabLst>
            </a:pPr>
            <a:r>
              <a:rPr sz="2200" dirty="0">
                <a:latin typeface="Times New Roman"/>
                <a:cs typeface="Times New Roman"/>
              </a:rPr>
              <a:t>K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=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sqrt(N),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where</a:t>
            </a:r>
            <a:r>
              <a:rPr sz="2200" spc="-1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N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=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no.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of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samples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in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the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dataset.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387333" y="3689730"/>
            <a:ext cx="288671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19455" algn="l"/>
                <a:tab pos="1350645" algn="l"/>
                <a:tab pos="1934210" algn="l"/>
                <a:tab pos="2299970" algn="l"/>
              </a:tabLst>
            </a:pPr>
            <a:r>
              <a:rPr sz="2200" spc="-20" dirty="0">
                <a:latin typeface="Times New Roman"/>
                <a:cs typeface="Times New Roman"/>
              </a:rPr>
              <a:t>have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0" dirty="0">
                <a:latin typeface="Times New Roman"/>
                <a:cs typeface="Times New Roman"/>
              </a:rPr>
              <a:t>bias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5" dirty="0">
                <a:latin typeface="Times New Roman"/>
                <a:cs typeface="Times New Roman"/>
              </a:rPr>
              <a:t>and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5" dirty="0">
                <a:latin typeface="Times New Roman"/>
                <a:cs typeface="Times New Roman"/>
              </a:rPr>
              <a:t>is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0" dirty="0">
                <a:latin typeface="Times New Roman"/>
                <a:cs typeface="Times New Roman"/>
              </a:rPr>
              <a:t>more</a:t>
            </a:r>
            <a:endParaRPr sz="2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6939" y="680084"/>
            <a:ext cx="9511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195" dirty="0">
                <a:latin typeface="Trebuchet MS"/>
                <a:cs typeface="Trebuchet MS"/>
              </a:rPr>
              <a:t>Example:</a:t>
            </a:r>
            <a:r>
              <a:rPr sz="3600" spc="-355" dirty="0">
                <a:latin typeface="Trebuchet MS"/>
                <a:cs typeface="Trebuchet MS"/>
              </a:rPr>
              <a:t> </a:t>
            </a:r>
            <a:r>
              <a:rPr sz="3600" spc="-195" dirty="0">
                <a:latin typeface="Trebuchet MS"/>
                <a:cs typeface="Trebuchet MS"/>
              </a:rPr>
              <a:t>Determine</a:t>
            </a:r>
            <a:r>
              <a:rPr sz="3600" spc="-350" dirty="0">
                <a:latin typeface="Trebuchet MS"/>
                <a:cs typeface="Trebuchet MS"/>
              </a:rPr>
              <a:t> </a:t>
            </a:r>
            <a:r>
              <a:rPr sz="3600" spc="-245" dirty="0">
                <a:latin typeface="Trebuchet MS"/>
                <a:cs typeface="Trebuchet MS"/>
              </a:rPr>
              <a:t>the</a:t>
            </a:r>
            <a:r>
              <a:rPr sz="3600" spc="-515" dirty="0">
                <a:latin typeface="Trebuchet MS"/>
                <a:cs typeface="Trebuchet MS"/>
              </a:rPr>
              <a:t> </a:t>
            </a:r>
            <a:r>
              <a:rPr sz="3600" spc="-254" dirty="0">
                <a:latin typeface="Trebuchet MS"/>
                <a:cs typeface="Trebuchet MS"/>
              </a:rPr>
              <a:t>‘Default’</a:t>
            </a:r>
            <a:r>
              <a:rPr sz="3600" spc="-520" dirty="0">
                <a:latin typeface="Trebuchet MS"/>
                <a:cs typeface="Trebuchet MS"/>
              </a:rPr>
              <a:t> </a:t>
            </a:r>
            <a:r>
              <a:rPr sz="3600" spc="-114" dirty="0">
                <a:latin typeface="Trebuchet MS"/>
                <a:cs typeface="Trebuchet MS"/>
              </a:rPr>
              <a:t>status</a:t>
            </a:r>
            <a:r>
              <a:rPr sz="3600" spc="-345" dirty="0">
                <a:latin typeface="Trebuchet MS"/>
                <a:cs typeface="Trebuchet MS"/>
              </a:rPr>
              <a:t> </a:t>
            </a:r>
            <a:r>
              <a:rPr sz="3600" spc="-260" dirty="0">
                <a:latin typeface="Trebuchet MS"/>
                <a:cs typeface="Trebuchet MS"/>
              </a:rPr>
              <a:t>for</a:t>
            </a:r>
            <a:r>
              <a:rPr sz="3600" spc="-335" dirty="0">
                <a:latin typeface="Trebuchet MS"/>
                <a:cs typeface="Trebuchet MS"/>
              </a:rPr>
              <a:t> </a:t>
            </a:r>
            <a:r>
              <a:rPr sz="3600" spc="-145" dirty="0">
                <a:latin typeface="Trebuchet MS"/>
                <a:cs typeface="Trebuchet MS"/>
              </a:rPr>
              <a:t>Andrew.</a:t>
            </a:r>
            <a:endParaRPr sz="3600">
              <a:latin typeface="Trebuchet MS"/>
              <a:cs typeface="Trebuchet MS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0414" y="1800564"/>
            <a:ext cx="4035092" cy="315695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064257" y="4979289"/>
            <a:ext cx="789305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75" dirty="0">
                <a:latin typeface="Trebuchet MS"/>
                <a:cs typeface="Trebuchet MS"/>
              </a:rPr>
              <a:t>Training</a:t>
            </a:r>
            <a:endParaRPr sz="18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1800" spc="-20" dirty="0">
                <a:latin typeface="Trebuchet MS"/>
                <a:cs typeface="Trebuchet MS"/>
              </a:rPr>
              <a:t>data</a:t>
            </a:r>
            <a:endParaRPr sz="1800">
              <a:latin typeface="Trebuchet MS"/>
              <a:cs typeface="Trebuchet MS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412357" y="1829748"/>
            <a:ext cx="4665345" cy="303858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6548119" y="5006416"/>
            <a:ext cx="4001770" cy="575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0" dirty="0">
                <a:latin typeface="Trebuchet MS"/>
                <a:cs typeface="Trebuchet MS"/>
              </a:rPr>
              <a:t>Step</a:t>
            </a:r>
            <a:r>
              <a:rPr sz="1800" spc="-145" dirty="0">
                <a:latin typeface="Trebuchet MS"/>
                <a:cs typeface="Trebuchet MS"/>
              </a:rPr>
              <a:t> </a:t>
            </a:r>
            <a:r>
              <a:rPr sz="1800" spc="-80" dirty="0">
                <a:latin typeface="Trebuchet MS"/>
                <a:cs typeface="Trebuchet MS"/>
              </a:rPr>
              <a:t>1:</a:t>
            </a:r>
            <a:r>
              <a:rPr sz="1800" spc="-150" dirty="0">
                <a:latin typeface="Trebuchet MS"/>
                <a:cs typeface="Trebuchet MS"/>
              </a:rPr>
              <a:t> </a:t>
            </a:r>
            <a:r>
              <a:rPr sz="1800" spc="-20" dirty="0">
                <a:latin typeface="Trebuchet MS"/>
                <a:cs typeface="Trebuchet MS"/>
              </a:rPr>
              <a:t>Calculate</a:t>
            </a:r>
            <a:r>
              <a:rPr sz="1800" spc="-145" dirty="0">
                <a:latin typeface="Trebuchet MS"/>
                <a:cs typeface="Trebuchet MS"/>
              </a:rPr>
              <a:t> </a:t>
            </a:r>
            <a:r>
              <a:rPr sz="1800" spc="-70" dirty="0">
                <a:latin typeface="Trebuchet MS"/>
                <a:cs typeface="Trebuchet MS"/>
              </a:rPr>
              <a:t>the</a:t>
            </a:r>
            <a:r>
              <a:rPr sz="1800" spc="-145" dirty="0">
                <a:latin typeface="Trebuchet MS"/>
                <a:cs typeface="Trebuchet MS"/>
              </a:rPr>
              <a:t> </a:t>
            </a:r>
            <a:r>
              <a:rPr sz="1800" spc="-20" dirty="0">
                <a:latin typeface="Trebuchet MS"/>
                <a:cs typeface="Trebuchet MS"/>
              </a:rPr>
              <a:t>distance</a:t>
            </a:r>
            <a:r>
              <a:rPr sz="1800" spc="-135" dirty="0">
                <a:latin typeface="Trebuchet MS"/>
                <a:cs typeface="Trebuchet MS"/>
              </a:rPr>
              <a:t> </a:t>
            </a:r>
            <a:r>
              <a:rPr sz="1800" spc="-70" dirty="0">
                <a:latin typeface="Trebuchet MS"/>
                <a:cs typeface="Trebuchet MS"/>
              </a:rPr>
              <a:t>to</a:t>
            </a:r>
            <a:r>
              <a:rPr sz="1800" spc="-145" dirty="0">
                <a:latin typeface="Trebuchet MS"/>
                <a:cs typeface="Trebuchet MS"/>
              </a:rPr>
              <a:t> </a:t>
            </a:r>
            <a:r>
              <a:rPr sz="1800" spc="-50" dirty="0">
                <a:latin typeface="Trebuchet MS"/>
                <a:cs typeface="Trebuchet MS"/>
              </a:rPr>
              <a:t>all</a:t>
            </a:r>
            <a:r>
              <a:rPr sz="1800" spc="-155" dirty="0">
                <a:latin typeface="Trebuchet MS"/>
                <a:cs typeface="Trebuchet MS"/>
              </a:rPr>
              <a:t> </a:t>
            </a:r>
            <a:r>
              <a:rPr sz="1800" spc="-20" dirty="0">
                <a:latin typeface="Trebuchet MS"/>
                <a:cs typeface="Trebuchet MS"/>
              </a:rPr>
              <a:t>data</a:t>
            </a:r>
            <a:endParaRPr sz="18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800" spc="-10" dirty="0">
                <a:latin typeface="Trebuchet MS"/>
                <a:cs typeface="Trebuchet MS"/>
              </a:rPr>
              <a:t>points</a:t>
            </a:r>
            <a:endParaRPr sz="18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6939" y="680084"/>
            <a:ext cx="95116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195" dirty="0">
                <a:latin typeface="Trebuchet MS"/>
                <a:cs typeface="Trebuchet MS"/>
              </a:rPr>
              <a:t>Example:</a:t>
            </a:r>
            <a:r>
              <a:rPr sz="3600" spc="-355" dirty="0">
                <a:latin typeface="Trebuchet MS"/>
                <a:cs typeface="Trebuchet MS"/>
              </a:rPr>
              <a:t> </a:t>
            </a:r>
            <a:r>
              <a:rPr sz="3600" spc="-195" dirty="0">
                <a:latin typeface="Trebuchet MS"/>
                <a:cs typeface="Trebuchet MS"/>
              </a:rPr>
              <a:t>Determine</a:t>
            </a:r>
            <a:r>
              <a:rPr sz="3600" spc="-350" dirty="0">
                <a:latin typeface="Trebuchet MS"/>
                <a:cs typeface="Trebuchet MS"/>
              </a:rPr>
              <a:t> </a:t>
            </a:r>
            <a:r>
              <a:rPr sz="3600" spc="-245" dirty="0">
                <a:latin typeface="Trebuchet MS"/>
                <a:cs typeface="Trebuchet MS"/>
              </a:rPr>
              <a:t>the</a:t>
            </a:r>
            <a:r>
              <a:rPr sz="3600" spc="-515" dirty="0">
                <a:latin typeface="Trebuchet MS"/>
                <a:cs typeface="Trebuchet MS"/>
              </a:rPr>
              <a:t> </a:t>
            </a:r>
            <a:r>
              <a:rPr sz="3600" spc="-254" dirty="0">
                <a:latin typeface="Trebuchet MS"/>
                <a:cs typeface="Trebuchet MS"/>
              </a:rPr>
              <a:t>‘Default’</a:t>
            </a:r>
            <a:r>
              <a:rPr sz="3600" spc="-520" dirty="0">
                <a:latin typeface="Trebuchet MS"/>
                <a:cs typeface="Trebuchet MS"/>
              </a:rPr>
              <a:t> </a:t>
            </a:r>
            <a:r>
              <a:rPr sz="3600" spc="-114" dirty="0">
                <a:latin typeface="Trebuchet MS"/>
                <a:cs typeface="Trebuchet MS"/>
              </a:rPr>
              <a:t>status</a:t>
            </a:r>
            <a:r>
              <a:rPr sz="3600" spc="-345" dirty="0">
                <a:latin typeface="Trebuchet MS"/>
                <a:cs typeface="Trebuchet MS"/>
              </a:rPr>
              <a:t> </a:t>
            </a:r>
            <a:r>
              <a:rPr sz="3600" spc="-260" dirty="0">
                <a:latin typeface="Trebuchet MS"/>
                <a:cs typeface="Trebuchet MS"/>
              </a:rPr>
              <a:t>for</a:t>
            </a:r>
            <a:r>
              <a:rPr sz="3600" spc="-335" dirty="0">
                <a:latin typeface="Trebuchet MS"/>
                <a:cs typeface="Trebuchet MS"/>
              </a:rPr>
              <a:t> </a:t>
            </a:r>
            <a:r>
              <a:rPr sz="3600" spc="-145" dirty="0">
                <a:latin typeface="Trebuchet MS"/>
                <a:cs typeface="Trebuchet MS"/>
              </a:rPr>
              <a:t>Andrew.</a:t>
            </a:r>
            <a:endParaRPr sz="360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559802" y="2041652"/>
            <a:ext cx="4217670" cy="1671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0" dirty="0">
                <a:latin typeface="Trebuchet MS"/>
                <a:cs typeface="Trebuchet MS"/>
              </a:rPr>
              <a:t>Step</a:t>
            </a:r>
            <a:r>
              <a:rPr sz="1800" spc="-160" dirty="0">
                <a:latin typeface="Trebuchet MS"/>
                <a:cs typeface="Trebuchet MS"/>
              </a:rPr>
              <a:t> </a:t>
            </a:r>
            <a:r>
              <a:rPr sz="1800" spc="-80" dirty="0">
                <a:latin typeface="Trebuchet MS"/>
                <a:cs typeface="Trebuchet MS"/>
              </a:rPr>
              <a:t>2:</a:t>
            </a:r>
            <a:r>
              <a:rPr sz="1800" spc="-155" dirty="0">
                <a:latin typeface="Trebuchet MS"/>
                <a:cs typeface="Trebuchet MS"/>
              </a:rPr>
              <a:t> </a:t>
            </a:r>
            <a:r>
              <a:rPr sz="1800" spc="40" dirty="0">
                <a:latin typeface="Trebuchet MS"/>
                <a:cs typeface="Trebuchet MS"/>
              </a:rPr>
              <a:t>Assume</a:t>
            </a:r>
            <a:r>
              <a:rPr sz="1800" spc="-145" dirty="0">
                <a:latin typeface="Trebuchet MS"/>
                <a:cs typeface="Trebuchet MS"/>
              </a:rPr>
              <a:t> </a:t>
            </a:r>
            <a:r>
              <a:rPr sz="1800" spc="-45" dirty="0">
                <a:latin typeface="Trebuchet MS"/>
                <a:cs typeface="Trebuchet MS"/>
              </a:rPr>
              <a:t>k</a:t>
            </a:r>
            <a:r>
              <a:rPr sz="1800" spc="-160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=</a:t>
            </a:r>
            <a:r>
              <a:rPr sz="1800" spc="-165" dirty="0">
                <a:latin typeface="Trebuchet MS"/>
                <a:cs typeface="Trebuchet MS"/>
              </a:rPr>
              <a:t> </a:t>
            </a:r>
            <a:r>
              <a:rPr sz="1800" spc="-50" dirty="0">
                <a:latin typeface="Trebuchet MS"/>
                <a:cs typeface="Trebuchet MS"/>
              </a:rPr>
              <a:t>5</a:t>
            </a:r>
            <a:endParaRPr sz="18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1800" spc="-20" dirty="0">
                <a:latin typeface="Trebuchet MS"/>
                <a:cs typeface="Trebuchet MS"/>
              </a:rPr>
              <a:t>Step</a:t>
            </a:r>
            <a:r>
              <a:rPr sz="1800" spc="-145" dirty="0">
                <a:latin typeface="Trebuchet MS"/>
                <a:cs typeface="Trebuchet MS"/>
              </a:rPr>
              <a:t> </a:t>
            </a:r>
            <a:r>
              <a:rPr sz="1800" spc="-80" dirty="0">
                <a:latin typeface="Trebuchet MS"/>
                <a:cs typeface="Trebuchet MS"/>
              </a:rPr>
              <a:t>3:</a:t>
            </a:r>
            <a:r>
              <a:rPr sz="1800" spc="-145" dirty="0">
                <a:latin typeface="Trebuchet MS"/>
                <a:cs typeface="Trebuchet MS"/>
              </a:rPr>
              <a:t> </a:t>
            </a:r>
            <a:r>
              <a:rPr sz="1800" spc="-35" dirty="0">
                <a:latin typeface="Trebuchet MS"/>
                <a:cs typeface="Trebuchet MS"/>
              </a:rPr>
              <a:t>Find</a:t>
            </a:r>
            <a:r>
              <a:rPr sz="1800" spc="-140" dirty="0">
                <a:latin typeface="Trebuchet MS"/>
                <a:cs typeface="Trebuchet MS"/>
              </a:rPr>
              <a:t> </a:t>
            </a:r>
            <a:r>
              <a:rPr sz="1800" spc="-95" dirty="0">
                <a:latin typeface="Trebuchet MS"/>
                <a:cs typeface="Trebuchet MS"/>
              </a:rPr>
              <a:t>five</a:t>
            </a:r>
            <a:r>
              <a:rPr sz="1800" spc="-165" dirty="0">
                <a:latin typeface="Trebuchet MS"/>
                <a:cs typeface="Trebuchet MS"/>
              </a:rPr>
              <a:t> </a:t>
            </a:r>
            <a:r>
              <a:rPr sz="1800" spc="-20" dirty="0">
                <a:latin typeface="Trebuchet MS"/>
                <a:cs typeface="Trebuchet MS"/>
              </a:rPr>
              <a:t>minimum</a:t>
            </a:r>
            <a:r>
              <a:rPr sz="1800" spc="-175" dirty="0">
                <a:latin typeface="Trebuchet MS"/>
                <a:cs typeface="Trebuchet MS"/>
              </a:rPr>
              <a:t> </a:t>
            </a:r>
            <a:r>
              <a:rPr sz="1800" spc="-20" dirty="0">
                <a:latin typeface="Trebuchet MS"/>
                <a:cs typeface="Trebuchet MS"/>
              </a:rPr>
              <a:t>distance</a:t>
            </a:r>
            <a:r>
              <a:rPr sz="1800" spc="-135" dirty="0">
                <a:latin typeface="Trebuchet MS"/>
                <a:cs typeface="Trebuchet MS"/>
              </a:rPr>
              <a:t> </a:t>
            </a:r>
            <a:r>
              <a:rPr sz="1800" spc="-10" dirty="0">
                <a:latin typeface="Trebuchet MS"/>
                <a:cs typeface="Trebuchet MS"/>
              </a:rPr>
              <a:t>values.</a:t>
            </a:r>
            <a:endParaRPr sz="18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70"/>
              </a:spcBef>
            </a:pPr>
            <a:endParaRPr sz="1800">
              <a:latin typeface="Trebuchet MS"/>
              <a:cs typeface="Trebuchet MS"/>
            </a:endParaRPr>
          </a:p>
          <a:p>
            <a:pPr marL="12700" marR="111125">
              <a:lnSpc>
                <a:spcPct val="100000"/>
              </a:lnSpc>
            </a:pPr>
            <a:r>
              <a:rPr sz="1800" spc="-20" dirty="0">
                <a:latin typeface="Trebuchet MS"/>
                <a:cs typeface="Trebuchet MS"/>
              </a:rPr>
              <a:t>Out</a:t>
            </a:r>
            <a:r>
              <a:rPr sz="1800" spc="-140" dirty="0">
                <a:latin typeface="Trebuchet MS"/>
                <a:cs typeface="Trebuchet MS"/>
              </a:rPr>
              <a:t> </a:t>
            </a:r>
            <a:r>
              <a:rPr sz="1800" spc="-60" dirty="0">
                <a:latin typeface="Trebuchet MS"/>
                <a:cs typeface="Trebuchet MS"/>
              </a:rPr>
              <a:t>of</a:t>
            </a:r>
            <a:r>
              <a:rPr sz="1800" spc="-150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5</a:t>
            </a:r>
            <a:r>
              <a:rPr sz="1800" spc="-130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chosen</a:t>
            </a:r>
            <a:r>
              <a:rPr sz="1800" spc="-160" dirty="0">
                <a:latin typeface="Trebuchet MS"/>
                <a:cs typeface="Trebuchet MS"/>
              </a:rPr>
              <a:t> </a:t>
            </a:r>
            <a:r>
              <a:rPr sz="1800" spc="-20" dirty="0">
                <a:latin typeface="Trebuchet MS"/>
                <a:cs typeface="Trebuchet MS"/>
              </a:rPr>
              <a:t>records</a:t>
            </a:r>
            <a:r>
              <a:rPr sz="1800" spc="-140" dirty="0">
                <a:latin typeface="Trebuchet MS"/>
                <a:cs typeface="Trebuchet MS"/>
              </a:rPr>
              <a:t> </a:t>
            </a:r>
            <a:r>
              <a:rPr sz="1800" spc="-80" dirty="0">
                <a:latin typeface="Trebuchet MS"/>
                <a:cs typeface="Trebuchet MS"/>
              </a:rPr>
              <a:t>there</a:t>
            </a:r>
            <a:r>
              <a:rPr sz="1800" spc="-130" dirty="0">
                <a:latin typeface="Trebuchet MS"/>
                <a:cs typeface="Trebuchet MS"/>
              </a:rPr>
              <a:t> </a:t>
            </a:r>
            <a:r>
              <a:rPr sz="1800" spc="-65" dirty="0">
                <a:latin typeface="Trebuchet MS"/>
                <a:cs typeface="Trebuchet MS"/>
              </a:rPr>
              <a:t>are</a:t>
            </a:r>
            <a:r>
              <a:rPr sz="1800" spc="-140" dirty="0">
                <a:latin typeface="Trebuchet MS"/>
                <a:cs typeface="Trebuchet MS"/>
              </a:rPr>
              <a:t> </a:t>
            </a:r>
            <a:r>
              <a:rPr sz="1800" spc="-80" dirty="0">
                <a:latin typeface="Trebuchet MS"/>
                <a:cs typeface="Trebuchet MS"/>
              </a:rPr>
              <a:t>three</a:t>
            </a:r>
            <a:r>
              <a:rPr sz="1800" spc="-105" dirty="0">
                <a:latin typeface="Trebuchet MS"/>
                <a:cs typeface="Trebuchet MS"/>
              </a:rPr>
              <a:t> </a:t>
            </a:r>
            <a:r>
              <a:rPr sz="1800" spc="-25" dirty="0">
                <a:latin typeface="Trebuchet MS"/>
                <a:cs typeface="Trebuchet MS"/>
              </a:rPr>
              <a:t>Ys </a:t>
            </a:r>
            <a:r>
              <a:rPr sz="1800" dirty="0">
                <a:latin typeface="Trebuchet MS"/>
                <a:cs typeface="Trebuchet MS"/>
              </a:rPr>
              <a:t>and</a:t>
            </a:r>
            <a:r>
              <a:rPr sz="1800" spc="-175" dirty="0">
                <a:latin typeface="Trebuchet MS"/>
                <a:cs typeface="Trebuchet MS"/>
              </a:rPr>
              <a:t> </a:t>
            </a:r>
            <a:r>
              <a:rPr sz="1800" spc="-70" dirty="0">
                <a:latin typeface="Trebuchet MS"/>
                <a:cs typeface="Trebuchet MS"/>
              </a:rPr>
              <a:t>two</a:t>
            </a:r>
            <a:r>
              <a:rPr sz="1800" spc="-165" dirty="0">
                <a:latin typeface="Trebuchet MS"/>
                <a:cs typeface="Trebuchet MS"/>
              </a:rPr>
              <a:t> </a:t>
            </a:r>
            <a:r>
              <a:rPr sz="1800" spc="-25" dirty="0">
                <a:latin typeface="Trebuchet MS"/>
                <a:cs typeface="Trebuchet MS"/>
              </a:rPr>
              <a:t>Ns.</a:t>
            </a:r>
            <a:endParaRPr sz="18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1800" spc="-55" dirty="0">
                <a:latin typeface="Trebuchet MS"/>
                <a:cs typeface="Trebuchet MS"/>
              </a:rPr>
              <a:t>Andrew’s</a:t>
            </a:r>
            <a:r>
              <a:rPr sz="1800" spc="-140" dirty="0">
                <a:latin typeface="Trebuchet MS"/>
                <a:cs typeface="Trebuchet MS"/>
              </a:rPr>
              <a:t> </a:t>
            </a:r>
            <a:r>
              <a:rPr sz="1800" spc="-65" dirty="0">
                <a:latin typeface="Trebuchet MS"/>
                <a:cs typeface="Trebuchet MS"/>
              </a:rPr>
              <a:t>default</a:t>
            </a:r>
            <a:r>
              <a:rPr sz="1800" spc="-140" dirty="0">
                <a:latin typeface="Trebuchet MS"/>
                <a:cs typeface="Trebuchet MS"/>
              </a:rPr>
              <a:t> </a:t>
            </a:r>
            <a:r>
              <a:rPr sz="1800" spc="-10" dirty="0">
                <a:latin typeface="Trebuchet MS"/>
                <a:cs typeface="Trebuchet MS"/>
              </a:rPr>
              <a:t>status</a:t>
            </a:r>
            <a:r>
              <a:rPr sz="1800" spc="-114" dirty="0">
                <a:latin typeface="Trebuchet MS"/>
                <a:cs typeface="Trebuchet MS"/>
              </a:rPr>
              <a:t> </a:t>
            </a:r>
            <a:r>
              <a:rPr sz="1800" dirty="0">
                <a:latin typeface="Trebuchet MS"/>
                <a:cs typeface="Trebuchet MS"/>
              </a:rPr>
              <a:t>is</a:t>
            </a:r>
            <a:r>
              <a:rPr sz="1800" spc="-155" dirty="0">
                <a:latin typeface="Trebuchet MS"/>
                <a:cs typeface="Trebuchet MS"/>
              </a:rPr>
              <a:t> </a:t>
            </a:r>
            <a:r>
              <a:rPr sz="1800" spc="-65" dirty="0">
                <a:latin typeface="Trebuchet MS"/>
                <a:cs typeface="Trebuchet MS"/>
              </a:rPr>
              <a:t>taken</a:t>
            </a:r>
            <a:r>
              <a:rPr sz="1800" spc="-114" dirty="0">
                <a:latin typeface="Trebuchet MS"/>
                <a:cs typeface="Trebuchet MS"/>
              </a:rPr>
              <a:t> </a:t>
            </a:r>
            <a:r>
              <a:rPr sz="1800" spc="75" dirty="0">
                <a:latin typeface="Trebuchet MS"/>
                <a:cs typeface="Trebuchet MS"/>
              </a:rPr>
              <a:t>as</a:t>
            </a:r>
            <a:r>
              <a:rPr sz="1800" spc="-130" dirty="0">
                <a:latin typeface="Trebuchet MS"/>
                <a:cs typeface="Trebuchet MS"/>
              </a:rPr>
              <a:t> </a:t>
            </a:r>
            <a:r>
              <a:rPr sz="1800" spc="-25" dirty="0">
                <a:latin typeface="Trebuchet MS"/>
                <a:cs typeface="Trebuchet MS"/>
              </a:rPr>
              <a:t>Y.</a:t>
            </a:r>
            <a:endParaRPr sz="1800">
              <a:latin typeface="Trebuchet MS"/>
              <a:cs typeface="Trebuchet M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37716" y="1750441"/>
            <a:ext cx="6156960" cy="37185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67885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93</TotalTime>
  <Words>4554</Words>
  <Application>Microsoft Office PowerPoint</Application>
  <PresentationFormat>Widescreen</PresentationFormat>
  <Paragraphs>1255</Paragraphs>
  <Slides>64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1" baseType="lpstr">
      <vt:lpstr>Aptos</vt:lpstr>
      <vt:lpstr>Arial</vt:lpstr>
      <vt:lpstr>Arial MT</vt:lpstr>
      <vt:lpstr>Cambria Math</vt:lpstr>
      <vt:lpstr>Times New Roman</vt:lpstr>
      <vt:lpstr>Trebuchet MS</vt:lpstr>
      <vt:lpstr>Office Theme</vt:lpstr>
      <vt:lpstr>Introduction to Machine Learning</vt:lpstr>
      <vt:lpstr>Introduction</vt:lpstr>
      <vt:lpstr>Machine Learning (ML)</vt:lpstr>
      <vt:lpstr>Why is ML needed?</vt:lpstr>
      <vt:lpstr>Applications</vt:lpstr>
      <vt:lpstr>Types</vt:lpstr>
      <vt:lpstr>Supervised Learning</vt:lpstr>
      <vt:lpstr>Supervised Learning: Types</vt:lpstr>
      <vt:lpstr>Unsupervised Learning</vt:lpstr>
      <vt:lpstr>Unsupervised Learning</vt:lpstr>
      <vt:lpstr>Semi-Supervised Learning</vt:lpstr>
      <vt:lpstr>Reinforcement Learning</vt:lpstr>
      <vt:lpstr>Basic ML workflow</vt:lpstr>
      <vt:lpstr>Data Preprocessing</vt:lpstr>
      <vt:lpstr>Steps in Data Preprocessing</vt:lpstr>
      <vt:lpstr>Data Cleaning</vt:lpstr>
      <vt:lpstr>Data Transformation</vt:lpstr>
      <vt:lpstr>Feature Extraction</vt:lpstr>
      <vt:lpstr>Example using a sample dataset</vt:lpstr>
      <vt:lpstr>Example using a sample dataset</vt:lpstr>
      <vt:lpstr>Example using a sample dataset</vt:lpstr>
      <vt:lpstr>Example using a sample dataset</vt:lpstr>
      <vt:lpstr>Example using a sample dataset</vt:lpstr>
      <vt:lpstr>Types of data</vt:lpstr>
      <vt:lpstr>Continuous data</vt:lpstr>
      <vt:lpstr>Linear Regression</vt:lpstr>
      <vt:lpstr>Simple Linear Regression</vt:lpstr>
      <vt:lpstr>Simple Linear Regression: How is the best fitting line found?</vt:lpstr>
      <vt:lpstr>Simple Linear Regression: Residual Sum of Squares</vt:lpstr>
      <vt:lpstr>Linear Regression: House Price Prediction</vt:lpstr>
      <vt:lpstr>Linear Regression: House Price Prediction (Training)</vt:lpstr>
      <vt:lpstr>Linear Regression: House Price Prediction (Testing)</vt:lpstr>
      <vt:lpstr>Linear Regression: House Price Prediction</vt:lpstr>
      <vt:lpstr>Decision Tree</vt:lpstr>
      <vt:lpstr>How does a Decision Tree work?</vt:lpstr>
      <vt:lpstr>Training phase: Decision Tree Induction</vt:lpstr>
      <vt:lpstr>Training on the sample dataset</vt:lpstr>
      <vt:lpstr>Training phase: Attribute selection measures</vt:lpstr>
      <vt:lpstr>Information Gain</vt:lpstr>
      <vt:lpstr>Information gain calculation</vt:lpstr>
      <vt:lpstr>Information gain calculation</vt:lpstr>
      <vt:lpstr>Flu prediction - Decision Tree</vt:lpstr>
      <vt:lpstr>Decision Tree Induction (Training)</vt:lpstr>
      <vt:lpstr>Decision Tree Induction (Training)</vt:lpstr>
      <vt:lpstr>Decision Tree Induction (Training)</vt:lpstr>
      <vt:lpstr>Decision Tree Induction (Training)</vt:lpstr>
      <vt:lpstr>Decision Tree Induction (Training)</vt:lpstr>
      <vt:lpstr>Decision Tree Induction (Training)</vt:lpstr>
      <vt:lpstr>Spam Email Classification - Demo</vt:lpstr>
      <vt:lpstr>Step1: Importing the libraries</vt:lpstr>
      <vt:lpstr>Step 1: Dataset Preparation</vt:lpstr>
      <vt:lpstr>Step 2: Data preprocessing (Label Encoding)</vt:lpstr>
      <vt:lpstr>Step 3: Text Feature Extraction (Bag of Words)</vt:lpstr>
      <vt:lpstr>Step 3: Text Feature Extraction (Bag of Words)</vt:lpstr>
      <vt:lpstr>Step 4: Feature Matrix and Target Vector Formation</vt:lpstr>
      <vt:lpstr>Steps 3 and 4</vt:lpstr>
      <vt:lpstr>Step 5: Train–Test Split</vt:lpstr>
      <vt:lpstr>PowerPoint Presentation</vt:lpstr>
      <vt:lpstr>K Nearest Neighbor (KNN)</vt:lpstr>
      <vt:lpstr>KNN</vt:lpstr>
      <vt:lpstr>KNN - Example</vt:lpstr>
      <vt:lpstr>Determining value of ‘K’</vt:lpstr>
      <vt:lpstr>Example: Determine the ‘Default’ status for Andrew.</vt:lpstr>
      <vt:lpstr>Example: Determine the ‘Default’ status for Andrew.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DIPENDRA GURUNG</dc:creator>
  <cp:lastModifiedBy>Dipendra Gurung</cp:lastModifiedBy>
  <cp:revision>7</cp:revision>
  <dcterms:created xsi:type="dcterms:W3CDTF">2026-01-12T04:03:27Z</dcterms:created>
  <dcterms:modified xsi:type="dcterms:W3CDTF">2026-02-02T11:00:47Z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2025-09-08T00:00:00Z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2026-01-12T00:00:00Z</vt:filetime>
  </property>
  <property fmtid="{D5CDD505-2E9C-101B-9397-08002B2CF9AE}" pid="5" name="Producer">
    <vt:lpwstr>Microsoft® PowerPoint® for Microsoft 365</vt:lpwstr>
  </property>
</Properties>
</file>