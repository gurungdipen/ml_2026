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5" r:id="rId5"/>
    <p:sldId id="286" r:id="rId6"/>
    <p:sldId id="259" r:id="rId7"/>
    <p:sldId id="287" r:id="rId8"/>
    <p:sldId id="261" r:id="rId9"/>
    <p:sldId id="262" r:id="rId10"/>
    <p:sldId id="290" r:id="rId11"/>
    <p:sldId id="288" r:id="rId12"/>
    <p:sldId id="289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294" r:id="rId25"/>
    <p:sldId id="295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260" r:id="rId54"/>
    <p:sldId id="326" r:id="rId55"/>
    <p:sldId id="327" r:id="rId56"/>
    <p:sldId id="328" r:id="rId57"/>
    <p:sldId id="329" r:id="rId58"/>
    <p:sldId id="330" r:id="rId59"/>
    <p:sldId id="279" r:id="rId60"/>
    <p:sldId id="280" r:id="rId61"/>
    <p:sldId id="281" r:id="rId62"/>
    <p:sldId id="282" r:id="rId63"/>
    <p:sldId id="283" r:id="rId64"/>
    <p:sldId id="284" r:id="rId6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4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A790-592C-13B6-7B79-9C3D74928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60836-0786-71B2-27D4-DCE84B309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C0CBD-192A-DC7C-DC11-0601BCF6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85E38-EC59-4C34-ADD3-CD7C771A9C2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555F8-3F31-310D-EF97-F1DD4AE1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3912-97D1-E161-44B7-39310A6F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952D-D885-4C31-89D6-1CE98A3EC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35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12162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271778"/>
            <a:ext cx="10358120" cy="366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wI7zxCqNY0&amp;ab_channel=dataminingincae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g"/><Relationship Id="rId7" Type="http://schemas.openxmlformats.org/officeDocument/2006/relationships/image" Target="../media/image43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jpg"/><Relationship Id="rId9" Type="http://schemas.openxmlformats.org/officeDocument/2006/relationships/image" Target="../media/image3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257" y="1656079"/>
            <a:ext cx="7315834" cy="1784463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347595" marR="5080" indent="-2335530">
              <a:lnSpc>
                <a:spcPts val="6480"/>
              </a:lnSpc>
              <a:spcBef>
                <a:spcPts val="915"/>
              </a:spcBef>
            </a:pPr>
            <a:r>
              <a:rPr sz="6000"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sz="6000" spc="-6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6000" spc="-6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sz="6000" spc="-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137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256790"/>
            <a:ext cx="10661015" cy="22580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965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	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1965" marR="9525" lvl="1" indent="-228600" algn="just">
              <a:lnSpc>
                <a:spcPts val="2380"/>
              </a:lnSpc>
              <a:spcBef>
                <a:spcPts val="114"/>
              </a:spcBef>
              <a:buFont typeface="Arial MT"/>
              <a:buChar char="•"/>
              <a:tabLst>
                <a:tab pos="481965" algn="l"/>
              </a:tabLst>
            </a:pP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2400" i="1" spc="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3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2400" i="1" spc="8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i="1" spc="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i="1" spc="5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sz="2400" i="1" spc="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i="1" spc="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9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sz="2400" i="1" spc="8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sz="2400" i="1" spc="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3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(AI)</a:t>
            </a:r>
            <a:r>
              <a:rPr sz="2400" i="1" spc="7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6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i="1" spc="6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r>
              <a:rPr sz="2400" i="1" spc="7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i="1" spc="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400" i="1" spc="19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i="1" spc="18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sz="2400" i="1" spc="19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i="1" spc="20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i="1" spc="19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i="1" spc="2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400" i="1" spc="20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sz="2400" i="1" spc="20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i="1" spc="19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r>
              <a:rPr sz="2400" i="1" spc="20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3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i="1" spc="20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being </a:t>
            </a:r>
            <a:r>
              <a:rPr sz="2400" i="1" spc="-10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explicitly</a:t>
            </a:r>
            <a:r>
              <a:rPr sz="2400" i="1" spc="-12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programmed</a:t>
            </a:r>
            <a:r>
              <a:rPr sz="2400" i="1" spc="-13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5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i="1" spc="-16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2400" i="1" spc="-13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1330" lvl="1" indent="-227965" algn="just">
              <a:lnSpc>
                <a:spcPts val="2310"/>
              </a:lnSpc>
              <a:buFont typeface="Arial MT"/>
              <a:buChar char="•"/>
              <a:tabLst>
                <a:tab pos="481330" algn="l"/>
              </a:tabLst>
            </a:pP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sz="2400" i="1" spc="2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i="1" spc="23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8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</a:t>
            </a:r>
            <a:r>
              <a:rPr sz="2400" i="1" spc="22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2400" i="1" spc="2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2400" i="1" spc="2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i="1" spc="22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2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sz="2400" i="1" spc="22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2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i="1" spc="21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2400" i="1" spc="22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task,</a:t>
            </a:r>
            <a:r>
              <a:rPr sz="2400" i="1" spc="22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2400" i="1" spc="21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1965" algn="just">
              <a:lnSpc>
                <a:spcPts val="2510"/>
              </a:lnSpc>
            </a:pP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2400" i="1" spc="-1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8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i="1" spc="-14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sz="2400" i="1" spc="-14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i="1" spc="-15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i="1" spc="-15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i="1" spc="-14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7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2400" i="1" spc="-14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3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400" i="1" spc="-14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2400" i="1" spc="-14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400" i="1" spc="-14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i="1" spc="-165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155F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6927" y="461009"/>
            <a:ext cx="5487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Machine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spc="-20" dirty="0"/>
              <a:t>(ML)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6927" y="1431163"/>
            <a:ext cx="10358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44490" algn="l"/>
              </a:tabLst>
            </a:pPr>
            <a:r>
              <a:rPr sz="2400" spc="-80" dirty="0">
                <a:solidFill>
                  <a:srgbClr val="3366CC"/>
                </a:solidFill>
                <a:latin typeface="Times New Roman"/>
                <a:cs typeface="Times New Roman"/>
              </a:rPr>
              <a:t>“A</a:t>
            </a:r>
            <a:r>
              <a:rPr sz="2400" spc="-9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computer</a:t>
            </a:r>
            <a:r>
              <a:rPr sz="2400" spc="6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program</a:t>
            </a:r>
            <a:r>
              <a:rPr sz="2400" spc="6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is</a:t>
            </a:r>
            <a:r>
              <a:rPr sz="2400" spc="10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said</a:t>
            </a:r>
            <a:r>
              <a:rPr sz="2400" spc="10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to</a:t>
            </a:r>
            <a:r>
              <a:rPr sz="2400" spc="8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learn</a:t>
            </a:r>
            <a:r>
              <a:rPr sz="2400" spc="9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366CC"/>
                </a:solidFill>
                <a:latin typeface="Times New Roman"/>
                <a:cs typeface="Times New Roman"/>
              </a:rPr>
              <a:t>from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	experience</a:t>
            </a:r>
            <a:r>
              <a:rPr sz="2400" spc="6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(E)</a:t>
            </a:r>
            <a:r>
              <a:rPr sz="2400" spc="11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with</a:t>
            </a:r>
            <a:r>
              <a:rPr sz="2400" spc="11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some</a:t>
            </a:r>
            <a:r>
              <a:rPr sz="2400" spc="9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class</a:t>
            </a:r>
            <a:r>
              <a:rPr sz="2400" spc="11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of</a:t>
            </a:r>
            <a:r>
              <a:rPr sz="2400" spc="9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Times New Roman"/>
                <a:cs typeface="Times New Roman"/>
              </a:rPr>
              <a:t>tasks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278890" algn="l"/>
                <a:tab pos="7665084" algn="l"/>
              </a:tabLst>
            </a:pP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(T)</a:t>
            </a:r>
            <a:r>
              <a:rPr sz="2400" spc="-2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3366CC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3366CC"/>
                </a:solidFill>
                <a:latin typeface="Times New Roman"/>
                <a:cs typeface="Times New Roman"/>
              </a:rPr>
              <a:t>performance</a:t>
            </a:r>
            <a:r>
              <a:rPr sz="2400" spc="-7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measure</a:t>
            </a:r>
            <a:r>
              <a:rPr sz="2400" spc="-6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(P)</a:t>
            </a:r>
            <a:r>
              <a:rPr sz="2400" spc="-5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if</a:t>
            </a:r>
            <a:r>
              <a:rPr sz="2400" spc="-7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its</a:t>
            </a:r>
            <a:r>
              <a:rPr sz="2400" spc="-5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Times New Roman"/>
                <a:cs typeface="Times New Roman"/>
              </a:rPr>
              <a:t>performance</a:t>
            </a:r>
            <a:r>
              <a:rPr sz="2400" spc="-6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at</a:t>
            </a:r>
            <a:r>
              <a:rPr sz="2400" spc="-7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Times New Roman"/>
                <a:cs typeface="Times New Roman"/>
              </a:rPr>
              <a:t>tasks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	in</a:t>
            </a:r>
            <a:r>
              <a:rPr sz="2400" spc="-3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T</a:t>
            </a:r>
            <a:r>
              <a:rPr sz="2400" spc="-8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as</a:t>
            </a:r>
            <a:r>
              <a:rPr sz="2400" spc="-3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measured</a:t>
            </a:r>
            <a:r>
              <a:rPr sz="2400" spc="-4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by</a:t>
            </a:r>
            <a:r>
              <a:rPr sz="2400" spc="-3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3366CC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3366CC"/>
                </a:solidFill>
                <a:latin typeface="Times New Roman"/>
                <a:cs typeface="Times New Roman"/>
              </a:rPr>
              <a:t>improves</a:t>
            </a:r>
            <a:r>
              <a:rPr sz="2400" spc="-7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66CC"/>
                </a:solidFill>
                <a:latin typeface="Times New Roman"/>
                <a:cs typeface="Times New Roman"/>
              </a:rPr>
              <a:t>with</a:t>
            </a:r>
            <a:r>
              <a:rPr sz="2400" spc="2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66CC"/>
                </a:solidFill>
                <a:latin typeface="Times New Roman"/>
                <a:cs typeface="Times New Roman"/>
              </a:rPr>
              <a:t>E”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6650" y="2886471"/>
            <a:ext cx="4867834" cy="3334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DD3D-1765-33BF-4FA0-8285691F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15553"/>
          </a:xfrm>
        </p:spPr>
        <p:txBody>
          <a:bodyPr/>
          <a:lstStyle/>
          <a:p>
            <a:r>
              <a:rPr lang="en-IN" sz="4000" dirty="0"/>
              <a:t>Why is ML needed?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15FC5-DA38-E638-CF70-04E0A6EC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219200"/>
            <a:ext cx="10358120" cy="532453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programming is rule based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implement rules, computers follow them exactly.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Many real world problems do not have clear rules. E.g. What rules can be defined to recognize a face?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Explosion of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amount of data is generated – social media, online transactions, sensors and IoT devices.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programming is not capable of processing and extracting insights from the huge amount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systems improve with experience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programs remain the same unless reprogrammed.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 improve, adapt and update themselves with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34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7BF4-4996-F5B3-C093-894D4E17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553998"/>
          </a:xfrm>
        </p:spPr>
        <p:txBody>
          <a:bodyPr/>
          <a:lstStyle/>
          <a:p>
            <a:r>
              <a:rPr lang="en-IN" sz="3600" b="1" dirty="0"/>
              <a:t>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F7EA2-00AF-5CD9-10F1-AD4B83027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358120" cy="366077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08385-580D-006E-2FF1-E339041DB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8"/>
          <a:stretch>
            <a:fillRect/>
          </a:stretch>
        </p:blipFill>
        <p:spPr>
          <a:xfrm>
            <a:off x="1447800" y="1066800"/>
            <a:ext cx="8789465" cy="54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9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13544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132" y="1846833"/>
            <a:ext cx="3949065" cy="2761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Supervised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70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Unsupervised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69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Semi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supervised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70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spc="-30" dirty="0">
                <a:latin typeface="Times New Roman"/>
                <a:cs typeface="Times New Roman"/>
              </a:rPr>
              <a:t>Reinforcement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52400"/>
            <a:ext cx="550278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014628"/>
            <a:ext cx="5257800" cy="630634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 algn="just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is labelled containing both descriptions(input) and the target(output).</a:t>
            </a:r>
          </a:p>
          <a:p>
            <a:pPr marL="812800" marR="5080" lvl="1" indent="-342900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(input, target)</a:t>
            </a:r>
          </a:p>
          <a:p>
            <a:pPr marL="812800" marR="5080" lvl="1" indent="-342900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– description of a face, </a:t>
            </a:r>
            <a:r>
              <a:rPr lang="en-IN" sz="2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of a house</a:t>
            </a:r>
          </a:p>
          <a:p>
            <a:pPr marL="812800" marR="5080" lvl="1" indent="-342900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– happy, </a:t>
            </a:r>
            <a:r>
              <a:rPr lang="en-IN" sz="2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of the house</a:t>
            </a:r>
          </a:p>
          <a:p>
            <a:pPr marL="342900" marR="5080" lvl="1" indent="-342900" algn="just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The algorithm (model) tries to determine the relationship between the input and the output.</a:t>
            </a:r>
          </a:p>
          <a:p>
            <a:pPr marL="342900" marR="5080" lvl="1" indent="-342900" algn="just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IN" sz="2400" spc="-10" dirty="0">
                <a:latin typeface="Times New Roman"/>
                <a:cs typeface="Times New Roman"/>
              </a:rPr>
              <a:t>This knowledge is then used to predict the output for previously unseen inputs.</a:t>
            </a:r>
          </a:p>
          <a:p>
            <a:pPr marL="342900" marR="5080" lvl="1" indent="-342900" algn="just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IN" sz="2400" dirty="0">
              <a:latin typeface="Times New Roman"/>
              <a:cs typeface="Times New Roman"/>
            </a:endParaRPr>
          </a:p>
          <a:p>
            <a:pPr marL="812800" marR="5080" lvl="1" indent="-342900">
              <a:lnSpc>
                <a:spcPts val="346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IN" sz="2200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model training&#10;&#10;AI-generated content may be incorrect.">
            <a:extLst>
              <a:ext uri="{FF2B5EF4-FFF2-40B4-BE49-F238E27FC236}">
                <a16:creationId xmlns:a16="http://schemas.microsoft.com/office/drawing/2014/main" id="{5982F78A-6C93-A078-5D10-D91D6002A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475" y="3851830"/>
            <a:ext cx="5036616" cy="2527533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402EB849-4A95-69E8-C601-53E2889841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8475" y="762000"/>
            <a:ext cx="4788535" cy="2775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137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dirty="0"/>
              <a:t>Supervised</a:t>
            </a:r>
            <a:r>
              <a:rPr spc="-30" dirty="0"/>
              <a:t> </a:t>
            </a:r>
            <a:r>
              <a:rPr dirty="0"/>
              <a:t>Learning:</a:t>
            </a:r>
            <a:r>
              <a:rPr spc="-120" dirty="0"/>
              <a:t> </a:t>
            </a:r>
            <a:r>
              <a:rPr spc="-4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9717"/>
            <a:ext cx="10138410" cy="419671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Regression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55F82"/>
                </a:solidFill>
                <a:latin typeface="Times New Roman"/>
                <a:cs typeface="Times New Roman"/>
              </a:rPr>
              <a:t>continuous</a:t>
            </a:r>
            <a:r>
              <a:rPr sz="2400" spc="-45" dirty="0">
                <a:solidFill>
                  <a:srgbClr val="155F8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55F82"/>
                </a:solidFill>
                <a:latin typeface="Times New Roman"/>
                <a:cs typeface="Times New Roman"/>
              </a:rPr>
              <a:t>output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E.g.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house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prices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size,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bedrooms, 	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location.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87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Classification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55F82"/>
                </a:solidFill>
                <a:latin typeface="Times New Roman"/>
                <a:cs typeface="Times New Roman"/>
              </a:rPr>
              <a:t>predefined</a:t>
            </a:r>
            <a:r>
              <a:rPr sz="2400" spc="-35" dirty="0">
                <a:solidFill>
                  <a:srgbClr val="155F8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55F82"/>
                </a:solidFill>
                <a:latin typeface="Times New Roman"/>
                <a:cs typeface="Times New Roman"/>
              </a:rPr>
              <a:t>classes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E.g.,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classifying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emails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spam.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Times New Roman"/>
                <a:cs typeface="Times New Roman"/>
              </a:rPr>
              <a:t>Algorithms: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Linear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regression,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decision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trees,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support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vector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machine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589" y="28575"/>
            <a:ext cx="11189614" cy="1216278"/>
          </a:xfrm>
          <a:prstGeom prst="rect">
            <a:avLst/>
          </a:prstGeom>
        </p:spPr>
        <p:txBody>
          <a:bodyPr vert="horz" wrap="square" lIns="0" tIns="361137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dirty="0"/>
              <a:t>Unsupervised</a:t>
            </a:r>
            <a:r>
              <a:rPr spc="-4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447800"/>
            <a:ext cx="10114915" cy="489364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trained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unlabeled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discover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0" dirty="0">
                <a:latin typeface="Times New Roman"/>
                <a:cs typeface="Times New Roman"/>
              </a:rPr>
              <a:t>data.</a:t>
            </a:r>
            <a:endParaRPr sz="2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predefined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target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labels.</a:t>
            </a: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endParaRPr lang="en-IN" sz="2800" spc="-1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IN" sz="2800" spc="-10" dirty="0">
                <a:latin typeface="Times New Roman"/>
                <a:cs typeface="Times New Roman"/>
              </a:rPr>
              <a:t>Example: customer segmentation, 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4189" y="2998852"/>
            <a:ext cx="6963621" cy="2482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304DCD-0BE3-1CC5-0D0F-B1498FCC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D7573E-51BB-A420-F383-CD3C6F65D7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9589" y="28575"/>
            <a:ext cx="11189614" cy="1216278"/>
          </a:xfrm>
          <a:prstGeom prst="rect">
            <a:avLst/>
          </a:prstGeom>
        </p:spPr>
        <p:txBody>
          <a:bodyPr vert="horz" wrap="square" lIns="0" tIns="361137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dirty="0"/>
              <a:t>Unsupervised</a:t>
            </a:r>
            <a:r>
              <a:rPr spc="-40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86D650D7-9DD4-1085-FF03-3AA61E622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45" y="1752600"/>
            <a:ext cx="10119509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32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629526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Semi-Supervised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200" y="1380490"/>
            <a:ext cx="10058399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 small amount of labeled data with a large amount of unlabeled data during training.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5435" y="3124200"/>
            <a:ext cx="6662646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8421" y="286258"/>
            <a:ext cx="5451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232661"/>
            <a:ext cx="10363200" cy="193963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478155" indent="-342900" algn="just">
              <a:lnSpc>
                <a:spcPts val="259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training of machine learning models to make a sequence of decisions. </a:t>
            </a:r>
          </a:p>
          <a:p>
            <a:pPr marL="355600" marR="478155" indent="-342900" algn="just">
              <a:lnSpc>
                <a:spcPts val="259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employs trial and error to come up with a solution to the problem.</a:t>
            </a:r>
          </a:p>
          <a:p>
            <a:pPr marL="355600" marR="478155" indent="-342900" algn="just">
              <a:lnSpc>
                <a:spcPts val="259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gets either rewards or </a:t>
            </a:r>
            <a:r>
              <a:rPr lang="en-US" sz="27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penalises</a:t>
            </a:r>
            <a:r>
              <a:rPr lang="en-US" sz="27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actions it performs. 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201" y="3518652"/>
            <a:ext cx="5450999" cy="31249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05E9-35C3-1C66-AF96-3B373505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1" y="304800"/>
            <a:ext cx="6781799" cy="67710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ML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306E3D-B6E8-2A6D-AAC0-23742D29E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57400" y="1154691"/>
            <a:ext cx="381000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/ Deployment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2CB13C37-843A-2107-9EF5-1F74F1DBEF7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502" y="4647149"/>
            <a:ext cx="6781800" cy="22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3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BB88-31EC-C3F0-5281-5614113A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B4480-A326-6198-D38D-D7689142B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820400" cy="3339376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Cleaning, transforming and performing other such operations on the data so that it can be effectively used by ML algorithms.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necessary?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 is often incomplete, noisy, and inconsistent.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Proper/processed data improves model accuracy, reduces training time, prevents misleading patterns, ensures fair and unbiased learning.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36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BAEB-7501-2B0D-642D-E55584A2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Data Preprocessing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E6952-DE6B-4495-67DA-6482F0344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97702"/>
            <a:ext cx="10358120" cy="4416594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Encoding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Imbalanced Data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25462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7092-70A8-1122-2375-3408424C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92" y="470400"/>
            <a:ext cx="11189614" cy="553998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10BA3F-ED1B-6DFE-B5FA-2044C0EBE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0242" y="1295400"/>
            <a:ext cx="763382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(mean, median, mode, deletion).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 records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Correcting inconsistent data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864100-1FC3-2028-26D2-2C7E5133B6A7}"/>
              </a:ext>
            </a:extLst>
          </p:cNvPr>
          <p:cNvSpPr txBox="1">
            <a:spLocks/>
          </p:cNvSpPr>
          <p:nvPr/>
        </p:nvSpPr>
        <p:spPr>
          <a:xfrm>
            <a:off x="501193" y="3419475"/>
            <a:ext cx="1118961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</a:t>
            </a:r>
            <a:endParaRPr lang="en-IN" sz="3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D63BAB-D528-14FA-BE26-D592795E2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82" y="4191000"/>
            <a:ext cx="77267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data from multiple sources into a single dataset.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976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F4E6-0168-D9D9-B314-0AF0487D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F529-F9BE-9701-4D0D-EDB23BF63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92" y="470400"/>
            <a:ext cx="11189614" cy="55399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2CD3F4-8C6F-09CE-6F96-6E3D011E9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48462"/>
            <a:ext cx="5003293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data into a suitable format.</a:t>
            </a:r>
          </a:p>
          <a:p>
            <a:pPr marL="342900" lvl="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scaling values to range [0, 1]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FA7FC3-53B0-B10C-16A7-69456EE3710A}"/>
              </a:ext>
            </a:extLst>
          </p:cNvPr>
          <p:cNvSpPr txBox="1">
            <a:spLocks/>
          </p:cNvSpPr>
          <p:nvPr/>
        </p:nvSpPr>
        <p:spPr>
          <a:xfrm>
            <a:off x="539292" y="2658858"/>
            <a:ext cx="1118961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>
              <a:spcBef>
                <a:spcPts val="6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Encoding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77BF58-D28E-A2CD-5906-D04C27182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92" y="3361340"/>
            <a:ext cx="6264857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categorical data into numerical form.</a:t>
            </a:r>
          </a:p>
          <a:p>
            <a: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Lable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encoding, One-Hot encoding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BADCF0-13A3-5DBC-F318-FAA89A9236A0}"/>
              </a:ext>
            </a:extLst>
          </p:cNvPr>
          <p:cNvSpPr txBox="1">
            <a:spLocks/>
          </p:cNvSpPr>
          <p:nvPr/>
        </p:nvSpPr>
        <p:spPr>
          <a:xfrm>
            <a:off x="539292" y="4707718"/>
            <a:ext cx="1118961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>
              <a:spcBef>
                <a:spcPts val="6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366B06E-F431-C802-A102-E6E4292B7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92" y="5410200"/>
            <a:ext cx="49936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most relevant features.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7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8843-7D66-FE1B-4FA3-AAF0EDE1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002D-FEE3-1C68-972D-A5E160AC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92" y="470400"/>
            <a:ext cx="11189614" cy="55399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7C8851-A330-960D-D688-AB41885AC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292" y="1223116"/>
            <a:ext cx="5482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new features from existing data.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307528-C2A7-8C50-03D4-6227C00E0F36}"/>
              </a:ext>
            </a:extLst>
          </p:cNvPr>
          <p:cNvSpPr txBox="1">
            <a:spLocks/>
          </p:cNvSpPr>
          <p:nvPr/>
        </p:nvSpPr>
        <p:spPr>
          <a:xfrm>
            <a:off x="539292" y="2658858"/>
            <a:ext cx="1118961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>
              <a:spcBef>
                <a:spcPts val="6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Imbalanced Data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60B4B9-6008-019D-4BBF-1DC4993E3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92" y="3414312"/>
            <a:ext cx="88360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the dataset has a fair representation of the population.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E22511-3EE1-0718-BCA2-74406F59F86A}"/>
              </a:ext>
            </a:extLst>
          </p:cNvPr>
          <p:cNvSpPr txBox="1">
            <a:spLocks/>
          </p:cNvSpPr>
          <p:nvPr/>
        </p:nvSpPr>
        <p:spPr>
          <a:xfrm>
            <a:off x="609600" y="4840905"/>
            <a:ext cx="1118961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>
              <a:spcBef>
                <a:spcPts val="600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C3FC5E-0273-92DC-7173-953594652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92" y="5504026"/>
            <a:ext cx="906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 sz="24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dataset into: Training set, Validation set, Test set</a:t>
            </a:r>
          </a:p>
        </p:txBody>
      </p:sp>
    </p:spTree>
    <p:extLst>
      <p:ext uri="{BB962C8B-B14F-4D97-AF65-F5344CB8AC3E}">
        <p14:creationId xmlns:p14="http://schemas.microsoft.com/office/powerpoint/2010/main" val="825552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C4A1B-B1A9-F09D-7193-ED7DC0D1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Example using a sample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D2215-5D02-81D4-3CC2-4CE8FE463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3886200"/>
            <a:ext cx="10358120" cy="184665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the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 (Location)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 (row 1 and row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value scales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060A51-F2B1-76CC-F6FB-AE444D2E9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453591"/>
              </p:ext>
            </p:extLst>
          </p:nvPr>
        </p:nvGraphicFramePr>
        <p:xfrm>
          <a:off x="2133600" y="1600200"/>
          <a:ext cx="5791199" cy="1963965"/>
        </p:xfrm>
        <a:graphic>
          <a:graphicData uri="http://schemas.openxmlformats.org/drawingml/2006/table">
            <a:tbl>
              <a:tblPr/>
              <a:tblGrid>
                <a:gridCol w="338007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464700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306963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1081625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1599904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606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(sqft)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1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212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B46C0-ADAB-DFB9-08C6-A08254BB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0586-0434-EDF5-C7AF-6D666965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Example using a sample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06C4C-65BC-9DD3-FCE3-158C85846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339021"/>
            <a:ext cx="7007860" cy="22159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missing Area with 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missing Price with 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Area = (1200 + 1500 + 800 + 1200) / 4 = 1175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Price = (50 + 65 + 40 + 50) / 4 = 51.25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1E0BDE-9196-5B79-CC77-0B9C1988C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08213"/>
              </p:ext>
            </p:extLst>
          </p:nvPr>
        </p:nvGraphicFramePr>
        <p:xfrm>
          <a:off x="609600" y="3957337"/>
          <a:ext cx="5029202" cy="1963965"/>
        </p:xfrm>
        <a:graphic>
          <a:graphicData uri="http://schemas.openxmlformats.org/drawingml/2006/table">
            <a:tbl>
              <a:tblPr/>
              <a:tblGrid>
                <a:gridCol w="293533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271977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134995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939306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1389391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606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(sqft)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  <a:tr h="28030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145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22DEB2-F4BE-9FD0-A37D-DB7BE7C34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94404"/>
              </p:ext>
            </p:extLst>
          </p:nvPr>
        </p:nvGraphicFramePr>
        <p:xfrm>
          <a:off x="6515100" y="3877891"/>
          <a:ext cx="5137606" cy="2062461"/>
        </p:xfrm>
        <a:graphic>
          <a:graphicData uri="http://schemas.openxmlformats.org/drawingml/2006/table">
            <a:tbl>
              <a:tblPr/>
              <a:tblGrid>
                <a:gridCol w="299860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299394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159460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959553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1419339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(sqft)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145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7702061-A6A4-EDB5-1131-CEF77E7DE7B5}"/>
              </a:ext>
            </a:extLst>
          </p:cNvPr>
          <p:cNvSpPr txBox="1"/>
          <p:nvPr/>
        </p:nvSpPr>
        <p:spPr>
          <a:xfrm>
            <a:off x="8534400" y="627854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364E7-C944-BF49-04B3-FC949DF29B3D}"/>
              </a:ext>
            </a:extLst>
          </p:cNvPr>
          <p:cNvSpPr txBox="1"/>
          <p:nvPr/>
        </p:nvSpPr>
        <p:spPr>
          <a:xfrm>
            <a:off x="2590800" y="6339671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618422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92B2-0175-90AB-2D75-9AC93A4C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2088-3592-5E73-3C72-C6E3437F0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Example using a sample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AB6DA-8A51-A29F-A13A-C1CF1913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339021"/>
            <a:ext cx="7007860" cy="73866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5 is a duplicate of Row 1 → remove Row 5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0149CE-4CD0-3846-15BF-44F89E99F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376355"/>
              </p:ext>
            </p:extLst>
          </p:nvPr>
        </p:nvGraphicFramePr>
        <p:xfrm>
          <a:off x="501192" y="2971800"/>
          <a:ext cx="5137606" cy="2062461"/>
        </p:xfrm>
        <a:graphic>
          <a:graphicData uri="http://schemas.openxmlformats.org/drawingml/2006/table">
            <a:tbl>
              <a:tblPr/>
              <a:tblGrid>
                <a:gridCol w="299860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299394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159460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959553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1419339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</a:t>
                      </a:r>
                      <a:r>
                        <a:rPr lang="en-IN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sqft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145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C0ED4B-1C2C-8ED4-4EC8-8B97C7C69AAD}"/>
              </a:ext>
            </a:extLst>
          </p:cNvPr>
          <p:cNvSpPr txBox="1"/>
          <p:nvPr/>
        </p:nvSpPr>
        <p:spPr>
          <a:xfrm>
            <a:off x="8153402" y="5092184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25E21-2A84-606B-F0B4-B4628F0E1C5B}"/>
              </a:ext>
            </a:extLst>
          </p:cNvPr>
          <p:cNvSpPr txBox="1"/>
          <p:nvPr/>
        </p:nvSpPr>
        <p:spPr>
          <a:xfrm>
            <a:off x="2514600" y="52578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755493-52EC-EC59-CEA2-AB1928AC6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537165"/>
              </p:ext>
            </p:extLst>
          </p:nvPr>
        </p:nvGraphicFramePr>
        <p:xfrm>
          <a:off x="6248400" y="2990850"/>
          <a:ext cx="5137606" cy="1767715"/>
        </p:xfrm>
        <a:graphic>
          <a:graphicData uri="http://schemas.openxmlformats.org/drawingml/2006/table">
            <a:tbl>
              <a:tblPr/>
              <a:tblGrid>
                <a:gridCol w="299860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299394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159460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959553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1419339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</a:t>
                      </a:r>
                      <a:r>
                        <a:rPr lang="en-IN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sqft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74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7BFF-D4BF-4FFF-B595-8432F376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52F1-22BF-00EF-766F-FAB3FF4A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Example using a sample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DBECC-E335-D2A8-679E-98106551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699" y="1327313"/>
            <a:ext cx="5600701" cy="110799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Encoding (Categorical → Numerical)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5769A-8E6A-85B9-1068-FC24C9E3B24A}"/>
              </a:ext>
            </a:extLst>
          </p:cNvPr>
          <p:cNvSpPr txBox="1"/>
          <p:nvPr/>
        </p:nvSpPr>
        <p:spPr>
          <a:xfrm>
            <a:off x="8077200" y="589192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9A4C5-4314-3976-DF0C-5B877A1800A2}"/>
              </a:ext>
            </a:extLst>
          </p:cNvPr>
          <p:cNvSpPr txBox="1"/>
          <p:nvPr/>
        </p:nvSpPr>
        <p:spPr>
          <a:xfrm>
            <a:off x="2362200" y="587287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012E1-4110-7392-F401-741720849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9798"/>
              </p:ext>
            </p:extLst>
          </p:nvPr>
        </p:nvGraphicFramePr>
        <p:xfrm>
          <a:off x="501192" y="3962400"/>
          <a:ext cx="5137606" cy="1767715"/>
        </p:xfrm>
        <a:graphic>
          <a:graphicData uri="http://schemas.openxmlformats.org/drawingml/2006/table">
            <a:tbl>
              <a:tblPr/>
              <a:tblGrid>
                <a:gridCol w="299860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299394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159460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959553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1419339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</a:t>
                      </a:r>
                      <a:r>
                        <a:rPr lang="en-IN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sqft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B679E4-9526-0504-3C86-592876BBF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20519"/>
              </p:ext>
            </p:extLst>
          </p:nvPr>
        </p:nvGraphicFramePr>
        <p:xfrm>
          <a:off x="3962400" y="2016400"/>
          <a:ext cx="3743328" cy="1182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776">
                  <a:extLst>
                    <a:ext uri="{9D8B030D-6E8A-4147-A177-3AD203B41FA5}">
                      <a16:colId xmlns:a16="http://schemas.microsoft.com/office/drawing/2014/main" val="922762025"/>
                    </a:ext>
                  </a:extLst>
                </a:gridCol>
                <a:gridCol w="1247776">
                  <a:extLst>
                    <a:ext uri="{9D8B030D-6E8A-4147-A177-3AD203B41FA5}">
                      <a16:colId xmlns:a16="http://schemas.microsoft.com/office/drawing/2014/main" val="2811392834"/>
                    </a:ext>
                  </a:extLst>
                </a:gridCol>
                <a:gridCol w="1247776">
                  <a:extLst>
                    <a:ext uri="{9D8B030D-6E8A-4147-A177-3AD203B41FA5}">
                      <a16:colId xmlns:a16="http://schemas.microsoft.com/office/drawing/2014/main" val="2143014994"/>
                    </a:ext>
                  </a:extLst>
                </a:gridCol>
              </a:tblGrid>
              <a:tr h="394007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538614"/>
                  </a:ext>
                </a:extLst>
              </a:tr>
              <a:tr h="39400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990915"/>
                  </a:ext>
                </a:extLst>
              </a:tr>
              <a:tr h="39400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2616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3E36B7-2994-B64A-9C71-90E642B20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595950"/>
              </p:ext>
            </p:extLst>
          </p:nvPr>
        </p:nvGraphicFramePr>
        <p:xfrm>
          <a:off x="5932261" y="3961967"/>
          <a:ext cx="5600699" cy="1767715"/>
        </p:xfrm>
        <a:graphic>
          <a:graphicData uri="http://schemas.openxmlformats.org/drawingml/2006/table">
            <a:tbl>
              <a:tblPr/>
              <a:tblGrid>
                <a:gridCol w="275444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193591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065052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881421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881421">
                  <a:extLst>
                    <a:ext uri="{9D8B030D-6E8A-4147-A177-3AD203B41FA5}">
                      <a16:colId xmlns:a16="http://schemas.microsoft.com/office/drawing/2014/main" val="1868924193"/>
                    </a:ext>
                  </a:extLst>
                </a:gridCol>
                <a:gridCol w="1303770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</a:t>
                      </a:r>
                      <a:r>
                        <a:rPr lang="en-IN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sqft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822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86CC8-5DF1-E42E-A5CF-DF72C4FE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991A-2016-13A4-B03D-70970B06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Example using a sample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D3FB-4C32-7610-2235-505365465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699" y="1327313"/>
            <a:ext cx="8267701" cy="252376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(Normalization)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Area so large values do not dominate.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formula: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(X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 Area = 800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Area = 1500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Area = 1200,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(1200−800)/(1500−800)=0.57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899B2-A81A-82FB-6BB6-2808E7DA08BF}"/>
              </a:ext>
            </a:extLst>
          </p:cNvPr>
          <p:cNvSpPr txBox="1"/>
          <p:nvPr/>
        </p:nvSpPr>
        <p:spPr>
          <a:xfrm>
            <a:off x="8439149" y="614934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29D3B-050E-4B39-4B52-F967593C7B0C}"/>
              </a:ext>
            </a:extLst>
          </p:cNvPr>
          <p:cNvSpPr txBox="1"/>
          <p:nvPr/>
        </p:nvSpPr>
        <p:spPr>
          <a:xfrm>
            <a:off x="2362200" y="616839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CC1C32-1683-6452-AFA3-EB8330B21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713230"/>
              </p:ext>
            </p:extLst>
          </p:nvPr>
        </p:nvGraphicFramePr>
        <p:xfrm>
          <a:off x="485775" y="4361982"/>
          <a:ext cx="5600699" cy="1767715"/>
        </p:xfrm>
        <a:graphic>
          <a:graphicData uri="http://schemas.openxmlformats.org/drawingml/2006/table">
            <a:tbl>
              <a:tblPr/>
              <a:tblGrid>
                <a:gridCol w="275444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193591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065052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881421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881421">
                  <a:extLst>
                    <a:ext uri="{9D8B030D-6E8A-4147-A177-3AD203B41FA5}">
                      <a16:colId xmlns:a16="http://schemas.microsoft.com/office/drawing/2014/main" val="1868924193"/>
                    </a:ext>
                  </a:extLst>
                </a:gridCol>
                <a:gridCol w="1303770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</a:t>
                      </a:r>
                      <a:r>
                        <a:rPr lang="en-IN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sqft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CF1AD6-0ACF-5D9A-1660-EDBBE7111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229996"/>
              </p:ext>
            </p:extLst>
          </p:nvPr>
        </p:nvGraphicFramePr>
        <p:xfrm>
          <a:off x="6400799" y="4343530"/>
          <a:ext cx="5600699" cy="1767715"/>
        </p:xfrm>
        <a:graphic>
          <a:graphicData uri="http://schemas.openxmlformats.org/drawingml/2006/table">
            <a:tbl>
              <a:tblPr/>
              <a:tblGrid>
                <a:gridCol w="275444">
                  <a:extLst>
                    <a:ext uri="{9D8B030D-6E8A-4147-A177-3AD203B41FA5}">
                      <a16:colId xmlns:a16="http://schemas.microsoft.com/office/drawing/2014/main" val="3774728364"/>
                    </a:ext>
                  </a:extLst>
                </a:gridCol>
                <a:gridCol w="1193591">
                  <a:extLst>
                    <a:ext uri="{9D8B030D-6E8A-4147-A177-3AD203B41FA5}">
                      <a16:colId xmlns:a16="http://schemas.microsoft.com/office/drawing/2014/main" val="2520262302"/>
                    </a:ext>
                  </a:extLst>
                </a:gridCol>
                <a:gridCol w="1065052">
                  <a:extLst>
                    <a:ext uri="{9D8B030D-6E8A-4147-A177-3AD203B41FA5}">
                      <a16:colId xmlns:a16="http://schemas.microsoft.com/office/drawing/2014/main" val="585298951"/>
                    </a:ext>
                  </a:extLst>
                </a:gridCol>
                <a:gridCol w="881421">
                  <a:extLst>
                    <a:ext uri="{9D8B030D-6E8A-4147-A177-3AD203B41FA5}">
                      <a16:colId xmlns:a16="http://schemas.microsoft.com/office/drawing/2014/main" val="134526536"/>
                    </a:ext>
                  </a:extLst>
                </a:gridCol>
                <a:gridCol w="881421">
                  <a:extLst>
                    <a:ext uri="{9D8B030D-6E8A-4147-A177-3AD203B41FA5}">
                      <a16:colId xmlns:a16="http://schemas.microsoft.com/office/drawing/2014/main" val="1868924193"/>
                    </a:ext>
                  </a:extLst>
                </a:gridCol>
                <a:gridCol w="1303770">
                  <a:extLst>
                    <a:ext uri="{9D8B030D-6E8A-4147-A177-3AD203B41FA5}">
                      <a16:colId xmlns:a16="http://schemas.microsoft.com/office/drawing/2014/main" val="4226972661"/>
                    </a:ext>
                  </a:extLst>
                </a:gridCol>
              </a:tblGrid>
              <a:tr h="5887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</a:t>
                      </a:r>
                      <a:r>
                        <a:rPr lang="en-IN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sqft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Bedrooms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(₹ Lakhs)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958608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085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02585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00827"/>
                  </a:ext>
                </a:extLst>
              </a:tr>
              <a:tr h="29474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51.25</a:t>
                      </a:r>
                      <a:endParaRPr lang="en-I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043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4EAF-6C26-0485-0E68-97856A71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/>
              <a:t>Types of data</a:t>
            </a:r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FD2FFD3E-75B7-3421-6854-0A5AA2DEA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57200"/>
            <a:ext cx="6710905" cy="56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73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F052-FBC3-A83D-C99F-CC577620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92" y="278638"/>
            <a:ext cx="11189614" cy="6771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679ED-56DF-2D91-ED4F-4D150814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1194" y="1344448"/>
            <a:ext cx="8309610" cy="4185761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Interval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intervals between values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true zero (zero does not mean none)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and subtraction are meaningful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Date, temperature,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Ratio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interval data but has true zero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Addition, subtraction, multiplication and division are meaningful.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Speed, distance</a:t>
            </a:r>
          </a:p>
        </p:txBody>
      </p:sp>
    </p:spTree>
    <p:extLst>
      <p:ext uri="{BB962C8B-B14F-4D97-AF65-F5344CB8AC3E}">
        <p14:creationId xmlns:p14="http://schemas.microsoft.com/office/powerpoint/2010/main" val="547796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518" rIns="0" bIns="0" rtlCol="0">
            <a:spAutoFit/>
          </a:bodyPr>
          <a:lstStyle/>
          <a:p>
            <a:pPr marL="727075">
              <a:lnSpc>
                <a:spcPct val="100000"/>
              </a:lnSpc>
              <a:spcBef>
                <a:spcPts val="105"/>
              </a:spcBef>
            </a:pPr>
            <a:r>
              <a:rPr dirty="0"/>
              <a:t>Linear</a:t>
            </a:r>
            <a:r>
              <a:rPr spc="-25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5948" y="1734692"/>
            <a:ext cx="5297805" cy="39027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39395" marR="5080" indent="-227329" algn="just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regression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modeling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relationship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2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dependent 	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5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(target)</a:t>
            </a:r>
            <a:r>
              <a:rPr sz="2400" spc="5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5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09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more 	</a:t>
            </a:r>
            <a:r>
              <a:rPr sz="2400" dirty="0">
                <a:latin typeface="Times New Roman"/>
                <a:cs typeface="Times New Roman"/>
              </a:rPr>
              <a:t>independent</a:t>
            </a:r>
            <a:r>
              <a:rPr sz="2400" spc="5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5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(predictors</a:t>
            </a:r>
            <a:r>
              <a:rPr sz="2400" spc="54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dirty="0">
                <a:latin typeface="Times New Roman"/>
                <a:cs typeface="Times New Roman"/>
              </a:rPr>
              <a:t>features)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fitting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observed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aim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fitting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line 	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describes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relationship.</a:t>
            </a:r>
            <a:endParaRPr sz="2400">
              <a:latin typeface="Times New Roman"/>
              <a:cs typeface="Times New Roman"/>
            </a:endParaRPr>
          </a:p>
          <a:p>
            <a:pPr marL="239395" indent="-226695" algn="just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  <a:p>
            <a:pPr marL="695960" lvl="1" indent="-226695" algn="just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5960" algn="l"/>
              </a:tabLst>
            </a:pP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Linear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Regression</a:t>
            </a:r>
            <a:endParaRPr sz="2000">
              <a:latin typeface="Times New Roman"/>
              <a:cs typeface="Times New Roman"/>
            </a:endParaRPr>
          </a:p>
          <a:p>
            <a:pPr marL="695960" lvl="1" indent="-226695" algn="just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5960" algn="l"/>
              </a:tabLst>
            </a:pP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Linear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Regression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5933" y="2418633"/>
            <a:ext cx="3522197" cy="33385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23606" y="5947359"/>
            <a:ext cx="17633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rebuchet MS"/>
                <a:cs typeface="Trebuchet MS"/>
              </a:rPr>
              <a:t>Fig.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Simple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Linear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Regression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918" y="860882"/>
            <a:ext cx="58331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Simple</a:t>
            </a:r>
            <a:r>
              <a:rPr spc="-20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518" y="2021560"/>
            <a:ext cx="5017135" cy="13728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independent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variable.</a:t>
            </a:r>
            <a:endParaRPr sz="2000">
              <a:latin typeface="Times New Roman"/>
              <a:cs typeface="Times New Roman"/>
            </a:endParaRPr>
          </a:p>
          <a:p>
            <a:pPr marL="266065" indent="-227965">
              <a:lnSpc>
                <a:spcPts val="2280"/>
              </a:lnSpc>
              <a:spcBef>
                <a:spcPts val="755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Linear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regression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represented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ts val="2150"/>
              </a:lnSpc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equation: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  <a:p>
            <a:pPr marL="114935" algn="ctr">
              <a:lnSpc>
                <a:spcPts val="2270"/>
              </a:lnSpc>
              <a:tabLst>
                <a:tab pos="661670" algn="l"/>
              </a:tabLst>
            </a:pPr>
            <a:r>
              <a:rPr sz="2000" dirty="0">
                <a:latin typeface="Cambria Math"/>
                <a:cs typeface="Cambria Math"/>
              </a:rPr>
              <a:t>𝑌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r>
              <a:rPr sz="2000" dirty="0">
                <a:latin typeface="Cambria Math"/>
                <a:cs typeface="Cambria Math"/>
              </a:rPr>
              <a:t>	𝛽</a:t>
            </a:r>
            <a:r>
              <a:rPr sz="1950" baseline="-21367" dirty="0">
                <a:latin typeface="Cambria Math"/>
                <a:cs typeface="Cambria Math"/>
              </a:rPr>
              <a:t>0</a:t>
            </a:r>
            <a:r>
              <a:rPr sz="1950" spc="217" baseline="-21367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434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𝛽</a:t>
            </a:r>
            <a:r>
              <a:rPr sz="1950" spc="-37" baseline="-21367" dirty="0">
                <a:latin typeface="Cambria Math"/>
                <a:cs typeface="Cambria Math"/>
              </a:rPr>
              <a:t>1</a:t>
            </a:r>
            <a:r>
              <a:rPr sz="2000" spc="-25" dirty="0">
                <a:latin typeface="Cambria Math"/>
                <a:cs typeface="Cambria Math"/>
              </a:rPr>
              <a:t>𝑋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2674" y="3565016"/>
            <a:ext cx="6661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latin typeface="Times New Roman"/>
                <a:cs typeface="Times New Roman"/>
              </a:rPr>
              <a:t>where,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518" y="3364458"/>
            <a:ext cx="5045075" cy="21812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13487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latin typeface="Cambria Math"/>
                <a:cs typeface="Cambria Math"/>
              </a:rPr>
              <a:t>𝛽</a:t>
            </a:r>
            <a:r>
              <a:rPr sz="1950" baseline="-21367" dirty="0">
                <a:latin typeface="Cambria Math"/>
                <a:cs typeface="Cambria Math"/>
              </a:rPr>
              <a:t>0</a:t>
            </a:r>
            <a:r>
              <a:rPr sz="1950" spc="67" baseline="-21367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intercept,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𝛽</a:t>
            </a:r>
            <a:r>
              <a:rPr sz="1950" baseline="-21367" dirty="0">
                <a:latin typeface="Cambria Math"/>
                <a:cs typeface="Cambria Math"/>
              </a:rPr>
              <a:t>1</a:t>
            </a:r>
            <a:r>
              <a:rPr sz="1950" spc="247" baseline="-21367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𝑠𝑙𝑜𝑝𝑒</a:t>
            </a:r>
            <a:endParaRPr sz="2000">
              <a:latin typeface="Cambria Math"/>
              <a:cs typeface="Cambria Math"/>
            </a:endParaRPr>
          </a:p>
          <a:p>
            <a:pPr marL="2183765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independent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</a:t>
            </a:r>
            <a:endParaRPr sz="2000">
              <a:latin typeface="Times New Roman"/>
              <a:cs typeface="Times New Roman"/>
            </a:endParaRPr>
          </a:p>
          <a:p>
            <a:pPr marL="2174875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</a:t>
            </a:r>
            <a:endParaRPr sz="2000">
              <a:latin typeface="Times New Roman"/>
              <a:cs typeface="Times New Roman"/>
            </a:endParaRPr>
          </a:p>
          <a:p>
            <a:pPr marL="266700" marR="220345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667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slope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intercept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fitting 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determines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relationship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the </a:t>
            </a:r>
            <a:r>
              <a:rPr sz="2000" spc="-10" dirty="0">
                <a:latin typeface="Times New Roman"/>
                <a:cs typeface="Times New Roman"/>
              </a:rPr>
              <a:t>variables.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8197" y="1998468"/>
            <a:ext cx="5623082" cy="31973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14207" y="5359704"/>
            <a:ext cx="1763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rebuchet MS"/>
                <a:cs typeface="Trebuchet MS"/>
              </a:rPr>
              <a:t>Fig.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Simple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Linear </a:t>
            </a:r>
            <a:r>
              <a:rPr sz="1800" spc="-10" dirty="0">
                <a:latin typeface="Trebuchet MS"/>
                <a:cs typeface="Trebuchet MS"/>
              </a:rPr>
              <a:t>Regression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192" y="334518"/>
            <a:ext cx="97478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25" dirty="0">
                <a:latin typeface="Trebuchet MS"/>
                <a:cs typeface="Trebuchet MS"/>
              </a:rPr>
              <a:t>Simple</a:t>
            </a:r>
            <a:r>
              <a:rPr sz="3200" spc="-31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Linear</a:t>
            </a:r>
            <a:r>
              <a:rPr sz="3200" spc="-31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Regression:</a:t>
            </a:r>
            <a:r>
              <a:rPr sz="3200" spc="-33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How</a:t>
            </a:r>
            <a:r>
              <a:rPr sz="3200" spc="-330" dirty="0">
                <a:latin typeface="Trebuchet MS"/>
                <a:cs typeface="Trebuchet MS"/>
              </a:rPr>
              <a:t> </a:t>
            </a:r>
            <a:r>
              <a:rPr sz="3200" spc="-40" dirty="0">
                <a:latin typeface="Trebuchet MS"/>
                <a:cs typeface="Trebuchet MS"/>
              </a:rPr>
              <a:t>is</a:t>
            </a:r>
            <a:r>
              <a:rPr sz="3200" spc="-31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the</a:t>
            </a:r>
            <a:r>
              <a:rPr sz="3200" spc="-31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best</a:t>
            </a:r>
            <a:r>
              <a:rPr sz="3200" spc="-305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fitting</a:t>
            </a:r>
            <a:r>
              <a:rPr sz="3200" spc="-30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line</a:t>
            </a:r>
            <a:r>
              <a:rPr sz="3200" spc="-31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found?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70089" y="1302003"/>
            <a:ext cx="3209290" cy="2073275"/>
            <a:chOff x="770089" y="1302003"/>
            <a:chExt cx="3209290" cy="207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847" y="2030348"/>
              <a:ext cx="128015" cy="1352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483" y="3049015"/>
              <a:ext cx="128028" cy="1352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9445" y="2707639"/>
              <a:ext cx="128015" cy="1351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6618" y="2784855"/>
              <a:ext cx="128015" cy="135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9838" y="2630169"/>
              <a:ext cx="128016" cy="1352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75230" y="1933828"/>
              <a:ext cx="128015" cy="1352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7763" y="2000376"/>
              <a:ext cx="128016" cy="1351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0089" y="1302003"/>
              <a:ext cx="3209290" cy="2073275"/>
            </a:xfrm>
            <a:custGeom>
              <a:avLst/>
              <a:gdLst/>
              <a:ahLst/>
              <a:cxnLst/>
              <a:rect l="l" t="t" r="r" b="b"/>
              <a:pathLst>
                <a:path w="3209290" h="2073275">
                  <a:moveTo>
                    <a:pt x="3209074" y="2034921"/>
                  </a:moveTo>
                  <a:lnTo>
                    <a:pt x="3193326" y="2027047"/>
                  </a:lnTo>
                  <a:lnTo>
                    <a:pt x="3132874" y="1996821"/>
                  </a:lnTo>
                  <a:lnTo>
                    <a:pt x="3132874" y="2027047"/>
                  </a:lnTo>
                  <a:lnTo>
                    <a:pt x="46037" y="2027047"/>
                  </a:lnTo>
                  <a:lnTo>
                    <a:pt x="46037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162" y="76200"/>
                  </a:lnTo>
                  <a:lnTo>
                    <a:pt x="30162" y="2034921"/>
                  </a:lnTo>
                  <a:lnTo>
                    <a:pt x="38100" y="2034921"/>
                  </a:lnTo>
                  <a:lnTo>
                    <a:pt x="38100" y="2042922"/>
                  </a:lnTo>
                  <a:lnTo>
                    <a:pt x="3132874" y="2042922"/>
                  </a:lnTo>
                  <a:lnTo>
                    <a:pt x="3132874" y="2073021"/>
                  </a:lnTo>
                  <a:lnTo>
                    <a:pt x="3193072" y="2042922"/>
                  </a:lnTo>
                  <a:lnTo>
                    <a:pt x="3209074" y="2034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5291" y="2112009"/>
              <a:ext cx="2642235" cy="1149350"/>
            </a:xfrm>
            <a:custGeom>
              <a:avLst/>
              <a:gdLst/>
              <a:ahLst/>
              <a:cxnLst/>
              <a:rect l="l" t="t" r="r" b="b"/>
              <a:pathLst>
                <a:path w="2642235" h="1149350">
                  <a:moveTo>
                    <a:pt x="0" y="1149350"/>
                  </a:moveTo>
                  <a:lnTo>
                    <a:pt x="2641714" y="0"/>
                  </a:lnTo>
                </a:path>
              </a:pathLst>
            </a:custGeom>
            <a:ln w="15875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1672" y="1275410"/>
            <a:ext cx="149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7696" y="342874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09261" y="1289938"/>
            <a:ext cx="3209290" cy="2073275"/>
            <a:chOff x="4509261" y="1289938"/>
            <a:chExt cx="3209290" cy="207327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5980" y="2018411"/>
              <a:ext cx="128016" cy="1351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6756" y="3036950"/>
              <a:ext cx="128015" cy="1352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8706" y="2695575"/>
              <a:ext cx="128015" cy="1352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5878" y="2772791"/>
              <a:ext cx="128016" cy="135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9098" y="2618231"/>
              <a:ext cx="128015" cy="1351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4363" y="1921763"/>
              <a:ext cx="128015" cy="1352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7025" y="1988312"/>
              <a:ext cx="128016" cy="13525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09262" y="1289938"/>
              <a:ext cx="3209290" cy="2073275"/>
            </a:xfrm>
            <a:custGeom>
              <a:avLst/>
              <a:gdLst/>
              <a:ahLst/>
              <a:cxnLst/>
              <a:rect l="l" t="t" r="r" b="b"/>
              <a:pathLst>
                <a:path w="3209290" h="2073275">
                  <a:moveTo>
                    <a:pt x="3209163" y="2035048"/>
                  </a:moveTo>
                  <a:lnTo>
                    <a:pt x="3193161" y="2027047"/>
                  </a:lnTo>
                  <a:lnTo>
                    <a:pt x="3132963" y="1996948"/>
                  </a:lnTo>
                  <a:lnTo>
                    <a:pt x="3132963" y="2027047"/>
                  </a:lnTo>
                  <a:lnTo>
                    <a:pt x="46101" y="2027047"/>
                  </a:lnTo>
                  <a:lnTo>
                    <a:pt x="46101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226" y="76200"/>
                  </a:lnTo>
                  <a:lnTo>
                    <a:pt x="30226" y="2035048"/>
                  </a:lnTo>
                  <a:lnTo>
                    <a:pt x="38100" y="2035048"/>
                  </a:lnTo>
                  <a:lnTo>
                    <a:pt x="38100" y="2042922"/>
                  </a:lnTo>
                  <a:lnTo>
                    <a:pt x="3132963" y="2042922"/>
                  </a:lnTo>
                  <a:lnTo>
                    <a:pt x="3132963" y="2073148"/>
                  </a:lnTo>
                  <a:lnTo>
                    <a:pt x="3193415" y="2042922"/>
                  </a:lnTo>
                  <a:lnTo>
                    <a:pt x="3209163" y="2035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0348" y="1989455"/>
              <a:ext cx="2646045" cy="998855"/>
            </a:xfrm>
            <a:custGeom>
              <a:avLst/>
              <a:gdLst/>
              <a:ahLst/>
              <a:cxnLst/>
              <a:rect l="l" t="t" r="r" b="b"/>
              <a:pathLst>
                <a:path w="2646045" h="998855">
                  <a:moveTo>
                    <a:pt x="0" y="998474"/>
                  </a:moveTo>
                  <a:lnTo>
                    <a:pt x="2645918" y="0"/>
                  </a:lnTo>
                </a:path>
              </a:pathLst>
            </a:custGeom>
            <a:ln w="15874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71264" y="1263777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57338" y="341693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271509" y="1289938"/>
            <a:ext cx="3209290" cy="2073275"/>
            <a:chOff x="8271509" y="1289938"/>
            <a:chExt cx="3209290" cy="207327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8228" y="2018411"/>
              <a:ext cx="128016" cy="1351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10827" y="2695575"/>
              <a:ext cx="128016" cy="13525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7999" y="2772791"/>
              <a:ext cx="128016" cy="13525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61219" y="2618231"/>
              <a:ext cx="128015" cy="13512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76484" y="1921763"/>
              <a:ext cx="128143" cy="13525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39145" y="1988312"/>
              <a:ext cx="128015" cy="13525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271510" y="1289938"/>
              <a:ext cx="3209290" cy="2073275"/>
            </a:xfrm>
            <a:custGeom>
              <a:avLst/>
              <a:gdLst/>
              <a:ahLst/>
              <a:cxnLst/>
              <a:rect l="l" t="t" r="r" b="b"/>
              <a:pathLst>
                <a:path w="3209290" h="2073275">
                  <a:moveTo>
                    <a:pt x="3209036" y="2035048"/>
                  </a:moveTo>
                  <a:lnTo>
                    <a:pt x="3193034" y="2027047"/>
                  </a:lnTo>
                  <a:lnTo>
                    <a:pt x="3132836" y="1996948"/>
                  </a:lnTo>
                  <a:lnTo>
                    <a:pt x="3132836" y="2027047"/>
                  </a:lnTo>
                  <a:lnTo>
                    <a:pt x="45974" y="2027047"/>
                  </a:lnTo>
                  <a:lnTo>
                    <a:pt x="45974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099" y="76200"/>
                  </a:lnTo>
                  <a:lnTo>
                    <a:pt x="30099" y="2035048"/>
                  </a:lnTo>
                  <a:lnTo>
                    <a:pt x="38100" y="2035048"/>
                  </a:lnTo>
                  <a:lnTo>
                    <a:pt x="38100" y="2042922"/>
                  </a:lnTo>
                  <a:lnTo>
                    <a:pt x="3132836" y="2042922"/>
                  </a:lnTo>
                  <a:lnTo>
                    <a:pt x="3132836" y="2073148"/>
                  </a:lnTo>
                  <a:lnTo>
                    <a:pt x="3193288" y="2042922"/>
                  </a:lnTo>
                  <a:lnTo>
                    <a:pt x="3209036" y="2035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314181" y="1731137"/>
              <a:ext cx="2628265" cy="1142365"/>
            </a:xfrm>
            <a:custGeom>
              <a:avLst/>
              <a:gdLst/>
              <a:ahLst/>
              <a:cxnLst/>
              <a:rect l="l" t="t" r="r" b="b"/>
              <a:pathLst>
                <a:path w="2628265" h="1142364">
                  <a:moveTo>
                    <a:pt x="0" y="1142238"/>
                  </a:moveTo>
                  <a:lnTo>
                    <a:pt x="2628265" y="0"/>
                  </a:lnTo>
                </a:path>
              </a:pathLst>
            </a:custGeom>
            <a:ln w="15875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48878" y="3036951"/>
            <a:ext cx="128016" cy="13525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034019" y="1263777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420093" y="341693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80529" y="4221353"/>
            <a:ext cx="3209290" cy="1966595"/>
            <a:chOff x="780529" y="4221353"/>
            <a:chExt cx="3209290" cy="1966595"/>
          </a:xfrm>
        </p:grpSpPr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7261" y="4910963"/>
              <a:ext cx="128015" cy="1291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85644" y="4819523"/>
              <a:ext cx="128016" cy="12903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48177" y="4882515"/>
              <a:ext cx="128016" cy="12915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80529" y="4221353"/>
              <a:ext cx="3209290" cy="1966595"/>
            </a:xfrm>
            <a:custGeom>
              <a:avLst/>
              <a:gdLst/>
              <a:ahLst/>
              <a:cxnLst/>
              <a:rect l="l" t="t" r="r" b="b"/>
              <a:pathLst>
                <a:path w="3209290" h="1966595">
                  <a:moveTo>
                    <a:pt x="3209048" y="1928012"/>
                  </a:moveTo>
                  <a:lnTo>
                    <a:pt x="3193173" y="1920074"/>
                  </a:lnTo>
                  <a:lnTo>
                    <a:pt x="3132848" y="1889912"/>
                  </a:lnTo>
                  <a:lnTo>
                    <a:pt x="3132848" y="1920074"/>
                  </a:lnTo>
                  <a:lnTo>
                    <a:pt x="46024" y="1920074"/>
                  </a:lnTo>
                  <a:lnTo>
                    <a:pt x="46024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0149" y="76200"/>
                  </a:lnTo>
                  <a:lnTo>
                    <a:pt x="30149" y="1928025"/>
                  </a:lnTo>
                  <a:lnTo>
                    <a:pt x="38087" y="1928025"/>
                  </a:lnTo>
                  <a:lnTo>
                    <a:pt x="38087" y="1935949"/>
                  </a:lnTo>
                  <a:lnTo>
                    <a:pt x="3132848" y="1935949"/>
                  </a:lnTo>
                  <a:lnTo>
                    <a:pt x="3132848" y="1966112"/>
                  </a:lnTo>
                  <a:lnTo>
                    <a:pt x="3193173" y="1935949"/>
                  </a:lnTo>
                  <a:lnTo>
                    <a:pt x="3209048" y="192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09320" y="4322572"/>
              <a:ext cx="2642235" cy="1089025"/>
            </a:xfrm>
            <a:custGeom>
              <a:avLst/>
              <a:gdLst/>
              <a:ahLst/>
              <a:cxnLst/>
              <a:rect l="l" t="t" r="r" b="b"/>
              <a:pathLst>
                <a:path w="2642235" h="1089025">
                  <a:moveTo>
                    <a:pt x="0" y="1088897"/>
                  </a:moveTo>
                  <a:lnTo>
                    <a:pt x="2641777" y="0"/>
                  </a:lnTo>
                </a:path>
              </a:pathLst>
            </a:custGeom>
            <a:ln w="15875">
              <a:solidFill>
                <a:srgbClr val="4EA7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" name="object 4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57910" y="5876074"/>
            <a:ext cx="128028" cy="12912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19860" y="5552566"/>
            <a:ext cx="128015" cy="12912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07032" y="5625795"/>
            <a:ext cx="128016" cy="12912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70251" y="5479288"/>
            <a:ext cx="128016" cy="129082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542036" y="4198111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28109" y="623783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10386" y="3592195"/>
            <a:ext cx="234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rebuchet MS"/>
                <a:cs typeface="Trebuchet MS"/>
              </a:rPr>
              <a:t>Trial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1: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𝑌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0</a:t>
            </a:r>
            <a:r>
              <a:rPr sz="1800" baseline="-20833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800" spc="187" baseline="-2083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4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𝛽</a:t>
            </a:r>
            <a:r>
              <a:rPr sz="1800" spc="-30" baseline="-20833" dirty="0">
                <a:latin typeface="Cambria Math"/>
                <a:cs typeface="Cambria Math"/>
              </a:rPr>
              <a:t>1</a:t>
            </a:r>
            <a:r>
              <a:rPr sz="1800" spc="-30" baseline="-20833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800" spc="-2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253609" y="4492574"/>
            <a:ext cx="6214110" cy="1167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spc="-30" dirty="0">
                <a:latin typeface="Trebuchet MS"/>
                <a:cs typeface="Trebuchet MS"/>
              </a:rPr>
              <a:t>Multiple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trails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fitting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line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conducted,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each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time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with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ts val="2055"/>
              </a:lnSpc>
            </a:pPr>
            <a:r>
              <a:rPr sz="1800" spc="-95" dirty="0">
                <a:latin typeface="Trebuchet MS"/>
                <a:cs typeface="Trebuchet MS"/>
              </a:rPr>
              <a:t>different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line</a:t>
            </a:r>
            <a:endParaRPr sz="1800">
              <a:latin typeface="Trebuchet MS"/>
              <a:cs typeface="Trebuchet MS"/>
            </a:endParaRPr>
          </a:p>
          <a:p>
            <a:pPr marL="241300" marR="217170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65" dirty="0">
                <a:latin typeface="Trebuchet MS"/>
                <a:cs typeface="Trebuchet MS"/>
              </a:rPr>
              <a:t>Error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between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actual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predicted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value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computed. </a:t>
            </a:r>
            <a:r>
              <a:rPr sz="1800" spc="-90" dirty="0">
                <a:latin typeface="Trebuchet MS"/>
                <a:cs typeface="Trebuchet MS"/>
              </a:rPr>
              <a:t>The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line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with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least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error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best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fitting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line.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913121" y="3616197"/>
            <a:ext cx="2343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rebuchet MS"/>
                <a:cs typeface="Trebuchet MS"/>
              </a:rPr>
              <a:t>Trial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2: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𝑌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0</a:t>
            </a:r>
            <a:r>
              <a:rPr sz="1800" baseline="-20833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800" spc="187" baseline="-2083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4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𝛽</a:t>
            </a:r>
            <a:r>
              <a:rPr sz="1800" spc="-30" baseline="-20833" dirty="0">
                <a:latin typeface="Cambria Math"/>
                <a:cs typeface="Cambria Math"/>
              </a:rPr>
              <a:t>1</a:t>
            </a:r>
            <a:r>
              <a:rPr sz="1800" spc="-30" baseline="-20833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800" spc="-2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39302" y="3627501"/>
            <a:ext cx="2343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rebuchet MS"/>
                <a:cs typeface="Trebuchet MS"/>
              </a:rPr>
              <a:t>Trial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3: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𝑌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0</a:t>
            </a:r>
            <a:r>
              <a:rPr sz="1800" baseline="-20833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800" spc="187" baseline="-2083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4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𝛽</a:t>
            </a:r>
            <a:r>
              <a:rPr sz="1800" spc="-30" baseline="-20833" dirty="0">
                <a:latin typeface="Cambria Math"/>
                <a:cs typeface="Cambria Math"/>
              </a:rPr>
              <a:t>1</a:t>
            </a:r>
            <a:r>
              <a:rPr sz="1800" spc="-30" baseline="-20833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800" spc="-2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62761" y="6354267"/>
            <a:ext cx="234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rebuchet MS"/>
                <a:cs typeface="Trebuchet MS"/>
              </a:rPr>
              <a:t>Trial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4: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𝑌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0</a:t>
            </a:r>
            <a:r>
              <a:rPr sz="1800" baseline="-20833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800" spc="187" baseline="-2083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4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𝛽</a:t>
            </a:r>
            <a:r>
              <a:rPr sz="1800" spc="-30" baseline="-20833" dirty="0">
                <a:latin typeface="Cambria Math"/>
                <a:cs typeface="Cambria Math"/>
              </a:rPr>
              <a:t>1</a:t>
            </a:r>
            <a:r>
              <a:rPr sz="1800" spc="-30" baseline="-20833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800" spc="-2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2259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Simple</a:t>
            </a:r>
            <a:r>
              <a:rPr sz="3200" spc="-25" dirty="0"/>
              <a:t> </a:t>
            </a:r>
            <a:r>
              <a:rPr sz="3200" dirty="0"/>
              <a:t>Linear</a:t>
            </a:r>
            <a:r>
              <a:rPr sz="3200" spc="-25" dirty="0"/>
              <a:t> </a:t>
            </a:r>
            <a:r>
              <a:rPr sz="3200" dirty="0"/>
              <a:t>Regression:</a:t>
            </a:r>
            <a:r>
              <a:rPr sz="3200" spc="-30" dirty="0"/>
              <a:t> </a:t>
            </a:r>
            <a:r>
              <a:rPr sz="3200" dirty="0"/>
              <a:t>Residual</a:t>
            </a:r>
            <a:r>
              <a:rPr sz="3200" spc="-15" dirty="0"/>
              <a:t> </a:t>
            </a:r>
            <a:r>
              <a:rPr sz="3200" dirty="0"/>
              <a:t>Sum</a:t>
            </a:r>
            <a:r>
              <a:rPr sz="3200" spc="-25" dirty="0"/>
              <a:t> </a:t>
            </a:r>
            <a:r>
              <a:rPr sz="3200" dirty="0"/>
              <a:t>of</a:t>
            </a:r>
            <a:r>
              <a:rPr sz="3200" spc="-10" dirty="0"/>
              <a:t> Squares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38632" y="2131930"/>
            <a:ext cx="5066030" cy="6858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rebuchet MS"/>
                <a:cs typeface="Trebuchet MS"/>
              </a:rPr>
              <a:t>Residual</a:t>
            </a:r>
            <a:r>
              <a:rPr sz="2000" spc="-2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y</a:t>
            </a:r>
            <a:r>
              <a:rPr sz="1950" spc="-75" baseline="-21367" dirty="0">
                <a:latin typeface="Trebuchet MS"/>
                <a:cs typeface="Trebuchet MS"/>
              </a:rPr>
              <a:t>i</a:t>
            </a:r>
            <a:r>
              <a:rPr sz="1950" baseline="-21367" dirty="0">
                <a:latin typeface="Trebuchet MS"/>
                <a:cs typeface="Trebuchet MS"/>
              </a:rPr>
              <a:t> </a:t>
            </a:r>
            <a:r>
              <a:rPr sz="2000" spc="180" dirty="0">
                <a:latin typeface="Trebuchet MS"/>
                <a:cs typeface="Trebuchet MS"/>
              </a:rPr>
              <a:t>–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280" dirty="0">
                <a:latin typeface="Trebuchet MS"/>
                <a:cs typeface="Trebuchet MS"/>
              </a:rPr>
              <a:t>y</a:t>
            </a:r>
            <a:r>
              <a:rPr sz="1950" spc="-419" baseline="-21367" dirty="0">
                <a:latin typeface="Trebuchet MS"/>
                <a:cs typeface="Trebuchet MS"/>
              </a:rPr>
              <a:t>i</a:t>
            </a:r>
            <a:r>
              <a:rPr sz="2000" spc="-280" dirty="0">
                <a:latin typeface="Trebuchet MS"/>
                <a:cs typeface="Trebuchet MS"/>
              </a:rPr>
              <a:t>’,</a:t>
            </a:r>
            <a:endParaRPr sz="2000">
              <a:latin typeface="Trebuchet MS"/>
              <a:cs typeface="Trebuchet MS"/>
            </a:endParaRPr>
          </a:p>
          <a:p>
            <a:pPr marL="723265" lvl="1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23265" algn="l"/>
              </a:tabLst>
            </a:pPr>
            <a:r>
              <a:rPr sz="1800" spc="-90" dirty="0">
                <a:latin typeface="Trebuchet MS"/>
                <a:cs typeface="Trebuchet MS"/>
              </a:rPr>
              <a:t>where,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y</a:t>
            </a:r>
            <a:r>
              <a:rPr sz="1800" spc="-75" baseline="-20833" dirty="0">
                <a:latin typeface="Trebuchet MS"/>
                <a:cs typeface="Trebuchet MS"/>
              </a:rPr>
              <a:t>i</a:t>
            </a:r>
            <a:r>
              <a:rPr sz="1800" spc="52" baseline="-20833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actual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value,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y</a:t>
            </a:r>
            <a:r>
              <a:rPr sz="1800" spc="-165" baseline="-20833" dirty="0">
                <a:latin typeface="Trebuchet MS"/>
                <a:cs typeface="Trebuchet MS"/>
              </a:rPr>
              <a:t>i</a:t>
            </a:r>
            <a:r>
              <a:rPr sz="1800" spc="-110" dirty="0">
                <a:latin typeface="Trebuchet MS"/>
                <a:cs typeface="Trebuchet MS"/>
              </a:rPr>
              <a:t>’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predicted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value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01922" y="3136010"/>
            <a:ext cx="123825" cy="17145"/>
          </a:xfrm>
          <a:custGeom>
            <a:avLst/>
            <a:gdLst/>
            <a:ahLst/>
            <a:cxnLst/>
            <a:rect l="l" t="t" r="r" b="b"/>
            <a:pathLst>
              <a:path w="123825" h="17144">
                <a:moveTo>
                  <a:pt x="123444" y="0"/>
                </a:moveTo>
                <a:lnTo>
                  <a:pt x="0" y="0"/>
                </a:lnTo>
                <a:lnTo>
                  <a:pt x="0" y="16763"/>
                </a:lnTo>
                <a:lnTo>
                  <a:pt x="123444" y="16763"/>
                </a:lnTo>
                <a:lnTo>
                  <a:pt x="123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89730" y="3146806"/>
            <a:ext cx="14668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55" dirty="0">
                <a:latin typeface="Cambria Math"/>
                <a:cs typeface="Cambria Math"/>
              </a:rPr>
              <a:t>𝑛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8559" y="3098038"/>
            <a:ext cx="44069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87350" algn="l"/>
              </a:tabLst>
            </a:pPr>
            <a:r>
              <a:rPr sz="1300" spc="-50" dirty="0">
                <a:latin typeface="Trebuchet MS"/>
                <a:cs typeface="Trebuchet MS"/>
              </a:rPr>
              <a:t>i</a:t>
            </a:r>
            <a:r>
              <a:rPr sz="1300" dirty="0">
                <a:latin typeface="Trebuchet MS"/>
                <a:cs typeface="Trebuchet MS"/>
              </a:rPr>
              <a:t>	</a:t>
            </a:r>
            <a:r>
              <a:rPr sz="1300" spc="-50" dirty="0">
                <a:latin typeface="Trebuchet MS"/>
                <a:cs typeface="Trebuchet MS"/>
              </a:rPr>
              <a:t>i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632" y="2950210"/>
            <a:ext cx="4580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rebuchet MS"/>
                <a:cs typeface="Trebuchet MS"/>
              </a:rPr>
              <a:t>Mean</a:t>
            </a:r>
            <a:r>
              <a:rPr sz="2000" spc="-2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Squared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Error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(MSE)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175" baseline="45977" dirty="0">
                <a:latin typeface="Cambria Math"/>
                <a:cs typeface="Cambria Math"/>
              </a:rPr>
              <a:t>1</a:t>
            </a:r>
            <a:r>
              <a:rPr sz="2175" spc="240" baseline="45977" dirty="0">
                <a:latin typeface="Cambria Math"/>
                <a:cs typeface="Cambria Math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Σ</a:t>
            </a:r>
            <a:r>
              <a:rPr sz="2000" spc="-3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(y</a:t>
            </a:r>
            <a:r>
              <a:rPr sz="2000" spc="120" dirty="0">
                <a:latin typeface="Trebuchet MS"/>
                <a:cs typeface="Trebuchet MS"/>
              </a:rPr>
              <a:t> </a:t>
            </a:r>
            <a:r>
              <a:rPr sz="2000" spc="175" dirty="0">
                <a:latin typeface="Trebuchet MS"/>
                <a:cs typeface="Trebuchet MS"/>
              </a:rPr>
              <a:t>–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y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’)</a:t>
            </a:r>
            <a:r>
              <a:rPr sz="1950" spc="-37" baseline="25641" dirty="0">
                <a:latin typeface="Trebuchet MS"/>
                <a:cs typeface="Trebuchet MS"/>
              </a:rPr>
              <a:t>2</a:t>
            </a:r>
            <a:endParaRPr sz="1950" baseline="25641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1091" y="3373577"/>
            <a:ext cx="215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Trebuchet MS"/>
                <a:cs typeface="Trebuchet MS"/>
              </a:rPr>
              <a:t>=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16934" y="3660266"/>
            <a:ext cx="123825" cy="17145"/>
          </a:xfrm>
          <a:custGeom>
            <a:avLst/>
            <a:gdLst/>
            <a:ahLst/>
            <a:cxnLst/>
            <a:rect l="l" t="t" r="r" b="b"/>
            <a:pathLst>
              <a:path w="123825" h="17145">
                <a:moveTo>
                  <a:pt x="123444" y="0"/>
                </a:moveTo>
                <a:lnTo>
                  <a:pt x="0" y="0"/>
                </a:lnTo>
                <a:lnTo>
                  <a:pt x="0" y="16763"/>
                </a:lnTo>
                <a:lnTo>
                  <a:pt x="123444" y="16763"/>
                </a:lnTo>
                <a:lnTo>
                  <a:pt x="123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04742" y="3339439"/>
            <a:ext cx="146685" cy="5803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540"/>
              </a:spcBef>
            </a:pPr>
            <a:r>
              <a:rPr sz="1450" spc="-5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50" spc="55" dirty="0">
                <a:latin typeface="Cambria Math"/>
                <a:cs typeface="Cambria Math"/>
              </a:rPr>
              <a:t>𝑛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1903" y="3474465"/>
            <a:ext cx="2134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Trebuchet MS"/>
                <a:cs typeface="Trebuchet MS"/>
              </a:rPr>
              <a:t>Σ</a:t>
            </a:r>
            <a:r>
              <a:rPr sz="2000" spc="-33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(y</a:t>
            </a:r>
            <a:r>
              <a:rPr sz="1950" spc="-150" baseline="-21367" dirty="0">
                <a:latin typeface="Trebuchet MS"/>
                <a:cs typeface="Trebuchet MS"/>
              </a:rPr>
              <a:t>i</a:t>
            </a:r>
            <a:r>
              <a:rPr sz="1950" baseline="-21367" dirty="0">
                <a:latin typeface="Trebuchet MS"/>
                <a:cs typeface="Trebuchet MS"/>
              </a:rPr>
              <a:t> </a:t>
            </a:r>
            <a:r>
              <a:rPr sz="2000" spc="175" dirty="0">
                <a:latin typeface="Trebuchet MS"/>
                <a:cs typeface="Trebuchet MS"/>
              </a:rPr>
              <a:t>–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</a:t>
            </a:r>
            <a:r>
              <a:rPr sz="2000" dirty="0">
                <a:latin typeface="Cambria Math"/>
                <a:cs typeface="Cambria Math"/>
              </a:rPr>
              <a:t>𝛽</a:t>
            </a:r>
            <a:r>
              <a:rPr sz="1950" baseline="-21367" dirty="0">
                <a:latin typeface="Cambria Math"/>
                <a:cs typeface="Cambria Math"/>
              </a:rPr>
              <a:t>0</a:t>
            </a:r>
            <a:r>
              <a:rPr sz="1950" spc="120" baseline="-21367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40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𝛽</a:t>
            </a:r>
            <a:r>
              <a:rPr sz="1950" spc="-37" baseline="-21367" dirty="0">
                <a:latin typeface="Cambria Math"/>
                <a:cs typeface="Cambria Math"/>
              </a:rPr>
              <a:t>1</a:t>
            </a:r>
            <a:r>
              <a:rPr sz="2000" spc="-25" dirty="0">
                <a:latin typeface="Cambria Math"/>
                <a:cs typeface="Cambria Math"/>
              </a:rPr>
              <a:t>𝑥</a:t>
            </a:r>
            <a:r>
              <a:rPr sz="1950" spc="-37" baseline="-21367" dirty="0">
                <a:latin typeface="Cambria Math"/>
                <a:cs typeface="Cambria Math"/>
              </a:rPr>
              <a:t>𝑖</a:t>
            </a:r>
            <a:r>
              <a:rPr sz="2000" spc="-25" dirty="0">
                <a:latin typeface="Trebuchet MS"/>
                <a:cs typeface="Trebuchet MS"/>
              </a:rPr>
              <a:t>)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)</a:t>
            </a:r>
            <a:r>
              <a:rPr sz="1950" spc="-37" baseline="25641" dirty="0">
                <a:latin typeface="Trebuchet MS"/>
                <a:cs typeface="Trebuchet MS"/>
              </a:rPr>
              <a:t>2</a:t>
            </a:r>
            <a:endParaRPr sz="1950" baseline="25641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2661" y="1996328"/>
            <a:ext cx="5375414" cy="3056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74011" y="5359704"/>
            <a:ext cx="8044815" cy="128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2515" marR="14605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Trebuchet MS"/>
                <a:cs typeface="Trebuchet MS"/>
              </a:rPr>
              <a:t>Fig.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Simple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Linear </a:t>
            </a:r>
            <a:r>
              <a:rPr sz="1800" spc="-10" dirty="0">
                <a:latin typeface="Trebuchet MS"/>
                <a:cs typeface="Trebuchet MS"/>
              </a:rPr>
              <a:t>Regression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spc="-40" dirty="0">
                <a:solidFill>
                  <a:srgbClr val="155F82"/>
                </a:solidFill>
                <a:latin typeface="Trebuchet MS"/>
                <a:cs typeface="Trebuchet MS"/>
              </a:rPr>
              <a:t>Link</a:t>
            </a:r>
            <a:r>
              <a:rPr sz="1800" spc="-180" dirty="0">
                <a:solidFill>
                  <a:srgbClr val="155F82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155F82"/>
                </a:solidFill>
                <a:latin typeface="Trebuchet MS"/>
                <a:cs typeface="Trebuchet MS"/>
              </a:rPr>
              <a:t>to</a:t>
            </a:r>
            <a:r>
              <a:rPr sz="1800" spc="-150" dirty="0">
                <a:solidFill>
                  <a:srgbClr val="155F82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155F82"/>
                </a:solidFill>
                <a:latin typeface="Trebuchet MS"/>
                <a:cs typeface="Trebuchet MS"/>
              </a:rPr>
              <a:t>video: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u="sng" spc="-4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3"/>
              </a:rPr>
              <a:t>https://www.youtube.com/watch?v=owI7zxCqNY0Cab_channel=dataminingincae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2802" y="439673"/>
            <a:ext cx="7694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latin typeface="Trebuchet MS"/>
                <a:cs typeface="Trebuchet MS"/>
              </a:rPr>
              <a:t>Linear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Regression: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50" dirty="0">
                <a:latin typeface="Trebuchet MS"/>
                <a:cs typeface="Trebuchet MS"/>
              </a:rPr>
              <a:t>House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Price</a:t>
            </a:r>
            <a:r>
              <a:rPr sz="3600" spc="-345" dirty="0">
                <a:latin typeface="Trebuchet MS"/>
                <a:cs typeface="Trebuchet MS"/>
              </a:rPr>
              <a:t> </a:t>
            </a:r>
            <a:r>
              <a:rPr sz="3600" spc="-150" dirty="0">
                <a:latin typeface="Trebuchet MS"/>
                <a:cs typeface="Trebuchet MS"/>
              </a:rPr>
              <a:t>Prediction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12155" y="1405255"/>
          <a:ext cx="3061970" cy="329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(sq.</a:t>
                      </a: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ft.)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r>
                        <a:rPr sz="1800" b="1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(lakhs)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650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16.5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17.2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1050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187821" y="4680584"/>
            <a:ext cx="113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Trebuchet MS"/>
                <a:cs typeface="Trebuchet MS"/>
              </a:rPr>
              <a:t>Training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92090" y="5146547"/>
          <a:ext cx="3171825" cy="114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(sq.</a:t>
                      </a: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ft.)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r>
                        <a:rPr sz="1800" b="1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(lakhs)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1200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1550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41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14947" y="6309766"/>
            <a:ext cx="1063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rebuchet MS"/>
                <a:cs typeface="Trebuchet MS"/>
              </a:rPr>
              <a:t>Testing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97521" y="1405255"/>
          <a:ext cx="3171825" cy="421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(sq.</a:t>
                      </a: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ft.)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r>
                        <a:rPr sz="1800" b="1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(lakhs)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650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16.5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17.2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1050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1200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1550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41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819782" y="5758383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Data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683" y="2903982"/>
            <a:ext cx="401955" cy="2562860"/>
          </a:xfrm>
          <a:custGeom>
            <a:avLst/>
            <a:gdLst/>
            <a:ahLst/>
            <a:cxnLst/>
            <a:rect l="l" t="t" r="r" b="b"/>
            <a:pathLst>
              <a:path w="401954" h="2562860">
                <a:moveTo>
                  <a:pt x="401954" y="2562352"/>
                </a:moveTo>
                <a:lnTo>
                  <a:pt x="323715" y="2559722"/>
                </a:lnTo>
                <a:lnTo>
                  <a:pt x="259810" y="2552557"/>
                </a:lnTo>
                <a:lnTo>
                  <a:pt x="216717" y="2541938"/>
                </a:lnTo>
                <a:lnTo>
                  <a:pt x="200913" y="2528951"/>
                </a:lnTo>
                <a:lnTo>
                  <a:pt x="200913" y="1314703"/>
                </a:lnTo>
                <a:lnTo>
                  <a:pt x="185130" y="1301642"/>
                </a:lnTo>
                <a:lnTo>
                  <a:pt x="142081" y="1290986"/>
                </a:lnTo>
                <a:lnTo>
                  <a:pt x="78220" y="1283807"/>
                </a:lnTo>
                <a:lnTo>
                  <a:pt x="0" y="1281175"/>
                </a:lnTo>
                <a:lnTo>
                  <a:pt x="78220" y="1278544"/>
                </a:lnTo>
                <a:lnTo>
                  <a:pt x="142081" y="1271365"/>
                </a:lnTo>
                <a:lnTo>
                  <a:pt x="185130" y="1260709"/>
                </a:lnTo>
                <a:lnTo>
                  <a:pt x="200913" y="1247647"/>
                </a:lnTo>
                <a:lnTo>
                  <a:pt x="200913" y="33527"/>
                </a:lnTo>
                <a:lnTo>
                  <a:pt x="216717" y="20466"/>
                </a:lnTo>
                <a:lnTo>
                  <a:pt x="259810" y="9810"/>
                </a:lnTo>
                <a:lnTo>
                  <a:pt x="323715" y="2631"/>
                </a:lnTo>
                <a:lnTo>
                  <a:pt x="401954" y="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40834" y="3338576"/>
            <a:ext cx="591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Trebuchet MS"/>
                <a:cs typeface="Trebuchet MS"/>
              </a:rPr>
              <a:t>80-20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split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1603" y="1610359"/>
            <a:ext cx="29159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90" dirty="0">
                <a:latin typeface="Trebuchet MS"/>
                <a:cs typeface="Trebuchet MS"/>
              </a:rPr>
              <a:t>Training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set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used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for </a:t>
            </a:r>
            <a:r>
              <a:rPr sz="1800" spc="-70" dirty="0">
                <a:latin typeface="Trebuchet MS"/>
                <a:cs typeface="Trebuchet MS"/>
              </a:rPr>
              <a:t>training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(finding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best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fit </a:t>
            </a:r>
            <a:r>
              <a:rPr sz="1800" spc="-10" dirty="0">
                <a:latin typeface="Trebuchet MS"/>
                <a:cs typeface="Trebuchet MS"/>
              </a:rPr>
              <a:t>line).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3950" y="5281676"/>
            <a:ext cx="24390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95" dirty="0">
                <a:latin typeface="Trebuchet MS"/>
                <a:cs typeface="Trebuchet MS"/>
              </a:rPr>
              <a:t>Testing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set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for </a:t>
            </a:r>
            <a:r>
              <a:rPr sz="1800" spc="-70" dirty="0">
                <a:latin typeface="Trebuchet MS"/>
                <a:cs typeface="Trebuchet MS"/>
              </a:rPr>
              <a:t>evaluating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the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trained </a:t>
            </a:r>
            <a:r>
              <a:rPr sz="1800" spc="-10" dirty="0">
                <a:latin typeface="Trebuchet MS"/>
                <a:cs typeface="Trebuchet MS"/>
              </a:rPr>
              <a:t>model.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735" rIns="0" bIns="0" rtlCol="0">
            <a:spAutoFit/>
          </a:bodyPr>
          <a:lstStyle/>
          <a:p>
            <a:pPr marL="41402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latin typeface="Trebuchet MS"/>
                <a:cs typeface="Trebuchet MS"/>
              </a:rPr>
              <a:t>Linear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Regression: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50" dirty="0">
                <a:latin typeface="Trebuchet MS"/>
                <a:cs typeface="Trebuchet MS"/>
              </a:rPr>
              <a:t>House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Price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90" dirty="0">
                <a:latin typeface="Trebuchet MS"/>
                <a:cs typeface="Trebuchet MS"/>
              </a:rPr>
              <a:t>Prediction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285" dirty="0">
                <a:latin typeface="Trebuchet MS"/>
                <a:cs typeface="Trebuchet MS"/>
              </a:rPr>
              <a:t>(Training)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5675" y="1722501"/>
          <a:ext cx="3171825" cy="3445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2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(sq.</a:t>
                      </a: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ft.)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r>
                        <a:rPr sz="1800" b="1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(lakhs)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650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16.5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17.2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1050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488495" y="2226119"/>
            <a:ext cx="5175250" cy="2599055"/>
            <a:chOff x="5488495" y="2226119"/>
            <a:chExt cx="5175250" cy="2599055"/>
          </a:xfrm>
        </p:grpSpPr>
        <p:sp>
          <p:nvSpPr>
            <p:cNvPr id="5" name="object 5"/>
            <p:cNvSpPr/>
            <p:nvPr/>
          </p:nvSpPr>
          <p:spPr>
            <a:xfrm>
              <a:off x="5493258" y="2230882"/>
              <a:ext cx="5165725" cy="2589530"/>
            </a:xfrm>
            <a:custGeom>
              <a:avLst/>
              <a:gdLst/>
              <a:ahLst/>
              <a:cxnLst/>
              <a:rect l="l" t="t" r="r" b="b"/>
              <a:pathLst>
                <a:path w="5165725" h="2589529">
                  <a:moveTo>
                    <a:pt x="0" y="2301493"/>
                  </a:moveTo>
                  <a:lnTo>
                    <a:pt x="5165217" y="2301493"/>
                  </a:lnTo>
                </a:path>
                <a:path w="5165725" h="2589529">
                  <a:moveTo>
                    <a:pt x="0" y="2013457"/>
                  </a:moveTo>
                  <a:lnTo>
                    <a:pt x="5165217" y="2013457"/>
                  </a:lnTo>
                </a:path>
                <a:path w="5165725" h="2589529">
                  <a:moveTo>
                    <a:pt x="0" y="1725421"/>
                  </a:moveTo>
                  <a:lnTo>
                    <a:pt x="5165217" y="1725421"/>
                  </a:lnTo>
                </a:path>
                <a:path w="5165725" h="2589529">
                  <a:moveTo>
                    <a:pt x="0" y="1438909"/>
                  </a:moveTo>
                  <a:lnTo>
                    <a:pt x="5165217" y="1438909"/>
                  </a:lnTo>
                </a:path>
                <a:path w="5165725" h="2589529">
                  <a:moveTo>
                    <a:pt x="0" y="1150873"/>
                  </a:moveTo>
                  <a:lnTo>
                    <a:pt x="5165217" y="1150873"/>
                  </a:lnTo>
                </a:path>
                <a:path w="5165725" h="2589529">
                  <a:moveTo>
                    <a:pt x="0" y="862838"/>
                  </a:moveTo>
                  <a:lnTo>
                    <a:pt x="5165217" y="862838"/>
                  </a:lnTo>
                </a:path>
                <a:path w="5165725" h="2589529">
                  <a:moveTo>
                    <a:pt x="0" y="574801"/>
                  </a:moveTo>
                  <a:lnTo>
                    <a:pt x="5165217" y="574801"/>
                  </a:lnTo>
                </a:path>
                <a:path w="5165725" h="2589529">
                  <a:moveTo>
                    <a:pt x="0" y="288289"/>
                  </a:moveTo>
                  <a:lnTo>
                    <a:pt x="5165217" y="288289"/>
                  </a:lnTo>
                </a:path>
                <a:path w="5165725" h="2589529">
                  <a:moveTo>
                    <a:pt x="0" y="0"/>
                  </a:moveTo>
                  <a:lnTo>
                    <a:pt x="5165217" y="0"/>
                  </a:lnTo>
                </a:path>
                <a:path w="5165725" h="2589529">
                  <a:moveTo>
                    <a:pt x="573786" y="0"/>
                  </a:moveTo>
                  <a:lnTo>
                    <a:pt x="573786" y="2589022"/>
                  </a:lnTo>
                </a:path>
                <a:path w="5165725" h="2589529">
                  <a:moveTo>
                    <a:pt x="1148334" y="0"/>
                  </a:moveTo>
                  <a:lnTo>
                    <a:pt x="1148334" y="2589022"/>
                  </a:lnTo>
                </a:path>
                <a:path w="5165725" h="2589529">
                  <a:moveTo>
                    <a:pt x="1721358" y="0"/>
                  </a:moveTo>
                  <a:lnTo>
                    <a:pt x="1721358" y="2589022"/>
                  </a:lnTo>
                </a:path>
                <a:path w="5165725" h="2589529">
                  <a:moveTo>
                    <a:pt x="2295906" y="0"/>
                  </a:moveTo>
                  <a:lnTo>
                    <a:pt x="2295906" y="2589022"/>
                  </a:lnTo>
                </a:path>
                <a:path w="5165725" h="2589529">
                  <a:moveTo>
                    <a:pt x="2868930" y="0"/>
                  </a:moveTo>
                  <a:lnTo>
                    <a:pt x="2868930" y="2589022"/>
                  </a:lnTo>
                </a:path>
                <a:path w="5165725" h="2589529">
                  <a:moveTo>
                    <a:pt x="3443477" y="0"/>
                  </a:moveTo>
                  <a:lnTo>
                    <a:pt x="3443477" y="2589022"/>
                  </a:lnTo>
                </a:path>
                <a:path w="5165725" h="2589529">
                  <a:moveTo>
                    <a:pt x="4018025" y="0"/>
                  </a:moveTo>
                  <a:lnTo>
                    <a:pt x="4018025" y="2589022"/>
                  </a:lnTo>
                </a:path>
                <a:path w="5165725" h="2589529">
                  <a:moveTo>
                    <a:pt x="4591049" y="0"/>
                  </a:moveTo>
                  <a:lnTo>
                    <a:pt x="4591049" y="2589022"/>
                  </a:lnTo>
                </a:path>
                <a:path w="5165725" h="2589529">
                  <a:moveTo>
                    <a:pt x="5165217" y="0"/>
                  </a:moveTo>
                  <a:lnTo>
                    <a:pt x="5165217" y="2589022"/>
                  </a:lnTo>
                </a:path>
                <a:path w="5165725" h="2589529">
                  <a:moveTo>
                    <a:pt x="0" y="2589022"/>
                  </a:moveTo>
                  <a:lnTo>
                    <a:pt x="0" y="0"/>
                  </a:lnTo>
                </a:path>
                <a:path w="5165725" h="2589529">
                  <a:moveTo>
                    <a:pt x="0" y="2589022"/>
                  </a:moveTo>
                  <a:lnTo>
                    <a:pt x="5165217" y="2589022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36736" y="2461006"/>
              <a:ext cx="1004569" cy="690880"/>
            </a:xfrm>
            <a:custGeom>
              <a:avLst/>
              <a:gdLst/>
              <a:ahLst/>
              <a:cxnLst/>
              <a:rect l="l" t="t" r="r" b="b"/>
              <a:pathLst>
                <a:path w="1004570" h="690880">
                  <a:moveTo>
                    <a:pt x="0" y="690372"/>
                  </a:moveTo>
                  <a:lnTo>
                    <a:pt x="1004443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5749" y="4087685"/>
              <a:ext cx="85725" cy="85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517" y="4000817"/>
              <a:ext cx="85725" cy="857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6685" y="3787584"/>
              <a:ext cx="257936" cy="126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0065" y="3683952"/>
              <a:ext cx="85725" cy="857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5409" y="3569652"/>
              <a:ext cx="85725" cy="857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4613" y="3397440"/>
              <a:ext cx="85725" cy="857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4381" y="3109404"/>
              <a:ext cx="85725" cy="857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98189" y="2416873"/>
              <a:ext cx="85725" cy="857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28104" y="2548763"/>
              <a:ext cx="3013075" cy="1697355"/>
            </a:xfrm>
            <a:custGeom>
              <a:avLst/>
              <a:gdLst/>
              <a:ahLst/>
              <a:cxnLst/>
              <a:rect l="l" t="t" r="r" b="b"/>
              <a:pathLst>
                <a:path w="3013075" h="1697354">
                  <a:moveTo>
                    <a:pt x="0" y="1696974"/>
                  </a:moveTo>
                  <a:lnTo>
                    <a:pt x="3013075" y="0"/>
                  </a:lnTo>
                </a:path>
              </a:pathLst>
            </a:custGeom>
            <a:ln w="9525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53609" y="2134870"/>
            <a:ext cx="147955" cy="275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42330" y="4871973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0044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200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13956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400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7869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600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61909" y="4831333"/>
            <a:ext cx="866140" cy="3810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548640" algn="l"/>
              </a:tabLst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800</a:t>
            </a: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	</a:t>
            </a: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1000 </a:t>
            </a:r>
            <a:endParaRPr sz="90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  <a:spcBef>
                <a:spcPts val="320"/>
              </a:spcBef>
            </a:pP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AREA</a:t>
            </a:r>
            <a:r>
              <a:rPr sz="9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Trebuchet MS"/>
                <a:cs typeface="Trebuchet MS"/>
              </a:rPr>
              <a:t>(SQ.</a:t>
            </a:r>
            <a:r>
              <a:rPr sz="9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FT.)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71890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1200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45930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1400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19843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1600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93756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1800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5292" y="3147862"/>
            <a:ext cx="165100" cy="75692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PRICE</a:t>
            </a:r>
            <a:r>
              <a:rPr sz="900" spc="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Trebuchet MS"/>
                <a:cs typeface="Trebuchet MS"/>
              </a:rPr>
              <a:t>(LAKHS)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80250" y="1799589"/>
            <a:ext cx="1673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35" dirty="0">
                <a:solidFill>
                  <a:srgbClr val="585858"/>
                </a:solidFill>
                <a:latin typeface="Trebuchet MS"/>
                <a:cs typeface="Trebuchet MS"/>
              </a:rPr>
              <a:t>PRICE</a:t>
            </a:r>
            <a:r>
              <a:rPr sz="1600" b="1" spc="9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600" b="1" spc="65" dirty="0">
                <a:solidFill>
                  <a:srgbClr val="585858"/>
                </a:solidFill>
                <a:latin typeface="Trebuchet MS"/>
                <a:cs typeface="Trebuchet MS"/>
              </a:rPr>
              <a:t>VS.</a:t>
            </a:r>
            <a:r>
              <a:rPr sz="1600" b="1" spc="9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600" b="1" spc="55" dirty="0">
                <a:solidFill>
                  <a:srgbClr val="585858"/>
                </a:solidFill>
                <a:latin typeface="Trebuchet MS"/>
                <a:cs typeface="Trebuchet MS"/>
              </a:rPr>
              <a:t>AREA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748264" y="5649721"/>
            <a:ext cx="372110" cy="212090"/>
          </a:xfrm>
          <a:custGeom>
            <a:avLst/>
            <a:gdLst/>
            <a:ahLst/>
            <a:cxnLst/>
            <a:rect l="l" t="t" r="r" b="b"/>
            <a:pathLst>
              <a:path w="372109" h="212089">
                <a:moveTo>
                  <a:pt x="304164" y="0"/>
                </a:moveTo>
                <a:lnTo>
                  <a:pt x="301116" y="8597"/>
                </a:lnTo>
                <a:lnTo>
                  <a:pt x="313402" y="13915"/>
                </a:lnTo>
                <a:lnTo>
                  <a:pt x="323961" y="21277"/>
                </a:lnTo>
                <a:lnTo>
                  <a:pt x="345352" y="55406"/>
                </a:lnTo>
                <a:lnTo>
                  <a:pt x="351606" y="86513"/>
                </a:lnTo>
                <a:lnTo>
                  <a:pt x="351639" y="86744"/>
                </a:lnTo>
                <a:lnTo>
                  <a:pt x="352425" y="104813"/>
                </a:lnTo>
                <a:lnTo>
                  <a:pt x="351639" y="123484"/>
                </a:lnTo>
                <a:lnTo>
                  <a:pt x="349281" y="140442"/>
                </a:lnTo>
                <a:lnTo>
                  <a:pt x="332734" y="180837"/>
                </a:lnTo>
                <a:lnTo>
                  <a:pt x="301497" y="203149"/>
                </a:lnTo>
                <a:lnTo>
                  <a:pt x="304164" y="211747"/>
                </a:lnTo>
                <a:lnTo>
                  <a:pt x="344634" y="187703"/>
                </a:lnTo>
                <a:lnTo>
                  <a:pt x="367363" y="143335"/>
                </a:lnTo>
                <a:lnTo>
                  <a:pt x="371728" y="105930"/>
                </a:lnTo>
                <a:lnTo>
                  <a:pt x="370646" y="86744"/>
                </a:lnTo>
                <a:lnTo>
                  <a:pt x="354202" y="37109"/>
                </a:lnTo>
                <a:lnTo>
                  <a:pt x="319520" y="5541"/>
                </a:lnTo>
                <a:lnTo>
                  <a:pt x="304164" y="0"/>
                </a:lnTo>
                <a:close/>
              </a:path>
              <a:path w="372109" h="212089">
                <a:moveTo>
                  <a:pt x="67563" y="0"/>
                </a:moveTo>
                <a:lnTo>
                  <a:pt x="27166" y="24095"/>
                </a:lnTo>
                <a:lnTo>
                  <a:pt x="4381" y="68572"/>
                </a:lnTo>
                <a:lnTo>
                  <a:pt x="63" y="104813"/>
                </a:lnTo>
                <a:lnTo>
                  <a:pt x="0" y="105930"/>
                </a:lnTo>
                <a:lnTo>
                  <a:pt x="986" y="123484"/>
                </a:lnTo>
                <a:lnTo>
                  <a:pt x="1093" y="125383"/>
                </a:lnTo>
                <a:lnTo>
                  <a:pt x="4365" y="143335"/>
                </a:lnTo>
                <a:lnTo>
                  <a:pt x="27094" y="187703"/>
                </a:lnTo>
                <a:lnTo>
                  <a:pt x="67563" y="211747"/>
                </a:lnTo>
                <a:lnTo>
                  <a:pt x="70230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7"/>
                </a:lnTo>
                <a:lnTo>
                  <a:pt x="19351" y="105930"/>
                </a:lnTo>
                <a:lnTo>
                  <a:pt x="19303" y="104813"/>
                </a:lnTo>
                <a:lnTo>
                  <a:pt x="26376" y="55406"/>
                </a:lnTo>
                <a:lnTo>
                  <a:pt x="47863" y="21277"/>
                </a:lnTo>
                <a:lnTo>
                  <a:pt x="70611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965198" y="5341746"/>
            <a:ext cx="9274175" cy="108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020"/>
              </a:lnSpc>
              <a:spcBef>
                <a:spcPts val="100"/>
              </a:spcBef>
            </a:pPr>
            <a:r>
              <a:rPr sz="1800" spc="-90" dirty="0">
                <a:latin typeface="Trebuchet MS"/>
                <a:cs typeface="Trebuchet MS"/>
              </a:rPr>
              <a:t>Training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  <a:p>
            <a:pPr marL="2546985" indent="-286385">
              <a:lnSpc>
                <a:spcPts val="2020"/>
              </a:lnSpc>
              <a:buFont typeface="Arial MT"/>
              <a:buChar char="•"/>
              <a:tabLst>
                <a:tab pos="2546985" algn="l"/>
                <a:tab pos="8858250" algn="l"/>
              </a:tabLst>
            </a:pPr>
            <a:r>
              <a:rPr sz="1800" dirty="0">
                <a:latin typeface="Trebuchet MS"/>
                <a:cs typeface="Trebuchet MS"/>
              </a:rPr>
              <a:t>Best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fitting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line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found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by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adjusting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slope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(</a:t>
            </a:r>
            <a:r>
              <a:rPr sz="1800" spc="-85" dirty="0">
                <a:latin typeface="Cambria Math"/>
                <a:cs typeface="Cambria Math"/>
              </a:rPr>
              <a:t>𝛽</a:t>
            </a:r>
            <a:r>
              <a:rPr sz="1800" spc="-127" baseline="-20833" dirty="0">
                <a:latin typeface="Cambria Math"/>
                <a:cs typeface="Cambria Math"/>
              </a:rPr>
              <a:t>1</a:t>
            </a:r>
            <a:r>
              <a:rPr sz="1800" spc="-85" dirty="0">
                <a:latin typeface="Trebuchet MS"/>
                <a:cs typeface="Trebuchet MS"/>
              </a:rPr>
              <a:t>)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y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intercept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0</a:t>
            </a:r>
            <a:r>
              <a:rPr sz="1800" spc="705" baseline="-20833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  <a:p>
            <a:pPr marL="2546985" marR="690880" indent="-287020">
              <a:lnSpc>
                <a:spcPct val="100000"/>
              </a:lnSpc>
              <a:buFont typeface="Arial MT"/>
              <a:buChar char="•"/>
              <a:tabLst>
                <a:tab pos="2546985" algn="l"/>
              </a:tabLst>
            </a:pPr>
            <a:r>
              <a:rPr sz="1800" dirty="0">
                <a:latin typeface="Trebuchet MS"/>
                <a:cs typeface="Trebuchet MS"/>
              </a:rPr>
              <a:t>Suppose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0</a:t>
            </a:r>
            <a:r>
              <a:rPr sz="1800" spc="195" baseline="-20833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3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𝛽</a:t>
            </a:r>
            <a:r>
              <a:rPr sz="1800" baseline="-20833" dirty="0">
                <a:latin typeface="Cambria Math"/>
                <a:cs typeface="Cambria Math"/>
              </a:rPr>
              <a:t>1</a:t>
            </a:r>
            <a:r>
              <a:rPr sz="1800" spc="195" baseline="-20833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6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determined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values,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then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spc="-35" dirty="0">
                <a:latin typeface="Trebuchet MS"/>
                <a:cs typeface="Trebuchet MS"/>
              </a:rPr>
              <a:t>equation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best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fitting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line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𝑌</a:t>
            </a:r>
            <a:r>
              <a:rPr sz="1800" spc="1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3</a:t>
            </a:r>
            <a:r>
              <a:rPr sz="1800" spc="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6𝑋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919" y="439673"/>
            <a:ext cx="9338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latin typeface="Trebuchet MS"/>
                <a:cs typeface="Trebuchet MS"/>
              </a:rPr>
              <a:t>Linear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Regression: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50" dirty="0">
                <a:latin typeface="Trebuchet MS"/>
                <a:cs typeface="Trebuchet MS"/>
              </a:rPr>
              <a:t>House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Price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90" dirty="0">
                <a:latin typeface="Trebuchet MS"/>
                <a:cs typeface="Trebuchet MS"/>
              </a:rPr>
              <a:t>Prediction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200" dirty="0">
                <a:latin typeface="Trebuchet MS"/>
                <a:cs typeface="Trebuchet MS"/>
              </a:rPr>
              <a:t>(Testing)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88495" y="2226119"/>
            <a:ext cx="5175250" cy="2599055"/>
            <a:chOff x="5488495" y="2226119"/>
            <a:chExt cx="5175250" cy="2599055"/>
          </a:xfrm>
        </p:grpSpPr>
        <p:sp>
          <p:nvSpPr>
            <p:cNvPr id="4" name="object 4"/>
            <p:cNvSpPr/>
            <p:nvPr/>
          </p:nvSpPr>
          <p:spPr>
            <a:xfrm>
              <a:off x="5493258" y="2230882"/>
              <a:ext cx="5165725" cy="2589530"/>
            </a:xfrm>
            <a:custGeom>
              <a:avLst/>
              <a:gdLst/>
              <a:ahLst/>
              <a:cxnLst/>
              <a:rect l="l" t="t" r="r" b="b"/>
              <a:pathLst>
                <a:path w="5165725" h="2589529">
                  <a:moveTo>
                    <a:pt x="0" y="2301493"/>
                  </a:moveTo>
                  <a:lnTo>
                    <a:pt x="5165217" y="2301493"/>
                  </a:lnTo>
                </a:path>
                <a:path w="5165725" h="2589529">
                  <a:moveTo>
                    <a:pt x="0" y="2013457"/>
                  </a:moveTo>
                  <a:lnTo>
                    <a:pt x="5165217" y="2013457"/>
                  </a:lnTo>
                </a:path>
                <a:path w="5165725" h="2589529">
                  <a:moveTo>
                    <a:pt x="0" y="1725421"/>
                  </a:moveTo>
                  <a:lnTo>
                    <a:pt x="5165217" y="1725421"/>
                  </a:lnTo>
                </a:path>
                <a:path w="5165725" h="2589529">
                  <a:moveTo>
                    <a:pt x="0" y="1438909"/>
                  </a:moveTo>
                  <a:lnTo>
                    <a:pt x="5165217" y="1438909"/>
                  </a:lnTo>
                </a:path>
                <a:path w="5165725" h="2589529">
                  <a:moveTo>
                    <a:pt x="0" y="1150873"/>
                  </a:moveTo>
                  <a:lnTo>
                    <a:pt x="5165217" y="1150873"/>
                  </a:lnTo>
                </a:path>
                <a:path w="5165725" h="2589529">
                  <a:moveTo>
                    <a:pt x="0" y="862838"/>
                  </a:moveTo>
                  <a:lnTo>
                    <a:pt x="5165217" y="862838"/>
                  </a:lnTo>
                </a:path>
                <a:path w="5165725" h="2589529">
                  <a:moveTo>
                    <a:pt x="0" y="574801"/>
                  </a:moveTo>
                  <a:lnTo>
                    <a:pt x="5165217" y="574801"/>
                  </a:lnTo>
                </a:path>
                <a:path w="5165725" h="2589529">
                  <a:moveTo>
                    <a:pt x="0" y="288289"/>
                  </a:moveTo>
                  <a:lnTo>
                    <a:pt x="5165217" y="288289"/>
                  </a:lnTo>
                </a:path>
                <a:path w="5165725" h="2589529">
                  <a:moveTo>
                    <a:pt x="0" y="0"/>
                  </a:moveTo>
                  <a:lnTo>
                    <a:pt x="5165217" y="0"/>
                  </a:lnTo>
                </a:path>
                <a:path w="5165725" h="2589529">
                  <a:moveTo>
                    <a:pt x="573786" y="0"/>
                  </a:moveTo>
                  <a:lnTo>
                    <a:pt x="573786" y="2589022"/>
                  </a:lnTo>
                </a:path>
                <a:path w="5165725" h="2589529">
                  <a:moveTo>
                    <a:pt x="1148334" y="0"/>
                  </a:moveTo>
                  <a:lnTo>
                    <a:pt x="1148334" y="2589022"/>
                  </a:lnTo>
                </a:path>
                <a:path w="5165725" h="2589529">
                  <a:moveTo>
                    <a:pt x="1721358" y="0"/>
                  </a:moveTo>
                  <a:lnTo>
                    <a:pt x="1721358" y="2589022"/>
                  </a:lnTo>
                </a:path>
                <a:path w="5165725" h="2589529">
                  <a:moveTo>
                    <a:pt x="2295906" y="0"/>
                  </a:moveTo>
                  <a:lnTo>
                    <a:pt x="2295906" y="2589022"/>
                  </a:lnTo>
                </a:path>
                <a:path w="5165725" h="2589529">
                  <a:moveTo>
                    <a:pt x="2868930" y="0"/>
                  </a:moveTo>
                  <a:lnTo>
                    <a:pt x="2868930" y="2589022"/>
                  </a:lnTo>
                </a:path>
                <a:path w="5165725" h="2589529">
                  <a:moveTo>
                    <a:pt x="3443477" y="0"/>
                  </a:moveTo>
                  <a:lnTo>
                    <a:pt x="3443477" y="2589022"/>
                  </a:lnTo>
                </a:path>
                <a:path w="5165725" h="2589529">
                  <a:moveTo>
                    <a:pt x="4018025" y="0"/>
                  </a:moveTo>
                  <a:lnTo>
                    <a:pt x="4018025" y="2589022"/>
                  </a:lnTo>
                </a:path>
                <a:path w="5165725" h="2589529">
                  <a:moveTo>
                    <a:pt x="4591049" y="0"/>
                  </a:moveTo>
                  <a:lnTo>
                    <a:pt x="4591049" y="2589022"/>
                  </a:lnTo>
                </a:path>
                <a:path w="5165725" h="2589529">
                  <a:moveTo>
                    <a:pt x="5165217" y="0"/>
                  </a:moveTo>
                  <a:lnTo>
                    <a:pt x="5165217" y="2589022"/>
                  </a:lnTo>
                </a:path>
                <a:path w="5165725" h="2589529">
                  <a:moveTo>
                    <a:pt x="0" y="2589022"/>
                  </a:moveTo>
                  <a:lnTo>
                    <a:pt x="0" y="0"/>
                  </a:lnTo>
                </a:path>
                <a:path w="5165725" h="2589529">
                  <a:moveTo>
                    <a:pt x="0" y="2589022"/>
                  </a:moveTo>
                  <a:lnTo>
                    <a:pt x="5165217" y="2589022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36736" y="2461006"/>
              <a:ext cx="1004569" cy="690880"/>
            </a:xfrm>
            <a:custGeom>
              <a:avLst/>
              <a:gdLst/>
              <a:ahLst/>
              <a:cxnLst/>
              <a:rect l="l" t="t" r="r" b="b"/>
              <a:pathLst>
                <a:path w="1004570" h="690880">
                  <a:moveTo>
                    <a:pt x="0" y="690372"/>
                  </a:moveTo>
                  <a:lnTo>
                    <a:pt x="1004443" y="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5749" y="4087685"/>
              <a:ext cx="85725" cy="857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517" y="4000817"/>
              <a:ext cx="85725" cy="85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6685" y="3787584"/>
              <a:ext cx="257936" cy="1267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0065" y="3683952"/>
              <a:ext cx="85725" cy="857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5409" y="3569652"/>
              <a:ext cx="85725" cy="857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64613" y="3397440"/>
              <a:ext cx="85725" cy="857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4381" y="3109404"/>
              <a:ext cx="85725" cy="857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98189" y="2416873"/>
              <a:ext cx="85725" cy="857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28104" y="2548763"/>
              <a:ext cx="3013075" cy="1697355"/>
            </a:xfrm>
            <a:custGeom>
              <a:avLst/>
              <a:gdLst/>
              <a:ahLst/>
              <a:cxnLst/>
              <a:rect l="l" t="t" r="r" b="b"/>
              <a:pathLst>
                <a:path w="3013075" h="1697354">
                  <a:moveTo>
                    <a:pt x="0" y="1696974"/>
                  </a:moveTo>
                  <a:lnTo>
                    <a:pt x="3013075" y="0"/>
                  </a:lnTo>
                </a:path>
              </a:pathLst>
            </a:custGeom>
            <a:ln w="9525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14569" y="4724527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14569" y="4436745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3609" y="4149090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3609" y="3861307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3609" y="3573526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53609" y="3285871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53609" y="2998089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3609" y="2710434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3609" y="24226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53609" y="2134870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42330" y="4871973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0044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200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13956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400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87869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600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71890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1200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93756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1800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61909" y="4831333"/>
            <a:ext cx="866140" cy="3810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548640" algn="l"/>
              </a:tabLst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800</a:t>
            </a: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	</a:t>
            </a: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1000 </a:t>
            </a:r>
            <a:endParaRPr sz="90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  <a:spcBef>
                <a:spcPts val="320"/>
              </a:spcBef>
            </a:pP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AREA</a:t>
            </a:r>
            <a:r>
              <a:rPr sz="9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Trebuchet MS"/>
                <a:cs typeface="Trebuchet MS"/>
              </a:rPr>
              <a:t>(SQ.</a:t>
            </a:r>
            <a:r>
              <a:rPr sz="9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FT.)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75292" y="3147862"/>
            <a:ext cx="165100" cy="75692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PRICE</a:t>
            </a:r>
            <a:r>
              <a:rPr sz="900" spc="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Trebuchet MS"/>
                <a:cs typeface="Trebuchet MS"/>
              </a:rPr>
              <a:t>(LAKHS)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80250" y="1799589"/>
            <a:ext cx="1673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35" dirty="0">
                <a:solidFill>
                  <a:srgbClr val="585858"/>
                </a:solidFill>
                <a:latin typeface="Trebuchet MS"/>
                <a:cs typeface="Trebuchet MS"/>
              </a:rPr>
              <a:t>PRICE</a:t>
            </a:r>
            <a:r>
              <a:rPr sz="1600" b="1" spc="9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600" b="1" spc="65" dirty="0">
                <a:solidFill>
                  <a:srgbClr val="585858"/>
                </a:solidFill>
                <a:latin typeface="Trebuchet MS"/>
                <a:cs typeface="Trebuchet MS"/>
              </a:rPr>
              <a:t>VS.</a:t>
            </a:r>
            <a:r>
              <a:rPr sz="1600" b="1" spc="9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600" b="1" spc="55" dirty="0">
                <a:solidFill>
                  <a:srgbClr val="585858"/>
                </a:solidFill>
                <a:latin typeface="Trebuchet MS"/>
                <a:cs typeface="Trebuchet MS"/>
              </a:rPr>
              <a:t>AREA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47469" y="5717844"/>
            <a:ext cx="733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rebuchet MS"/>
                <a:cs typeface="Trebuchet MS"/>
              </a:rPr>
              <a:t>Price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for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examples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testing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set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predicted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regression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line.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38350" y="3444062"/>
            <a:ext cx="10636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rebuchet MS"/>
                <a:cs typeface="Trebuchet MS"/>
              </a:rPr>
              <a:t>Testing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06614" y="2112264"/>
            <a:ext cx="3184525" cy="1162050"/>
            <a:chOff x="1106614" y="2112264"/>
            <a:chExt cx="3184525" cy="1162050"/>
          </a:xfrm>
        </p:grpSpPr>
        <p:sp>
          <p:nvSpPr>
            <p:cNvPr id="37" name="object 37"/>
            <p:cNvSpPr/>
            <p:nvPr/>
          </p:nvSpPr>
          <p:spPr>
            <a:xfrm>
              <a:off x="2722626" y="2884690"/>
              <a:ext cx="1562100" cy="383540"/>
            </a:xfrm>
            <a:custGeom>
              <a:avLst/>
              <a:gdLst/>
              <a:ahLst/>
              <a:cxnLst/>
              <a:rect l="l" t="t" r="r" b="b"/>
              <a:pathLst>
                <a:path w="1562100" h="383539">
                  <a:moveTo>
                    <a:pt x="1562100" y="0"/>
                  </a:moveTo>
                  <a:lnTo>
                    <a:pt x="0" y="0"/>
                  </a:lnTo>
                  <a:lnTo>
                    <a:pt x="0" y="383019"/>
                  </a:lnTo>
                  <a:lnTo>
                    <a:pt x="1562100" y="383019"/>
                  </a:lnTo>
                  <a:lnTo>
                    <a:pt x="156210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22626" y="2112264"/>
              <a:ext cx="0" cy="1162050"/>
            </a:xfrm>
            <a:custGeom>
              <a:avLst/>
              <a:gdLst/>
              <a:ahLst/>
              <a:cxnLst/>
              <a:rect l="l" t="t" r="r" b="b"/>
              <a:pathLst>
                <a:path h="1162050">
                  <a:moveTo>
                    <a:pt x="0" y="0"/>
                  </a:moveTo>
                  <a:lnTo>
                    <a:pt x="0" y="11617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06614" y="2501646"/>
              <a:ext cx="3184525" cy="0"/>
            </a:xfrm>
            <a:custGeom>
              <a:avLst/>
              <a:gdLst/>
              <a:ahLst/>
              <a:cxnLst/>
              <a:rect l="l" t="t" r="r" b="b"/>
              <a:pathLst>
                <a:path w="3184525">
                  <a:moveTo>
                    <a:pt x="0" y="0"/>
                  </a:moveTo>
                  <a:lnTo>
                    <a:pt x="3184461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06614" y="2112264"/>
              <a:ext cx="3184525" cy="1162050"/>
            </a:xfrm>
            <a:custGeom>
              <a:avLst/>
              <a:gdLst/>
              <a:ahLst/>
              <a:cxnLst/>
              <a:rect l="l" t="t" r="r" b="b"/>
              <a:pathLst>
                <a:path w="3184525" h="1162050">
                  <a:moveTo>
                    <a:pt x="0" y="772413"/>
                  </a:moveTo>
                  <a:lnTo>
                    <a:pt x="3184461" y="772413"/>
                  </a:lnTo>
                </a:path>
                <a:path w="3184525" h="1162050">
                  <a:moveTo>
                    <a:pt x="6350" y="0"/>
                  </a:moveTo>
                  <a:lnTo>
                    <a:pt x="6350" y="1161796"/>
                  </a:lnTo>
                </a:path>
                <a:path w="3184525" h="1162050">
                  <a:moveTo>
                    <a:pt x="3178111" y="0"/>
                  </a:moveTo>
                  <a:lnTo>
                    <a:pt x="3178111" y="1161796"/>
                  </a:lnTo>
                </a:path>
                <a:path w="3184525" h="1162050">
                  <a:moveTo>
                    <a:pt x="0" y="6350"/>
                  </a:moveTo>
                  <a:lnTo>
                    <a:pt x="3184461" y="6350"/>
                  </a:lnTo>
                </a:path>
                <a:path w="3184525" h="1162050">
                  <a:moveTo>
                    <a:pt x="0" y="1155446"/>
                  </a:moveTo>
                  <a:lnTo>
                    <a:pt x="3184461" y="115544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119314" y="2124964"/>
            <a:ext cx="1597025" cy="3581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70"/>
              </a:spcBef>
            </a:pPr>
            <a:r>
              <a:rPr sz="1800" b="1" spc="-55" dirty="0">
                <a:solidFill>
                  <a:srgbClr val="FFFFFF"/>
                </a:solidFill>
                <a:latin typeface="Trebuchet MS"/>
                <a:cs typeface="Trebuchet MS"/>
              </a:rPr>
              <a:t>Area</a:t>
            </a:r>
            <a:r>
              <a:rPr sz="18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FFFFFF"/>
                </a:solidFill>
                <a:latin typeface="Trebuchet MS"/>
                <a:cs typeface="Trebuchet MS"/>
              </a:rPr>
              <a:t>(sq.</a:t>
            </a:r>
            <a:r>
              <a:rPr sz="1800" b="1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ft.)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28976" y="2124964"/>
            <a:ext cx="1549400" cy="3581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15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70"/>
              </a:spcBef>
            </a:pPr>
            <a:r>
              <a:rPr sz="1800" b="1" spc="-40" dirty="0">
                <a:solidFill>
                  <a:srgbClr val="FFFFFF"/>
                </a:solidFill>
                <a:latin typeface="Trebuchet MS"/>
                <a:cs typeface="Trebuchet MS"/>
              </a:rPr>
              <a:t>Price</a:t>
            </a:r>
            <a:r>
              <a:rPr sz="18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(lakhs)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19314" y="2520695"/>
            <a:ext cx="1597025" cy="358140"/>
          </a:xfrm>
          <a:prstGeom prst="rect">
            <a:avLst/>
          </a:prstGeom>
          <a:solidFill>
            <a:srgbClr val="CACACA"/>
          </a:solidFill>
        </p:spPr>
        <p:txBody>
          <a:bodyPr vert="horz" wrap="square" lIns="0" tIns="88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0"/>
              </a:spcBef>
            </a:pPr>
            <a:r>
              <a:rPr sz="1800" spc="-20" dirty="0">
                <a:latin typeface="Trebuchet MS"/>
                <a:cs typeface="Trebuchet MS"/>
              </a:rPr>
              <a:t>1200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28976" y="2520695"/>
            <a:ext cx="1549400" cy="358140"/>
          </a:xfrm>
          <a:prstGeom prst="rect">
            <a:avLst/>
          </a:prstGeom>
          <a:solidFill>
            <a:srgbClr val="CACACA"/>
          </a:solidFill>
        </p:spPr>
        <p:txBody>
          <a:bodyPr vert="horz" wrap="square" lIns="0" tIns="88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70"/>
              </a:spcBef>
            </a:pPr>
            <a:r>
              <a:rPr sz="1800" spc="-25" dirty="0"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2964" y="2884677"/>
            <a:ext cx="1609725" cy="383540"/>
          </a:xfrm>
          <a:prstGeom prst="rect">
            <a:avLst/>
          </a:prstGeom>
          <a:solidFill>
            <a:srgbClr val="E7E7E7"/>
          </a:solidFill>
          <a:ln w="12700">
            <a:solidFill>
              <a:srgbClr val="FFFFFF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9"/>
              </a:spcBef>
            </a:pPr>
            <a:r>
              <a:rPr sz="1800" spc="-20" dirty="0">
                <a:latin typeface="Trebuchet MS"/>
                <a:cs typeface="Trebuchet MS"/>
              </a:rPr>
              <a:t>1550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28976" y="2899917"/>
            <a:ext cx="154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41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486400" y="2618232"/>
            <a:ext cx="4350385" cy="2416175"/>
          </a:xfrm>
          <a:custGeom>
            <a:avLst/>
            <a:gdLst/>
            <a:ahLst/>
            <a:cxnLst/>
            <a:rect l="l" t="t" r="r" b="b"/>
            <a:pathLst>
              <a:path w="4350384" h="2416175">
                <a:moveTo>
                  <a:pt x="4349877" y="30098"/>
                </a:moveTo>
                <a:lnTo>
                  <a:pt x="4349877" y="2416047"/>
                </a:lnTo>
              </a:path>
              <a:path w="4350384" h="2416175">
                <a:moveTo>
                  <a:pt x="4330827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9345930" y="4858052"/>
            <a:ext cx="1129030" cy="41275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9"/>
              </a:spcBef>
              <a:tabLst>
                <a:tab pos="586105" algn="l"/>
              </a:tabLst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1400</a:t>
            </a: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	</a:t>
            </a: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1600 </a:t>
            </a:r>
            <a:endParaRPr sz="900">
              <a:latin typeface="Trebuchet MS"/>
              <a:cs typeface="Trebuchet MS"/>
            </a:endParaRPr>
          </a:p>
          <a:p>
            <a:pPr marL="262255">
              <a:lnSpc>
                <a:spcPct val="100000"/>
              </a:lnSpc>
              <a:spcBef>
                <a:spcPts val="175"/>
              </a:spcBef>
            </a:pP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1550</a:t>
            </a:r>
            <a:r>
              <a:rPr sz="14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sq.</a:t>
            </a:r>
            <a:r>
              <a:rPr sz="1400" spc="-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FF0000"/>
                </a:solidFill>
                <a:latin typeface="Trebuchet MS"/>
                <a:cs typeface="Trebuchet MS"/>
              </a:rPr>
              <a:t>ft.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81525" y="2514345"/>
            <a:ext cx="6635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38</a:t>
            </a:r>
            <a:r>
              <a:rPr sz="1400" spc="-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lakhs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26990" y="1440561"/>
            <a:ext cx="7670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Trebuchet MS"/>
                <a:cs typeface="Trebuchet MS"/>
              </a:rPr>
              <a:t>Predicted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26990" y="1653920"/>
            <a:ext cx="41655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/>
                <a:cs typeface="Trebuchet MS"/>
              </a:rPr>
              <a:t>price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891023" y="1944242"/>
            <a:ext cx="76200" cy="550545"/>
          </a:xfrm>
          <a:custGeom>
            <a:avLst/>
            <a:gdLst/>
            <a:ahLst/>
            <a:cxnLst/>
            <a:rect l="l" t="t" r="r" b="b"/>
            <a:pathLst>
              <a:path w="76200" h="550544">
                <a:moveTo>
                  <a:pt x="28575" y="473964"/>
                </a:moveTo>
                <a:lnTo>
                  <a:pt x="0" y="473964"/>
                </a:lnTo>
                <a:lnTo>
                  <a:pt x="38100" y="550164"/>
                </a:lnTo>
                <a:lnTo>
                  <a:pt x="69850" y="486664"/>
                </a:lnTo>
                <a:lnTo>
                  <a:pt x="28575" y="486664"/>
                </a:lnTo>
                <a:lnTo>
                  <a:pt x="28575" y="473964"/>
                </a:lnTo>
                <a:close/>
              </a:path>
              <a:path w="76200" h="550544">
                <a:moveTo>
                  <a:pt x="47625" y="0"/>
                </a:moveTo>
                <a:lnTo>
                  <a:pt x="28575" y="0"/>
                </a:lnTo>
                <a:lnTo>
                  <a:pt x="28575" y="486664"/>
                </a:lnTo>
                <a:lnTo>
                  <a:pt x="47625" y="486664"/>
                </a:lnTo>
                <a:lnTo>
                  <a:pt x="47625" y="0"/>
                </a:lnTo>
                <a:close/>
              </a:path>
              <a:path w="76200" h="550544">
                <a:moveTo>
                  <a:pt x="76200" y="473964"/>
                </a:moveTo>
                <a:lnTo>
                  <a:pt x="47625" y="473964"/>
                </a:lnTo>
                <a:lnTo>
                  <a:pt x="47625" y="486664"/>
                </a:lnTo>
                <a:lnTo>
                  <a:pt x="69850" y="486664"/>
                </a:lnTo>
                <a:lnTo>
                  <a:pt x="76200" y="473964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190113" y="3719525"/>
            <a:ext cx="52197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Actual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price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076829" y="3113151"/>
            <a:ext cx="357505" cy="494665"/>
          </a:xfrm>
          <a:custGeom>
            <a:avLst/>
            <a:gdLst/>
            <a:ahLst/>
            <a:cxnLst/>
            <a:rect l="l" t="t" r="r" b="b"/>
            <a:pathLst>
              <a:path w="357504" h="494664">
                <a:moveTo>
                  <a:pt x="52054" y="56383"/>
                </a:moveTo>
                <a:lnTo>
                  <a:pt x="36493" y="67511"/>
                </a:lnTo>
                <a:lnTo>
                  <a:pt x="341883" y="494538"/>
                </a:lnTo>
                <a:lnTo>
                  <a:pt x="357378" y="483488"/>
                </a:lnTo>
                <a:lnTo>
                  <a:pt x="52054" y="56383"/>
                </a:lnTo>
                <a:close/>
              </a:path>
              <a:path w="357504" h="494664">
                <a:moveTo>
                  <a:pt x="0" y="0"/>
                </a:moveTo>
                <a:lnTo>
                  <a:pt x="13334" y="84074"/>
                </a:lnTo>
                <a:lnTo>
                  <a:pt x="36493" y="67511"/>
                </a:lnTo>
                <a:lnTo>
                  <a:pt x="29082" y="57150"/>
                </a:lnTo>
                <a:lnTo>
                  <a:pt x="44703" y="46100"/>
                </a:lnTo>
                <a:lnTo>
                  <a:pt x="66431" y="46100"/>
                </a:lnTo>
                <a:lnTo>
                  <a:pt x="75310" y="39750"/>
                </a:lnTo>
                <a:lnTo>
                  <a:pt x="0" y="0"/>
                </a:lnTo>
                <a:close/>
              </a:path>
              <a:path w="357504" h="494664">
                <a:moveTo>
                  <a:pt x="44703" y="46100"/>
                </a:moveTo>
                <a:lnTo>
                  <a:pt x="29082" y="57150"/>
                </a:lnTo>
                <a:lnTo>
                  <a:pt x="36493" y="67511"/>
                </a:lnTo>
                <a:lnTo>
                  <a:pt x="52054" y="56383"/>
                </a:lnTo>
                <a:lnTo>
                  <a:pt x="44703" y="46100"/>
                </a:lnTo>
                <a:close/>
              </a:path>
              <a:path w="357504" h="494664">
                <a:moveTo>
                  <a:pt x="66431" y="46100"/>
                </a:moveTo>
                <a:lnTo>
                  <a:pt x="44703" y="46100"/>
                </a:lnTo>
                <a:lnTo>
                  <a:pt x="52054" y="56383"/>
                </a:lnTo>
                <a:lnTo>
                  <a:pt x="66431" y="4610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453388" y="4415408"/>
            <a:ext cx="265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55F82"/>
                </a:solidFill>
                <a:latin typeface="Cambria Math"/>
                <a:cs typeface="Cambria Math"/>
              </a:rPr>
              <a:t>𝒀</a:t>
            </a:r>
            <a:r>
              <a:rPr sz="2400" spc="100" dirty="0">
                <a:solidFill>
                  <a:srgbClr val="155F82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155F82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155F82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155F82"/>
                </a:solidFill>
                <a:latin typeface="Cambria Math"/>
                <a:cs typeface="Cambria Math"/>
              </a:rPr>
              <a:t>𝟎.</a:t>
            </a:r>
            <a:r>
              <a:rPr sz="2400" spc="-135" dirty="0">
                <a:solidFill>
                  <a:srgbClr val="155F82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155F82"/>
                </a:solidFill>
                <a:latin typeface="Cambria Math"/>
                <a:cs typeface="Cambria Math"/>
              </a:rPr>
              <a:t>𝟐𝟒𝟐𝒙</a:t>
            </a:r>
            <a:r>
              <a:rPr sz="2400" spc="-25" dirty="0">
                <a:solidFill>
                  <a:srgbClr val="155F82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155F82"/>
                </a:solidFill>
                <a:latin typeface="Cambria Math"/>
                <a:cs typeface="Cambria Math"/>
              </a:rPr>
              <a:t>+</a:t>
            </a:r>
            <a:r>
              <a:rPr sz="2400" spc="-20" dirty="0">
                <a:solidFill>
                  <a:srgbClr val="155F82"/>
                </a:solidFill>
                <a:latin typeface="Cambria Math"/>
                <a:cs typeface="Cambria Math"/>
              </a:rPr>
              <a:t> </a:t>
            </a:r>
            <a:r>
              <a:rPr sz="2400" spc="-10" dirty="0">
                <a:solidFill>
                  <a:srgbClr val="155F82"/>
                </a:solidFill>
                <a:latin typeface="Cambria Math"/>
                <a:cs typeface="Cambria Math"/>
              </a:rPr>
              <a:t>𝟎.</a:t>
            </a:r>
            <a:r>
              <a:rPr sz="2400" spc="-135" dirty="0">
                <a:solidFill>
                  <a:srgbClr val="155F82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155F82"/>
                </a:solidFill>
                <a:latin typeface="Cambria Math"/>
                <a:cs typeface="Cambria Math"/>
              </a:rPr>
              <a:t>𝟓𝟏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919" y="439673"/>
            <a:ext cx="7694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latin typeface="Trebuchet MS"/>
                <a:cs typeface="Trebuchet MS"/>
              </a:rPr>
              <a:t>Linear</a:t>
            </a:r>
            <a:r>
              <a:rPr sz="3600" spc="-330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Regression:</a:t>
            </a:r>
            <a:r>
              <a:rPr sz="3600" spc="-325" dirty="0">
                <a:latin typeface="Trebuchet MS"/>
                <a:cs typeface="Trebuchet MS"/>
              </a:rPr>
              <a:t> </a:t>
            </a:r>
            <a:r>
              <a:rPr sz="3600" spc="-50" dirty="0">
                <a:latin typeface="Trebuchet MS"/>
                <a:cs typeface="Trebuchet MS"/>
              </a:rPr>
              <a:t>House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Price</a:t>
            </a:r>
            <a:r>
              <a:rPr sz="3600" spc="-345" dirty="0">
                <a:latin typeface="Trebuchet MS"/>
                <a:cs typeface="Trebuchet MS"/>
              </a:rPr>
              <a:t> </a:t>
            </a:r>
            <a:r>
              <a:rPr sz="3600" spc="-150" dirty="0">
                <a:latin typeface="Trebuchet MS"/>
                <a:cs typeface="Trebuchet MS"/>
              </a:rPr>
              <a:t>Prediction</a:t>
            </a:r>
            <a:endParaRPr sz="36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5675" y="1722501"/>
          <a:ext cx="3171825" cy="421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2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Area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(sq.</a:t>
                      </a: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ft.)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Price</a:t>
                      </a:r>
                      <a:r>
                        <a:rPr sz="1800" b="1" spc="-1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(lakhs)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650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13.5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720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16.5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780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17.2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880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1050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1200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1550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41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88495" y="2226119"/>
          <a:ext cx="5167627" cy="2585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4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ysDash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ysDash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ysDash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ysDash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5749" y="4087685"/>
            <a:ext cx="85725" cy="857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517" y="4000817"/>
            <a:ext cx="85725" cy="85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6685" y="3787584"/>
            <a:ext cx="257936" cy="12674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0065" y="3683952"/>
            <a:ext cx="85725" cy="857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409" y="3569652"/>
            <a:ext cx="85725" cy="857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4613" y="3397440"/>
            <a:ext cx="85725" cy="857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923341" y="2544000"/>
            <a:ext cx="3022600" cy="1706880"/>
            <a:chOff x="6923341" y="2544000"/>
            <a:chExt cx="3022600" cy="170688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4381" y="3109404"/>
              <a:ext cx="85725" cy="85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928104" y="2548763"/>
              <a:ext cx="3013075" cy="1697355"/>
            </a:xfrm>
            <a:custGeom>
              <a:avLst/>
              <a:gdLst/>
              <a:ahLst/>
              <a:cxnLst/>
              <a:rect l="l" t="t" r="r" b="b"/>
              <a:pathLst>
                <a:path w="3013075" h="1697354">
                  <a:moveTo>
                    <a:pt x="0" y="1696974"/>
                  </a:moveTo>
                  <a:lnTo>
                    <a:pt x="3013075" y="0"/>
                  </a:lnTo>
                </a:path>
              </a:pathLst>
            </a:custGeom>
            <a:ln w="9525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8697" y="2419032"/>
            <a:ext cx="85725" cy="857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253609" y="2134870"/>
            <a:ext cx="147955" cy="275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  <a:spcBef>
                <a:spcPts val="5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2330" y="4871973"/>
            <a:ext cx="869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0044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200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13956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400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87869" y="4871973"/>
            <a:ext cx="254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600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61909" y="4831333"/>
            <a:ext cx="866140" cy="3810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548640" algn="l"/>
              </a:tabLst>
            </a:pPr>
            <a:r>
              <a:rPr sz="900" spc="55" dirty="0">
                <a:solidFill>
                  <a:srgbClr val="585858"/>
                </a:solidFill>
                <a:latin typeface="Trebuchet MS"/>
                <a:cs typeface="Trebuchet MS"/>
              </a:rPr>
              <a:t>800</a:t>
            </a: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	</a:t>
            </a: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1000 </a:t>
            </a:r>
            <a:endParaRPr sz="90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  <a:spcBef>
                <a:spcPts val="320"/>
              </a:spcBef>
            </a:pP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AREA</a:t>
            </a:r>
            <a:r>
              <a:rPr sz="9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Trebuchet MS"/>
                <a:cs typeface="Trebuchet MS"/>
              </a:rPr>
              <a:t>(SQ.</a:t>
            </a:r>
            <a:r>
              <a:rPr sz="900" spc="-7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FT.)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1890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1200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45930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1400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19843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1600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93756" y="4871973"/>
            <a:ext cx="330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585858"/>
                </a:solidFill>
                <a:latin typeface="Trebuchet MS"/>
                <a:cs typeface="Trebuchet MS"/>
              </a:rPr>
              <a:t>1800 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75292" y="3147862"/>
            <a:ext cx="165100" cy="75692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585858"/>
                </a:solidFill>
                <a:latin typeface="Trebuchet MS"/>
                <a:cs typeface="Trebuchet MS"/>
              </a:rPr>
              <a:t>PRICE</a:t>
            </a:r>
            <a:r>
              <a:rPr sz="900" spc="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585858"/>
                </a:solidFill>
                <a:latin typeface="Trebuchet MS"/>
                <a:cs typeface="Trebuchet MS"/>
              </a:rPr>
              <a:t>(LAKHS)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80250" y="1799589"/>
            <a:ext cx="1673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35" dirty="0">
                <a:solidFill>
                  <a:srgbClr val="585858"/>
                </a:solidFill>
                <a:latin typeface="Trebuchet MS"/>
                <a:cs typeface="Trebuchet MS"/>
              </a:rPr>
              <a:t>PRICE</a:t>
            </a:r>
            <a:r>
              <a:rPr sz="1600" b="1" spc="95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600" b="1" spc="65" dirty="0">
                <a:solidFill>
                  <a:srgbClr val="585858"/>
                </a:solidFill>
                <a:latin typeface="Trebuchet MS"/>
                <a:cs typeface="Trebuchet MS"/>
              </a:rPr>
              <a:t>VS.</a:t>
            </a:r>
            <a:r>
              <a:rPr sz="1600" b="1" spc="90" dirty="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sz="1600" b="1" spc="55" dirty="0">
                <a:solidFill>
                  <a:srgbClr val="585858"/>
                </a:solidFill>
                <a:latin typeface="Trebuchet MS"/>
                <a:cs typeface="Trebuchet MS"/>
              </a:rPr>
              <a:t>AREA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94350" y="5578550"/>
            <a:ext cx="3910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rebuchet MS"/>
                <a:cs typeface="Trebuchet MS"/>
              </a:rPr>
              <a:t>Price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house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with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area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900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sq.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ft.?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19530" y="1178763"/>
            <a:ext cx="1684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Prediction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phase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54732" y="5947968"/>
            <a:ext cx="85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Data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472045" cy="6858000"/>
          </a:xfrm>
          <a:custGeom>
            <a:avLst/>
            <a:gdLst/>
            <a:ahLst/>
            <a:cxnLst/>
            <a:rect l="l" t="t" r="r" b="b"/>
            <a:pathLst>
              <a:path w="7472045" h="6858000">
                <a:moveTo>
                  <a:pt x="5525516" y="0"/>
                </a:moveTo>
                <a:lnTo>
                  <a:pt x="0" y="0"/>
                </a:lnTo>
                <a:lnTo>
                  <a:pt x="0" y="6857999"/>
                </a:lnTo>
                <a:lnTo>
                  <a:pt x="6239764" y="6857999"/>
                </a:lnTo>
                <a:lnTo>
                  <a:pt x="6193250" y="6844361"/>
                </a:lnTo>
                <a:lnTo>
                  <a:pt x="6146997" y="6830265"/>
                </a:lnTo>
                <a:lnTo>
                  <a:pt x="6008950" y="6787309"/>
                </a:lnTo>
                <a:lnTo>
                  <a:pt x="5962890" y="6773463"/>
                </a:lnTo>
                <a:lnTo>
                  <a:pt x="5916667" y="6760201"/>
                </a:lnTo>
                <a:lnTo>
                  <a:pt x="5870194" y="6747730"/>
                </a:lnTo>
                <a:lnTo>
                  <a:pt x="5883527" y="6728336"/>
                </a:lnTo>
                <a:lnTo>
                  <a:pt x="5896848" y="6720612"/>
                </a:lnTo>
                <a:lnTo>
                  <a:pt x="5910146" y="6720222"/>
                </a:lnTo>
                <a:lnTo>
                  <a:pt x="5923407" y="6722833"/>
                </a:lnTo>
                <a:lnTo>
                  <a:pt x="5976985" y="6729798"/>
                </a:lnTo>
                <a:lnTo>
                  <a:pt x="6030845" y="6737060"/>
                </a:lnTo>
                <a:lnTo>
                  <a:pt x="6084697" y="6745507"/>
                </a:lnTo>
                <a:lnTo>
                  <a:pt x="6138254" y="6756030"/>
                </a:lnTo>
                <a:lnTo>
                  <a:pt x="6191224" y="6769517"/>
                </a:lnTo>
                <a:lnTo>
                  <a:pt x="6243320" y="6786858"/>
                </a:lnTo>
                <a:lnTo>
                  <a:pt x="6262249" y="6790581"/>
                </a:lnTo>
                <a:lnTo>
                  <a:pt x="6280547" y="6789970"/>
                </a:lnTo>
                <a:lnTo>
                  <a:pt x="6296202" y="6783356"/>
                </a:lnTo>
                <a:lnTo>
                  <a:pt x="6307201" y="6769073"/>
                </a:lnTo>
                <a:lnTo>
                  <a:pt x="6313202" y="6744896"/>
                </a:lnTo>
                <a:lnTo>
                  <a:pt x="6307201" y="6725056"/>
                </a:lnTo>
                <a:lnTo>
                  <a:pt x="6275197" y="6694373"/>
                </a:lnTo>
                <a:lnTo>
                  <a:pt x="6207300" y="6669474"/>
                </a:lnTo>
                <a:lnTo>
                  <a:pt x="6136640" y="6665912"/>
                </a:lnTo>
                <a:lnTo>
                  <a:pt x="6078151" y="6654206"/>
                </a:lnTo>
                <a:lnTo>
                  <a:pt x="6029918" y="6636274"/>
                </a:lnTo>
                <a:lnTo>
                  <a:pt x="5990955" y="6611227"/>
                </a:lnTo>
                <a:lnTo>
                  <a:pt x="5960280" y="6578177"/>
                </a:lnTo>
                <a:lnTo>
                  <a:pt x="5936906" y="6536232"/>
                </a:lnTo>
                <a:lnTo>
                  <a:pt x="5919851" y="6484505"/>
                </a:lnTo>
                <a:lnTo>
                  <a:pt x="5967078" y="6498567"/>
                </a:lnTo>
                <a:lnTo>
                  <a:pt x="6014231" y="6503359"/>
                </a:lnTo>
                <a:lnTo>
                  <a:pt x="6061253" y="6502240"/>
                </a:lnTo>
                <a:lnTo>
                  <a:pt x="6108087" y="6498570"/>
                </a:lnTo>
                <a:lnTo>
                  <a:pt x="6154674" y="6495709"/>
                </a:lnTo>
                <a:lnTo>
                  <a:pt x="6200956" y="6497017"/>
                </a:lnTo>
                <a:lnTo>
                  <a:pt x="6246876" y="6505854"/>
                </a:lnTo>
                <a:lnTo>
                  <a:pt x="6269695" y="6507687"/>
                </a:lnTo>
                <a:lnTo>
                  <a:pt x="6291215" y="6501852"/>
                </a:lnTo>
                <a:lnTo>
                  <a:pt x="6304759" y="6487346"/>
                </a:lnTo>
                <a:lnTo>
                  <a:pt x="6303645" y="6463169"/>
                </a:lnTo>
                <a:lnTo>
                  <a:pt x="6278356" y="6418702"/>
                </a:lnTo>
                <a:lnTo>
                  <a:pt x="6285197" y="6407139"/>
                </a:lnTo>
                <a:lnTo>
                  <a:pt x="6324981" y="6406248"/>
                </a:lnTo>
                <a:lnTo>
                  <a:pt x="6362986" y="6415701"/>
                </a:lnTo>
                <a:lnTo>
                  <a:pt x="6406992" y="6465278"/>
                </a:lnTo>
                <a:lnTo>
                  <a:pt x="6420993" y="6498742"/>
                </a:lnTo>
                <a:lnTo>
                  <a:pt x="6435699" y="6515133"/>
                </a:lnTo>
                <a:lnTo>
                  <a:pt x="6456442" y="6525856"/>
                </a:lnTo>
                <a:lnTo>
                  <a:pt x="6479876" y="6529246"/>
                </a:lnTo>
                <a:lnTo>
                  <a:pt x="6502654" y="6523634"/>
                </a:lnTo>
                <a:lnTo>
                  <a:pt x="6521546" y="6508852"/>
                </a:lnTo>
                <a:lnTo>
                  <a:pt x="6528435" y="6488066"/>
                </a:lnTo>
                <a:lnTo>
                  <a:pt x="6528658" y="6464610"/>
                </a:lnTo>
                <a:lnTo>
                  <a:pt x="6527546" y="6441821"/>
                </a:lnTo>
                <a:lnTo>
                  <a:pt x="6510211" y="6381351"/>
                </a:lnTo>
                <a:lnTo>
                  <a:pt x="6452870" y="6352895"/>
                </a:lnTo>
                <a:lnTo>
                  <a:pt x="6407329" y="6341558"/>
                </a:lnTo>
                <a:lnTo>
                  <a:pt x="6360097" y="6328886"/>
                </a:lnTo>
                <a:lnTo>
                  <a:pt x="6253988" y="6299542"/>
                </a:lnTo>
                <a:lnTo>
                  <a:pt x="6314254" y="6280533"/>
                </a:lnTo>
                <a:lnTo>
                  <a:pt x="6368542" y="6275530"/>
                </a:lnTo>
                <a:lnTo>
                  <a:pt x="6418830" y="6282533"/>
                </a:lnTo>
                <a:lnTo>
                  <a:pt x="6467094" y="6299542"/>
                </a:lnTo>
                <a:lnTo>
                  <a:pt x="6516495" y="6319293"/>
                </a:lnTo>
                <a:lnTo>
                  <a:pt x="6568780" y="6337164"/>
                </a:lnTo>
                <a:lnTo>
                  <a:pt x="6620887" y="6348718"/>
                </a:lnTo>
                <a:lnTo>
                  <a:pt x="6669758" y="6349515"/>
                </a:lnTo>
                <a:lnTo>
                  <a:pt x="6712331" y="6335115"/>
                </a:lnTo>
                <a:lnTo>
                  <a:pt x="6758917" y="6313819"/>
                </a:lnTo>
                <a:lnTo>
                  <a:pt x="6803244" y="6304677"/>
                </a:lnTo>
                <a:lnTo>
                  <a:pt x="6845999" y="6304430"/>
                </a:lnTo>
                <a:lnTo>
                  <a:pt x="6887864" y="6309817"/>
                </a:lnTo>
                <a:lnTo>
                  <a:pt x="6929525" y="6317576"/>
                </a:lnTo>
                <a:lnTo>
                  <a:pt x="6971665" y="6324447"/>
                </a:lnTo>
                <a:lnTo>
                  <a:pt x="7021021" y="6331921"/>
                </a:lnTo>
                <a:lnTo>
                  <a:pt x="7074728" y="6348420"/>
                </a:lnTo>
                <a:lnTo>
                  <a:pt x="7100013" y="6365624"/>
                </a:lnTo>
                <a:lnTo>
                  <a:pt x="7113839" y="6373977"/>
                </a:lnTo>
                <a:lnTo>
                  <a:pt x="7134772" y="6381891"/>
                </a:lnTo>
                <a:lnTo>
                  <a:pt x="7167547" y="6389160"/>
                </a:lnTo>
                <a:lnTo>
                  <a:pt x="7216902" y="6395580"/>
                </a:lnTo>
                <a:lnTo>
                  <a:pt x="7260137" y="6401697"/>
                </a:lnTo>
                <a:lnTo>
                  <a:pt x="7305439" y="6408670"/>
                </a:lnTo>
                <a:lnTo>
                  <a:pt x="7353989" y="6412227"/>
                </a:lnTo>
                <a:lnTo>
                  <a:pt x="7406971" y="6408102"/>
                </a:lnTo>
                <a:lnTo>
                  <a:pt x="7465568" y="6392024"/>
                </a:lnTo>
                <a:lnTo>
                  <a:pt x="7408631" y="6367348"/>
                </a:lnTo>
                <a:lnTo>
                  <a:pt x="7354056" y="6344759"/>
                </a:lnTo>
                <a:lnTo>
                  <a:pt x="7301652" y="6324043"/>
                </a:lnTo>
                <a:lnTo>
                  <a:pt x="7251228" y="6304991"/>
                </a:lnTo>
                <a:lnTo>
                  <a:pt x="7202592" y="6287390"/>
                </a:lnTo>
                <a:lnTo>
                  <a:pt x="7155553" y="6271028"/>
                </a:lnTo>
                <a:lnTo>
                  <a:pt x="7109921" y="6255695"/>
                </a:lnTo>
                <a:lnTo>
                  <a:pt x="7065504" y="6241179"/>
                </a:lnTo>
                <a:lnTo>
                  <a:pt x="6896164" y="6187051"/>
                </a:lnTo>
                <a:lnTo>
                  <a:pt x="6854955" y="6173445"/>
                </a:lnTo>
                <a:lnTo>
                  <a:pt x="6813814" y="6159387"/>
                </a:lnTo>
                <a:lnTo>
                  <a:pt x="6772550" y="6144666"/>
                </a:lnTo>
                <a:lnTo>
                  <a:pt x="6730972" y="6129069"/>
                </a:lnTo>
                <a:lnTo>
                  <a:pt x="6688889" y="6112385"/>
                </a:lnTo>
                <a:lnTo>
                  <a:pt x="6646109" y="6094403"/>
                </a:lnTo>
                <a:lnTo>
                  <a:pt x="6602441" y="6074910"/>
                </a:lnTo>
                <a:lnTo>
                  <a:pt x="6557695" y="6053697"/>
                </a:lnTo>
                <a:lnTo>
                  <a:pt x="6511678" y="6030550"/>
                </a:lnTo>
                <a:lnTo>
                  <a:pt x="6464201" y="6005259"/>
                </a:lnTo>
                <a:lnTo>
                  <a:pt x="6415071" y="5977612"/>
                </a:lnTo>
                <a:lnTo>
                  <a:pt x="6364097" y="5947397"/>
                </a:lnTo>
                <a:lnTo>
                  <a:pt x="6377432" y="5934721"/>
                </a:lnTo>
                <a:lnTo>
                  <a:pt x="6390767" y="5931384"/>
                </a:lnTo>
                <a:lnTo>
                  <a:pt x="6404102" y="5933383"/>
                </a:lnTo>
                <a:lnTo>
                  <a:pt x="6417437" y="5936716"/>
                </a:lnTo>
                <a:lnTo>
                  <a:pt x="6439478" y="5940274"/>
                </a:lnTo>
                <a:lnTo>
                  <a:pt x="6460887" y="5941166"/>
                </a:lnTo>
                <a:lnTo>
                  <a:pt x="6478320" y="5932721"/>
                </a:lnTo>
                <a:lnTo>
                  <a:pt x="6488430" y="5908268"/>
                </a:lnTo>
                <a:lnTo>
                  <a:pt x="6486597" y="5884869"/>
                </a:lnTo>
                <a:lnTo>
                  <a:pt x="6476429" y="5867806"/>
                </a:lnTo>
                <a:lnTo>
                  <a:pt x="6458927" y="5856744"/>
                </a:lnTo>
                <a:lnTo>
                  <a:pt x="6435090" y="5851347"/>
                </a:lnTo>
                <a:lnTo>
                  <a:pt x="6384431" y="5841468"/>
                </a:lnTo>
                <a:lnTo>
                  <a:pt x="6335249" y="5826846"/>
                </a:lnTo>
                <a:lnTo>
                  <a:pt x="6287246" y="5808667"/>
                </a:lnTo>
                <a:lnTo>
                  <a:pt x="6240122" y="5788116"/>
                </a:lnTo>
                <a:lnTo>
                  <a:pt x="6147308" y="5744641"/>
                </a:lnTo>
                <a:lnTo>
                  <a:pt x="6089142" y="5708627"/>
                </a:lnTo>
                <a:lnTo>
                  <a:pt x="6073906" y="5679112"/>
                </a:lnTo>
                <a:lnTo>
                  <a:pt x="6076315" y="5637923"/>
                </a:lnTo>
                <a:lnTo>
                  <a:pt x="6101134" y="5631591"/>
                </a:lnTo>
                <a:lnTo>
                  <a:pt x="6123321" y="5635263"/>
                </a:lnTo>
                <a:lnTo>
                  <a:pt x="6144199" y="5642935"/>
                </a:lnTo>
                <a:lnTo>
                  <a:pt x="6165088" y="5648604"/>
                </a:lnTo>
                <a:lnTo>
                  <a:pt x="6191796" y="5648269"/>
                </a:lnTo>
                <a:lnTo>
                  <a:pt x="6221492" y="5643264"/>
                </a:lnTo>
                <a:lnTo>
                  <a:pt x="6242544" y="5635592"/>
                </a:lnTo>
                <a:lnTo>
                  <a:pt x="6243320" y="5627255"/>
                </a:lnTo>
                <a:lnTo>
                  <a:pt x="6221013" y="5607449"/>
                </a:lnTo>
                <a:lnTo>
                  <a:pt x="6218603" y="5583352"/>
                </a:lnTo>
                <a:lnTo>
                  <a:pt x="6227698" y="5557639"/>
                </a:lnTo>
                <a:lnTo>
                  <a:pt x="6239908" y="5532984"/>
                </a:lnTo>
                <a:lnTo>
                  <a:pt x="6246841" y="5512062"/>
                </a:lnTo>
                <a:lnTo>
                  <a:pt x="6240108" y="5497547"/>
                </a:lnTo>
                <a:lnTo>
                  <a:pt x="6211316" y="5492115"/>
                </a:lnTo>
                <a:lnTo>
                  <a:pt x="6164376" y="5487328"/>
                </a:lnTo>
                <a:lnTo>
                  <a:pt x="6121057" y="5474321"/>
                </a:lnTo>
                <a:lnTo>
                  <a:pt x="6080507" y="5455122"/>
                </a:lnTo>
                <a:lnTo>
                  <a:pt x="6041874" y="5431760"/>
                </a:lnTo>
                <a:lnTo>
                  <a:pt x="5966952" y="5380658"/>
                </a:lnTo>
                <a:lnTo>
                  <a:pt x="5928959" y="5356976"/>
                </a:lnTo>
                <a:lnTo>
                  <a:pt x="5889476" y="5337244"/>
                </a:lnTo>
                <a:lnTo>
                  <a:pt x="5847650" y="5323490"/>
                </a:lnTo>
                <a:lnTo>
                  <a:pt x="5802630" y="5317744"/>
                </a:lnTo>
                <a:lnTo>
                  <a:pt x="5786573" y="5312354"/>
                </a:lnTo>
                <a:lnTo>
                  <a:pt x="5775516" y="5298630"/>
                </a:lnTo>
                <a:lnTo>
                  <a:pt x="5769126" y="5280239"/>
                </a:lnTo>
                <a:lnTo>
                  <a:pt x="5767070" y="5260848"/>
                </a:lnTo>
                <a:lnTo>
                  <a:pt x="5771349" y="5241734"/>
                </a:lnTo>
                <a:lnTo>
                  <a:pt x="5782628" y="5230622"/>
                </a:lnTo>
                <a:lnTo>
                  <a:pt x="5798574" y="5224843"/>
                </a:lnTo>
                <a:lnTo>
                  <a:pt x="5816854" y="5221732"/>
                </a:lnTo>
                <a:lnTo>
                  <a:pt x="5846912" y="5225399"/>
                </a:lnTo>
                <a:lnTo>
                  <a:pt x="5878624" y="5232400"/>
                </a:lnTo>
                <a:lnTo>
                  <a:pt x="5912313" y="5228732"/>
                </a:lnTo>
                <a:lnTo>
                  <a:pt x="5948299" y="5200396"/>
                </a:lnTo>
                <a:lnTo>
                  <a:pt x="5902306" y="5182220"/>
                </a:lnTo>
                <a:lnTo>
                  <a:pt x="5858567" y="5161675"/>
                </a:lnTo>
                <a:lnTo>
                  <a:pt x="5819950" y="5136388"/>
                </a:lnTo>
                <a:lnTo>
                  <a:pt x="5789323" y="5103988"/>
                </a:lnTo>
                <a:lnTo>
                  <a:pt x="5769556" y="5062107"/>
                </a:lnTo>
                <a:lnTo>
                  <a:pt x="5763514" y="5008372"/>
                </a:lnTo>
                <a:lnTo>
                  <a:pt x="5756978" y="4987536"/>
                </a:lnTo>
                <a:lnTo>
                  <a:pt x="5740464" y="4972367"/>
                </a:lnTo>
                <a:lnTo>
                  <a:pt x="5718616" y="4961866"/>
                </a:lnTo>
                <a:lnTo>
                  <a:pt x="5696077" y="4955032"/>
                </a:lnTo>
                <a:lnTo>
                  <a:pt x="5660740" y="4942732"/>
                </a:lnTo>
                <a:lnTo>
                  <a:pt x="5629402" y="4926076"/>
                </a:lnTo>
                <a:lnTo>
                  <a:pt x="5602066" y="4903418"/>
                </a:lnTo>
                <a:lnTo>
                  <a:pt x="5578729" y="4873117"/>
                </a:lnTo>
                <a:lnTo>
                  <a:pt x="5578729" y="4844669"/>
                </a:lnTo>
                <a:lnTo>
                  <a:pt x="5590222" y="4791385"/>
                </a:lnTo>
                <a:lnTo>
                  <a:pt x="5614346" y="4760633"/>
                </a:lnTo>
                <a:lnTo>
                  <a:pt x="5648370" y="4747632"/>
                </a:lnTo>
                <a:lnTo>
                  <a:pt x="5689563" y="4747604"/>
                </a:lnTo>
                <a:lnTo>
                  <a:pt x="5735193" y="4755769"/>
                </a:lnTo>
                <a:lnTo>
                  <a:pt x="5781391" y="4767737"/>
                </a:lnTo>
                <a:lnTo>
                  <a:pt x="5827790" y="4780397"/>
                </a:lnTo>
                <a:lnTo>
                  <a:pt x="5874592" y="4790884"/>
                </a:lnTo>
                <a:lnTo>
                  <a:pt x="5921996" y="4796333"/>
                </a:lnTo>
                <a:lnTo>
                  <a:pt x="5970205" y="4793880"/>
                </a:lnTo>
                <a:lnTo>
                  <a:pt x="6019419" y="4780661"/>
                </a:lnTo>
                <a:lnTo>
                  <a:pt x="5972760" y="4764559"/>
                </a:lnTo>
                <a:lnTo>
                  <a:pt x="5925369" y="4751149"/>
                </a:lnTo>
                <a:lnTo>
                  <a:pt x="5877565" y="4739437"/>
                </a:lnTo>
                <a:lnTo>
                  <a:pt x="5829670" y="4728428"/>
                </a:lnTo>
                <a:lnTo>
                  <a:pt x="5782006" y="4717126"/>
                </a:lnTo>
                <a:lnTo>
                  <a:pt x="5734892" y="4704536"/>
                </a:lnTo>
                <a:lnTo>
                  <a:pt x="5688650" y="4689663"/>
                </a:lnTo>
                <a:lnTo>
                  <a:pt x="5643601" y="4671512"/>
                </a:lnTo>
                <a:lnTo>
                  <a:pt x="5600065" y="4649089"/>
                </a:lnTo>
                <a:lnTo>
                  <a:pt x="5650878" y="4648512"/>
                </a:lnTo>
                <a:lnTo>
                  <a:pt x="5701282" y="4649760"/>
                </a:lnTo>
                <a:lnTo>
                  <a:pt x="5751304" y="4652722"/>
                </a:lnTo>
                <a:lnTo>
                  <a:pt x="5800972" y="4657289"/>
                </a:lnTo>
                <a:lnTo>
                  <a:pt x="5850312" y="4663354"/>
                </a:lnTo>
                <a:lnTo>
                  <a:pt x="5899352" y="4670807"/>
                </a:lnTo>
                <a:lnTo>
                  <a:pt x="5948119" y="4679539"/>
                </a:lnTo>
                <a:lnTo>
                  <a:pt x="5996640" y="4689441"/>
                </a:lnTo>
                <a:lnTo>
                  <a:pt x="6044943" y="4700405"/>
                </a:lnTo>
                <a:lnTo>
                  <a:pt x="6093055" y="4712322"/>
                </a:lnTo>
                <a:lnTo>
                  <a:pt x="6141002" y="4725083"/>
                </a:lnTo>
                <a:lnTo>
                  <a:pt x="6188814" y="4738579"/>
                </a:lnTo>
                <a:lnTo>
                  <a:pt x="6236515" y="4752701"/>
                </a:lnTo>
                <a:lnTo>
                  <a:pt x="6284135" y="4767341"/>
                </a:lnTo>
                <a:lnTo>
                  <a:pt x="6331700" y="4782390"/>
                </a:lnTo>
                <a:lnTo>
                  <a:pt x="6379237" y="4797738"/>
                </a:lnTo>
                <a:lnTo>
                  <a:pt x="6569653" y="4859955"/>
                </a:lnTo>
                <a:lnTo>
                  <a:pt x="6617460" y="4875170"/>
                </a:lnTo>
                <a:lnTo>
                  <a:pt x="6665404" y="4890033"/>
                </a:lnTo>
                <a:lnTo>
                  <a:pt x="6713510" y="4904433"/>
                </a:lnTo>
                <a:lnTo>
                  <a:pt x="6761806" y="4918263"/>
                </a:lnTo>
                <a:lnTo>
                  <a:pt x="6810321" y="4931414"/>
                </a:lnTo>
                <a:lnTo>
                  <a:pt x="6859080" y="4943776"/>
                </a:lnTo>
                <a:lnTo>
                  <a:pt x="6908111" y="4955241"/>
                </a:lnTo>
                <a:lnTo>
                  <a:pt x="6957441" y="4965700"/>
                </a:lnTo>
                <a:lnTo>
                  <a:pt x="6942626" y="4928344"/>
                </a:lnTo>
                <a:lnTo>
                  <a:pt x="6921500" y="4904692"/>
                </a:lnTo>
                <a:lnTo>
                  <a:pt x="6897041" y="4891065"/>
                </a:lnTo>
                <a:lnTo>
                  <a:pt x="6821668" y="4868590"/>
                </a:lnTo>
                <a:lnTo>
                  <a:pt x="6772220" y="4850984"/>
                </a:lnTo>
                <a:lnTo>
                  <a:pt x="6723712" y="4831330"/>
                </a:lnTo>
                <a:lnTo>
                  <a:pt x="6675972" y="4809990"/>
                </a:lnTo>
                <a:lnTo>
                  <a:pt x="6628829" y="4787328"/>
                </a:lnTo>
                <a:lnTo>
                  <a:pt x="6582113" y="4763705"/>
                </a:lnTo>
                <a:lnTo>
                  <a:pt x="6442817" y="4690704"/>
                </a:lnTo>
                <a:lnTo>
                  <a:pt x="6396101" y="4666869"/>
                </a:lnTo>
                <a:lnTo>
                  <a:pt x="6351485" y="4641754"/>
                </a:lnTo>
                <a:lnTo>
                  <a:pt x="6313869" y="4612640"/>
                </a:lnTo>
                <a:lnTo>
                  <a:pt x="6283587" y="4576857"/>
                </a:lnTo>
                <a:lnTo>
                  <a:pt x="6260973" y="4531741"/>
                </a:lnTo>
                <a:lnTo>
                  <a:pt x="6240822" y="4490495"/>
                </a:lnTo>
                <a:lnTo>
                  <a:pt x="6211300" y="4463621"/>
                </a:lnTo>
                <a:lnTo>
                  <a:pt x="6171087" y="4452106"/>
                </a:lnTo>
                <a:lnTo>
                  <a:pt x="6118860" y="4456938"/>
                </a:lnTo>
                <a:lnTo>
                  <a:pt x="6070317" y="4463938"/>
                </a:lnTo>
                <a:lnTo>
                  <a:pt x="6020737" y="4464939"/>
                </a:lnTo>
                <a:lnTo>
                  <a:pt x="5970467" y="4461938"/>
                </a:lnTo>
                <a:lnTo>
                  <a:pt x="5919851" y="4456938"/>
                </a:lnTo>
                <a:lnTo>
                  <a:pt x="5874738" y="4445757"/>
                </a:lnTo>
                <a:lnTo>
                  <a:pt x="5832502" y="4423824"/>
                </a:lnTo>
                <a:lnTo>
                  <a:pt x="5798611" y="4395746"/>
                </a:lnTo>
                <a:lnTo>
                  <a:pt x="5777738" y="4339590"/>
                </a:lnTo>
                <a:lnTo>
                  <a:pt x="5808518" y="4307697"/>
                </a:lnTo>
                <a:lnTo>
                  <a:pt x="5845286" y="4300474"/>
                </a:lnTo>
                <a:lnTo>
                  <a:pt x="5884698" y="4306585"/>
                </a:lnTo>
                <a:lnTo>
                  <a:pt x="5923407" y="4314698"/>
                </a:lnTo>
                <a:lnTo>
                  <a:pt x="6031357" y="4328922"/>
                </a:lnTo>
                <a:lnTo>
                  <a:pt x="6075819" y="4333700"/>
                </a:lnTo>
                <a:lnTo>
                  <a:pt x="6093968" y="4332478"/>
                </a:lnTo>
                <a:lnTo>
                  <a:pt x="6113562" y="4279925"/>
                </a:lnTo>
                <a:lnTo>
                  <a:pt x="6137944" y="4254743"/>
                </a:lnTo>
                <a:lnTo>
                  <a:pt x="6165804" y="4249902"/>
                </a:lnTo>
                <a:lnTo>
                  <a:pt x="6195835" y="4258372"/>
                </a:lnTo>
                <a:lnTo>
                  <a:pt x="6226728" y="4273124"/>
                </a:lnTo>
                <a:lnTo>
                  <a:pt x="6257174" y="4287131"/>
                </a:lnTo>
                <a:lnTo>
                  <a:pt x="6285865" y="4293362"/>
                </a:lnTo>
                <a:lnTo>
                  <a:pt x="6331147" y="4296362"/>
                </a:lnTo>
                <a:lnTo>
                  <a:pt x="6376083" y="4304030"/>
                </a:lnTo>
                <a:lnTo>
                  <a:pt x="6420329" y="4314364"/>
                </a:lnTo>
                <a:lnTo>
                  <a:pt x="6463538" y="4325366"/>
                </a:lnTo>
                <a:lnTo>
                  <a:pt x="6518359" y="4330533"/>
                </a:lnTo>
                <a:lnTo>
                  <a:pt x="6571488" y="4324032"/>
                </a:lnTo>
                <a:lnTo>
                  <a:pt x="6623951" y="4312864"/>
                </a:lnTo>
                <a:lnTo>
                  <a:pt x="6676771" y="4304030"/>
                </a:lnTo>
                <a:lnTo>
                  <a:pt x="6708831" y="4284860"/>
                </a:lnTo>
                <a:lnTo>
                  <a:pt x="6719888" y="4246689"/>
                </a:lnTo>
                <a:lnTo>
                  <a:pt x="6726277" y="4202517"/>
                </a:lnTo>
                <a:lnTo>
                  <a:pt x="6744335" y="4165346"/>
                </a:lnTo>
                <a:lnTo>
                  <a:pt x="6751447" y="4154678"/>
                </a:lnTo>
                <a:lnTo>
                  <a:pt x="6765671" y="4154678"/>
                </a:lnTo>
                <a:lnTo>
                  <a:pt x="6776483" y="4096573"/>
                </a:lnTo>
                <a:lnTo>
                  <a:pt x="6797808" y="4049563"/>
                </a:lnTo>
                <a:lnTo>
                  <a:pt x="6827667" y="4012491"/>
                </a:lnTo>
                <a:lnTo>
                  <a:pt x="6864081" y="3984202"/>
                </a:lnTo>
                <a:lnTo>
                  <a:pt x="6905068" y="3963540"/>
                </a:lnTo>
                <a:lnTo>
                  <a:pt x="6948648" y="3949349"/>
                </a:lnTo>
                <a:lnTo>
                  <a:pt x="6992842" y="3940471"/>
                </a:lnTo>
                <a:lnTo>
                  <a:pt x="7035670" y="3935753"/>
                </a:lnTo>
                <a:lnTo>
                  <a:pt x="7075151" y="3934037"/>
                </a:lnTo>
                <a:lnTo>
                  <a:pt x="7109305" y="3934167"/>
                </a:lnTo>
                <a:lnTo>
                  <a:pt x="7153713" y="3935344"/>
                </a:lnTo>
                <a:lnTo>
                  <a:pt x="7160006" y="3934079"/>
                </a:lnTo>
                <a:lnTo>
                  <a:pt x="7185232" y="3929800"/>
                </a:lnTo>
                <a:lnTo>
                  <a:pt x="7212457" y="3934523"/>
                </a:lnTo>
                <a:lnTo>
                  <a:pt x="7241016" y="3934579"/>
                </a:lnTo>
                <a:lnTo>
                  <a:pt x="7237916" y="3881317"/>
                </a:lnTo>
                <a:lnTo>
                  <a:pt x="7203677" y="3849470"/>
                </a:lnTo>
                <a:lnTo>
                  <a:pt x="7167699" y="3820395"/>
                </a:lnTo>
                <a:lnTo>
                  <a:pt x="7130153" y="3793726"/>
                </a:lnTo>
                <a:lnTo>
                  <a:pt x="7091211" y="3769097"/>
                </a:lnTo>
                <a:lnTo>
                  <a:pt x="7051045" y="3746146"/>
                </a:lnTo>
                <a:lnTo>
                  <a:pt x="7009827" y="3724505"/>
                </a:lnTo>
                <a:lnTo>
                  <a:pt x="6967728" y="3703812"/>
                </a:lnTo>
                <a:lnTo>
                  <a:pt x="6924921" y="3683700"/>
                </a:lnTo>
                <a:lnTo>
                  <a:pt x="6837869" y="3643763"/>
                </a:lnTo>
                <a:lnTo>
                  <a:pt x="6793968" y="3623208"/>
                </a:lnTo>
                <a:lnTo>
                  <a:pt x="6750047" y="3601776"/>
                </a:lnTo>
                <a:lnTo>
                  <a:pt x="6706276" y="3579102"/>
                </a:lnTo>
                <a:lnTo>
                  <a:pt x="6662828" y="3554821"/>
                </a:lnTo>
                <a:lnTo>
                  <a:pt x="6619875" y="3528567"/>
                </a:lnTo>
                <a:lnTo>
                  <a:pt x="6669384" y="3520149"/>
                </a:lnTo>
                <a:lnTo>
                  <a:pt x="6715500" y="3520809"/>
                </a:lnTo>
                <a:lnTo>
                  <a:pt x="6758703" y="3528684"/>
                </a:lnTo>
                <a:lnTo>
                  <a:pt x="6799472" y="3541915"/>
                </a:lnTo>
                <a:lnTo>
                  <a:pt x="6838287" y="3558640"/>
                </a:lnTo>
                <a:lnTo>
                  <a:pt x="6911974" y="3595127"/>
                </a:lnTo>
                <a:lnTo>
                  <a:pt x="6947805" y="3611167"/>
                </a:lnTo>
                <a:lnTo>
                  <a:pt x="6983602" y="3623255"/>
                </a:lnTo>
                <a:lnTo>
                  <a:pt x="7019843" y="3629532"/>
                </a:lnTo>
                <a:lnTo>
                  <a:pt x="7057009" y="3628136"/>
                </a:lnTo>
                <a:lnTo>
                  <a:pt x="7069812" y="3611266"/>
                </a:lnTo>
                <a:lnTo>
                  <a:pt x="7070428" y="3593031"/>
                </a:lnTo>
                <a:lnTo>
                  <a:pt x="7062863" y="3573985"/>
                </a:lnTo>
                <a:lnTo>
                  <a:pt x="7051123" y="3554683"/>
                </a:lnTo>
                <a:lnTo>
                  <a:pt x="7039213" y="3535680"/>
                </a:lnTo>
                <a:lnTo>
                  <a:pt x="7031141" y="3517530"/>
                </a:lnTo>
                <a:lnTo>
                  <a:pt x="7030911" y="3500788"/>
                </a:lnTo>
                <a:lnTo>
                  <a:pt x="7042529" y="3486009"/>
                </a:lnTo>
                <a:lnTo>
                  <a:pt x="7070002" y="3473748"/>
                </a:lnTo>
                <a:lnTo>
                  <a:pt x="7117334" y="3464560"/>
                </a:lnTo>
                <a:lnTo>
                  <a:pt x="7068979" y="3436766"/>
                </a:lnTo>
                <a:lnTo>
                  <a:pt x="7025384" y="3408631"/>
                </a:lnTo>
                <a:lnTo>
                  <a:pt x="6985368" y="3379813"/>
                </a:lnTo>
                <a:lnTo>
                  <a:pt x="6947748" y="3349971"/>
                </a:lnTo>
                <a:lnTo>
                  <a:pt x="6911340" y="3318764"/>
                </a:lnTo>
                <a:lnTo>
                  <a:pt x="6872121" y="3279288"/>
                </a:lnTo>
                <a:lnTo>
                  <a:pt x="6842729" y="3242041"/>
                </a:lnTo>
                <a:lnTo>
                  <a:pt x="6822979" y="3205347"/>
                </a:lnTo>
                <a:lnTo>
                  <a:pt x="6812685" y="3167531"/>
                </a:lnTo>
                <a:lnTo>
                  <a:pt x="6811658" y="3126918"/>
                </a:lnTo>
                <a:lnTo>
                  <a:pt x="6819714" y="3081833"/>
                </a:lnTo>
                <a:lnTo>
                  <a:pt x="6836664" y="3030601"/>
                </a:lnTo>
                <a:lnTo>
                  <a:pt x="6853374" y="2988389"/>
                </a:lnTo>
                <a:lnTo>
                  <a:pt x="6869590" y="2946569"/>
                </a:lnTo>
                <a:lnTo>
                  <a:pt x="6882448" y="2904347"/>
                </a:lnTo>
                <a:lnTo>
                  <a:pt x="6889082" y="2860929"/>
                </a:lnTo>
                <a:lnTo>
                  <a:pt x="6886629" y="2815521"/>
                </a:lnTo>
                <a:lnTo>
                  <a:pt x="6872224" y="2767329"/>
                </a:lnTo>
                <a:lnTo>
                  <a:pt x="6860304" y="2729807"/>
                </a:lnTo>
                <a:lnTo>
                  <a:pt x="6860496" y="2700135"/>
                </a:lnTo>
                <a:lnTo>
                  <a:pt x="6875525" y="2681047"/>
                </a:lnTo>
                <a:lnTo>
                  <a:pt x="6908118" y="2675272"/>
                </a:lnTo>
                <a:lnTo>
                  <a:pt x="6960997" y="2685541"/>
                </a:lnTo>
                <a:lnTo>
                  <a:pt x="7011958" y="2693987"/>
                </a:lnTo>
                <a:lnTo>
                  <a:pt x="7051054" y="2687912"/>
                </a:lnTo>
                <a:lnTo>
                  <a:pt x="7078298" y="2668206"/>
                </a:lnTo>
                <a:lnTo>
                  <a:pt x="7093698" y="2635758"/>
                </a:lnTo>
                <a:lnTo>
                  <a:pt x="7097267" y="2591456"/>
                </a:lnTo>
                <a:lnTo>
                  <a:pt x="7089013" y="2536190"/>
                </a:lnTo>
                <a:lnTo>
                  <a:pt x="7082733" y="2487239"/>
                </a:lnTo>
                <a:lnTo>
                  <a:pt x="7092109" y="2456624"/>
                </a:lnTo>
                <a:lnTo>
                  <a:pt x="7119464" y="2442678"/>
                </a:lnTo>
                <a:lnTo>
                  <a:pt x="7167118" y="2443734"/>
                </a:lnTo>
                <a:lnTo>
                  <a:pt x="7209616" y="2451800"/>
                </a:lnTo>
                <a:lnTo>
                  <a:pt x="7295960" y="2474849"/>
                </a:lnTo>
                <a:lnTo>
                  <a:pt x="7341400" y="2483508"/>
                </a:lnTo>
                <a:lnTo>
                  <a:pt x="7389415" y="2486043"/>
                </a:lnTo>
                <a:lnTo>
                  <a:pt x="7440803" y="2479294"/>
                </a:lnTo>
                <a:lnTo>
                  <a:pt x="7412501" y="2441775"/>
                </a:lnTo>
                <a:lnTo>
                  <a:pt x="7379512" y="2413187"/>
                </a:lnTo>
                <a:lnTo>
                  <a:pt x="7342902" y="2391351"/>
                </a:lnTo>
                <a:lnTo>
                  <a:pt x="7303737" y="2374087"/>
                </a:lnTo>
                <a:lnTo>
                  <a:pt x="7263083" y="2359215"/>
                </a:lnTo>
                <a:lnTo>
                  <a:pt x="7222006" y="2344557"/>
                </a:lnTo>
                <a:lnTo>
                  <a:pt x="7181572" y="2327932"/>
                </a:lnTo>
                <a:lnTo>
                  <a:pt x="7142847" y="2307163"/>
                </a:lnTo>
                <a:lnTo>
                  <a:pt x="7106898" y="2280069"/>
                </a:lnTo>
                <a:lnTo>
                  <a:pt x="7074789" y="2244471"/>
                </a:lnTo>
                <a:lnTo>
                  <a:pt x="7131417" y="2244602"/>
                </a:lnTo>
                <a:lnTo>
                  <a:pt x="7184404" y="2245524"/>
                </a:lnTo>
                <a:lnTo>
                  <a:pt x="7234238" y="2248027"/>
                </a:lnTo>
                <a:lnTo>
                  <a:pt x="7281404" y="2252900"/>
                </a:lnTo>
                <a:lnTo>
                  <a:pt x="7326390" y="2260933"/>
                </a:lnTo>
                <a:lnTo>
                  <a:pt x="7369683" y="2272919"/>
                </a:lnTo>
                <a:lnTo>
                  <a:pt x="7396685" y="2280642"/>
                </a:lnTo>
                <a:lnTo>
                  <a:pt x="7423007" y="2284031"/>
                </a:lnTo>
                <a:lnTo>
                  <a:pt x="7446639" y="2277419"/>
                </a:lnTo>
                <a:lnTo>
                  <a:pt x="7465568" y="2255139"/>
                </a:lnTo>
                <a:lnTo>
                  <a:pt x="7471756" y="2223468"/>
                </a:lnTo>
                <a:lnTo>
                  <a:pt x="7458964" y="2201799"/>
                </a:lnTo>
                <a:lnTo>
                  <a:pt x="7436172" y="2188130"/>
                </a:lnTo>
                <a:lnTo>
                  <a:pt x="7412355" y="2180463"/>
                </a:lnTo>
                <a:lnTo>
                  <a:pt x="7365230" y="2162028"/>
                </a:lnTo>
                <a:lnTo>
                  <a:pt x="7321196" y="2137961"/>
                </a:lnTo>
                <a:lnTo>
                  <a:pt x="7279045" y="2110310"/>
                </a:lnTo>
                <a:lnTo>
                  <a:pt x="7237571" y="2081122"/>
                </a:lnTo>
                <a:lnTo>
                  <a:pt x="7195566" y="2052447"/>
                </a:lnTo>
                <a:lnTo>
                  <a:pt x="7153586" y="2025572"/>
                </a:lnTo>
                <a:lnTo>
                  <a:pt x="7068472" y="1972257"/>
                </a:lnTo>
                <a:lnTo>
                  <a:pt x="7025818" y="1944986"/>
                </a:lnTo>
                <a:lnTo>
                  <a:pt x="6983421" y="1916751"/>
                </a:lnTo>
                <a:lnTo>
                  <a:pt x="6941521" y="1887137"/>
                </a:lnTo>
                <a:lnTo>
                  <a:pt x="6900359" y="1855728"/>
                </a:lnTo>
                <a:lnTo>
                  <a:pt x="6860174" y="1822108"/>
                </a:lnTo>
                <a:lnTo>
                  <a:pt x="6821208" y="1785863"/>
                </a:lnTo>
                <a:lnTo>
                  <a:pt x="6783700" y="1746576"/>
                </a:lnTo>
                <a:lnTo>
                  <a:pt x="6747891" y="1703832"/>
                </a:lnTo>
                <a:lnTo>
                  <a:pt x="6799838" y="1719973"/>
                </a:lnTo>
                <a:lnTo>
                  <a:pt x="6849472" y="1739187"/>
                </a:lnTo>
                <a:lnTo>
                  <a:pt x="6897380" y="1760332"/>
                </a:lnTo>
                <a:lnTo>
                  <a:pt x="6990356" y="1803853"/>
                </a:lnTo>
                <a:lnTo>
                  <a:pt x="7036595" y="1823945"/>
                </a:lnTo>
                <a:lnTo>
                  <a:pt x="7083449" y="1841403"/>
                </a:lnTo>
                <a:lnTo>
                  <a:pt x="7131503" y="1855086"/>
                </a:lnTo>
                <a:lnTo>
                  <a:pt x="7181342" y="1863852"/>
                </a:lnTo>
                <a:lnTo>
                  <a:pt x="7147767" y="1827516"/>
                </a:lnTo>
                <a:lnTo>
                  <a:pt x="7112870" y="1793044"/>
                </a:lnTo>
                <a:lnTo>
                  <a:pt x="7076813" y="1760227"/>
                </a:lnTo>
                <a:lnTo>
                  <a:pt x="7039756" y="1728855"/>
                </a:lnTo>
                <a:lnTo>
                  <a:pt x="7001859" y="1698718"/>
                </a:lnTo>
                <a:lnTo>
                  <a:pt x="6963283" y="1669605"/>
                </a:lnTo>
                <a:lnTo>
                  <a:pt x="6924189" y="1641307"/>
                </a:lnTo>
                <a:lnTo>
                  <a:pt x="6884736" y="1613614"/>
                </a:lnTo>
                <a:lnTo>
                  <a:pt x="6765835" y="1532067"/>
                </a:lnTo>
                <a:lnTo>
                  <a:pt x="6726555" y="1504696"/>
                </a:lnTo>
                <a:lnTo>
                  <a:pt x="6692495" y="1481730"/>
                </a:lnTo>
                <a:lnTo>
                  <a:pt x="6662103" y="1457467"/>
                </a:lnTo>
                <a:lnTo>
                  <a:pt x="6639044" y="1426561"/>
                </a:lnTo>
                <a:lnTo>
                  <a:pt x="6626987" y="1383664"/>
                </a:lnTo>
                <a:lnTo>
                  <a:pt x="6617256" y="1335540"/>
                </a:lnTo>
                <a:lnTo>
                  <a:pt x="6603784" y="1290042"/>
                </a:lnTo>
                <a:lnTo>
                  <a:pt x="6586154" y="1247460"/>
                </a:lnTo>
                <a:lnTo>
                  <a:pt x="6563948" y="1208087"/>
                </a:lnTo>
                <a:lnTo>
                  <a:pt x="6536747" y="1172214"/>
                </a:lnTo>
                <a:lnTo>
                  <a:pt x="6504133" y="1140134"/>
                </a:lnTo>
                <a:lnTo>
                  <a:pt x="6465688" y="1112138"/>
                </a:lnTo>
                <a:lnTo>
                  <a:pt x="6420993" y="1088516"/>
                </a:lnTo>
                <a:lnTo>
                  <a:pt x="6431534" y="1056386"/>
                </a:lnTo>
                <a:lnTo>
                  <a:pt x="6476766" y="1062572"/>
                </a:lnTo>
                <a:lnTo>
                  <a:pt x="6520284" y="1079359"/>
                </a:lnTo>
                <a:lnTo>
                  <a:pt x="6564643" y="1097689"/>
                </a:lnTo>
                <a:lnTo>
                  <a:pt x="6612399" y="1108502"/>
                </a:lnTo>
                <a:lnTo>
                  <a:pt x="6666103" y="1102740"/>
                </a:lnTo>
                <a:lnTo>
                  <a:pt x="6630835" y="1063416"/>
                </a:lnTo>
                <a:lnTo>
                  <a:pt x="6596392" y="1025769"/>
                </a:lnTo>
                <a:lnTo>
                  <a:pt x="6561943" y="990130"/>
                </a:lnTo>
                <a:lnTo>
                  <a:pt x="6526657" y="956833"/>
                </a:lnTo>
                <a:lnTo>
                  <a:pt x="6489705" y="926209"/>
                </a:lnTo>
                <a:lnTo>
                  <a:pt x="6450255" y="898590"/>
                </a:lnTo>
                <a:lnTo>
                  <a:pt x="6407477" y="874307"/>
                </a:lnTo>
                <a:lnTo>
                  <a:pt x="6360541" y="853694"/>
                </a:lnTo>
                <a:lnTo>
                  <a:pt x="6319564" y="839463"/>
                </a:lnTo>
                <a:lnTo>
                  <a:pt x="6277162" y="825190"/>
                </a:lnTo>
                <a:lnTo>
                  <a:pt x="6234253" y="809500"/>
                </a:lnTo>
                <a:lnTo>
                  <a:pt x="6191758" y="791019"/>
                </a:lnTo>
                <a:lnTo>
                  <a:pt x="6150597" y="768370"/>
                </a:lnTo>
                <a:lnTo>
                  <a:pt x="6111689" y="740179"/>
                </a:lnTo>
                <a:lnTo>
                  <a:pt x="6075954" y="705071"/>
                </a:lnTo>
                <a:lnTo>
                  <a:pt x="6044311" y="661670"/>
                </a:lnTo>
                <a:lnTo>
                  <a:pt x="6095199" y="652973"/>
                </a:lnTo>
                <a:lnTo>
                  <a:pt x="6142008" y="654730"/>
                </a:lnTo>
                <a:lnTo>
                  <a:pt x="6185751" y="663681"/>
                </a:lnTo>
                <a:lnTo>
                  <a:pt x="6227439" y="676564"/>
                </a:lnTo>
                <a:lnTo>
                  <a:pt x="6268085" y="690117"/>
                </a:lnTo>
                <a:lnTo>
                  <a:pt x="6319638" y="708161"/>
                </a:lnTo>
                <a:lnTo>
                  <a:pt x="6525778" y="782310"/>
                </a:lnTo>
                <a:lnTo>
                  <a:pt x="6577330" y="800353"/>
                </a:lnTo>
                <a:lnTo>
                  <a:pt x="6606927" y="808688"/>
                </a:lnTo>
                <a:lnTo>
                  <a:pt x="6635893" y="808354"/>
                </a:lnTo>
                <a:lnTo>
                  <a:pt x="6662216" y="793353"/>
                </a:lnTo>
                <a:lnTo>
                  <a:pt x="6683883" y="757682"/>
                </a:lnTo>
                <a:lnTo>
                  <a:pt x="6630643" y="747449"/>
                </a:lnTo>
                <a:lnTo>
                  <a:pt x="6582927" y="729811"/>
                </a:lnTo>
                <a:lnTo>
                  <a:pt x="6539745" y="706073"/>
                </a:lnTo>
                <a:lnTo>
                  <a:pt x="6500107" y="677539"/>
                </a:lnTo>
                <a:lnTo>
                  <a:pt x="6463022" y="645512"/>
                </a:lnTo>
                <a:lnTo>
                  <a:pt x="6427498" y="611298"/>
                </a:lnTo>
                <a:lnTo>
                  <a:pt x="6392545" y="576199"/>
                </a:lnTo>
                <a:lnTo>
                  <a:pt x="6358432" y="540361"/>
                </a:lnTo>
                <a:lnTo>
                  <a:pt x="6322330" y="508190"/>
                </a:lnTo>
                <a:lnTo>
                  <a:pt x="6279585" y="488688"/>
                </a:lnTo>
                <a:lnTo>
                  <a:pt x="6225540" y="490854"/>
                </a:lnTo>
                <a:lnTo>
                  <a:pt x="6196481" y="491355"/>
                </a:lnTo>
                <a:lnTo>
                  <a:pt x="6174423" y="478853"/>
                </a:lnTo>
                <a:lnTo>
                  <a:pt x="6161032" y="456350"/>
                </a:lnTo>
                <a:lnTo>
                  <a:pt x="6157976" y="426847"/>
                </a:lnTo>
                <a:lnTo>
                  <a:pt x="6158543" y="368706"/>
                </a:lnTo>
                <a:lnTo>
                  <a:pt x="6146369" y="321387"/>
                </a:lnTo>
                <a:lnTo>
                  <a:pt x="6123503" y="283518"/>
                </a:lnTo>
                <a:lnTo>
                  <a:pt x="6091993" y="253730"/>
                </a:lnTo>
                <a:lnTo>
                  <a:pt x="6053886" y="230650"/>
                </a:lnTo>
                <a:lnTo>
                  <a:pt x="6011232" y="212909"/>
                </a:lnTo>
                <a:lnTo>
                  <a:pt x="5919687" y="185111"/>
                </a:lnTo>
                <a:lnTo>
                  <a:pt x="5874212" y="168867"/>
                </a:lnTo>
                <a:lnTo>
                  <a:pt x="5829504" y="150745"/>
                </a:lnTo>
                <a:lnTo>
                  <a:pt x="5785416" y="131088"/>
                </a:lnTo>
                <a:lnTo>
                  <a:pt x="5741797" y="110236"/>
                </a:lnTo>
                <a:lnTo>
                  <a:pt x="5698498" y="88530"/>
                </a:lnTo>
                <a:lnTo>
                  <a:pt x="5569029" y="21705"/>
                </a:lnTo>
                <a:lnTo>
                  <a:pt x="5525516" y="0"/>
                </a:lnTo>
                <a:close/>
              </a:path>
            </a:pathLst>
          </a:custGeom>
          <a:solidFill>
            <a:srgbClr val="E8E8E8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3018" rIns="0" bIns="0" rtlCol="0">
            <a:spAutoFit/>
          </a:bodyPr>
          <a:lstStyle/>
          <a:p>
            <a:pPr marL="805815">
              <a:lnSpc>
                <a:spcPct val="100000"/>
              </a:lnSpc>
              <a:spcBef>
                <a:spcPts val="105"/>
              </a:spcBef>
            </a:pPr>
            <a:r>
              <a:rPr spc="-110" dirty="0">
                <a:latin typeface="Trebuchet MS"/>
                <a:cs typeface="Trebuchet MS"/>
              </a:rPr>
              <a:t>Decision</a:t>
            </a:r>
            <a:r>
              <a:rPr spc="-450" dirty="0">
                <a:latin typeface="Trebuchet MS"/>
                <a:cs typeface="Trebuchet MS"/>
              </a:rPr>
              <a:t> </a:t>
            </a:r>
            <a:r>
              <a:rPr spc="-415" dirty="0">
                <a:latin typeface="Trebuchet MS"/>
                <a:cs typeface="Trebuchet MS"/>
              </a:rPr>
              <a:t>Tree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2640" y="1998090"/>
            <a:ext cx="5139055" cy="37369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5715" indent="-227329" algn="just">
              <a:lnSpc>
                <a:spcPts val="23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Decision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Tree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55" dirty="0">
                <a:latin typeface="Trebuchet MS"/>
                <a:cs typeface="Trebuchet MS"/>
              </a:rPr>
              <a:t>  </a:t>
            </a:r>
            <a:r>
              <a:rPr sz="2400" spc="-10" dirty="0">
                <a:latin typeface="Trebuchet MS"/>
                <a:cs typeface="Trebuchet MS"/>
              </a:rPr>
              <a:t>supervised 	</a:t>
            </a:r>
            <a:r>
              <a:rPr sz="2400" dirty="0">
                <a:latin typeface="Trebuchet MS"/>
                <a:cs typeface="Trebuchet MS"/>
              </a:rPr>
              <a:t>learning</a:t>
            </a:r>
            <a:r>
              <a:rPr sz="2400" spc="7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algorithm</a:t>
            </a:r>
            <a:r>
              <a:rPr sz="2400" spc="7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7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for</a:t>
            </a:r>
            <a:r>
              <a:rPr sz="2400" spc="70" dirty="0">
                <a:latin typeface="Trebuchet MS"/>
                <a:cs typeface="Trebuchet MS"/>
              </a:rPr>
              <a:t>  </a:t>
            </a:r>
            <a:r>
              <a:rPr sz="2400" spc="-20" dirty="0">
                <a:latin typeface="Trebuchet MS"/>
                <a:cs typeface="Trebuchet MS"/>
              </a:rPr>
              <a:t>both 	</a:t>
            </a:r>
            <a:r>
              <a:rPr sz="2400" spc="-30" dirty="0">
                <a:latin typeface="Trebuchet MS"/>
                <a:cs typeface="Trebuchet MS"/>
              </a:rPr>
              <a:t>classification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regression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tasks.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3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works</a:t>
            </a:r>
            <a:r>
              <a:rPr sz="2400" spc="3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3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splitting</a:t>
            </a:r>
            <a:r>
              <a:rPr sz="2400" spc="4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3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into 	</a:t>
            </a:r>
            <a:r>
              <a:rPr sz="2400" dirty="0">
                <a:latin typeface="Trebuchet MS"/>
                <a:cs typeface="Trebuchet MS"/>
              </a:rPr>
              <a:t>subsets</a:t>
            </a:r>
            <a:r>
              <a:rPr sz="2400" spc="34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based</a:t>
            </a:r>
            <a:r>
              <a:rPr sz="2400" spc="340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355" dirty="0">
                <a:latin typeface="Trebuchet MS"/>
                <a:cs typeface="Trebuchet MS"/>
              </a:rPr>
              <a:t> 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40" dirty="0">
                <a:latin typeface="Trebuchet MS"/>
                <a:cs typeface="Trebuchet MS"/>
              </a:rPr>
              <a:t>   </a:t>
            </a:r>
            <a:r>
              <a:rPr sz="2400" spc="-20" dirty="0">
                <a:latin typeface="Trebuchet MS"/>
                <a:cs typeface="Trebuchet MS"/>
              </a:rPr>
              <a:t>most 	</a:t>
            </a:r>
            <a:r>
              <a:rPr sz="2400" dirty="0">
                <a:latin typeface="Trebuchet MS"/>
                <a:cs typeface="Trebuchet MS"/>
              </a:rPr>
              <a:t>significant</a:t>
            </a:r>
            <a:r>
              <a:rPr sz="2400" spc="2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feature,</a:t>
            </a:r>
            <a:r>
              <a:rPr sz="2400" spc="2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creating</a:t>
            </a:r>
            <a:r>
              <a:rPr sz="2400" spc="2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tree 	</a:t>
            </a:r>
            <a:r>
              <a:rPr sz="2400" dirty="0">
                <a:latin typeface="Trebuchet MS"/>
                <a:cs typeface="Trebuchet MS"/>
              </a:rPr>
              <a:t>structure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where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internal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node 	</a:t>
            </a:r>
            <a:r>
              <a:rPr sz="2400" dirty="0">
                <a:latin typeface="Trebuchet MS"/>
                <a:cs typeface="Trebuchet MS"/>
              </a:rPr>
              <a:t>represents</a:t>
            </a:r>
            <a:r>
              <a:rPr sz="2400" spc="-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decision</a:t>
            </a:r>
            <a:r>
              <a:rPr sz="2400" spc="-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based</a:t>
            </a:r>
            <a:r>
              <a:rPr sz="2400" spc="-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50" dirty="0">
                <a:latin typeface="Trebuchet MS"/>
                <a:cs typeface="Trebuchet MS"/>
              </a:rPr>
              <a:t>  a 	</a:t>
            </a:r>
            <a:r>
              <a:rPr sz="2400" spc="-90" dirty="0">
                <a:latin typeface="Trebuchet MS"/>
                <a:cs typeface="Trebuchet MS"/>
              </a:rPr>
              <a:t>feature,</a:t>
            </a:r>
            <a:r>
              <a:rPr sz="2400" dirty="0">
                <a:latin typeface="Trebuchet MS"/>
                <a:cs typeface="Trebuchet MS"/>
              </a:rPr>
              <a:t> each branch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represents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dirty="0">
                <a:latin typeface="Trebuchet MS"/>
                <a:cs typeface="Trebuchet MS"/>
              </a:rPr>
              <a:t>outcome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that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decision,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each 	</a:t>
            </a:r>
            <a:r>
              <a:rPr sz="2400" dirty="0">
                <a:latin typeface="Trebuchet MS"/>
                <a:cs typeface="Trebuchet MS"/>
              </a:rPr>
              <a:t>leaf</a:t>
            </a:r>
            <a:r>
              <a:rPr sz="2400" spc="4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node</a:t>
            </a:r>
            <a:r>
              <a:rPr sz="2400" spc="46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represents</a:t>
            </a:r>
            <a:r>
              <a:rPr sz="2400" spc="4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450" dirty="0">
                <a:latin typeface="Trebuchet MS"/>
                <a:cs typeface="Trebuchet MS"/>
              </a:rPr>
              <a:t>  </a:t>
            </a:r>
            <a:r>
              <a:rPr sz="2400" spc="-55" dirty="0">
                <a:latin typeface="Trebuchet MS"/>
                <a:cs typeface="Trebuchet MS"/>
              </a:rPr>
              <a:t>final 	</a:t>
            </a:r>
            <a:r>
              <a:rPr sz="2400" spc="-10" dirty="0">
                <a:latin typeface="Trebuchet MS"/>
                <a:cs typeface="Trebuchet MS"/>
              </a:rPr>
              <a:t>prediction.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65189" y="247904"/>
            <a:ext cx="5101590" cy="6142990"/>
            <a:chOff x="6465189" y="247904"/>
            <a:chExt cx="5101590" cy="61429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7391" y="247904"/>
              <a:ext cx="5009133" cy="31810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5189" y="3542525"/>
              <a:ext cx="5003038" cy="28482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3196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>
                <a:latin typeface="Trebuchet MS"/>
                <a:cs typeface="Trebuchet MS"/>
              </a:rPr>
              <a:t>How</a:t>
            </a:r>
            <a:r>
              <a:rPr spc="-450" dirty="0">
                <a:latin typeface="Trebuchet MS"/>
                <a:cs typeface="Trebuchet MS"/>
              </a:rPr>
              <a:t> </a:t>
            </a:r>
            <a:r>
              <a:rPr spc="-75" dirty="0">
                <a:latin typeface="Trebuchet MS"/>
                <a:cs typeface="Trebuchet MS"/>
              </a:rPr>
              <a:t>does</a:t>
            </a:r>
            <a:r>
              <a:rPr spc="-455" dirty="0">
                <a:latin typeface="Trebuchet MS"/>
                <a:cs typeface="Trebuchet MS"/>
              </a:rPr>
              <a:t> </a:t>
            </a:r>
            <a:r>
              <a:rPr spc="-170" dirty="0">
                <a:latin typeface="Trebuchet MS"/>
                <a:cs typeface="Trebuchet MS"/>
              </a:rPr>
              <a:t>a</a:t>
            </a:r>
            <a:r>
              <a:rPr spc="-455"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Decision</a:t>
            </a:r>
            <a:r>
              <a:rPr spc="-475" dirty="0">
                <a:latin typeface="Trebuchet MS"/>
                <a:cs typeface="Trebuchet MS"/>
              </a:rPr>
              <a:t> </a:t>
            </a:r>
            <a:r>
              <a:rPr spc="-390" dirty="0">
                <a:latin typeface="Trebuchet MS"/>
                <a:cs typeface="Trebuchet MS"/>
              </a:rPr>
              <a:t>Tree</a:t>
            </a:r>
            <a:r>
              <a:rPr spc="-45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work?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827" y="2345214"/>
            <a:ext cx="8491261" cy="363355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472045" cy="6858000"/>
          </a:xfrm>
          <a:custGeom>
            <a:avLst/>
            <a:gdLst/>
            <a:ahLst/>
            <a:cxnLst/>
            <a:rect l="l" t="t" r="r" b="b"/>
            <a:pathLst>
              <a:path w="7472045" h="6858000">
                <a:moveTo>
                  <a:pt x="5525516" y="0"/>
                </a:moveTo>
                <a:lnTo>
                  <a:pt x="0" y="0"/>
                </a:lnTo>
                <a:lnTo>
                  <a:pt x="0" y="6857999"/>
                </a:lnTo>
                <a:lnTo>
                  <a:pt x="6239764" y="6857999"/>
                </a:lnTo>
                <a:lnTo>
                  <a:pt x="6193250" y="6844361"/>
                </a:lnTo>
                <a:lnTo>
                  <a:pt x="6146997" y="6830265"/>
                </a:lnTo>
                <a:lnTo>
                  <a:pt x="6008950" y="6787309"/>
                </a:lnTo>
                <a:lnTo>
                  <a:pt x="5962890" y="6773463"/>
                </a:lnTo>
                <a:lnTo>
                  <a:pt x="5916667" y="6760201"/>
                </a:lnTo>
                <a:lnTo>
                  <a:pt x="5870194" y="6747730"/>
                </a:lnTo>
                <a:lnTo>
                  <a:pt x="5883527" y="6728336"/>
                </a:lnTo>
                <a:lnTo>
                  <a:pt x="5896848" y="6720612"/>
                </a:lnTo>
                <a:lnTo>
                  <a:pt x="5910146" y="6720222"/>
                </a:lnTo>
                <a:lnTo>
                  <a:pt x="5923407" y="6722833"/>
                </a:lnTo>
                <a:lnTo>
                  <a:pt x="5976985" y="6729798"/>
                </a:lnTo>
                <a:lnTo>
                  <a:pt x="6030845" y="6737060"/>
                </a:lnTo>
                <a:lnTo>
                  <a:pt x="6084697" y="6745507"/>
                </a:lnTo>
                <a:lnTo>
                  <a:pt x="6138254" y="6756030"/>
                </a:lnTo>
                <a:lnTo>
                  <a:pt x="6191224" y="6769517"/>
                </a:lnTo>
                <a:lnTo>
                  <a:pt x="6243320" y="6786858"/>
                </a:lnTo>
                <a:lnTo>
                  <a:pt x="6262249" y="6790581"/>
                </a:lnTo>
                <a:lnTo>
                  <a:pt x="6280547" y="6789970"/>
                </a:lnTo>
                <a:lnTo>
                  <a:pt x="6296202" y="6783356"/>
                </a:lnTo>
                <a:lnTo>
                  <a:pt x="6307201" y="6769073"/>
                </a:lnTo>
                <a:lnTo>
                  <a:pt x="6313202" y="6744896"/>
                </a:lnTo>
                <a:lnTo>
                  <a:pt x="6307201" y="6725056"/>
                </a:lnTo>
                <a:lnTo>
                  <a:pt x="6275197" y="6694373"/>
                </a:lnTo>
                <a:lnTo>
                  <a:pt x="6207300" y="6669474"/>
                </a:lnTo>
                <a:lnTo>
                  <a:pt x="6136640" y="6665912"/>
                </a:lnTo>
                <a:lnTo>
                  <a:pt x="6078151" y="6654206"/>
                </a:lnTo>
                <a:lnTo>
                  <a:pt x="6029918" y="6636274"/>
                </a:lnTo>
                <a:lnTo>
                  <a:pt x="5990955" y="6611227"/>
                </a:lnTo>
                <a:lnTo>
                  <a:pt x="5960280" y="6578177"/>
                </a:lnTo>
                <a:lnTo>
                  <a:pt x="5936906" y="6536232"/>
                </a:lnTo>
                <a:lnTo>
                  <a:pt x="5919851" y="6484505"/>
                </a:lnTo>
                <a:lnTo>
                  <a:pt x="5967078" y="6498567"/>
                </a:lnTo>
                <a:lnTo>
                  <a:pt x="6014231" y="6503359"/>
                </a:lnTo>
                <a:lnTo>
                  <a:pt x="6061253" y="6502240"/>
                </a:lnTo>
                <a:lnTo>
                  <a:pt x="6108087" y="6498570"/>
                </a:lnTo>
                <a:lnTo>
                  <a:pt x="6154674" y="6495709"/>
                </a:lnTo>
                <a:lnTo>
                  <a:pt x="6200956" y="6497017"/>
                </a:lnTo>
                <a:lnTo>
                  <a:pt x="6246876" y="6505854"/>
                </a:lnTo>
                <a:lnTo>
                  <a:pt x="6269695" y="6507687"/>
                </a:lnTo>
                <a:lnTo>
                  <a:pt x="6291215" y="6501852"/>
                </a:lnTo>
                <a:lnTo>
                  <a:pt x="6304759" y="6487346"/>
                </a:lnTo>
                <a:lnTo>
                  <a:pt x="6303645" y="6463169"/>
                </a:lnTo>
                <a:lnTo>
                  <a:pt x="6278356" y="6418702"/>
                </a:lnTo>
                <a:lnTo>
                  <a:pt x="6285197" y="6407139"/>
                </a:lnTo>
                <a:lnTo>
                  <a:pt x="6324981" y="6406248"/>
                </a:lnTo>
                <a:lnTo>
                  <a:pt x="6362986" y="6415701"/>
                </a:lnTo>
                <a:lnTo>
                  <a:pt x="6406992" y="6465278"/>
                </a:lnTo>
                <a:lnTo>
                  <a:pt x="6420993" y="6498742"/>
                </a:lnTo>
                <a:lnTo>
                  <a:pt x="6435699" y="6515133"/>
                </a:lnTo>
                <a:lnTo>
                  <a:pt x="6456442" y="6525856"/>
                </a:lnTo>
                <a:lnTo>
                  <a:pt x="6479876" y="6529246"/>
                </a:lnTo>
                <a:lnTo>
                  <a:pt x="6502654" y="6523634"/>
                </a:lnTo>
                <a:lnTo>
                  <a:pt x="6521546" y="6508852"/>
                </a:lnTo>
                <a:lnTo>
                  <a:pt x="6528435" y="6488066"/>
                </a:lnTo>
                <a:lnTo>
                  <a:pt x="6528658" y="6464610"/>
                </a:lnTo>
                <a:lnTo>
                  <a:pt x="6527546" y="6441821"/>
                </a:lnTo>
                <a:lnTo>
                  <a:pt x="6510211" y="6381351"/>
                </a:lnTo>
                <a:lnTo>
                  <a:pt x="6452870" y="6352895"/>
                </a:lnTo>
                <a:lnTo>
                  <a:pt x="6407329" y="6341558"/>
                </a:lnTo>
                <a:lnTo>
                  <a:pt x="6360097" y="6328886"/>
                </a:lnTo>
                <a:lnTo>
                  <a:pt x="6253988" y="6299542"/>
                </a:lnTo>
                <a:lnTo>
                  <a:pt x="6314254" y="6280533"/>
                </a:lnTo>
                <a:lnTo>
                  <a:pt x="6368542" y="6275530"/>
                </a:lnTo>
                <a:lnTo>
                  <a:pt x="6418830" y="6282533"/>
                </a:lnTo>
                <a:lnTo>
                  <a:pt x="6467094" y="6299542"/>
                </a:lnTo>
                <a:lnTo>
                  <a:pt x="6516495" y="6319293"/>
                </a:lnTo>
                <a:lnTo>
                  <a:pt x="6568780" y="6337164"/>
                </a:lnTo>
                <a:lnTo>
                  <a:pt x="6620887" y="6348718"/>
                </a:lnTo>
                <a:lnTo>
                  <a:pt x="6669758" y="6349515"/>
                </a:lnTo>
                <a:lnTo>
                  <a:pt x="6712331" y="6335115"/>
                </a:lnTo>
                <a:lnTo>
                  <a:pt x="6758917" y="6313819"/>
                </a:lnTo>
                <a:lnTo>
                  <a:pt x="6803244" y="6304677"/>
                </a:lnTo>
                <a:lnTo>
                  <a:pt x="6845999" y="6304430"/>
                </a:lnTo>
                <a:lnTo>
                  <a:pt x="6887864" y="6309817"/>
                </a:lnTo>
                <a:lnTo>
                  <a:pt x="6929525" y="6317576"/>
                </a:lnTo>
                <a:lnTo>
                  <a:pt x="6971665" y="6324447"/>
                </a:lnTo>
                <a:lnTo>
                  <a:pt x="7021021" y="6331921"/>
                </a:lnTo>
                <a:lnTo>
                  <a:pt x="7074728" y="6348420"/>
                </a:lnTo>
                <a:lnTo>
                  <a:pt x="7100013" y="6365624"/>
                </a:lnTo>
                <a:lnTo>
                  <a:pt x="7113839" y="6373977"/>
                </a:lnTo>
                <a:lnTo>
                  <a:pt x="7134772" y="6381891"/>
                </a:lnTo>
                <a:lnTo>
                  <a:pt x="7167547" y="6389160"/>
                </a:lnTo>
                <a:lnTo>
                  <a:pt x="7216902" y="6395580"/>
                </a:lnTo>
                <a:lnTo>
                  <a:pt x="7260137" y="6401697"/>
                </a:lnTo>
                <a:lnTo>
                  <a:pt x="7305439" y="6408670"/>
                </a:lnTo>
                <a:lnTo>
                  <a:pt x="7353989" y="6412227"/>
                </a:lnTo>
                <a:lnTo>
                  <a:pt x="7406971" y="6408102"/>
                </a:lnTo>
                <a:lnTo>
                  <a:pt x="7465568" y="6392024"/>
                </a:lnTo>
                <a:lnTo>
                  <a:pt x="7408631" y="6367348"/>
                </a:lnTo>
                <a:lnTo>
                  <a:pt x="7354056" y="6344759"/>
                </a:lnTo>
                <a:lnTo>
                  <a:pt x="7301652" y="6324043"/>
                </a:lnTo>
                <a:lnTo>
                  <a:pt x="7251228" y="6304991"/>
                </a:lnTo>
                <a:lnTo>
                  <a:pt x="7202592" y="6287390"/>
                </a:lnTo>
                <a:lnTo>
                  <a:pt x="7155553" y="6271028"/>
                </a:lnTo>
                <a:lnTo>
                  <a:pt x="7109921" y="6255695"/>
                </a:lnTo>
                <a:lnTo>
                  <a:pt x="7065504" y="6241179"/>
                </a:lnTo>
                <a:lnTo>
                  <a:pt x="6896164" y="6187051"/>
                </a:lnTo>
                <a:lnTo>
                  <a:pt x="6854955" y="6173445"/>
                </a:lnTo>
                <a:lnTo>
                  <a:pt x="6813814" y="6159387"/>
                </a:lnTo>
                <a:lnTo>
                  <a:pt x="6772550" y="6144666"/>
                </a:lnTo>
                <a:lnTo>
                  <a:pt x="6730972" y="6129069"/>
                </a:lnTo>
                <a:lnTo>
                  <a:pt x="6688889" y="6112385"/>
                </a:lnTo>
                <a:lnTo>
                  <a:pt x="6646109" y="6094403"/>
                </a:lnTo>
                <a:lnTo>
                  <a:pt x="6602441" y="6074910"/>
                </a:lnTo>
                <a:lnTo>
                  <a:pt x="6557695" y="6053697"/>
                </a:lnTo>
                <a:lnTo>
                  <a:pt x="6511678" y="6030550"/>
                </a:lnTo>
                <a:lnTo>
                  <a:pt x="6464201" y="6005259"/>
                </a:lnTo>
                <a:lnTo>
                  <a:pt x="6415071" y="5977612"/>
                </a:lnTo>
                <a:lnTo>
                  <a:pt x="6364097" y="5947397"/>
                </a:lnTo>
                <a:lnTo>
                  <a:pt x="6377432" y="5934721"/>
                </a:lnTo>
                <a:lnTo>
                  <a:pt x="6390767" y="5931384"/>
                </a:lnTo>
                <a:lnTo>
                  <a:pt x="6404102" y="5933383"/>
                </a:lnTo>
                <a:lnTo>
                  <a:pt x="6417437" y="5936716"/>
                </a:lnTo>
                <a:lnTo>
                  <a:pt x="6439478" y="5940274"/>
                </a:lnTo>
                <a:lnTo>
                  <a:pt x="6460887" y="5941166"/>
                </a:lnTo>
                <a:lnTo>
                  <a:pt x="6478320" y="5932721"/>
                </a:lnTo>
                <a:lnTo>
                  <a:pt x="6488430" y="5908268"/>
                </a:lnTo>
                <a:lnTo>
                  <a:pt x="6486597" y="5884869"/>
                </a:lnTo>
                <a:lnTo>
                  <a:pt x="6476429" y="5867806"/>
                </a:lnTo>
                <a:lnTo>
                  <a:pt x="6458927" y="5856744"/>
                </a:lnTo>
                <a:lnTo>
                  <a:pt x="6435090" y="5851347"/>
                </a:lnTo>
                <a:lnTo>
                  <a:pt x="6384431" y="5841468"/>
                </a:lnTo>
                <a:lnTo>
                  <a:pt x="6335249" y="5826846"/>
                </a:lnTo>
                <a:lnTo>
                  <a:pt x="6287246" y="5808667"/>
                </a:lnTo>
                <a:lnTo>
                  <a:pt x="6240122" y="5788116"/>
                </a:lnTo>
                <a:lnTo>
                  <a:pt x="6147308" y="5744641"/>
                </a:lnTo>
                <a:lnTo>
                  <a:pt x="6089142" y="5708627"/>
                </a:lnTo>
                <a:lnTo>
                  <a:pt x="6073906" y="5679112"/>
                </a:lnTo>
                <a:lnTo>
                  <a:pt x="6076315" y="5637923"/>
                </a:lnTo>
                <a:lnTo>
                  <a:pt x="6101134" y="5631591"/>
                </a:lnTo>
                <a:lnTo>
                  <a:pt x="6123321" y="5635263"/>
                </a:lnTo>
                <a:lnTo>
                  <a:pt x="6144199" y="5642935"/>
                </a:lnTo>
                <a:lnTo>
                  <a:pt x="6165088" y="5648604"/>
                </a:lnTo>
                <a:lnTo>
                  <a:pt x="6191796" y="5648269"/>
                </a:lnTo>
                <a:lnTo>
                  <a:pt x="6221492" y="5643264"/>
                </a:lnTo>
                <a:lnTo>
                  <a:pt x="6242544" y="5635592"/>
                </a:lnTo>
                <a:lnTo>
                  <a:pt x="6243320" y="5627255"/>
                </a:lnTo>
                <a:lnTo>
                  <a:pt x="6221013" y="5607449"/>
                </a:lnTo>
                <a:lnTo>
                  <a:pt x="6218603" y="5583352"/>
                </a:lnTo>
                <a:lnTo>
                  <a:pt x="6227698" y="5557639"/>
                </a:lnTo>
                <a:lnTo>
                  <a:pt x="6239908" y="5532984"/>
                </a:lnTo>
                <a:lnTo>
                  <a:pt x="6246841" y="5512062"/>
                </a:lnTo>
                <a:lnTo>
                  <a:pt x="6240108" y="5497547"/>
                </a:lnTo>
                <a:lnTo>
                  <a:pt x="6211316" y="5492115"/>
                </a:lnTo>
                <a:lnTo>
                  <a:pt x="6164376" y="5487328"/>
                </a:lnTo>
                <a:lnTo>
                  <a:pt x="6121057" y="5474321"/>
                </a:lnTo>
                <a:lnTo>
                  <a:pt x="6080507" y="5455122"/>
                </a:lnTo>
                <a:lnTo>
                  <a:pt x="6041874" y="5431760"/>
                </a:lnTo>
                <a:lnTo>
                  <a:pt x="5966952" y="5380658"/>
                </a:lnTo>
                <a:lnTo>
                  <a:pt x="5928959" y="5356976"/>
                </a:lnTo>
                <a:lnTo>
                  <a:pt x="5889476" y="5337244"/>
                </a:lnTo>
                <a:lnTo>
                  <a:pt x="5847650" y="5323490"/>
                </a:lnTo>
                <a:lnTo>
                  <a:pt x="5802630" y="5317744"/>
                </a:lnTo>
                <a:lnTo>
                  <a:pt x="5786573" y="5312354"/>
                </a:lnTo>
                <a:lnTo>
                  <a:pt x="5775516" y="5298630"/>
                </a:lnTo>
                <a:lnTo>
                  <a:pt x="5769126" y="5280239"/>
                </a:lnTo>
                <a:lnTo>
                  <a:pt x="5767070" y="5260848"/>
                </a:lnTo>
                <a:lnTo>
                  <a:pt x="5771349" y="5241734"/>
                </a:lnTo>
                <a:lnTo>
                  <a:pt x="5782628" y="5230622"/>
                </a:lnTo>
                <a:lnTo>
                  <a:pt x="5798574" y="5224843"/>
                </a:lnTo>
                <a:lnTo>
                  <a:pt x="5816854" y="5221732"/>
                </a:lnTo>
                <a:lnTo>
                  <a:pt x="5846912" y="5225399"/>
                </a:lnTo>
                <a:lnTo>
                  <a:pt x="5878624" y="5232400"/>
                </a:lnTo>
                <a:lnTo>
                  <a:pt x="5912313" y="5228732"/>
                </a:lnTo>
                <a:lnTo>
                  <a:pt x="5948299" y="5200396"/>
                </a:lnTo>
                <a:lnTo>
                  <a:pt x="5902306" y="5182220"/>
                </a:lnTo>
                <a:lnTo>
                  <a:pt x="5858567" y="5161675"/>
                </a:lnTo>
                <a:lnTo>
                  <a:pt x="5819950" y="5136388"/>
                </a:lnTo>
                <a:lnTo>
                  <a:pt x="5789323" y="5103988"/>
                </a:lnTo>
                <a:lnTo>
                  <a:pt x="5769556" y="5062107"/>
                </a:lnTo>
                <a:lnTo>
                  <a:pt x="5763514" y="5008372"/>
                </a:lnTo>
                <a:lnTo>
                  <a:pt x="5756978" y="4987536"/>
                </a:lnTo>
                <a:lnTo>
                  <a:pt x="5740464" y="4972367"/>
                </a:lnTo>
                <a:lnTo>
                  <a:pt x="5718616" y="4961866"/>
                </a:lnTo>
                <a:lnTo>
                  <a:pt x="5696077" y="4955032"/>
                </a:lnTo>
                <a:lnTo>
                  <a:pt x="5660740" y="4942732"/>
                </a:lnTo>
                <a:lnTo>
                  <a:pt x="5629402" y="4926076"/>
                </a:lnTo>
                <a:lnTo>
                  <a:pt x="5602066" y="4903418"/>
                </a:lnTo>
                <a:lnTo>
                  <a:pt x="5578729" y="4873117"/>
                </a:lnTo>
                <a:lnTo>
                  <a:pt x="5578729" y="4844669"/>
                </a:lnTo>
                <a:lnTo>
                  <a:pt x="5590222" y="4791385"/>
                </a:lnTo>
                <a:lnTo>
                  <a:pt x="5614346" y="4760633"/>
                </a:lnTo>
                <a:lnTo>
                  <a:pt x="5648370" y="4747632"/>
                </a:lnTo>
                <a:lnTo>
                  <a:pt x="5689563" y="4747604"/>
                </a:lnTo>
                <a:lnTo>
                  <a:pt x="5735193" y="4755769"/>
                </a:lnTo>
                <a:lnTo>
                  <a:pt x="5781391" y="4767737"/>
                </a:lnTo>
                <a:lnTo>
                  <a:pt x="5827790" y="4780397"/>
                </a:lnTo>
                <a:lnTo>
                  <a:pt x="5874592" y="4790884"/>
                </a:lnTo>
                <a:lnTo>
                  <a:pt x="5921996" y="4796333"/>
                </a:lnTo>
                <a:lnTo>
                  <a:pt x="5970205" y="4793880"/>
                </a:lnTo>
                <a:lnTo>
                  <a:pt x="6019419" y="4780661"/>
                </a:lnTo>
                <a:lnTo>
                  <a:pt x="5972760" y="4764559"/>
                </a:lnTo>
                <a:lnTo>
                  <a:pt x="5925369" y="4751149"/>
                </a:lnTo>
                <a:lnTo>
                  <a:pt x="5877565" y="4739437"/>
                </a:lnTo>
                <a:lnTo>
                  <a:pt x="5829670" y="4728428"/>
                </a:lnTo>
                <a:lnTo>
                  <a:pt x="5782006" y="4717126"/>
                </a:lnTo>
                <a:lnTo>
                  <a:pt x="5734892" y="4704536"/>
                </a:lnTo>
                <a:lnTo>
                  <a:pt x="5688650" y="4689663"/>
                </a:lnTo>
                <a:lnTo>
                  <a:pt x="5643601" y="4671512"/>
                </a:lnTo>
                <a:lnTo>
                  <a:pt x="5600065" y="4649089"/>
                </a:lnTo>
                <a:lnTo>
                  <a:pt x="5650878" y="4648512"/>
                </a:lnTo>
                <a:lnTo>
                  <a:pt x="5701282" y="4649760"/>
                </a:lnTo>
                <a:lnTo>
                  <a:pt x="5751304" y="4652722"/>
                </a:lnTo>
                <a:lnTo>
                  <a:pt x="5800972" y="4657289"/>
                </a:lnTo>
                <a:lnTo>
                  <a:pt x="5850312" y="4663354"/>
                </a:lnTo>
                <a:lnTo>
                  <a:pt x="5899352" y="4670807"/>
                </a:lnTo>
                <a:lnTo>
                  <a:pt x="5948119" y="4679539"/>
                </a:lnTo>
                <a:lnTo>
                  <a:pt x="5996640" y="4689441"/>
                </a:lnTo>
                <a:lnTo>
                  <a:pt x="6044943" y="4700405"/>
                </a:lnTo>
                <a:lnTo>
                  <a:pt x="6093055" y="4712322"/>
                </a:lnTo>
                <a:lnTo>
                  <a:pt x="6141002" y="4725083"/>
                </a:lnTo>
                <a:lnTo>
                  <a:pt x="6188814" y="4738579"/>
                </a:lnTo>
                <a:lnTo>
                  <a:pt x="6236515" y="4752701"/>
                </a:lnTo>
                <a:lnTo>
                  <a:pt x="6284135" y="4767341"/>
                </a:lnTo>
                <a:lnTo>
                  <a:pt x="6331700" y="4782390"/>
                </a:lnTo>
                <a:lnTo>
                  <a:pt x="6379237" y="4797738"/>
                </a:lnTo>
                <a:lnTo>
                  <a:pt x="6569653" y="4859955"/>
                </a:lnTo>
                <a:lnTo>
                  <a:pt x="6617460" y="4875170"/>
                </a:lnTo>
                <a:lnTo>
                  <a:pt x="6665404" y="4890033"/>
                </a:lnTo>
                <a:lnTo>
                  <a:pt x="6713510" y="4904433"/>
                </a:lnTo>
                <a:lnTo>
                  <a:pt x="6761806" y="4918263"/>
                </a:lnTo>
                <a:lnTo>
                  <a:pt x="6810321" y="4931414"/>
                </a:lnTo>
                <a:lnTo>
                  <a:pt x="6859080" y="4943776"/>
                </a:lnTo>
                <a:lnTo>
                  <a:pt x="6908111" y="4955241"/>
                </a:lnTo>
                <a:lnTo>
                  <a:pt x="6957441" y="4965700"/>
                </a:lnTo>
                <a:lnTo>
                  <a:pt x="6942626" y="4928344"/>
                </a:lnTo>
                <a:lnTo>
                  <a:pt x="6921500" y="4904692"/>
                </a:lnTo>
                <a:lnTo>
                  <a:pt x="6897041" y="4891065"/>
                </a:lnTo>
                <a:lnTo>
                  <a:pt x="6821668" y="4868590"/>
                </a:lnTo>
                <a:lnTo>
                  <a:pt x="6772220" y="4850984"/>
                </a:lnTo>
                <a:lnTo>
                  <a:pt x="6723712" y="4831330"/>
                </a:lnTo>
                <a:lnTo>
                  <a:pt x="6675972" y="4809990"/>
                </a:lnTo>
                <a:lnTo>
                  <a:pt x="6628829" y="4787328"/>
                </a:lnTo>
                <a:lnTo>
                  <a:pt x="6582113" y="4763705"/>
                </a:lnTo>
                <a:lnTo>
                  <a:pt x="6442817" y="4690704"/>
                </a:lnTo>
                <a:lnTo>
                  <a:pt x="6396101" y="4666869"/>
                </a:lnTo>
                <a:lnTo>
                  <a:pt x="6351485" y="4641754"/>
                </a:lnTo>
                <a:lnTo>
                  <a:pt x="6313869" y="4612640"/>
                </a:lnTo>
                <a:lnTo>
                  <a:pt x="6283587" y="4576857"/>
                </a:lnTo>
                <a:lnTo>
                  <a:pt x="6260973" y="4531741"/>
                </a:lnTo>
                <a:lnTo>
                  <a:pt x="6240822" y="4490495"/>
                </a:lnTo>
                <a:lnTo>
                  <a:pt x="6211300" y="4463621"/>
                </a:lnTo>
                <a:lnTo>
                  <a:pt x="6171087" y="4452106"/>
                </a:lnTo>
                <a:lnTo>
                  <a:pt x="6118860" y="4456938"/>
                </a:lnTo>
                <a:lnTo>
                  <a:pt x="6070317" y="4463938"/>
                </a:lnTo>
                <a:lnTo>
                  <a:pt x="6020737" y="4464939"/>
                </a:lnTo>
                <a:lnTo>
                  <a:pt x="5970467" y="4461938"/>
                </a:lnTo>
                <a:lnTo>
                  <a:pt x="5919851" y="4456938"/>
                </a:lnTo>
                <a:lnTo>
                  <a:pt x="5874738" y="4445757"/>
                </a:lnTo>
                <a:lnTo>
                  <a:pt x="5832502" y="4423824"/>
                </a:lnTo>
                <a:lnTo>
                  <a:pt x="5798611" y="4395746"/>
                </a:lnTo>
                <a:lnTo>
                  <a:pt x="5777738" y="4339590"/>
                </a:lnTo>
                <a:lnTo>
                  <a:pt x="5808518" y="4307697"/>
                </a:lnTo>
                <a:lnTo>
                  <a:pt x="5845286" y="4300474"/>
                </a:lnTo>
                <a:lnTo>
                  <a:pt x="5884698" y="4306585"/>
                </a:lnTo>
                <a:lnTo>
                  <a:pt x="5923407" y="4314698"/>
                </a:lnTo>
                <a:lnTo>
                  <a:pt x="6031357" y="4328922"/>
                </a:lnTo>
                <a:lnTo>
                  <a:pt x="6075819" y="4333700"/>
                </a:lnTo>
                <a:lnTo>
                  <a:pt x="6093968" y="4332478"/>
                </a:lnTo>
                <a:lnTo>
                  <a:pt x="6113562" y="4279925"/>
                </a:lnTo>
                <a:lnTo>
                  <a:pt x="6137944" y="4254743"/>
                </a:lnTo>
                <a:lnTo>
                  <a:pt x="6165804" y="4249902"/>
                </a:lnTo>
                <a:lnTo>
                  <a:pt x="6195835" y="4258372"/>
                </a:lnTo>
                <a:lnTo>
                  <a:pt x="6226728" y="4273124"/>
                </a:lnTo>
                <a:lnTo>
                  <a:pt x="6257174" y="4287131"/>
                </a:lnTo>
                <a:lnTo>
                  <a:pt x="6285865" y="4293362"/>
                </a:lnTo>
                <a:lnTo>
                  <a:pt x="6331147" y="4296362"/>
                </a:lnTo>
                <a:lnTo>
                  <a:pt x="6376083" y="4304030"/>
                </a:lnTo>
                <a:lnTo>
                  <a:pt x="6420329" y="4314364"/>
                </a:lnTo>
                <a:lnTo>
                  <a:pt x="6463538" y="4325366"/>
                </a:lnTo>
                <a:lnTo>
                  <a:pt x="6518359" y="4330533"/>
                </a:lnTo>
                <a:lnTo>
                  <a:pt x="6571488" y="4324032"/>
                </a:lnTo>
                <a:lnTo>
                  <a:pt x="6623951" y="4312864"/>
                </a:lnTo>
                <a:lnTo>
                  <a:pt x="6676771" y="4304030"/>
                </a:lnTo>
                <a:lnTo>
                  <a:pt x="6708831" y="4284860"/>
                </a:lnTo>
                <a:lnTo>
                  <a:pt x="6719888" y="4246689"/>
                </a:lnTo>
                <a:lnTo>
                  <a:pt x="6726277" y="4202517"/>
                </a:lnTo>
                <a:lnTo>
                  <a:pt x="6744335" y="4165346"/>
                </a:lnTo>
                <a:lnTo>
                  <a:pt x="6751447" y="4154678"/>
                </a:lnTo>
                <a:lnTo>
                  <a:pt x="6765671" y="4154678"/>
                </a:lnTo>
                <a:lnTo>
                  <a:pt x="6776483" y="4096573"/>
                </a:lnTo>
                <a:lnTo>
                  <a:pt x="6797808" y="4049563"/>
                </a:lnTo>
                <a:lnTo>
                  <a:pt x="6827667" y="4012491"/>
                </a:lnTo>
                <a:lnTo>
                  <a:pt x="6864081" y="3984202"/>
                </a:lnTo>
                <a:lnTo>
                  <a:pt x="6905068" y="3963540"/>
                </a:lnTo>
                <a:lnTo>
                  <a:pt x="6948648" y="3949349"/>
                </a:lnTo>
                <a:lnTo>
                  <a:pt x="6992842" y="3940471"/>
                </a:lnTo>
                <a:lnTo>
                  <a:pt x="7035670" y="3935753"/>
                </a:lnTo>
                <a:lnTo>
                  <a:pt x="7075151" y="3934037"/>
                </a:lnTo>
                <a:lnTo>
                  <a:pt x="7109305" y="3934167"/>
                </a:lnTo>
                <a:lnTo>
                  <a:pt x="7153713" y="3935344"/>
                </a:lnTo>
                <a:lnTo>
                  <a:pt x="7160006" y="3934079"/>
                </a:lnTo>
                <a:lnTo>
                  <a:pt x="7185232" y="3929800"/>
                </a:lnTo>
                <a:lnTo>
                  <a:pt x="7212457" y="3934523"/>
                </a:lnTo>
                <a:lnTo>
                  <a:pt x="7241016" y="3934579"/>
                </a:lnTo>
                <a:lnTo>
                  <a:pt x="7237916" y="3881317"/>
                </a:lnTo>
                <a:lnTo>
                  <a:pt x="7203677" y="3849470"/>
                </a:lnTo>
                <a:lnTo>
                  <a:pt x="7167699" y="3820395"/>
                </a:lnTo>
                <a:lnTo>
                  <a:pt x="7130153" y="3793726"/>
                </a:lnTo>
                <a:lnTo>
                  <a:pt x="7091211" y="3769097"/>
                </a:lnTo>
                <a:lnTo>
                  <a:pt x="7051045" y="3746146"/>
                </a:lnTo>
                <a:lnTo>
                  <a:pt x="7009827" y="3724505"/>
                </a:lnTo>
                <a:lnTo>
                  <a:pt x="6967728" y="3703812"/>
                </a:lnTo>
                <a:lnTo>
                  <a:pt x="6924921" y="3683700"/>
                </a:lnTo>
                <a:lnTo>
                  <a:pt x="6837869" y="3643763"/>
                </a:lnTo>
                <a:lnTo>
                  <a:pt x="6793968" y="3623208"/>
                </a:lnTo>
                <a:lnTo>
                  <a:pt x="6750047" y="3601776"/>
                </a:lnTo>
                <a:lnTo>
                  <a:pt x="6706276" y="3579102"/>
                </a:lnTo>
                <a:lnTo>
                  <a:pt x="6662828" y="3554821"/>
                </a:lnTo>
                <a:lnTo>
                  <a:pt x="6619875" y="3528567"/>
                </a:lnTo>
                <a:lnTo>
                  <a:pt x="6669384" y="3520149"/>
                </a:lnTo>
                <a:lnTo>
                  <a:pt x="6715500" y="3520809"/>
                </a:lnTo>
                <a:lnTo>
                  <a:pt x="6758703" y="3528684"/>
                </a:lnTo>
                <a:lnTo>
                  <a:pt x="6799472" y="3541915"/>
                </a:lnTo>
                <a:lnTo>
                  <a:pt x="6838287" y="3558640"/>
                </a:lnTo>
                <a:lnTo>
                  <a:pt x="6911974" y="3595127"/>
                </a:lnTo>
                <a:lnTo>
                  <a:pt x="6947805" y="3611167"/>
                </a:lnTo>
                <a:lnTo>
                  <a:pt x="6983602" y="3623255"/>
                </a:lnTo>
                <a:lnTo>
                  <a:pt x="7019843" y="3629532"/>
                </a:lnTo>
                <a:lnTo>
                  <a:pt x="7057009" y="3628136"/>
                </a:lnTo>
                <a:lnTo>
                  <a:pt x="7069812" y="3611266"/>
                </a:lnTo>
                <a:lnTo>
                  <a:pt x="7070428" y="3593031"/>
                </a:lnTo>
                <a:lnTo>
                  <a:pt x="7062863" y="3573985"/>
                </a:lnTo>
                <a:lnTo>
                  <a:pt x="7051123" y="3554683"/>
                </a:lnTo>
                <a:lnTo>
                  <a:pt x="7039213" y="3535680"/>
                </a:lnTo>
                <a:lnTo>
                  <a:pt x="7031141" y="3517530"/>
                </a:lnTo>
                <a:lnTo>
                  <a:pt x="7030911" y="3500788"/>
                </a:lnTo>
                <a:lnTo>
                  <a:pt x="7042529" y="3486009"/>
                </a:lnTo>
                <a:lnTo>
                  <a:pt x="7070002" y="3473748"/>
                </a:lnTo>
                <a:lnTo>
                  <a:pt x="7117334" y="3464560"/>
                </a:lnTo>
                <a:lnTo>
                  <a:pt x="7068979" y="3436766"/>
                </a:lnTo>
                <a:lnTo>
                  <a:pt x="7025384" y="3408631"/>
                </a:lnTo>
                <a:lnTo>
                  <a:pt x="6985368" y="3379813"/>
                </a:lnTo>
                <a:lnTo>
                  <a:pt x="6947748" y="3349971"/>
                </a:lnTo>
                <a:lnTo>
                  <a:pt x="6911340" y="3318764"/>
                </a:lnTo>
                <a:lnTo>
                  <a:pt x="6872121" y="3279288"/>
                </a:lnTo>
                <a:lnTo>
                  <a:pt x="6842729" y="3242041"/>
                </a:lnTo>
                <a:lnTo>
                  <a:pt x="6822979" y="3205347"/>
                </a:lnTo>
                <a:lnTo>
                  <a:pt x="6812685" y="3167531"/>
                </a:lnTo>
                <a:lnTo>
                  <a:pt x="6811658" y="3126918"/>
                </a:lnTo>
                <a:lnTo>
                  <a:pt x="6819714" y="3081833"/>
                </a:lnTo>
                <a:lnTo>
                  <a:pt x="6836664" y="3030601"/>
                </a:lnTo>
                <a:lnTo>
                  <a:pt x="6853374" y="2988389"/>
                </a:lnTo>
                <a:lnTo>
                  <a:pt x="6869590" y="2946569"/>
                </a:lnTo>
                <a:lnTo>
                  <a:pt x="6882448" y="2904347"/>
                </a:lnTo>
                <a:lnTo>
                  <a:pt x="6889082" y="2860929"/>
                </a:lnTo>
                <a:lnTo>
                  <a:pt x="6886629" y="2815521"/>
                </a:lnTo>
                <a:lnTo>
                  <a:pt x="6872224" y="2767329"/>
                </a:lnTo>
                <a:lnTo>
                  <a:pt x="6860304" y="2729807"/>
                </a:lnTo>
                <a:lnTo>
                  <a:pt x="6860496" y="2700135"/>
                </a:lnTo>
                <a:lnTo>
                  <a:pt x="6875525" y="2681047"/>
                </a:lnTo>
                <a:lnTo>
                  <a:pt x="6908118" y="2675272"/>
                </a:lnTo>
                <a:lnTo>
                  <a:pt x="6960997" y="2685541"/>
                </a:lnTo>
                <a:lnTo>
                  <a:pt x="7011958" y="2693987"/>
                </a:lnTo>
                <a:lnTo>
                  <a:pt x="7051054" y="2687912"/>
                </a:lnTo>
                <a:lnTo>
                  <a:pt x="7078298" y="2668206"/>
                </a:lnTo>
                <a:lnTo>
                  <a:pt x="7093698" y="2635758"/>
                </a:lnTo>
                <a:lnTo>
                  <a:pt x="7097267" y="2591456"/>
                </a:lnTo>
                <a:lnTo>
                  <a:pt x="7089013" y="2536190"/>
                </a:lnTo>
                <a:lnTo>
                  <a:pt x="7082733" y="2487239"/>
                </a:lnTo>
                <a:lnTo>
                  <a:pt x="7092109" y="2456624"/>
                </a:lnTo>
                <a:lnTo>
                  <a:pt x="7119464" y="2442678"/>
                </a:lnTo>
                <a:lnTo>
                  <a:pt x="7167118" y="2443734"/>
                </a:lnTo>
                <a:lnTo>
                  <a:pt x="7209616" y="2451800"/>
                </a:lnTo>
                <a:lnTo>
                  <a:pt x="7295960" y="2474849"/>
                </a:lnTo>
                <a:lnTo>
                  <a:pt x="7341400" y="2483508"/>
                </a:lnTo>
                <a:lnTo>
                  <a:pt x="7389415" y="2486043"/>
                </a:lnTo>
                <a:lnTo>
                  <a:pt x="7440803" y="2479294"/>
                </a:lnTo>
                <a:lnTo>
                  <a:pt x="7412501" y="2441775"/>
                </a:lnTo>
                <a:lnTo>
                  <a:pt x="7379512" y="2413187"/>
                </a:lnTo>
                <a:lnTo>
                  <a:pt x="7342902" y="2391351"/>
                </a:lnTo>
                <a:lnTo>
                  <a:pt x="7303737" y="2374087"/>
                </a:lnTo>
                <a:lnTo>
                  <a:pt x="7263083" y="2359215"/>
                </a:lnTo>
                <a:lnTo>
                  <a:pt x="7222006" y="2344557"/>
                </a:lnTo>
                <a:lnTo>
                  <a:pt x="7181572" y="2327932"/>
                </a:lnTo>
                <a:lnTo>
                  <a:pt x="7142847" y="2307163"/>
                </a:lnTo>
                <a:lnTo>
                  <a:pt x="7106898" y="2280069"/>
                </a:lnTo>
                <a:lnTo>
                  <a:pt x="7074789" y="2244471"/>
                </a:lnTo>
                <a:lnTo>
                  <a:pt x="7131417" y="2244602"/>
                </a:lnTo>
                <a:lnTo>
                  <a:pt x="7184404" y="2245524"/>
                </a:lnTo>
                <a:lnTo>
                  <a:pt x="7234238" y="2248027"/>
                </a:lnTo>
                <a:lnTo>
                  <a:pt x="7281404" y="2252900"/>
                </a:lnTo>
                <a:lnTo>
                  <a:pt x="7326390" y="2260933"/>
                </a:lnTo>
                <a:lnTo>
                  <a:pt x="7369683" y="2272919"/>
                </a:lnTo>
                <a:lnTo>
                  <a:pt x="7396685" y="2280642"/>
                </a:lnTo>
                <a:lnTo>
                  <a:pt x="7423007" y="2284031"/>
                </a:lnTo>
                <a:lnTo>
                  <a:pt x="7446639" y="2277419"/>
                </a:lnTo>
                <a:lnTo>
                  <a:pt x="7465568" y="2255139"/>
                </a:lnTo>
                <a:lnTo>
                  <a:pt x="7471756" y="2223468"/>
                </a:lnTo>
                <a:lnTo>
                  <a:pt x="7458964" y="2201799"/>
                </a:lnTo>
                <a:lnTo>
                  <a:pt x="7436172" y="2188130"/>
                </a:lnTo>
                <a:lnTo>
                  <a:pt x="7412355" y="2180463"/>
                </a:lnTo>
                <a:lnTo>
                  <a:pt x="7365230" y="2162028"/>
                </a:lnTo>
                <a:lnTo>
                  <a:pt x="7321196" y="2137961"/>
                </a:lnTo>
                <a:lnTo>
                  <a:pt x="7279045" y="2110310"/>
                </a:lnTo>
                <a:lnTo>
                  <a:pt x="7237571" y="2081122"/>
                </a:lnTo>
                <a:lnTo>
                  <a:pt x="7195566" y="2052447"/>
                </a:lnTo>
                <a:lnTo>
                  <a:pt x="7153586" y="2025572"/>
                </a:lnTo>
                <a:lnTo>
                  <a:pt x="7068472" y="1972257"/>
                </a:lnTo>
                <a:lnTo>
                  <a:pt x="7025818" y="1944986"/>
                </a:lnTo>
                <a:lnTo>
                  <a:pt x="6983421" y="1916751"/>
                </a:lnTo>
                <a:lnTo>
                  <a:pt x="6941521" y="1887137"/>
                </a:lnTo>
                <a:lnTo>
                  <a:pt x="6900359" y="1855728"/>
                </a:lnTo>
                <a:lnTo>
                  <a:pt x="6860174" y="1822108"/>
                </a:lnTo>
                <a:lnTo>
                  <a:pt x="6821208" y="1785863"/>
                </a:lnTo>
                <a:lnTo>
                  <a:pt x="6783700" y="1746576"/>
                </a:lnTo>
                <a:lnTo>
                  <a:pt x="6747891" y="1703832"/>
                </a:lnTo>
                <a:lnTo>
                  <a:pt x="6799838" y="1719973"/>
                </a:lnTo>
                <a:lnTo>
                  <a:pt x="6849472" y="1739187"/>
                </a:lnTo>
                <a:lnTo>
                  <a:pt x="6897380" y="1760332"/>
                </a:lnTo>
                <a:lnTo>
                  <a:pt x="6990356" y="1803853"/>
                </a:lnTo>
                <a:lnTo>
                  <a:pt x="7036595" y="1823945"/>
                </a:lnTo>
                <a:lnTo>
                  <a:pt x="7083449" y="1841403"/>
                </a:lnTo>
                <a:lnTo>
                  <a:pt x="7131503" y="1855086"/>
                </a:lnTo>
                <a:lnTo>
                  <a:pt x="7181342" y="1863852"/>
                </a:lnTo>
                <a:lnTo>
                  <a:pt x="7147767" y="1827516"/>
                </a:lnTo>
                <a:lnTo>
                  <a:pt x="7112870" y="1793044"/>
                </a:lnTo>
                <a:lnTo>
                  <a:pt x="7076813" y="1760227"/>
                </a:lnTo>
                <a:lnTo>
                  <a:pt x="7039756" y="1728855"/>
                </a:lnTo>
                <a:lnTo>
                  <a:pt x="7001859" y="1698718"/>
                </a:lnTo>
                <a:lnTo>
                  <a:pt x="6963283" y="1669605"/>
                </a:lnTo>
                <a:lnTo>
                  <a:pt x="6924189" y="1641307"/>
                </a:lnTo>
                <a:lnTo>
                  <a:pt x="6884736" y="1613614"/>
                </a:lnTo>
                <a:lnTo>
                  <a:pt x="6765835" y="1532067"/>
                </a:lnTo>
                <a:lnTo>
                  <a:pt x="6726555" y="1504696"/>
                </a:lnTo>
                <a:lnTo>
                  <a:pt x="6692495" y="1481730"/>
                </a:lnTo>
                <a:lnTo>
                  <a:pt x="6662103" y="1457467"/>
                </a:lnTo>
                <a:lnTo>
                  <a:pt x="6639044" y="1426561"/>
                </a:lnTo>
                <a:lnTo>
                  <a:pt x="6626987" y="1383664"/>
                </a:lnTo>
                <a:lnTo>
                  <a:pt x="6617256" y="1335540"/>
                </a:lnTo>
                <a:lnTo>
                  <a:pt x="6603784" y="1290042"/>
                </a:lnTo>
                <a:lnTo>
                  <a:pt x="6586154" y="1247460"/>
                </a:lnTo>
                <a:lnTo>
                  <a:pt x="6563948" y="1208087"/>
                </a:lnTo>
                <a:lnTo>
                  <a:pt x="6536747" y="1172214"/>
                </a:lnTo>
                <a:lnTo>
                  <a:pt x="6504133" y="1140134"/>
                </a:lnTo>
                <a:lnTo>
                  <a:pt x="6465688" y="1112138"/>
                </a:lnTo>
                <a:lnTo>
                  <a:pt x="6420993" y="1088516"/>
                </a:lnTo>
                <a:lnTo>
                  <a:pt x="6431534" y="1056386"/>
                </a:lnTo>
                <a:lnTo>
                  <a:pt x="6476766" y="1062572"/>
                </a:lnTo>
                <a:lnTo>
                  <a:pt x="6520284" y="1079359"/>
                </a:lnTo>
                <a:lnTo>
                  <a:pt x="6564643" y="1097689"/>
                </a:lnTo>
                <a:lnTo>
                  <a:pt x="6612399" y="1108502"/>
                </a:lnTo>
                <a:lnTo>
                  <a:pt x="6666103" y="1102740"/>
                </a:lnTo>
                <a:lnTo>
                  <a:pt x="6630835" y="1063416"/>
                </a:lnTo>
                <a:lnTo>
                  <a:pt x="6596392" y="1025769"/>
                </a:lnTo>
                <a:lnTo>
                  <a:pt x="6561943" y="990130"/>
                </a:lnTo>
                <a:lnTo>
                  <a:pt x="6526657" y="956833"/>
                </a:lnTo>
                <a:lnTo>
                  <a:pt x="6489705" y="926209"/>
                </a:lnTo>
                <a:lnTo>
                  <a:pt x="6450255" y="898590"/>
                </a:lnTo>
                <a:lnTo>
                  <a:pt x="6407477" y="874307"/>
                </a:lnTo>
                <a:lnTo>
                  <a:pt x="6360541" y="853694"/>
                </a:lnTo>
                <a:lnTo>
                  <a:pt x="6319564" y="839463"/>
                </a:lnTo>
                <a:lnTo>
                  <a:pt x="6277162" y="825190"/>
                </a:lnTo>
                <a:lnTo>
                  <a:pt x="6234253" y="809500"/>
                </a:lnTo>
                <a:lnTo>
                  <a:pt x="6191758" y="791019"/>
                </a:lnTo>
                <a:lnTo>
                  <a:pt x="6150597" y="768370"/>
                </a:lnTo>
                <a:lnTo>
                  <a:pt x="6111689" y="740179"/>
                </a:lnTo>
                <a:lnTo>
                  <a:pt x="6075954" y="705071"/>
                </a:lnTo>
                <a:lnTo>
                  <a:pt x="6044311" y="661670"/>
                </a:lnTo>
                <a:lnTo>
                  <a:pt x="6095199" y="652973"/>
                </a:lnTo>
                <a:lnTo>
                  <a:pt x="6142008" y="654730"/>
                </a:lnTo>
                <a:lnTo>
                  <a:pt x="6185751" y="663681"/>
                </a:lnTo>
                <a:lnTo>
                  <a:pt x="6227439" y="676564"/>
                </a:lnTo>
                <a:lnTo>
                  <a:pt x="6268085" y="690117"/>
                </a:lnTo>
                <a:lnTo>
                  <a:pt x="6319638" y="708161"/>
                </a:lnTo>
                <a:lnTo>
                  <a:pt x="6525778" y="782310"/>
                </a:lnTo>
                <a:lnTo>
                  <a:pt x="6577330" y="800353"/>
                </a:lnTo>
                <a:lnTo>
                  <a:pt x="6606927" y="808688"/>
                </a:lnTo>
                <a:lnTo>
                  <a:pt x="6635893" y="808354"/>
                </a:lnTo>
                <a:lnTo>
                  <a:pt x="6662216" y="793353"/>
                </a:lnTo>
                <a:lnTo>
                  <a:pt x="6683883" y="757682"/>
                </a:lnTo>
                <a:lnTo>
                  <a:pt x="6630643" y="747449"/>
                </a:lnTo>
                <a:lnTo>
                  <a:pt x="6582927" y="729811"/>
                </a:lnTo>
                <a:lnTo>
                  <a:pt x="6539745" y="706073"/>
                </a:lnTo>
                <a:lnTo>
                  <a:pt x="6500107" y="677539"/>
                </a:lnTo>
                <a:lnTo>
                  <a:pt x="6463022" y="645512"/>
                </a:lnTo>
                <a:lnTo>
                  <a:pt x="6427498" y="611298"/>
                </a:lnTo>
                <a:lnTo>
                  <a:pt x="6392545" y="576199"/>
                </a:lnTo>
                <a:lnTo>
                  <a:pt x="6358432" y="540361"/>
                </a:lnTo>
                <a:lnTo>
                  <a:pt x="6322330" y="508190"/>
                </a:lnTo>
                <a:lnTo>
                  <a:pt x="6279585" y="488688"/>
                </a:lnTo>
                <a:lnTo>
                  <a:pt x="6225540" y="490854"/>
                </a:lnTo>
                <a:lnTo>
                  <a:pt x="6196481" y="491355"/>
                </a:lnTo>
                <a:lnTo>
                  <a:pt x="6174423" y="478853"/>
                </a:lnTo>
                <a:lnTo>
                  <a:pt x="6161032" y="456350"/>
                </a:lnTo>
                <a:lnTo>
                  <a:pt x="6157976" y="426847"/>
                </a:lnTo>
                <a:lnTo>
                  <a:pt x="6158543" y="368706"/>
                </a:lnTo>
                <a:lnTo>
                  <a:pt x="6146369" y="321387"/>
                </a:lnTo>
                <a:lnTo>
                  <a:pt x="6123503" y="283518"/>
                </a:lnTo>
                <a:lnTo>
                  <a:pt x="6091993" y="253730"/>
                </a:lnTo>
                <a:lnTo>
                  <a:pt x="6053886" y="230650"/>
                </a:lnTo>
                <a:lnTo>
                  <a:pt x="6011232" y="212909"/>
                </a:lnTo>
                <a:lnTo>
                  <a:pt x="5919687" y="185111"/>
                </a:lnTo>
                <a:lnTo>
                  <a:pt x="5874212" y="168867"/>
                </a:lnTo>
                <a:lnTo>
                  <a:pt x="5829504" y="150745"/>
                </a:lnTo>
                <a:lnTo>
                  <a:pt x="5785416" y="131088"/>
                </a:lnTo>
                <a:lnTo>
                  <a:pt x="5741797" y="110236"/>
                </a:lnTo>
                <a:lnTo>
                  <a:pt x="5698498" y="88530"/>
                </a:lnTo>
                <a:lnTo>
                  <a:pt x="5569029" y="21705"/>
                </a:lnTo>
                <a:lnTo>
                  <a:pt x="5525516" y="0"/>
                </a:lnTo>
                <a:close/>
              </a:path>
            </a:pathLst>
          </a:custGeom>
          <a:solidFill>
            <a:srgbClr val="E8E8E8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5280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00"/>
              </a:spcBef>
            </a:pPr>
            <a:r>
              <a:rPr sz="3600" spc="-280" dirty="0">
                <a:latin typeface="Trebuchet MS"/>
                <a:cs typeface="Trebuchet MS"/>
              </a:rPr>
              <a:t>Training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55" dirty="0">
                <a:latin typeface="Trebuchet MS"/>
                <a:cs typeface="Trebuchet MS"/>
              </a:rPr>
              <a:t>phase:</a:t>
            </a:r>
            <a:r>
              <a:rPr sz="3600" spc="-370" dirty="0">
                <a:latin typeface="Trebuchet MS"/>
                <a:cs typeface="Trebuchet MS"/>
              </a:rPr>
              <a:t> </a:t>
            </a:r>
            <a:r>
              <a:rPr sz="3600" spc="-95" dirty="0">
                <a:latin typeface="Trebuchet MS"/>
                <a:cs typeface="Trebuchet MS"/>
              </a:rPr>
              <a:t>Decision</a:t>
            </a:r>
            <a:r>
              <a:rPr sz="3600" spc="-325" dirty="0">
                <a:latin typeface="Trebuchet MS"/>
                <a:cs typeface="Trebuchet MS"/>
              </a:rPr>
              <a:t> Tree</a:t>
            </a:r>
            <a:r>
              <a:rPr sz="3600" spc="-350" dirty="0">
                <a:latin typeface="Trebuchet MS"/>
                <a:cs typeface="Trebuchet MS"/>
              </a:rPr>
              <a:t> </a:t>
            </a:r>
            <a:r>
              <a:rPr sz="3600" spc="-125" dirty="0">
                <a:latin typeface="Trebuchet MS"/>
                <a:cs typeface="Trebuchet MS"/>
              </a:rPr>
              <a:t>Induction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373" y="1564640"/>
            <a:ext cx="10071735" cy="40379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480"/>
              </a:spcBef>
            </a:pP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induction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generating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set.</a:t>
            </a:r>
            <a:endParaRPr sz="2400">
              <a:latin typeface="Times New Roman"/>
              <a:cs typeface="Times New Roman"/>
            </a:endParaRPr>
          </a:p>
          <a:p>
            <a:pPr marL="324485" indent="-31178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24485" algn="l"/>
              </a:tabLst>
            </a:pPr>
            <a:r>
              <a:rPr sz="2400" spc="-35" dirty="0">
                <a:latin typeface="Trebuchet MS"/>
                <a:cs typeface="Trebuchet MS"/>
              </a:rPr>
              <a:t>Select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Best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Feature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Split: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60" dirty="0">
                <a:latin typeface="Trebuchet MS"/>
                <a:cs typeface="Trebuchet MS"/>
              </a:rPr>
              <a:t>Choose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feature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that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results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largest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gain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information.</a:t>
            </a:r>
            <a:endParaRPr sz="2000">
              <a:latin typeface="Trebuchet MS"/>
              <a:cs typeface="Trebuchet MS"/>
            </a:endParaRPr>
          </a:p>
          <a:p>
            <a:pPr marL="415925" indent="-311785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415925" algn="l"/>
              </a:tabLst>
            </a:pPr>
            <a:r>
              <a:rPr sz="2400" spc="-50" dirty="0">
                <a:latin typeface="Trebuchet MS"/>
                <a:cs typeface="Trebuchet MS"/>
              </a:rPr>
              <a:t>Split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Dataset: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-40" dirty="0">
                <a:latin typeface="Trebuchet MS"/>
                <a:cs typeface="Trebuchet MS"/>
              </a:rPr>
              <a:t>Divide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dataset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into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subsets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chosen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feature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condition.</a:t>
            </a:r>
            <a:endParaRPr sz="2000">
              <a:latin typeface="Trebuchet MS"/>
              <a:cs typeface="Trebuchet MS"/>
            </a:endParaRPr>
          </a:p>
          <a:p>
            <a:pPr marL="324485" indent="-31178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24485" algn="l"/>
              </a:tabLst>
            </a:pPr>
            <a:r>
              <a:rPr sz="2400" spc="-55" dirty="0">
                <a:latin typeface="Trebuchet MS"/>
                <a:cs typeface="Trebuchet MS"/>
              </a:rPr>
              <a:t>Repeat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for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Subsets</a:t>
            </a:r>
            <a:endParaRPr sz="2400">
              <a:latin typeface="Trebuchet MS"/>
              <a:cs typeface="Trebuchet MS"/>
            </a:endParaRPr>
          </a:p>
          <a:p>
            <a:pPr marL="698500" lvl="1" indent="-228600">
              <a:lnSpc>
                <a:spcPts val="2510"/>
              </a:lnSpc>
              <a:spcBef>
                <a:spcPts val="24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spc="-30" dirty="0">
                <a:latin typeface="Trebuchet MS"/>
                <a:cs typeface="Trebuchet MS"/>
              </a:rPr>
              <a:t>Apply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50" dirty="0">
                <a:latin typeface="Trebuchet MS"/>
                <a:cs typeface="Trebuchet MS"/>
              </a:rPr>
              <a:t>same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process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each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subset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create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further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decision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nodes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and</a:t>
            </a:r>
            <a:endParaRPr sz="2200">
              <a:latin typeface="Trebuchet MS"/>
              <a:cs typeface="Trebuchet MS"/>
            </a:endParaRPr>
          </a:p>
          <a:p>
            <a:pPr marL="698500">
              <a:lnSpc>
                <a:spcPts val="2510"/>
              </a:lnSpc>
            </a:pPr>
            <a:r>
              <a:rPr sz="2200" spc="-80" dirty="0">
                <a:latin typeface="Trebuchet MS"/>
                <a:cs typeface="Trebuchet MS"/>
              </a:rPr>
              <a:t>leaf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nodes,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until:</a:t>
            </a:r>
            <a:endParaRPr sz="2200">
              <a:latin typeface="Trebuchet MS"/>
              <a:cs typeface="Trebuchet MS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spc="-60" dirty="0">
                <a:latin typeface="Trebuchet MS"/>
                <a:cs typeface="Trebuchet MS"/>
              </a:rPr>
              <a:t>All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data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points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correctly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classified.</a:t>
            </a:r>
            <a:endParaRPr sz="2000">
              <a:latin typeface="Trebuchet MS"/>
              <a:cs typeface="Trebuchet MS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stopping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criterion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met</a:t>
            </a:r>
            <a:r>
              <a:rPr sz="2000" spc="-140" dirty="0">
                <a:latin typeface="Trebuchet MS"/>
                <a:cs typeface="Trebuchet MS"/>
              </a:rPr>
              <a:t> (e.g.,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maximum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depth,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minimum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samples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in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leaf).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361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Training</a:t>
            </a:r>
            <a:r>
              <a:rPr sz="3200" spc="-75" dirty="0"/>
              <a:t> </a:t>
            </a:r>
            <a:r>
              <a:rPr sz="3200" dirty="0"/>
              <a:t>on</a:t>
            </a:r>
            <a:r>
              <a:rPr sz="3200" spc="-45" dirty="0"/>
              <a:t> </a:t>
            </a:r>
            <a:r>
              <a:rPr sz="3200" dirty="0"/>
              <a:t>the</a:t>
            </a:r>
            <a:r>
              <a:rPr sz="3200" spc="-30" dirty="0"/>
              <a:t> </a:t>
            </a:r>
            <a:r>
              <a:rPr sz="3200" dirty="0"/>
              <a:t>sample</a:t>
            </a:r>
            <a:r>
              <a:rPr sz="3200" spc="-45" dirty="0"/>
              <a:t> </a:t>
            </a:r>
            <a:r>
              <a:rPr sz="3200" spc="-10" dirty="0"/>
              <a:t>dataset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71906" y="1673732"/>
            <a:ext cx="6056630" cy="11639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5080" indent="-22923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  <a:tab pos="688975" algn="l"/>
                <a:tab pos="1730375" algn="l"/>
                <a:tab pos="2025650" algn="l"/>
                <a:tab pos="3054985" algn="l"/>
                <a:tab pos="3615690" algn="l"/>
                <a:tab pos="4290695" algn="l"/>
                <a:tab pos="4783455" algn="l"/>
                <a:tab pos="5734050" algn="l"/>
              </a:tabLst>
            </a:pP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generate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decision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tree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dataset,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followed: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  <a:p>
            <a:pPr marL="698500" marR="5080" lvl="1" indent="-229235">
              <a:lnSpc>
                <a:spcPts val="1939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  <a:tab pos="1452880" algn="l"/>
                <a:tab pos="1978660" algn="l"/>
                <a:tab pos="2362835" algn="l"/>
                <a:tab pos="2838450" algn="l"/>
                <a:tab pos="3756025" algn="l"/>
                <a:tab pos="4414520" algn="l"/>
                <a:tab pos="5327650" algn="l"/>
              </a:tabLst>
            </a:pPr>
            <a:r>
              <a:rPr sz="1800" spc="-10" dirty="0">
                <a:latin typeface="Times New Roman"/>
                <a:cs typeface="Times New Roman"/>
              </a:rPr>
              <a:t>Select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one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features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(age,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income,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i="1" spc="-10" dirty="0">
                <a:latin typeface="Times New Roman"/>
                <a:cs typeface="Times New Roman"/>
              </a:rPr>
              <a:t>student, credit_rating)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root.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9411" y="2847594"/>
            <a:ext cx="5598795" cy="13512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9235" algn="just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feature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selected,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‘x’</a:t>
            </a:r>
            <a:r>
              <a:rPr sz="1800" i="1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branches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root,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50" dirty="0">
                <a:latin typeface="Times New Roman"/>
                <a:cs typeface="Times New Roman"/>
              </a:rPr>
              <a:t> 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spc="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unique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values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5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feature.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ts val="1939"/>
              </a:lnSpc>
              <a:spcBef>
                <a:spcPts val="52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Follow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3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features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internal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nodes.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06" y="4267657"/>
            <a:ext cx="45897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target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5547" y="205231"/>
            <a:ext cx="4483183" cy="28359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14206" y="3118561"/>
            <a:ext cx="8058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latin typeface="Trebuchet MS"/>
                <a:cs typeface="Trebuchet MS"/>
              </a:rPr>
              <a:t>Fig.</a:t>
            </a:r>
            <a:r>
              <a:rPr sz="1200" spc="-9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Dataset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0922" y="3445814"/>
            <a:ext cx="4636479" cy="31387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3326" y="5895238"/>
            <a:ext cx="192278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95" dirty="0">
                <a:latin typeface="Trebuchet MS"/>
                <a:cs typeface="Trebuchet MS"/>
              </a:rPr>
              <a:t>Fig.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70" dirty="0">
                <a:latin typeface="Trebuchet MS"/>
                <a:cs typeface="Trebuchet MS"/>
              </a:rPr>
              <a:t>Partially</a:t>
            </a:r>
            <a:r>
              <a:rPr sz="1400" spc="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constructed </a:t>
            </a:r>
            <a:r>
              <a:rPr sz="1400" dirty="0">
                <a:latin typeface="Trebuchet MS"/>
                <a:cs typeface="Trebuchet MS"/>
              </a:rPr>
              <a:t>decision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-105" dirty="0">
                <a:latin typeface="Trebuchet MS"/>
                <a:cs typeface="Trebuchet MS"/>
              </a:rPr>
              <a:t>tree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with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age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30" dirty="0">
                <a:latin typeface="Trebuchet MS"/>
                <a:cs typeface="Trebuchet MS"/>
              </a:rPr>
              <a:t>as </a:t>
            </a:r>
            <a:r>
              <a:rPr sz="1400" spc="-50" dirty="0">
                <a:latin typeface="Trebuchet MS"/>
                <a:cs typeface="Trebuchet MS"/>
              </a:rPr>
              <a:t>the</a:t>
            </a:r>
            <a:r>
              <a:rPr sz="1400" spc="-12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root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node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5991"/>
            <a:ext cx="9068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Training</a:t>
            </a:r>
            <a:r>
              <a:rPr sz="4000" spc="-225" dirty="0"/>
              <a:t> </a:t>
            </a:r>
            <a:r>
              <a:rPr sz="4000" spc="-20" dirty="0"/>
              <a:t>phase:</a:t>
            </a:r>
            <a:r>
              <a:rPr sz="4000" spc="-229" dirty="0"/>
              <a:t> </a:t>
            </a:r>
            <a:r>
              <a:rPr sz="4000" dirty="0"/>
              <a:t>Attribute</a:t>
            </a:r>
            <a:r>
              <a:rPr sz="4000" spc="-130" dirty="0"/>
              <a:t> </a:t>
            </a:r>
            <a:r>
              <a:rPr sz="4000" dirty="0"/>
              <a:t>selection</a:t>
            </a:r>
            <a:r>
              <a:rPr sz="4000" spc="-130" dirty="0"/>
              <a:t> </a:t>
            </a:r>
            <a:r>
              <a:rPr sz="4000" spc="-10" dirty="0"/>
              <a:t>measures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385442"/>
            <a:ext cx="10276205" cy="343090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selected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placed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root,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(age, 	</a:t>
            </a:r>
            <a:r>
              <a:rPr sz="2800" dirty="0">
                <a:latin typeface="Times New Roman"/>
                <a:cs typeface="Times New Roman"/>
              </a:rPr>
              <a:t>income,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credit_rating)?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attribute.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9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Times New Roman"/>
                <a:cs typeface="Times New Roman"/>
              </a:rPr>
              <a:t>Attribute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selection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measures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used: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gain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Gain </a:t>
            </a:r>
            <a:r>
              <a:rPr sz="2400" spc="-20" dirty="0">
                <a:latin typeface="Times New Roman"/>
                <a:cs typeface="Times New Roman"/>
              </a:rPr>
              <a:t>ratio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Gini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index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78638"/>
            <a:ext cx="321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Information</a:t>
            </a:r>
            <a:r>
              <a:rPr sz="3600" spc="-175" dirty="0"/>
              <a:t> </a:t>
            </a:r>
            <a:r>
              <a:rPr sz="3600" spc="-20" dirty="0"/>
              <a:t>Gain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50493" y="5170423"/>
            <a:ext cx="4584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follows: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6037" y="2885516"/>
            <a:ext cx="2867229" cy="872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4133" y="4323232"/>
            <a:ext cx="2608707" cy="7453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5093" y="1146175"/>
            <a:ext cx="10476230" cy="320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065" indent="-22796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metric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splitting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particular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feature.</a:t>
            </a:r>
            <a:endParaRPr sz="2000">
              <a:latin typeface="Times New Roman"/>
              <a:cs typeface="Times New Roman"/>
            </a:endParaRPr>
          </a:p>
          <a:p>
            <a:pPr marL="266700" marR="32384" indent="-228600">
              <a:lnSpc>
                <a:spcPts val="2160"/>
              </a:lnSpc>
              <a:spcBef>
                <a:spcPts val="1025"/>
              </a:spcBef>
              <a:buFont typeface="Arial MT"/>
              <a:buChar char="•"/>
              <a:tabLst>
                <a:tab pos="266700" algn="l"/>
              </a:tabLst>
            </a:pP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entropy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original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dataset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entropy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child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sets.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indicates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effective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splitting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2660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entropy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original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(D)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follows: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564197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where,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</a:t>
            </a:r>
            <a:r>
              <a:rPr sz="1350" baseline="-21604" dirty="0">
                <a:latin typeface="Times New Roman"/>
                <a:cs typeface="Times New Roman"/>
              </a:rPr>
              <a:t>i</a:t>
            </a:r>
            <a:r>
              <a:rPr sz="1350" spc="157" baseline="-2160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probability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tuple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belongs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400">
              <a:latin typeface="Times New Roman"/>
              <a:cs typeface="Times New Roman"/>
            </a:endParaRPr>
          </a:p>
          <a:p>
            <a:pPr marL="266065" indent="-227965">
              <a:lnSpc>
                <a:spcPct val="100000"/>
              </a:lnSpc>
              <a:buFont typeface="Arial MT"/>
              <a:buChar char="•"/>
              <a:tabLst>
                <a:tab pos="2660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entropy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child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4133" y="5540006"/>
            <a:ext cx="3053334" cy="4639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429502" y="4551679"/>
            <a:ext cx="417702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where,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|D</a:t>
            </a:r>
            <a:r>
              <a:rPr sz="1575" baseline="-21164" dirty="0">
                <a:latin typeface="Times New Roman"/>
                <a:cs typeface="Times New Roman"/>
              </a:rPr>
              <a:t>j</a:t>
            </a:r>
            <a:r>
              <a:rPr sz="1600" dirty="0">
                <a:latin typeface="Times New Roman"/>
                <a:cs typeface="Times New Roman"/>
              </a:rPr>
              <a:t>|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j</a:t>
            </a:r>
            <a:endParaRPr sz="16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|D|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total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 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samples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dataset</a:t>
            </a:r>
            <a:endParaRPr sz="16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Info(D</a:t>
            </a:r>
            <a:r>
              <a:rPr sz="1575" baseline="-21164" dirty="0">
                <a:latin typeface="Times New Roman"/>
                <a:cs typeface="Times New Roman"/>
              </a:rPr>
              <a:t>j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entropy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subset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D</a:t>
            </a:r>
            <a:r>
              <a:rPr sz="1575" spc="-37" baseline="-21164" dirty="0">
                <a:latin typeface="Times New Roman"/>
                <a:cs typeface="Times New Roman"/>
              </a:rPr>
              <a:t>j</a:t>
            </a:r>
            <a:endParaRPr sz="1575" baseline="-2116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1038"/>
            <a:ext cx="45599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90" dirty="0">
                <a:latin typeface="Trebuchet MS"/>
                <a:cs typeface="Trebuchet MS"/>
              </a:rPr>
              <a:t>Information</a:t>
            </a:r>
            <a:r>
              <a:rPr sz="3200" spc="-34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gain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calculation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14754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Entropy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dataset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336419"/>
            <a:ext cx="5722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Entropy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child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split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attribute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189982"/>
            <a:ext cx="156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gain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2264" y="238125"/>
            <a:ext cx="4684829" cy="29637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143458" y="1239519"/>
            <a:ext cx="4493895" cy="1016000"/>
            <a:chOff x="2143458" y="1239519"/>
            <a:chExt cx="4493895" cy="10160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3458" y="1599437"/>
              <a:ext cx="4493307" cy="6150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89858" y="1239519"/>
              <a:ext cx="1834514" cy="448945"/>
            </a:xfrm>
            <a:custGeom>
              <a:avLst/>
              <a:gdLst/>
              <a:ahLst/>
              <a:cxnLst/>
              <a:rect l="l" t="t" r="r" b="b"/>
              <a:pathLst>
                <a:path w="1834514" h="448944">
                  <a:moveTo>
                    <a:pt x="76200" y="372364"/>
                  </a:moveTo>
                  <a:lnTo>
                    <a:pt x="47625" y="372364"/>
                  </a:lnTo>
                  <a:lnTo>
                    <a:pt x="47625" y="47117"/>
                  </a:lnTo>
                  <a:lnTo>
                    <a:pt x="28575" y="47117"/>
                  </a:lnTo>
                  <a:lnTo>
                    <a:pt x="28575" y="372364"/>
                  </a:lnTo>
                  <a:lnTo>
                    <a:pt x="0" y="372364"/>
                  </a:lnTo>
                  <a:lnTo>
                    <a:pt x="38100" y="448564"/>
                  </a:lnTo>
                  <a:lnTo>
                    <a:pt x="69850" y="385064"/>
                  </a:lnTo>
                  <a:lnTo>
                    <a:pt x="76200" y="372364"/>
                  </a:lnTo>
                  <a:close/>
                </a:path>
                <a:path w="1834514" h="448944">
                  <a:moveTo>
                    <a:pt x="1834007" y="15494"/>
                  </a:moveTo>
                  <a:lnTo>
                    <a:pt x="1822704" y="0"/>
                  </a:lnTo>
                  <a:lnTo>
                    <a:pt x="1400378" y="307378"/>
                  </a:lnTo>
                  <a:lnTo>
                    <a:pt x="1383538" y="284226"/>
                  </a:lnTo>
                  <a:lnTo>
                    <a:pt x="1344422" y="359918"/>
                  </a:lnTo>
                  <a:lnTo>
                    <a:pt x="1428369" y="345821"/>
                  </a:lnTo>
                  <a:lnTo>
                    <a:pt x="1416989" y="330200"/>
                  </a:lnTo>
                  <a:lnTo>
                    <a:pt x="1411566" y="322745"/>
                  </a:lnTo>
                  <a:lnTo>
                    <a:pt x="1834007" y="15494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1297" y="1688134"/>
              <a:ext cx="1264285" cy="558165"/>
            </a:xfrm>
            <a:custGeom>
              <a:avLst/>
              <a:gdLst/>
              <a:ahLst/>
              <a:cxnLst/>
              <a:rect l="l" t="t" r="r" b="b"/>
              <a:pathLst>
                <a:path w="1264285" h="558164">
                  <a:moveTo>
                    <a:pt x="1264221" y="0"/>
                  </a:moveTo>
                  <a:lnTo>
                    <a:pt x="0" y="0"/>
                  </a:lnTo>
                  <a:lnTo>
                    <a:pt x="0" y="557733"/>
                  </a:lnTo>
                  <a:lnTo>
                    <a:pt x="1264221" y="557733"/>
                  </a:lnTo>
                  <a:lnTo>
                    <a:pt x="1264221" y="0"/>
                  </a:lnTo>
                  <a:close/>
                </a:path>
              </a:pathLst>
            </a:custGeom>
            <a:solidFill>
              <a:srgbClr val="FFFF00">
                <a:alpha val="1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11297" y="1688134"/>
              <a:ext cx="1264285" cy="558165"/>
            </a:xfrm>
            <a:custGeom>
              <a:avLst/>
              <a:gdLst/>
              <a:ahLst/>
              <a:cxnLst/>
              <a:rect l="l" t="t" r="r" b="b"/>
              <a:pathLst>
                <a:path w="1264285" h="558164">
                  <a:moveTo>
                    <a:pt x="0" y="557733"/>
                  </a:moveTo>
                  <a:lnTo>
                    <a:pt x="1264221" y="557733"/>
                  </a:lnTo>
                  <a:lnTo>
                    <a:pt x="1264221" y="0"/>
                  </a:lnTo>
                  <a:lnTo>
                    <a:pt x="0" y="0"/>
                  </a:lnTo>
                  <a:lnTo>
                    <a:pt x="0" y="55773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93132" y="1680514"/>
              <a:ext cx="1025525" cy="558165"/>
            </a:xfrm>
            <a:custGeom>
              <a:avLst/>
              <a:gdLst/>
              <a:ahLst/>
              <a:cxnLst/>
              <a:rect l="l" t="t" r="r" b="b"/>
              <a:pathLst>
                <a:path w="1025525" h="558164">
                  <a:moveTo>
                    <a:pt x="1025029" y="0"/>
                  </a:moveTo>
                  <a:lnTo>
                    <a:pt x="0" y="0"/>
                  </a:lnTo>
                  <a:lnTo>
                    <a:pt x="0" y="557733"/>
                  </a:lnTo>
                  <a:lnTo>
                    <a:pt x="1025029" y="557733"/>
                  </a:lnTo>
                  <a:lnTo>
                    <a:pt x="1025029" y="0"/>
                  </a:lnTo>
                  <a:close/>
                </a:path>
              </a:pathLst>
            </a:custGeom>
            <a:solidFill>
              <a:srgbClr val="92D050">
                <a:alpha val="1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93132" y="1680514"/>
              <a:ext cx="1025525" cy="558165"/>
            </a:xfrm>
            <a:custGeom>
              <a:avLst/>
              <a:gdLst/>
              <a:ahLst/>
              <a:cxnLst/>
              <a:rect l="l" t="t" r="r" b="b"/>
              <a:pathLst>
                <a:path w="1025525" h="558164">
                  <a:moveTo>
                    <a:pt x="0" y="557733"/>
                  </a:moveTo>
                  <a:lnTo>
                    <a:pt x="1025029" y="557733"/>
                  </a:lnTo>
                  <a:lnTo>
                    <a:pt x="1025029" y="0"/>
                  </a:lnTo>
                  <a:lnTo>
                    <a:pt x="0" y="0"/>
                  </a:lnTo>
                  <a:lnTo>
                    <a:pt x="0" y="55773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35366" y="2792158"/>
            <a:ext cx="4999990" cy="1186815"/>
            <a:chOff x="935366" y="2792158"/>
            <a:chExt cx="4999990" cy="118681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366" y="2792158"/>
              <a:ext cx="3340088" cy="5951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5096" y="2792158"/>
              <a:ext cx="1729994" cy="61944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4058" y="3359467"/>
              <a:ext cx="2759074" cy="61944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8182" y="5702697"/>
            <a:ext cx="5193313" cy="25563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13719" y="4205314"/>
            <a:ext cx="1112100" cy="15683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90922" y="3445814"/>
            <a:ext cx="4636479" cy="313878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35629" y="998042"/>
            <a:ext cx="15754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0000"/>
                </a:solidFill>
                <a:latin typeface="Trebuchet MS"/>
                <a:cs typeface="Trebuchet MS"/>
              </a:rPr>
              <a:t>buys_computer:</a:t>
            </a:r>
            <a:r>
              <a:rPr sz="1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Trebuchet MS"/>
                <a:cs typeface="Trebuchet MS"/>
              </a:rPr>
              <a:t>yes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5948" y="958976"/>
            <a:ext cx="1511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0000"/>
                </a:solidFill>
                <a:latin typeface="Trebuchet MS"/>
                <a:cs typeface="Trebuchet MS"/>
              </a:rPr>
              <a:t>buys_computer:</a:t>
            </a:r>
            <a:r>
              <a:rPr sz="1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Trebuchet MS"/>
                <a:cs typeface="Trebuchet MS"/>
              </a:rPr>
              <a:t>no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5686" y="3631819"/>
            <a:ext cx="82041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00"/>
                </a:solidFill>
                <a:latin typeface="Trebuchet MS"/>
                <a:cs typeface="Trebuchet MS"/>
              </a:rPr>
              <a:t>age:</a:t>
            </a:r>
            <a:r>
              <a:rPr sz="140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youth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0800" y="2799003"/>
            <a:ext cx="5123815" cy="1188085"/>
            <a:chOff x="820800" y="2799003"/>
            <a:chExt cx="5123815" cy="1188085"/>
          </a:xfrm>
        </p:grpSpPr>
        <p:sp>
          <p:nvSpPr>
            <p:cNvPr id="25" name="object 25"/>
            <p:cNvSpPr/>
            <p:nvPr/>
          </p:nvSpPr>
          <p:spPr>
            <a:xfrm>
              <a:off x="820800" y="3340480"/>
              <a:ext cx="1038225" cy="280670"/>
            </a:xfrm>
            <a:custGeom>
              <a:avLst/>
              <a:gdLst/>
              <a:ahLst/>
              <a:cxnLst/>
              <a:rect l="l" t="t" r="r" b="b"/>
              <a:pathLst>
                <a:path w="1038225" h="280670">
                  <a:moveTo>
                    <a:pt x="961808" y="27788"/>
                  </a:moveTo>
                  <a:lnTo>
                    <a:pt x="0" y="262128"/>
                  </a:lnTo>
                  <a:lnTo>
                    <a:pt x="4508" y="280543"/>
                  </a:lnTo>
                  <a:lnTo>
                    <a:pt x="966320" y="46312"/>
                  </a:lnTo>
                  <a:lnTo>
                    <a:pt x="961808" y="27788"/>
                  </a:lnTo>
                  <a:close/>
                </a:path>
                <a:path w="1038225" h="280670">
                  <a:moveTo>
                    <a:pt x="1031340" y="24765"/>
                  </a:moveTo>
                  <a:lnTo>
                    <a:pt x="974217" y="24765"/>
                  </a:lnTo>
                  <a:lnTo>
                    <a:pt x="978662" y="43307"/>
                  </a:lnTo>
                  <a:lnTo>
                    <a:pt x="966320" y="46312"/>
                  </a:lnTo>
                  <a:lnTo>
                    <a:pt x="973074" y="74041"/>
                  </a:lnTo>
                  <a:lnTo>
                    <a:pt x="1031340" y="24765"/>
                  </a:lnTo>
                  <a:close/>
                </a:path>
                <a:path w="1038225" h="280670">
                  <a:moveTo>
                    <a:pt x="974217" y="24765"/>
                  </a:moveTo>
                  <a:lnTo>
                    <a:pt x="961808" y="27788"/>
                  </a:lnTo>
                  <a:lnTo>
                    <a:pt x="966320" y="46312"/>
                  </a:lnTo>
                  <a:lnTo>
                    <a:pt x="978662" y="43307"/>
                  </a:lnTo>
                  <a:lnTo>
                    <a:pt x="974217" y="24765"/>
                  </a:lnTo>
                  <a:close/>
                </a:path>
                <a:path w="1038225" h="280670">
                  <a:moveTo>
                    <a:pt x="955040" y="0"/>
                  </a:moveTo>
                  <a:lnTo>
                    <a:pt x="961808" y="27788"/>
                  </a:lnTo>
                  <a:lnTo>
                    <a:pt x="974217" y="24765"/>
                  </a:lnTo>
                  <a:lnTo>
                    <a:pt x="1031340" y="24765"/>
                  </a:lnTo>
                  <a:lnTo>
                    <a:pt x="1038098" y="19050"/>
                  </a:lnTo>
                  <a:lnTo>
                    <a:pt x="95504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47798" y="2816783"/>
              <a:ext cx="2257425" cy="558165"/>
            </a:xfrm>
            <a:custGeom>
              <a:avLst/>
              <a:gdLst/>
              <a:ahLst/>
              <a:cxnLst/>
              <a:rect l="l" t="t" r="r" b="b"/>
              <a:pathLst>
                <a:path w="2257425" h="558164">
                  <a:moveTo>
                    <a:pt x="2257298" y="0"/>
                  </a:moveTo>
                  <a:lnTo>
                    <a:pt x="0" y="0"/>
                  </a:lnTo>
                  <a:lnTo>
                    <a:pt x="0" y="557733"/>
                  </a:lnTo>
                  <a:lnTo>
                    <a:pt x="2257298" y="557733"/>
                  </a:lnTo>
                  <a:lnTo>
                    <a:pt x="2257298" y="0"/>
                  </a:lnTo>
                  <a:close/>
                </a:path>
              </a:pathLst>
            </a:custGeom>
            <a:solidFill>
              <a:srgbClr val="FFC000">
                <a:alpha val="1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47798" y="2816783"/>
              <a:ext cx="2257425" cy="558165"/>
            </a:xfrm>
            <a:custGeom>
              <a:avLst/>
              <a:gdLst/>
              <a:ahLst/>
              <a:cxnLst/>
              <a:rect l="l" t="t" r="r" b="b"/>
              <a:pathLst>
                <a:path w="2257425" h="558164">
                  <a:moveTo>
                    <a:pt x="0" y="557733"/>
                  </a:moveTo>
                  <a:lnTo>
                    <a:pt x="2257298" y="557733"/>
                  </a:lnTo>
                  <a:lnTo>
                    <a:pt x="2257298" y="0"/>
                  </a:lnTo>
                  <a:lnTo>
                    <a:pt x="0" y="0"/>
                  </a:lnTo>
                  <a:lnTo>
                    <a:pt x="0" y="55773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9500" y="2808528"/>
              <a:ext cx="1545590" cy="558165"/>
            </a:xfrm>
            <a:custGeom>
              <a:avLst/>
              <a:gdLst/>
              <a:ahLst/>
              <a:cxnLst/>
              <a:rect l="l" t="t" r="r" b="b"/>
              <a:pathLst>
                <a:path w="1545589" h="558164">
                  <a:moveTo>
                    <a:pt x="1545589" y="0"/>
                  </a:moveTo>
                  <a:lnTo>
                    <a:pt x="0" y="0"/>
                  </a:lnTo>
                  <a:lnTo>
                    <a:pt x="0" y="557733"/>
                  </a:lnTo>
                  <a:lnTo>
                    <a:pt x="1545589" y="557733"/>
                  </a:lnTo>
                  <a:lnTo>
                    <a:pt x="1545589" y="0"/>
                  </a:lnTo>
                  <a:close/>
                </a:path>
              </a:pathLst>
            </a:custGeom>
            <a:solidFill>
              <a:srgbClr val="00AFEF">
                <a:alpha val="1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9500" y="2808528"/>
              <a:ext cx="1545590" cy="558165"/>
            </a:xfrm>
            <a:custGeom>
              <a:avLst/>
              <a:gdLst/>
              <a:ahLst/>
              <a:cxnLst/>
              <a:rect l="l" t="t" r="r" b="b"/>
              <a:pathLst>
                <a:path w="1545589" h="558164">
                  <a:moveTo>
                    <a:pt x="0" y="557733"/>
                  </a:moveTo>
                  <a:lnTo>
                    <a:pt x="1545589" y="557733"/>
                  </a:lnTo>
                  <a:lnTo>
                    <a:pt x="1545589" y="0"/>
                  </a:lnTo>
                  <a:lnTo>
                    <a:pt x="0" y="0"/>
                  </a:lnTo>
                  <a:lnTo>
                    <a:pt x="0" y="55773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8058" y="3419779"/>
              <a:ext cx="2520315" cy="558165"/>
            </a:xfrm>
            <a:custGeom>
              <a:avLst/>
              <a:gdLst/>
              <a:ahLst/>
              <a:cxnLst/>
              <a:rect l="l" t="t" r="r" b="b"/>
              <a:pathLst>
                <a:path w="2520315" h="558164">
                  <a:moveTo>
                    <a:pt x="2520315" y="0"/>
                  </a:moveTo>
                  <a:lnTo>
                    <a:pt x="0" y="0"/>
                  </a:lnTo>
                  <a:lnTo>
                    <a:pt x="0" y="557733"/>
                  </a:lnTo>
                  <a:lnTo>
                    <a:pt x="2520315" y="557733"/>
                  </a:lnTo>
                  <a:lnTo>
                    <a:pt x="2520315" y="0"/>
                  </a:lnTo>
                  <a:close/>
                </a:path>
              </a:pathLst>
            </a:custGeom>
            <a:solidFill>
              <a:srgbClr val="6F2F9F">
                <a:alpha val="1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88058" y="3419779"/>
              <a:ext cx="2520315" cy="558165"/>
            </a:xfrm>
            <a:custGeom>
              <a:avLst/>
              <a:gdLst/>
              <a:ahLst/>
              <a:cxnLst/>
              <a:rect l="l" t="t" r="r" b="b"/>
              <a:pathLst>
                <a:path w="2520315" h="558164">
                  <a:moveTo>
                    <a:pt x="0" y="557733"/>
                  </a:moveTo>
                  <a:lnTo>
                    <a:pt x="2520315" y="557733"/>
                  </a:lnTo>
                  <a:lnTo>
                    <a:pt x="2520315" y="0"/>
                  </a:lnTo>
                  <a:lnTo>
                    <a:pt x="0" y="0"/>
                  </a:lnTo>
                  <a:lnTo>
                    <a:pt x="0" y="55773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001258" y="3617721"/>
            <a:ext cx="1379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00"/>
                </a:solidFill>
                <a:latin typeface="Trebuchet MS"/>
                <a:cs typeface="Trebuchet MS"/>
              </a:rPr>
              <a:t>age:</a:t>
            </a:r>
            <a:r>
              <a:rPr sz="140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Trebuchet MS"/>
                <a:cs typeface="Trebuchet MS"/>
              </a:rPr>
              <a:t>middle_aged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54474" y="3327145"/>
            <a:ext cx="2143760" cy="908685"/>
          </a:xfrm>
          <a:custGeom>
            <a:avLst/>
            <a:gdLst/>
            <a:ahLst/>
            <a:cxnLst/>
            <a:rect l="l" t="t" r="r" b="b"/>
            <a:pathLst>
              <a:path w="2143759" h="908685">
                <a:moveTo>
                  <a:pt x="350647" y="896366"/>
                </a:moveTo>
                <a:lnTo>
                  <a:pt x="56883" y="553948"/>
                </a:lnTo>
                <a:lnTo>
                  <a:pt x="68110" y="544322"/>
                </a:lnTo>
                <a:lnTo>
                  <a:pt x="78486" y="535432"/>
                </a:lnTo>
                <a:lnTo>
                  <a:pt x="0" y="502412"/>
                </a:lnTo>
                <a:lnTo>
                  <a:pt x="20701" y="584962"/>
                </a:lnTo>
                <a:lnTo>
                  <a:pt x="42392" y="566369"/>
                </a:lnTo>
                <a:lnTo>
                  <a:pt x="336296" y="908685"/>
                </a:lnTo>
                <a:lnTo>
                  <a:pt x="350647" y="896366"/>
                </a:lnTo>
                <a:close/>
              </a:path>
              <a:path w="2143759" h="908685">
                <a:moveTo>
                  <a:pt x="2143379" y="261493"/>
                </a:moveTo>
                <a:lnTo>
                  <a:pt x="1501648" y="26720"/>
                </a:lnTo>
                <a:lnTo>
                  <a:pt x="1503248" y="22352"/>
                </a:lnTo>
                <a:lnTo>
                  <a:pt x="1511427" y="0"/>
                </a:lnTo>
                <a:lnTo>
                  <a:pt x="1426845" y="9525"/>
                </a:lnTo>
                <a:lnTo>
                  <a:pt x="1485265" y="71501"/>
                </a:lnTo>
                <a:lnTo>
                  <a:pt x="1495094" y="44615"/>
                </a:lnTo>
                <a:lnTo>
                  <a:pt x="2136902" y="279412"/>
                </a:lnTo>
                <a:lnTo>
                  <a:pt x="2143379" y="261493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11217" y="4249927"/>
            <a:ext cx="866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00"/>
                </a:solidFill>
                <a:latin typeface="Trebuchet MS"/>
                <a:cs typeface="Trebuchet MS"/>
              </a:rPr>
              <a:t>age:</a:t>
            </a:r>
            <a:r>
              <a:rPr sz="140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senior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625" y="632294"/>
            <a:ext cx="4636479" cy="31387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sz="3200" spc="-190" dirty="0">
                <a:latin typeface="Trebuchet MS"/>
                <a:cs typeface="Trebuchet MS"/>
              </a:rPr>
              <a:t>Information</a:t>
            </a:r>
            <a:r>
              <a:rPr sz="3200" spc="-34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gain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calculation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198395"/>
            <a:ext cx="10355580" cy="375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78575">
              <a:lnSpc>
                <a:spcPct val="118300"/>
              </a:lnSpc>
              <a:spcBef>
                <a:spcPts val="100"/>
              </a:spcBef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attributes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are </a:t>
            </a:r>
            <a:r>
              <a:rPr sz="2200" dirty="0">
                <a:latin typeface="Times New Roman"/>
                <a:cs typeface="Times New Roman"/>
              </a:rPr>
              <a:t>Gain(income)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0.029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bits</a:t>
            </a:r>
            <a:endParaRPr sz="2200">
              <a:latin typeface="Times New Roman"/>
              <a:cs typeface="Times New Roman"/>
            </a:endParaRPr>
          </a:p>
          <a:p>
            <a:pPr marL="12700" marR="670814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Gain(student)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0.151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bits </a:t>
            </a:r>
            <a:r>
              <a:rPr sz="2200" dirty="0">
                <a:latin typeface="Times New Roman"/>
                <a:cs typeface="Times New Roman"/>
              </a:rPr>
              <a:t>Gain(credit_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rating)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0.048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bits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Since,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highest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selected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root.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216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split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figure.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tuples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middle_aged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belong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same </a:t>
            </a:r>
            <a:r>
              <a:rPr sz="2000" dirty="0">
                <a:latin typeface="Times New Roman"/>
                <a:cs typeface="Times New Roman"/>
              </a:rPr>
              <a:t>category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(class: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yes),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leaf node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created.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(youth,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senior)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procedure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remaining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(income,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credit_rating).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258" y="1498116"/>
            <a:ext cx="6072449" cy="2989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EBD7-A8DE-66E9-E068-189695BF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 prediction -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F1221-AF51-8FB3-FE27-BA816C93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4843463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whether a person has Flu based on basic symptoms.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3841E3-8FA4-27D0-2774-E88E3B87C79A}"/>
              </a:ext>
            </a:extLst>
          </p:cNvPr>
          <p:cNvGraphicFramePr>
            <a:graphicFrameLocks noGrp="1"/>
          </p:cNvGraphicFramePr>
          <p:nvPr/>
        </p:nvGraphicFramePr>
        <p:xfrm>
          <a:off x="1361356" y="2838450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0EB6019-3135-AA47-BA0B-9D77B0BD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112" y="2509269"/>
            <a:ext cx="4302532" cy="34038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7D3F2F-9D97-6AD6-222C-232085EE2B5F}"/>
              </a:ext>
            </a:extLst>
          </p:cNvPr>
          <p:cNvSpPr txBox="1"/>
          <p:nvPr/>
        </p:nvSpPr>
        <p:spPr>
          <a:xfrm>
            <a:off x="2562225" y="5543789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4A931-6AF4-3F3F-4CB8-5118DA9500FE}"/>
              </a:ext>
            </a:extLst>
          </p:cNvPr>
          <p:cNvSpPr txBox="1"/>
          <p:nvPr/>
        </p:nvSpPr>
        <p:spPr>
          <a:xfrm>
            <a:off x="8467725" y="607147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Decision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C81-0E98-17A5-5CEA-0B30D6D3A446}"/>
              </a:ext>
            </a:extLst>
          </p:cNvPr>
          <p:cNvSpPr txBox="1"/>
          <p:nvPr/>
        </p:nvSpPr>
        <p:spPr>
          <a:xfrm>
            <a:off x="10087694" y="2245427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Root node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63B4A6-7751-ADB6-F06B-BB779AB90719}"/>
              </a:ext>
            </a:extLst>
          </p:cNvPr>
          <p:cNvCxnSpPr/>
          <p:nvPr/>
        </p:nvCxnSpPr>
        <p:spPr>
          <a:xfrm flipH="1">
            <a:off x="9505950" y="2438400"/>
            <a:ext cx="447675" cy="2667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2ADE70-5915-F3DD-BFBC-AF0462BBAB29}"/>
              </a:ext>
            </a:extLst>
          </p:cNvPr>
          <p:cNvSpPr txBox="1"/>
          <p:nvPr/>
        </p:nvSpPr>
        <p:spPr>
          <a:xfrm>
            <a:off x="10459502" y="5291375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Leaf node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D3A208-9FAA-0351-1E79-AD62DB4E2D2D}"/>
              </a:ext>
            </a:extLst>
          </p:cNvPr>
          <p:cNvCxnSpPr>
            <a:cxnSpLocks/>
          </p:cNvCxnSpPr>
          <p:nvPr/>
        </p:nvCxnSpPr>
        <p:spPr>
          <a:xfrm flipH="1" flipV="1">
            <a:off x="10391443" y="4591050"/>
            <a:ext cx="524540" cy="6313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8E5BA8B-945A-BD52-9D38-1C358DFDD480}"/>
              </a:ext>
            </a:extLst>
          </p:cNvPr>
          <p:cNvSpPr txBox="1"/>
          <p:nvPr/>
        </p:nvSpPr>
        <p:spPr>
          <a:xfrm>
            <a:off x="6398635" y="2921510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Internal node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C66892-D78A-E472-653D-C6BC632BF30C}"/>
              </a:ext>
            </a:extLst>
          </p:cNvPr>
          <p:cNvCxnSpPr>
            <a:cxnSpLocks/>
          </p:cNvCxnSpPr>
          <p:nvPr/>
        </p:nvCxnSpPr>
        <p:spPr>
          <a:xfrm>
            <a:off x="7096125" y="3326276"/>
            <a:ext cx="374962" cy="4360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052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0594-3B90-A170-3748-6137228B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CD7D-AC48-C977-4CE7-3A592293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Induction (Training)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F86C1-2BD6-2735-277C-F1A4F997D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669457"/>
            <a:ext cx="6496050" cy="495041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which feature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{Fever, cough, Body pain}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be placed at the root.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How?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each feature and check how well the target classes get separated.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feature as the root.</a:t>
            </a:r>
          </a:p>
          <a:p>
            <a:pPr marL="85725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ADAE9C-7D1F-D67C-5B81-C72F985AE780}"/>
              </a:ext>
            </a:extLst>
          </p:cNvPr>
          <p:cNvGraphicFramePr>
            <a:graphicFrameLocks noGrp="1"/>
          </p:cNvGraphicFramePr>
          <p:nvPr/>
        </p:nvGraphicFramePr>
        <p:xfrm>
          <a:off x="7724056" y="1990725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769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6201B-9A3D-3A6E-9660-CF262405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9F0D-5A26-5A37-78C7-0ABE51BB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Induction (Training)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68EDF-783E-F229-801E-78424CB4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669457"/>
            <a:ext cx="6496050" cy="921343"/>
          </a:xfrm>
        </p:spPr>
        <p:txBody>
          <a:bodyPr>
            <a:normAutofit/>
          </a:bodyPr>
          <a:lstStyle/>
          <a:p>
            <a:pPr marL="600075" lvl="1" indent="-514350">
              <a:buFont typeface="+mj-lt"/>
              <a:buAutoNum type="arabicPeriod" startAt="2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determining the root, the dataset is divided into subsets.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9D7F6A-BDAD-41F1-A507-41EFEBCA9519}"/>
              </a:ext>
            </a:extLst>
          </p:cNvPr>
          <p:cNvGraphicFramePr>
            <a:graphicFrameLocks noGrp="1"/>
          </p:cNvGraphicFramePr>
          <p:nvPr/>
        </p:nvGraphicFramePr>
        <p:xfrm>
          <a:off x="1456606" y="2987041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9E79431-B3FA-5519-9CDE-C83655EB8E13}"/>
              </a:ext>
            </a:extLst>
          </p:cNvPr>
          <p:cNvGrpSpPr/>
          <p:nvPr/>
        </p:nvGrpSpPr>
        <p:grpSpPr>
          <a:xfrm>
            <a:off x="8210550" y="1995488"/>
            <a:ext cx="2016546" cy="1309690"/>
            <a:chOff x="2266950" y="1663241"/>
            <a:chExt cx="1982842" cy="125792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CDD206-A8CA-452C-570B-36AFC56BEA87}"/>
                </a:ext>
              </a:extLst>
            </p:cNvPr>
            <p:cNvSpPr/>
            <p:nvPr/>
          </p:nvSpPr>
          <p:spPr>
            <a:xfrm>
              <a:off x="2455658" y="1663241"/>
              <a:ext cx="1514475" cy="8429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Fever</a:t>
              </a:r>
              <a:endPara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C583320-D778-261E-70F7-A85479F73D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6950" y="2454426"/>
              <a:ext cx="549822" cy="3935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B453253-3930-0328-43BC-0355885E77E5}"/>
                </a:ext>
              </a:extLst>
            </p:cNvPr>
            <p:cNvCxnSpPr>
              <a:cxnSpLocks/>
            </p:cNvCxnSpPr>
            <p:nvPr/>
          </p:nvCxnSpPr>
          <p:spPr>
            <a:xfrm>
              <a:off x="3699970" y="2414636"/>
              <a:ext cx="549822" cy="50652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BB82B39-CBE1-6E77-8EC1-09AED52D2F0E}"/>
              </a:ext>
            </a:extLst>
          </p:cNvPr>
          <p:cNvSpPr txBox="1"/>
          <p:nvPr/>
        </p:nvSpPr>
        <p:spPr>
          <a:xfrm>
            <a:off x="7897563" y="2734113"/>
            <a:ext cx="58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477516-A73C-C64D-3487-6D42EF2288BE}"/>
              </a:ext>
            </a:extLst>
          </p:cNvPr>
          <p:cNvSpPr txBox="1"/>
          <p:nvPr/>
        </p:nvSpPr>
        <p:spPr>
          <a:xfrm>
            <a:off x="9914109" y="2721178"/>
            <a:ext cx="58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816178E-2497-6C5A-D5D4-768BB8BC432E}"/>
              </a:ext>
            </a:extLst>
          </p:cNvPr>
          <p:cNvGraphicFramePr>
            <a:graphicFrameLocks noGrp="1"/>
          </p:cNvGraphicFramePr>
          <p:nvPr/>
        </p:nvGraphicFramePr>
        <p:xfrm>
          <a:off x="5765726" y="3228975"/>
          <a:ext cx="2800350" cy="146304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83E6D74-F758-4401-DF1E-432527708D95}"/>
              </a:ext>
            </a:extLst>
          </p:cNvPr>
          <p:cNvGraphicFramePr>
            <a:graphicFrameLocks noGrp="1"/>
          </p:cNvGraphicFramePr>
          <p:nvPr/>
        </p:nvGraphicFramePr>
        <p:xfrm>
          <a:off x="9234511" y="3305178"/>
          <a:ext cx="2800350" cy="146304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3DA41C1-5CA1-70A7-67C1-A84B24E3D5E9}"/>
              </a:ext>
            </a:extLst>
          </p:cNvPr>
          <p:cNvSpPr txBox="1"/>
          <p:nvPr/>
        </p:nvSpPr>
        <p:spPr>
          <a:xfrm>
            <a:off x="5675238" y="4811831"/>
            <a:ext cx="298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Impure partition as target classes are not same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286BC0-D179-0F22-7C5E-2795038AA1B3}"/>
              </a:ext>
            </a:extLst>
          </p:cNvPr>
          <p:cNvSpPr txBox="1"/>
          <p:nvPr/>
        </p:nvSpPr>
        <p:spPr>
          <a:xfrm>
            <a:off x="9144023" y="4811831"/>
            <a:ext cx="298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Pure partition as target classes are same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4CADFB-4B90-D088-C9D1-0FA87D693EE4}"/>
              </a:ext>
            </a:extLst>
          </p:cNvPr>
          <p:cNvSpPr txBox="1">
            <a:spLocks/>
          </p:cNvSpPr>
          <p:nvPr/>
        </p:nvSpPr>
        <p:spPr>
          <a:xfrm>
            <a:off x="838199" y="5894108"/>
            <a:ext cx="7191375" cy="921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0075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Repeat the process for the impure partition.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1791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CF7B-53FC-C131-4D5D-1A5640F3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C896-A523-D80D-BDE9-BC4357AD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Induction (Training)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C42477-C1A3-CF26-30C5-F1494AF39D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1525" y="1669457"/>
                <a:ext cx="6496050" cy="49504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Determining the best feature to be placed at the root.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entropy of the dataset.</a:t>
                </a:r>
              </a:p>
              <a:p>
                <a:pPr marL="914400" lvl="2" indent="0">
                  <a:buNone/>
                </a:pP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Entropy(</a:t>
                </a: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)=−∑p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​log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​(p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​)</a:t>
                </a:r>
                <a:endParaRPr lang="en-IN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buNone/>
                </a:pP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where, 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probability of class </a:t>
                </a:r>
                <a:r>
                  <a:rPr lang="en-IN" sz="24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IN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buNone/>
                </a:pPr>
                <a:endParaRPr lang="en-I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entropy of the child sets.</a:t>
                </a:r>
              </a:p>
              <a:p>
                <a:pPr marL="45720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</a:t>
                </a:r>
                <a:r>
                  <a:rPr lang="en-IN" baseline="-25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  <m:e>
                        <m:f>
                          <m:f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IN" b="0" i="1" baseline="-2500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𝐸𝑛𝑡𝑟𝑜𝑝𝑦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𝐷𝑗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F – selected input feature</a:t>
                </a:r>
              </a:p>
              <a:p>
                <a:pPr marL="457200" lvl="1" indent="0">
                  <a:buNone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|</a:t>
                </a:r>
                <a:r>
                  <a:rPr lang="en-IN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Dj</a:t>
                </a: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- no. of samples in subset j</a:t>
                </a:r>
              </a:p>
              <a:p>
                <a:pPr marL="457200" lvl="1" indent="0">
                  <a:buNone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|D| - total no. of samples</a:t>
                </a:r>
              </a:p>
              <a:p>
                <a:pPr marL="457200" lvl="1" indent="0">
                  <a:buNone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Entropy(</a:t>
                </a:r>
                <a:r>
                  <a:rPr lang="en-IN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N" baseline="-25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entropy of subset j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C42477-C1A3-CF26-30C5-F1494AF39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1525" y="1669457"/>
                <a:ext cx="6496050" cy="4950418"/>
              </a:xfrm>
              <a:blipFill>
                <a:blip r:embed="rId2"/>
                <a:stretch>
                  <a:fillRect l="-2911" t="-1970" r="-1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84B31B-67F2-6BDD-19D8-02DF59D40138}"/>
              </a:ext>
            </a:extLst>
          </p:cNvPr>
          <p:cNvGraphicFramePr>
            <a:graphicFrameLocks noGrp="1"/>
          </p:cNvGraphicFramePr>
          <p:nvPr/>
        </p:nvGraphicFramePr>
        <p:xfrm>
          <a:off x="7790731" y="1819275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47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E8B51-5DF4-A0DF-5D6E-06BBB91F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9B79-DF8D-B0C1-8AB0-C4021973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Induction (Training)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69DC7-8650-6388-16BE-22E0C6C2A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1525" y="1669457"/>
                <a:ext cx="6496050" cy="49504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Determining the best feature to be placed at the root.</a:t>
                </a:r>
              </a:p>
              <a:p>
                <a:pPr marL="0" indent="0"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entropy of the dataset.</a:t>
                </a:r>
              </a:p>
              <a:p>
                <a:pPr marL="361950" lvl="2" indent="0">
                  <a:buNone/>
                </a:pP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Entropy(</a:t>
                </a: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)=−∑p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​log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​(p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​)</a:t>
                </a:r>
                <a:endParaRPr lang="en-IN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1950" lvl="2" indent="0">
                  <a:buNone/>
                </a:pP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where, 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pl-PL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l-PL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probability of class I</a:t>
                </a:r>
              </a:p>
              <a:p>
                <a:pPr marL="85725" lvl="2" indent="0">
                  <a:buNone/>
                </a:pPr>
                <a:endParaRPr lang="en-IN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5725" lvl="2" indent="0">
                  <a:buNone/>
                </a:pP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Entropy(D) = -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0.918</a:t>
                </a:r>
              </a:p>
              <a:p>
                <a:pPr marL="914400" lvl="2" indent="0">
                  <a:buNone/>
                </a:pPr>
                <a:endParaRPr lang="en-I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 indent="0">
                  <a:buNone/>
                </a:pPr>
                <a:endParaRPr lang="en-I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69DC7-8650-6388-16BE-22E0C6C2A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1525" y="1669457"/>
                <a:ext cx="6496050" cy="4950418"/>
              </a:xfrm>
              <a:blipFill>
                <a:blip r:embed="rId2"/>
                <a:stretch>
                  <a:fillRect l="-2911" t="-1970" r="-1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C7EF2E-6918-2248-2D59-FC376EA2B7F9}"/>
              </a:ext>
            </a:extLst>
          </p:cNvPr>
          <p:cNvGraphicFramePr>
            <a:graphicFrameLocks noGrp="1"/>
          </p:cNvGraphicFramePr>
          <p:nvPr/>
        </p:nvGraphicFramePr>
        <p:xfrm>
          <a:off x="7790731" y="1669457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C9A7E97-B8DE-07F1-95A3-2A0EA8477784}"/>
              </a:ext>
            </a:extLst>
          </p:cNvPr>
          <p:cNvSpPr txBox="1"/>
          <p:nvPr/>
        </p:nvSpPr>
        <p:spPr>
          <a:xfrm>
            <a:off x="2590800" y="4229777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 = Yes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79C3E-02E4-FC6F-8434-2748CEC1E2B2}"/>
              </a:ext>
            </a:extLst>
          </p:cNvPr>
          <p:cNvSpPr txBox="1"/>
          <p:nvPr/>
        </p:nvSpPr>
        <p:spPr>
          <a:xfrm>
            <a:off x="4019550" y="421438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 = No</a:t>
            </a:r>
          </a:p>
        </p:txBody>
      </p:sp>
    </p:spTree>
    <p:extLst>
      <p:ext uri="{BB962C8B-B14F-4D97-AF65-F5344CB8AC3E}">
        <p14:creationId xmlns:p14="http://schemas.microsoft.com/office/powerpoint/2010/main" val="2051610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B964-786B-9ABD-5459-05764168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A347-C013-E450-B2BB-7099D185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Induction (Training)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2C0A38-954E-B632-DA9D-CFF86E771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1525" y="1669457"/>
                <a:ext cx="6496050" cy="4950418"/>
              </a:xfrm>
            </p:spPr>
            <p:txBody>
              <a:bodyPr>
                <a:normAutofit/>
              </a:bodyPr>
              <a:lstStyle/>
              <a:p>
                <a:pPr marL="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entropy of the child set</a:t>
                </a:r>
              </a:p>
              <a:p>
                <a:pPr marL="0" lvl="1" indent="0">
                  <a:buNone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</a:t>
                </a:r>
                <a:r>
                  <a:rPr lang="en-IN" baseline="-25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  <m:e>
                        <m:f>
                          <m:f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IN" b="0" i="1" baseline="-2500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𝐸𝑛𝑡𝑟𝑜𝑝𝑦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𝐷𝑗</m:t>
                        </m:r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</a:t>
                </a:r>
                <a:r>
                  <a:rPr lang="en-IN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Fever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 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func>
                          <m:funcPr>
                            <m:ctrl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</a:t>
                </a:r>
              </a:p>
              <a:p>
                <a:pPr marL="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 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func>
                          <m:funcPr>
                            <m:ctrlPr>
                              <a:rPr lang="en-I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= 0.459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2C0A38-954E-B632-DA9D-CFF86E771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1525" y="1669457"/>
                <a:ext cx="6496050" cy="4950418"/>
              </a:xfrm>
              <a:blipFill>
                <a:blip r:embed="rId2"/>
                <a:stretch>
                  <a:fillRect l="-1502" t="-1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0F2C00-CBD4-3CAB-77BE-2F76F89DB22D}"/>
              </a:ext>
            </a:extLst>
          </p:cNvPr>
          <p:cNvGraphicFramePr>
            <a:graphicFrameLocks noGrp="1"/>
          </p:cNvGraphicFramePr>
          <p:nvPr/>
        </p:nvGraphicFramePr>
        <p:xfrm>
          <a:off x="7657381" y="1400175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ECAB1E-6F4B-62B6-77FC-C029B98D8F61}"/>
              </a:ext>
            </a:extLst>
          </p:cNvPr>
          <p:cNvGraphicFramePr>
            <a:graphicFrameLocks noGrp="1"/>
          </p:cNvGraphicFramePr>
          <p:nvPr/>
        </p:nvGraphicFramePr>
        <p:xfrm>
          <a:off x="5942881" y="4568190"/>
          <a:ext cx="2800350" cy="146304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0F96AC-886A-05D6-94E7-263912A14BF3}"/>
              </a:ext>
            </a:extLst>
          </p:cNvPr>
          <p:cNvGraphicFramePr>
            <a:graphicFrameLocks noGrp="1"/>
          </p:cNvGraphicFramePr>
          <p:nvPr/>
        </p:nvGraphicFramePr>
        <p:xfrm>
          <a:off x="9267825" y="4568190"/>
          <a:ext cx="2800350" cy="1463040"/>
        </p:xfrm>
        <a:graphic>
          <a:graphicData uri="http://schemas.openxmlformats.org/drawingml/2006/table">
            <a:tbl>
              <a:tblPr/>
              <a:tblGrid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25E80E-B10C-8790-694F-7668D128F0F9}"/>
              </a:ext>
            </a:extLst>
          </p:cNvPr>
          <p:cNvCxnSpPr/>
          <p:nvPr/>
        </p:nvCxnSpPr>
        <p:spPr>
          <a:xfrm flipH="1">
            <a:off x="8129915" y="4006127"/>
            <a:ext cx="485775" cy="45910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752269-2200-9CDB-4AC6-6CBE37371768}"/>
              </a:ext>
            </a:extLst>
          </p:cNvPr>
          <p:cNvCxnSpPr>
            <a:cxnSpLocks/>
          </p:cNvCxnSpPr>
          <p:nvPr/>
        </p:nvCxnSpPr>
        <p:spPr>
          <a:xfrm>
            <a:off x="9963807" y="4052580"/>
            <a:ext cx="283779" cy="36702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302FA00-D6AD-90B1-91C1-6C8CB001688F}"/>
              </a:ext>
            </a:extLst>
          </p:cNvPr>
          <p:cNvSpPr txBox="1"/>
          <p:nvPr/>
        </p:nvSpPr>
        <p:spPr>
          <a:xfrm>
            <a:off x="3810000" y="240464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 = No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CB669-262D-C4E1-C939-748A48B0BDF1}"/>
              </a:ext>
            </a:extLst>
          </p:cNvPr>
          <p:cNvSpPr txBox="1"/>
          <p:nvPr/>
        </p:nvSpPr>
        <p:spPr>
          <a:xfrm>
            <a:off x="2667000" y="240464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 = 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179AB-9A9E-F4B6-7B28-2E7C89D1929C}"/>
              </a:ext>
            </a:extLst>
          </p:cNvPr>
          <p:cNvSpPr txBox="1"/>
          <p:nvPr/>
        </p:nvSpPr>
        <p:spPr>
          <a:xfrm>
            <a:off x="5342087" y="2501836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Fever = Yes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CA79F99-CEE5-30C9-024F-B1548FEA635B}"/>
              </a:ext>
            </a:extLst>
          </p:cNvPr>
          <p:cNvSpPr/>
          <p:nvPr/>
        </p:nvSpPr>
        <p:spPr>
          <a:xfrm>
            <a:off x="5121934" y="2030869"/>
            <a:ext cx="76200" cy="124178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382E7-74DB-FFBE-1F7F-D281D0350EDC}"/>
              </a:ext>
            </a:extLst>
          </p:cNvPr>
          <p:cNvSpPr txBox="1"/>
          <p:nvPr/>
        </p:nvSpPr>
        <p:spPr>
          <a:xfrm>
            <a:off x="4617468" y="3415665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Fever = No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7974778-3D6B-E4FC-76B6-50178F59A567}"/>
              </a:ext>
            </a:extLst>
          </p:cNvPr>
          <p:cNvSpPr/>
          <p:nvPr/>
        </p:nvSpPr>
        <p:spPr>
          <a:xfrm>
            <a:off x="4487443" y="3262413"/>
            <a:ext cx="45719" cy="62378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B0D6D-7F45-9478-0911-1173667885F1}"/>
              </a:ext>
            </a:extLst>
          </p:cNvPr>
          <p:cNvSpPr txBox="1"/>
          <p:nvPr/>
        </p:nvSpPr>
        <p:spPr>
          <a:xfrm>
            <a:off x="2291571" y="3714026"/>
            <a:ext cx="1001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 = 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F8B919-03A2-1B83-DD13-3D82F902637D}"/>
              </a:ext>
            </a:extLst>
          </p:cNvPr>
          <p:cNvSpPr txBox="1"/>
          <p:nvPr/>
        </p:nvSpPr>
        <p:spPr>
          <a:xfrm>
            <a:off x="3322068" y="3735677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 = No</a:t>
            </a:r>
          </a:p>
        </p:txBody>
      </p:sp>
    </p:spTree>
    <p:extLst>
      <p:ext uri="{BB962C8B-B14F-4D97-AF65-F5344CB8AC3E}">
        <p14:creationId xmlns:p14="http://schemas.microsoft.com/office/powerpoint/2010/main" val="28999084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5CB7-3E1A-6A45-7044-B02E8257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38B8-06D4-D478-85B0-1AB09142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04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Induction (Training)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1A41D-EE7C-AA7B-DD83-837C496D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69457"/>
            <a:ext cx="6848475" cy="495041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information gain</a:t>
            </a:r>
          </a:p>
          <a:p>
            <a:pPr marL="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Info. Gain (Fever) = Entropy(D)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</a:p>
          <a:p>
            <a:pPr marL="0" lvl="1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= 0.459</a:t>
            </a:r>
          </a:p>
          <a:p>
            <a:pPr marL="0" lvl="1" indent="0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Info. Gain (Cough) = Entropy(D)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</a:p>
          <a:p>
            <a:pPr marL="0" lvl="1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= 0.044</a:t>
            </a:r>
          </a:p>
          <a:p>
            <a:pPr marL="0" lvl="1" indent="0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Info. Gain (Body Pain) = Entropy(D)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</a:p>
          <a:p>
            <a:pPr marL="0" lvl="1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= 0.458</a:t>
            </a:r>
          </a:p>
          <a:p>
            <a:pPr marL="0" lvl="1" indent="0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the feature with the highest Info. Gain as the root.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376686-B358-35B1-0347-6D2D3323A154}"/>
              </a:ext>
            </a:extLst>
          </p:cNvPr>
          <p:cNvGraphicFramePr>
            <a:graphicFrameLocks noGrp="1"/>
          </p:cNvGraphicFramePr>
          <p:nvPr/>
        </p:nvGraphicFramePr>
        <p:xfrm>
          <a:off x="7657381" y="1400175"/>
          <a:ext cx="3629744" cy="2560320"/>
        </p:xfrm>
        <a:graphic>
          <a:graphicData uri="http://schemas.openxmlformats.org/drawingml/2006/table">
            <a:tbl>
              <a:tblPr/>
              <a:tblGrid>
                <a:gridCol w="829394">
                  <a:extLst>
                    <a:ext uri="{9D8B030D-6E8A-4147-A177-3AD203B41FA5}">
                      <a16:colId xmlns:a16="http://schemas.microsoft.com/office/drawing/2014/main" val="167718118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409355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9064497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518760138"/>
                    </a:ext>
                  </a:extLst>
                </a:gridCol>
              </a:tblGrid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Pain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067698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413179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99020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80437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66045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0943"/>
                  </a:ext>
                </a:extLst>
              </a:tr>
              <a:tr h="36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7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0911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2CC1-1983-06E2-0798-C297B069F0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Classification - Demo</a:t>
            </a:r>
          </a:p>
        </p:txBody>
      </p:sp>
    </p:spTree>
    <p:extLst>
      <p:ext uri="{BB962C8B-B14F-4D97-AF65-F5344CB8AC3E}">
        <p14:creationId xmlns:p14="http://schemas.microsoft.com/office/powerpoint/2010/main" val="28579213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B7D43-09D3-690F-83C4-D83D7821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Importing the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B343-1171-75C8-2489-5BF925C0A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sklearn.feature_extraction.text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sklearn.tree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DecisionTreeClassifier</a:t>
            </a: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confusion_matrix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sklearn.tree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plot_tree</a:t>
            </a: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68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B471-9940-6C36-59B2-6EBFF793A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212725"/>
            <a:ext cx="10515600" cy="9683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Dataset Preparation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397BD-8338-104B-C404-C8224D56F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899"/>
            <a:ext cx="10515600" cy="46166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of email messages is prepared.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message is tagged as spam or ham (normal email).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two columns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→ email content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→ class (spam / ham)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imported into a pandas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82ABEE-F87C-EC0E-17F0-899A11D59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593818"/>
              </p:ext>
            </p:extLst>
          </p:nvPr>
        </p:nvGraphicFramePr>
        <p:xfrm>
          <a:off x="2133600" y="3276600"/>
          <a:ext cx="7924800" cy="1672465"/>
        </p:xfrm>
        <a:graphic>
          <a:graphicData uri="http://schemas.openxmlformats.org/drawingml/2006/table">
            <a:tbl>
              <a:tblPr/>
              <a:tblGrid>
                <a:gridCol w="6617616">
                  <a:extLst>
                    <a:ext uri="{9D8B030D-6E8A-4147-A177-3AD203B41FA5}">
                      <a16:colId xmlns:a16="http://schemas.microsoft.com/office/drawing/2014/main" val="1658178023"/>
                    </a:ext>
                  </a:extLst>
                </a:gridCol>
                <a:gridCol w="1307184">
                  <a:extLst>
                    <a:ext uri="{9D8B030D-6E8A-4147-A177-3AD203B41FA5}">
                      <a16:colId xmlns:a16="http://schemas.microsoft.com/office/drawing/2014/main" val="2778486308"/>
                    </a:ext>
                  </a:extLst>
                </a:gridCol>
              </a:tblGrid>
              <a:tr h="288386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182290"/>
                  </a:ext>
                </a:extLst>
              </a:tr>
              <a:tr h="288386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 we will meet tomorrow at the office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187349"/>
                  </a:ext>
                </a:extLst>
              </a:tr>
              <a:tr h="367540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Congratulations you have won a free iPhone click now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61572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Please find the attached assignment for today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095699"/>
                  </a:ext>
                </a:extLst>
              </a:tr>
              <a:tr h="288386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time offer buy one get one free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358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030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4CBB-F193-6E70-00C0-175314C6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32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Data preprocessing (Label Encoding)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3F873-EA81-4187-8C8B-EE8493BDA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350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labels are represented using numbers.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 → 0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→ 1</a:t>
            </a:r>
          </a:p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df["label"] = df["label"].map({"ham": 0, "spam": 1})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9DDEEF-1935-FD6E-2A34-C97C517A8669}"/>
              </a:ext>
            </a:extLst>
          </p:cNvPr>
          <p:cNvGraphicFramePr>
            <a:graphicFrameLocks noGrp="1"/>
          </p:cNvGraphicFramePr>
          <p:nvPr/>
        </p:nvGraphicFramePr>
        <p:xfrm>
          <a:off x="2028825" y="3655185"/>
          <a:ext cx="7924800" cy="1672465"/>
        </p:xfrm>
        <a:graphic>
          <a:graphicData uri="http://schemas.openxmlformats.org/drawingml/2006/table">
            <a:tbl>
              <a:tblPr/>
              <a:tblGrid>
                <a:gridCol w="6617616">
                  <a:extLst>
                    <a:ext uri="{9D8B030D-6E8A-4147-A177-3AD203B41FA5}">
                      <a16:colId xmlns:a16="http://schemas.microsoft.com/office/drawing/2014/main" val="1658178023"/>
                    </a:ext>
                  </a:extLst>
                </a:gridCol>
                <a:gridCol w="1307184">
                  <a:extLst>
                    <a:ext uri="{9D8B030D-6E8A-4147-A177-3AD203B41FA5}">
                      <a16:colId xmlns:a16="http://schemas.microsoft.com/office/drawing/2014/main" val="2778486308"/>
                    </a:ext>
                  </a:extLst>
                </a:gridCol>
              </a:tblGrid>
              <a:tr h="288386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182290"/>
                  </a:ext>
                </a:extLst>
              </a:tr>
              <a:tr h="288386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 we will meet tomorrow at the office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187349"/>
                  </a:ext>
                </a:extLst>
              </a:tr>
              <a:tr h="367540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Congratulations you have won a free iPhone click now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61572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Please find the attached assignment for today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095699"/>
                  </a:ext>
                </a:extLst>
              </a:tr>
              <a:tr h="288386"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time offer buy one get one free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358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8471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5D10-DD4A-E391-42B3-36380823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Text Feature Extraction (Bag of Words)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21129-5B04-0776-7F4E-76B074C82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5425"/>
            <a:ext cx="10953751" cy="4997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feature extraction technique that converts textual data into numerical form by counting how often words appear in a document.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of the email text into words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“Win a free prize” 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“Win”, “a”, “free”, “prize”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common English stop-words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(is, am, are, the, a, an, in)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“Win”, “a”, “free”, “prize”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“Win”, “free”, “prize”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8626DC8-BABA-7FD6-5601-746F47A49728}"/>
              </a:ext>
            </a:extLst>
          </p:cNvPr>
          <p:cNvSpPr/>
          <p:nvPr/>
        </p:nvSpPr>
        <p:spPr>
          <a:xfrm>
            <a:off x="4038600" y="3276600"/>
            <a:ext cx="1895476" cy="578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Tokenization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5288A1B-9016-3524-C334-48D0C389B7BC}"/>
              </a:ext>
            </a:extLst>
          </p:cNvPr>
          <p:cNvSpPr/>
          <p:nvPr/>
        </p:nvSpPr>
        <p:spPr>
          <a:xfrm>
            <a:off x="4267200" y="4343400"/>
            <a:ext cx="2000250" cy="2192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9940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03C30-209C-0381-F6E9-DA0CF46C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DEA1-DDCE-8D6E-1153-F3AA5358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Text Feature Extraction (Bag of Words)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32DDD-0046-4BFE-BCE4-4AB87573A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4"/>
            <a:ext cx="10515600" cy="5133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a vocabulary of unique words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all unique words and assign each word a feature index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1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"free win prize“</a:t>
            </a:r>
          </a:p>
          <a:p>
            <a:pPr lvl="1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2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"meeting tomorrow“</a:t>
            </a:r>
          </a:p>
          <a:p>
            <a:pPr lvl="1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["free", "win", "prize", “meeting", "tomorrow"]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each email into a word-count vector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2537EA-6D55-1ADB-9772-63CB4932F33D}"/>
              </a:ext>
            </a:extLst>
          </p:cNvPr>
          <p:cNvGraphicFramePr>
            <a:graphicFrameLocks noGrp="1"/>
          </p:cNvGraphicFramePr>
          <p:nvPr/>
        </p:nvGraphicFramePr>
        <p:xfrm>
          <a:off x="1695450" y="4895850"/>
          <a:ext cx="7953375" cy="1188720"/>
        </p:xfrm>
        <a:graphic>
          <a:graphicData uri="http://schemas.openxmlformats.org/drawingml/2006/table">
            <a:tbl>
              <a:tblPr/>
              <a:tblGrid>
                <a:gridCol w="2761985">
                  <a:extLst>
                    <a:ext uri="{9D8B030D-6E8A-4147-A177-3AD203B41FA5}">
                      <a16:colId xmlns:a16="http://schemas.microsoft.com/office/drawing/2014/main" val="3217163907"/>
                    </a:ext>
                  </a:extLst>
                </a:gridCol>
                <a:gridCol w="821884">
                  <a:extLst>
                    <a:ext uri="{9D8B030D-6E8A-4147-A177-3AD203B41FA5}">
                      <a16:colId xmlns:a16="http://schemas.microsoft.com/office/drawing/2014/main" val="2524824789"/>
                    </a:ext>
                  </a:extLst>
                </a:gridCol>
                <a:gridCol w="936323">
                  <a:extLst>
                    <a:ext uri="{9D8B030D-6E8A-4147-A177-3AD203B41FA5}">
                      <a16:colId xmlns:a16="http://schemas.microsoft.com/office/drawing/2014/main" val="801431063"/>
                    </a:ext>
                  </a:extLst>
                </a:gridCol>
                <a:gridCol w="894709">
                  <a:extLst>
                    <a:ext uri="{9D8B030D-6E8A-4147-A177-3AD203B41FA5}">
                      <a16:colId xmlns:a16="http://schemas.microsoft.com/office/drawing/2014/main" val="3188086199"/>
                    </a:ext>
                  </a:extLst>
                </a:gridCol>
                <a:gridCol w="1248430">
                  <a:extLst>
                    <a:ext uri="{9D8B030D-6E8A-4147-A177-3AD203B41FA5}">
                      <a16:colId xmlns:a16="http://schemas.microsoft.com/office/drawing/2014/main" val="2479350346"/>
                    </a:ext>
                  </a:extLst>
                </a:gridCol>
                <a:gridCol w="1290044">
                  <a:extLst>
                    <a:ext uri="{9D8B030D-6E8A-4147-A177-3AD203B41FA5}">
                      <a16:colId xmlns:a16="http://schemas.microsoft.com/office/drawing/2014/main" val="3771831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tomorrow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34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"free win prize"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6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"meeting tomorrow"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728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7A2678-A1D9-1D80-32AC-963C0D6DCBC9}"/>
              </a:ext>
            </a:extLst>
          </p:cNvPr>
          <p:cNvSpPr txBox="1"/>
          <p:nvPr/>
        </p:nvSpPr>
        <p:spPr>
          <a:xfrm>
            <a:off x="2038349" y="6308209"/>
            <a:ext cx="795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Bag of Words representation, word order does not matter, frequency matters</a:t>
            </a:r>
          </a:p>
        </p:txBody>
      </p:sp>
    </p:spTree>
    <p:extLst>
      <p:ext uri="{BB962C8B-B14F-4D97-AF65-F5344CB8AC3E}">
        <p14:creationId xmlns:p14="http://schemas.microsoft.com/office/powerpoint/2010/main" val="2610608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A43B-CF74-580A-AC52-45C7251E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C68A-AEAE-516C-DE6D-6C29DFDD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Feature Matrix and Target Vector Formation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07479-1865-EA3A-9134-2B33C8152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4"/>
            <a:ext cx="10515600" cy="513397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represented as (X, Y)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Matrix (X)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Label (Y): y – {ham , spam}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{0, 1}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F41096-AF81-3FE8-DB27-10191100A6E0}"/>
              </a:ext>
            </a:extLst>
          </p:cNvPr>
          <p:cNvGraphicFramePr>
            <a:graphicFrameLocks noGrp="1"/>
          </p:cNvGraphicFramePr>
          <p:nvPr/>
        </p:nvGraphicFramePr>
        <p:xfrm>
          <a:off x="3295650" y="2537837"/>
          <a:ext cx="6400800" cy="1188720"/>
        </p:xfrm>
        <a:graphic>
          <a:graphicData uri="http://schemas.openxmlformats.org/drawingml/2006/table">
            <a:tbl>
              <a:tblPr/>
              <a:tblGrid>
                <a:gridCol w="1209410">
                  <a:extLst>
                    <a:ext uri="{9D8B030D-6E8A-4147-A177-3AD203B41FA5}">
                      <a16:colId xmlns:a16="http://schemas.microsoft.com/office/drawing/2014/main" val="3217163907"/>
                    </a:ext>
                  </a:extLst>
                </a:gridCol>
                <a:gridCol w="821884">
                  <a:extLst>
                    <a:ext uri="{9D8B030D-6E8A-4147-A177-3AD203B41FA5}">
                      <a16:colId xmlns:a16="http://schemas.microsoft.com/office/drawing/2014/main" val="2524824789"/>
                    </a:ext>
                  </a:extLst>
                </a:gridCol>
                <a:gridCol w="936323">
                  <a:extLst>
                    <a:ext uri="{9D8B030D-6E8A-4147-A177-3AD203B41FA5}">
                      <a16:colId xmlns:a16="http://schemas.microsoft.com/office/drawing/2014/main" val="801431063"/>
                    </a:ext>
                  </a:extLst>
                </a:gridCol>
                <a:gridCol w="894709">
                  <a:extLst>
                    <a:ext uri="{9D8B030D-6E8A-4147-A177-3AD203B41FA5}">
                      <a16:colId xmlns:a16="http://schemas.microsoft.com/office/drawing/2014/main" val="3188086199"/>
                    </a:ext>
                  </a:extLst>
                </a:gridCol>
                <a:gridCol w="1248430">
                  <a:extLst>
                    <a:ext uri="{9D8B030D-6E8A-4147-A177-3AD203B41FA5}">
                      <a16:colId xmlns:a16="http://schemas.microsoft.com/office/drawing/2014/main" val="2479350346"/>
                    </a:ext>
                  </a:extLst>
                </a:gridCol>
                <a:gridCol w="1290044">
                  <a:extLst>
                    <a:ext uri="{9D8B030D-6E8A-4147-A177-3AD203B41FA5}">
                      <a16:colId xmlns:a16="http://schemas.microsoft.com/office/drawing/2014/main" val="3771831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tomorrow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34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6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728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D67EDD-4FBD-B9C6-1B98-2D4AEDCAF69C}"/>
              </a:ext>
            </a:extLst>
          </p:cNvPr>
          <p:cNvGraphicFramePr>
            <a:graphicFrameLocks noGrp="1"/>
          </p:cNvGraphicFramePr>
          <p:nvPr/>
        </p:nvGraphicFramePr>
        <p:xfrm>
          <a:off x="2352674" y="4909561"/>
          <a:ext cx="7543801" cy="1344588"/>
        </p:xfrm>
        <a:graphic>
          <a:graphicData uri="http://schemas.openxmlformats.org/drawingml/2006/table">
            <a:tbl>
              <a:tblPr/>
              <a:tblGrid>
                <a:gridCol w="1235715">
                  <a:extLst>
                    <a:ext uri="{9D8B030D-6E8A-4147-A177-3AD203B41FA5}">
                      <a16:colId xmlns:a16="http://schemas.microsoft.com/office/drawing/2014/main" val="3217163907"/>
                    </a:ext>
                  </a:extLst>
                </a:gridCol>
                <a:gridCol w="839761">
                  <a:extLst>
                    <a:ext uri="{9D8B030D-6E8A-4147-A177-3AD203B41FA5}">
                      <a16:colId xmlns:a16="http://schemas.microsoft.com/office/drawing/2014/main" val="2524824789"/>
                    </a:ext>
                  </a:extLst>
                </a:gridCol>
                <a:gridCol w="956689">
                  <a:extLst>
                    <a:ext uri="{9D8B030D-6E8A-4147-A177-3AD203B41FA5}">
                      <a16:colId xmlns:a16="http://schemas.microsoft.com/office/drawing/2014/main" val="801431063"/>
                    </a:ext>
                  </a:extLst>
                </a:gridCol>
                <a:gridCol w="914170">
                  <a:extLst>
                    <a:ext uri="{9D8B030D-6E8A-4147-A177-3AD203B41FA5}">
                      <a16:colId xmlns:a16="http://schemas.microsoft.com/office/drawing/2014/main" val="3188086199"/>
                    </a:ext>
                  </a:extLst>
                </a:gridCol>
                <a:gridCol w="1275584">
                  <a:extLst>
                    <a:ext uri="{9D8B030D-6E8A-4147-A177-3AD203B41FA5}">
                      <a16:colId xmlns:a16="http://schemas.microsoft.com/office/drawing/2014/main" val="2479350346"/>
                    </a:ext>
                  </a:extLst>
                </a:gridCol>
                <a:gridCol w="1318103">
                  <a:extLst>
                    <a:ext uri="{9D8B030D-6E8A-4147-A177-3AD203B41FA5}">
                      <a16:colId xmlns:a16="http://schemas.microsoft.com/office/drawing/2014/main" val="3771831442"/>
                    </a:ext>
                  </a:extLst>
                </a:gridCol>
                <a:gridCol w="1003779">
                  <a:extLst>
                    <a:ext uri="{9D8B030D-6E8A-4147-A177-3AD203B41FA5}">
                      <a16:colId xmlns:a16="http://schemas.microsoft.com/office/drawing/2014/main" val="3637121702"/>
                    </a:ext>
                  </a:extLst>
                </a:gridCol>
              </a:tblGrid>
              <a:tr h="548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tomorrow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343634"/>
                  </a:ext>
                </a:extLst>
              </a:tr>
              <a:tr h="398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68276"/>
                  </a:ext>
                </a:extLst>
              </a:tr>
              <a:tr h="398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7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187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987E7-7647-BCA5-B6C3-9EF08B3E6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CFCC-164C-A42E-986E-4ED52D0F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3 and 4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552C-EFFD-32BA-4BE6-F490D1B73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275"/>
            <a:ext cx="10515600" cy="4810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 =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stop_words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vectorizer.fit_transform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["text"])</a:t>
            </a:r>
          </a:p>
          <a:p>
            <a:pPr marL="0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["label"]</a:t>
            </a:r>
          </a:p>
        </p:txBody>
      </p:sp>
    </p:spTree>
    <p:extLst>
      <p:ext uri="{BB962C8B-B14F-4D97-AF65-F5344CB8AC3E}">
        <p14:creationId xmlns:p14="http://schemas.microsoft.com/office/powerpoint/2010/main" val="1393217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F27EA-31CC-5EC2-7AFD-2F0AB903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EAE1-7798-3420-EF76-7D7D52A8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Train–Test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9D96F-FC66-D20F-69F9-716F17750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4"/>
            <a:ext cx="10515600" cy="513397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divided into training set and testing set.</a:t>
            </a:r>
          </a:p>
          <a:p>
            <a:pPr marL="542925" indent="0">
              <a:buNone/>
            </a:pP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X, y,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=0.25,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Decision Tree is trained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 =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DecisionTreeClassifier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criterion="entropy",   # uses Information Gain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=5,           # prevents overfitting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</a:t>
            </a:r>
          </a:p>
          <a:p>
            <a:pPr marL="54292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42925" indent="0">
              <a:buNone/>
            </a:pP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dt.fit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428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506B-592E-1E02-9980-57B44778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DE703-AD1B-C42C-BFA7-4A365EC82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076"/>
            <a:ext cx="10515600" cy="6029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Decision Tree is tested</a:t>
            </a:r>
          </a:p>
          <a:p>
            <a:pPr marL="447675" indent="0">
              <a:buNone/>
            </a:pP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dt.predict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Prediction done using the decision tree</a:t>
            </a:r>
          </a:p>
          <a:p>
            <a:pPr marL="44767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= ["You have won a free cash prize"]</a:t>
            </a:r>
          </a:p>
          <a:p>
            <a:pPr marL="447675" indent="0">
              <a:buNone/>
            </a:pPr>
            <a:r>
              <a:rPr lang="en-IN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- spam</a:t>
            </a:r>
          </a:p>
          <a:p>
            <a:pPr mar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075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29513"/>
            <a:ext cx="6249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</a:t>
            </a:r>
            <a:r>
              <a:rPr spc="5" dirty="0"/>
              <a:t> </a:t>
            </a:r>
            <a:r>
              <a:rPr dirty="0"/>
              <a:t>Nearest</a:t>
            </a:r>
            <a:r>
              <a:rPr spc="-15" dirty="0"/>
              <a:t> </a:t>
            </a:r>
            <a:r>
              <a:rPr dirty="0"/>
              <a:t>Neighbor</a:t>
            </a:r>
            <a:r>
              <a:rPr spc="-35" dirty="0"/>
              <a:t> </a:t>
            </a:r>
            <a:r>
              <a:rPr spc="-10" dirty="0"/>
              <a:t>(KNN)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160" dirty="0"/>
              <a:t> </a:t>
            </a:r>
            <a:r>
              <a:rPr dirty="0"/>
              <a:t>K</a:t>
            </a:r>
            <a:r>
              <a:rPr spc="165" dirty="0"/>
              <a:t> </a:t>
            </a:r>
            <a:r>
              <a:rPr dirty="0"/>
              <a:t>Nearest</a:t>
            </a:r>
            <a:r>
              <a:rPr spc="170" dirty="0"/>
              <a:t> </a:t>
            </a:r>
            <a:r>
              <a:rPr dirty="0"/>
              <a:t>Neighbor</a:t>
            </a:r>
            <a:r>
              <a:rPr spc="170" dirty="0"/>
              <a:t> </a:t>
            </a:r>
            <a:r>
              <a:rPr dirty="0"/>
              <a:t>(KNN)</a:t>
            </a:r>
            <a:r>
              <a:rPr spc="170" dirty="0"/>
              <a:t> </a:t>
            </a:r>
            <a:r>
              <a:rPr dirty="0"/>
              <a:t>is</a:t>
            </a:r>
            <a:r>
              <a:rPr spc="155" dirty="0"/>
              <a:t> </a:t>
            </a:r>
            <a:r>
              <a:rPr dirty="0"/>
              <a:t>an</a:t>
            </a:r>
            <a:r>
              <a:rPr spc="165" dirty="0"/>
              <a:t> </a:t>
            </a:r>
            <a:r>
              <a:rPr spc="-30" dirty="0"/>
              <a:t>algorithm</a:t>
            </a:r>
            <a:r>
              <a:rPr spc="170" dirty="0"/>
              <a:t> </a:t>
            </a:r>
            <a:r>
              <a:rPr spc="-10" dirty="0"/>
              <a:t>that</a:t>
            </a:r>
            <a:r>
              <a:rPr spc="175" dirty="0"/>
              <a:t> </a:t>
            </a:r>
            <a:r>
              <a:rPr dirty="0"/>
              <a:t>can</a:t>
            </a:r>
            <a:r>
              <a:rPr spc="160" dirty="0"/>
              <a:t> </a:t>
            </a:r>
            <a:r>
              <a:rPr dirty="0"/>
              <a:t>be</a:t>
            </a:r>
            <a:r>
              <a:rPr spc="165" dirty="0"/>
              <a:t> </a:t>
            </a:r>
            <a:r>
              <a:rPr dirty="0"/>
              <a:t>used</a:t>
            </a:r>
            <a:r>
              <a:rPr spc="170" dirty="0"/>
              <a:t> </a:t>
            </a:r>
            <a:r>
              <a:rPr dirty="0"/>
              <a:t>for</a:t>
            </a:r>
            <a:r>
              <a:rPr spc="170" dirty="0"/>
              <a:t> </a:t>
            </a:r>
            <a:r>
              <a:rPr spc="-20" dirty="0"/>
              <a:t>both 	</a:t>
            </a:r>
            <a:r>
              <a:rPr spc="-30" dirty="0"/>
              <a:t>classification</a:t>
            </a:r>
            <a:r>
              <a:rPr spc="-145" dirty="0"/>
              <a:t> </a:t>
            </a:r>
            <a:r>
              <a:rPr spc="-10" dirty="0"/>
              <a:t>and</a:t>
            </a:r>
            <a:r>
              <a:rPr spc="-150" dirty="0"/>
              <a:t> </a:t>
            </a:r>
            <a:r>
              <a:rPr spc="-35" dirty="0"/>
              <a:t>regression</a:t>
            </a:r>
            <a:r>
              <a:rPr spc="-160" dirty="0"/>
              <a:t> </a:t>
            </a:r>
            <a:r>
              <a:rPr spc="-55" dirty="0"/>
              <a:t>(mostly</a:t>
            </a:r>
            <a:r>
              <a:rPr spc="-165" dirty="0"/>
              <a:t> </a:t>
            </a:r>
            <a:r>
              <a:rPr dirty="0"/>
              <a:t>used</a:t>
            </a:r>
            <a:r>
              <a:rPr spc="-170" dirty="0"/>
              <a:t> </a:t>
            </a:r>
            <a:r>
              <a:rPr spc="-114" dirty="0"/>
              <a:t>for</a:t>
            </a:r>
            <a:r>
              <a:rPr spc="-150" dirty="0"/>
              <a:t> </a:t>
            </a:r>
            <a:r>
              <a:rPr spc="-10" dirty="0"/>
              <a:t>classification).</a:t>
            </a:r>
          </a:p>
          <a:p>
            <a:pPr marL="240029" marR="5715" indent="-227965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It</a:t>
            </a:r>
            <a:r>
              <a:rPr spc="-15" dirty="0"/>
              <a:t> </a:t>
            </a:r>
            <a:r>
              <a:rPr spc="-10" dirty="0"/>
              <a:t>relies</a:t>
            </a:r>
            <a:r>
              <a:rPr spc="-2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idea</a:t>
            </a:r>
            <a:r>
              <a:rPr spc="-15" dirty="0"/>
              <a:t> </a:t>
            </a:r>
            <a:r>
              <a:rPr spc="-30" dirty="0"/>
              <a:t>that</a:t>
            </a:r>
            <a:r>
              <a:rPr spc="-10" dirty="0"/>
              <a:t> </a:t>
            </a:r>
            <a:r>
              <a:rPr dirty="0"/>
              <a:t>similar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points</a:t>
            </a:r>
            <a:r>
              <a:rPr spc="-20" dirty="0"/>
              <a:t> </a:t>
            </a:r>
            <a:r>
              <a:rPr dirty="0"/>
              <a:t>tend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similar labels</a:t>
            </a:r>
            <a:r>
              <a:rPr spc="-20" dirty="0"/>
              <a:t> </a:t>
            </a:r>
            <a:r>
              <a:rPr spc="-25" dirty="0"/>
              <a:t>or 	</a:t>
            </a:r>
            <a:r>
              <a:rPr spc="-10" dirty="0"/>
              <a:t>values.</a:t>
            </a:r>
          </a:p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665" algn="l"/>
              </a:tabLst>
            </a:pPr>
            <a:r>
              <a:rPr spc="-114" dirty="0"/>
              <a:t>Training</a:t>
            </a:r>
            <a:r>
              <a:rPr spc="-190" dirty="0"/>
              <a:t> </a:t>
            </a:r>
            <a:r>
              <a:rPr spc="-25" dirty="0"/>
              <a:t>phase:</a:t>
            </a:r>
            <a:r>
              <a:rPr spc="-185" dirty="0"/>
              <a:t> </a:t>
            </a:r>
            <a:r>
              <a:rPr spc="-10" dirty="0">
                <a:solidFill>
                  <a:srgbClr val="FF0000"/>
                </a:solidFill>
              </a:rPr>
              <a:t>stores</a:t>
            </a:r>
            <a:r>
              <a:rPr spc="-200" dirty="0">
                <a:solidFill>
                  <a:srgbClr val="FF0000"/>
                </a:solidFill>
              </a:rPr>
              <a:t> </a:t>
            </a:r>
            <a:r>
              <a:rPr spc="-80" dirty="0">
                <a:solidFill>
                  <a:srgbClr val="FF0000"/>
                </a:solidFill>
              </a:rPr>
              <a:t>the</a:t>
            </a:r>
            <a:r>
              <a:rPr spc="-210" dirty="0">
                <a:solidFill>
                  <a:srgbClr val="FF0000"/>
                </a:solidFill>
              </a:rPr>
              <a:t> </a:t>
            </a:r>
            <a:r>
              <a:rPr spc="-105" dirty="0">
                <a:solidFill>
                  <a:srgbClr val="FF0000"/>
                </a:solidFill>
              </a:rPr>
              <a:t>entire</a:t>
            </a:r>
            <a:r>
              <a:rPr spc="-195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dataset</a:t>
            </a:r>
            <a:r>
              <a:rPr spc="-170" dirty="0">
                <a:solidFill>
                  <a:srgbClr val="FF0000"/>
                </a:solidFill>
              </a:rPr>
              <a:t> </a:t>
            </a:r>
            <a:r>
              <a:rPr spc="-105" dirty="0">
                <a:solidFill>
                  <a:srgbClr val="FF0000"/>
                </a:solidFill>
              </a:rPr>
              <a:t>(lazy</a:t>
            </a:r>
            <a:r>
              <a:rPr spc="-21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learner)</a:t>
            </a:r>
          </a:p>
          <a:p>
            <a:pPr marL="240029" marR="6350" indent="-227965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5" dirty="0"/>
              <a:t>Testing</a:t>
            </a:r>
            <a:r>
              <a:rPr spc="-180" dirty="0"/>
              <a:t> </a:t>
            </a:r>
            <a:r>
              <a:rPr spc="-25" dirty="0"/>
              <a:t>phase:</a:t>
            </a:r>
            <a:r>
              <a:rPr spc="-185" dirty="0"/>
              <a:t> </a:t>
            </a:r>
            <a:r>
              <a:rPr spc="-20" dirty="0">
                <a:solidFill>
                  <a:srgbClr val="FF0000"/>
                </a:solidFill>
              </a:rPr>
              <a:t>calculates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distance</a:t>
            </a:r>
            <a:r>
              <a:rPr spc="-175" dirty="0">
                <a:solidFill>
                  <a:srgbClr val="FF0000"/>
                </a:solidFill>
              </a:rPr>
              <a:t> </a:t>
            </a:r>
            <a:r>
              <a:rPr spc="-75" dirty="0">
                <a:solidFill>
                  <a:srgbClr val="FF0000"/>
                </a:solidFill>
              </a:rPr>
              <a:t>between</a:t>
            </a:r>
            <a:r>
              <a:rPr spc="-204" dirty="0">
                <a:solidFill>
                  <a:srgbClr val="FF0000"/>
                </a:solidFill>
              </a:rPr>
              <a:t> </a:t>
            </a:r>
            <a:r>
              <a:rPr spc="-60" dirty="0">
                <a:solidFill>
                  <a:srgbClr val="FF0000"/>
                </a:solidFill>
              </a:rPr>
              <a:t>input</a:t>
            </a:r>
            <a:r>
              <a:rPr spc="-175" dirty="0">
                <a:solidFill>
                  <a:srgbClr val="FF0000"/>
                </a:solidFill>
              </a:rPr>
              <a:t> </a:t>
            </a:r>
            <a:r>
              <a:rPr spc="-60" dirty="0">
                <a:solidFill>
                  <a:srgbClr val="FF0000"/>
                </a:solidFill>
              </a:rPr>
              <a:t>data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65" dirty="0">
                <a:solidFill>
                  <a:srgbClr val="FF0000"/>
                </a:solidFill>
              </a:rPr>
              <a:t>point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90" dirty="0">
                <a:solidFill>
                  <a:srgbClr val="FF0000"/>
                </a:solidFill>
              </a:rPr>
              <a:t>to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75" dirty="0">
                <a:solidFill>
                  <a:srgbClr val="FF0000"/>
                </a:solidFill>
              </a:rPr>
              <a:t>all</a:t>
            </a:r>
            <a:r>
              <a:rPr spc="-190" dirty="0">
                <a:solidFill>
                  <a:srgbClr val="FF0000"/>
                </a:solidFill>
              </a:rPr>
              <a:t> </a:t>
            </a:r>
            <a:r>
              <a:rPr spc="-80" dirty="0">
                <a:solidFill>
                  <a:srgbClr val="FF0000"/>
                </a:solidFill>
              </a:rPr>
              <a:t>the</a:t>
            </a:r>
            <a:r>
              <a:rPr spc="-19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training 	</a:t>
            </a:r>
            <a:r>
              <a:rPr spc="-25" dirty="0">
                <a:solidFill>
                  <a:srgbClr val="FF0000"/>
                </a:solidFill>
              </a:rPr>
              <a:t>examples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using</a:t>
            </a:r>
            <a:r>
              <a:rPr spc="-204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-19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distance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65" dirty="0">
                <a:solidFill>
                  <a:srgbClr val="FF0000"/>
                </a:solidFill>
              </a:rPr>
              <a:t>metric</a:t>
            </a:r>
            <a:r>
              <a:rPr spc="-204" dirty="0">
                <a:solidFill>
                  <a:srgbClr val="FF0000"/>
                </a:solidFill>
              </a:rPr>
              <a:t> </a:t>
            </a:r>
            <a:r>
              <a:rPr spc="-130" dirty="0">
                <a:solidFill>
                  <a:srgbClr val="FF0000"/>
                </a:solidFill>
              </a:rPr>
              <a:t>(E.g.</a:t>
            </a:r>
            <a:r>
              <a:rPr spc="-19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Euclidean</a:t>
            </a:r>
            <a:r>
              <a:rPr spc="-190" dirty="0">
                <a:solidFill>
                  <a:srgbClr val="FF0000"/>
                </a:solidFill>
              </a:rPr>
              <a:t> </a:t>
            </a:r>
            <a:r>
              <a:rPr spc="-100" dirty="0">
                <a:solidFill>
                  <a:srgbClr val="FF0000"/>
                </a:solidFill>
              </a:rPr>
              <a:t>dist.,</a:t>
            </a:r>
            <a:r>
              <a:rPr spc="-190" dirty="0">
                <a:solidFill>
                  <a:srgbClr val="FF0000"/>
                </a:solidFill>
              </a:rPr>
              <a:t> </a:t>
            </a:r>
            <a:r>
              <a:rPr spc="-30" dirty="0">
                <a:solidFill>
                  <a:srgbClr val="FF0000"/>
                </a:solidFill>
              </a:rPr>
              <a:t>Manhattan</a:t>
            </a:r>
            <a:r>
              <a:rPr spc="-175" dirty="0">
                <a:solidFill>
                  <a:srgbClr val="FF0000"/>
                </a:solidFill>
              </a:rPr>
              <a:t> </a:t>
            </a:r>
            <a:r>
              <a:rPr spc="-100" dirty="0">
                <a:solidFill>
                  <a:srgbClr val="FF0000"/>
                </a:solidFill>
              </a:rPr>
              <a:t>dist.,</a:t>
            </a:r>
            <a:r>
              <a:rPr spc="-19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etc.)</a:t>
            </a: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spc="-80" dirty="0"/>
              <a:t>Parameter</a:t>
            </a:r>
            <a:r>
              <a:rPr spc="-200" dirty="0"/>
              <a:t> </a:t>
            </a:r>
            <a:r>
              <a:rPr spc="-85" dirty="0"/>
              <a:t>tuning:</a:t>
            </a:r>
            <a:r>
              <a:rPr spc="-190" dirty="0"/>
              <a:t> </a:t>
            </a:r>
            <a:r>
              <a:rPr spc="-60" dirty="0"/>
              <a:t>value</a:t>
            </a:r>
            <a:r>
              <a:rPr spc="-200" dirty="0"/>
              <a:t> </a:t>
            </a:r>
            <a:r>
              <a:rPr spc="-80" dirty="0"/>
              <a:t>of</a:t>
            </a:r>
            <a:r>
              <a:rPr spc="-300" dirty="0"/>
              <a:t> </a:t>
            </a:r>
            <a:r>
              <a:rPr spc="-185" dirty="0"/>
              <a:t>‘k’</a:t>
            </a:r>
            <a:r>
              <a:rPr spc="-315" dirty="0"/>
              <a:t> </a:t>
            </a:r>
            <a:r>
              <a:rPr spc="-10" dirty="0"/>
              <a:t>determined.</a:t>
            </a: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Classify</a:t>
            </a:r>
            <a:r>
              <a:rPr spc="-185" dirty="0"/>
              <a:t> </a:t>
            </a:r>
            <a:r>
              <a:rPr spc="-60" dirty="0"/>
              <a:t>input</a:t>
            </a:r>
            <a:r>
              <a:rPr spc="-185" dirty="0"/>
              <a:t> </a:t>
            </a:r>
            <a:r>
              <a:rPr spc="-60" dirty="0"/>
              <a:t>value</a:t>
            </a:r>
            <a:r>
              <a:rPr spc="-195" dirty="0"/>
              <a:t> </a:t>
            </a:r>
            <a:r>
              <a:rPr dirty="0"/>
              <a:t>using</a:t>
            </a:r>
            <a:r>
              <a:rPr spc="-185" dirty="0"/>
              <a:t> </a:t>
            </a:r>
            <a:r>
              <a:rPr spc="-80" dirty="0"/>
              <a:t>the</a:t>
            </a:r>
            <a:r>
              <a:rPr spc="-215" dirty="0"/>
              <a:t> </a:t>
            </a:r>
            <a:r>
              <a:rPr spc="-60" dirty="0"/>
              <a:t>value</a:t>
            </a:r>
            <a:r>
              <a:rPr spc="-185" dirty="0"/>
              <a:t> </a:t>
            </a:r>
            <a:r>
              <a:rPr spc="-75" dirty="0"/>
              <a:t>of</a:t>
            </a:r>
            <a:r>
              <a:rPr spc="-315" dirty="0"/>
              <a:t> </a:t>
            </a:r>
            <a:r>
              <a:rPr spc="-285" dirty="0"/>
              <a:t>‘k’.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6134" y="4574628"/>
            <a:ext cx="4274820" cy="200405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609" y="300354"/>
            <a:ext cx="11226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KNN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6961" y="422068"/>
            <a:ext cx="5894975" cy="62299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609" y="1178178"/>
            <a:ext cx="497268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Times New Roman"/>
                <a:cs typeface="Times New Roman"/>
              </a:rPr>
              <a:t>Choose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neighbours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consider.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Compute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distances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new </a:t>
            </a:r>
            <a:r>
              <a:rPr sz="2400" dirty="0">
                <a:latin typeface="Times New Roman"/>
                <a:cs typeface="Times New Roman"/>
              </a:rPr>
              <a:t>input,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(e.g., </a:t>
            </a:r>
            <a:r>
              <a:rPr sz="2400" dirty="0">
                <a:latin typeface="Times New Roman"/>
                <a:cs typeface="Times New Roman"/>
              </a:rPr>
              <a:t>Euclidean,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Manhattan)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training samples.</a:t>
            </a:r>
            <a:endParaRPr sz="2400">
              <a:latin typeface="Times New Roman"/>
              <a:cs typeface="Times New Roman"/>
            </a:endParaRPr>
          </a:p>
          <a:p>
            <a:pPr marL="469900" marR="167005" indent="-4572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Find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nearest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neighbors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→ </a:t>
            </a:r>
            <a:r>
              <a:rPr sz="2400" dirty="0">
                <a:latin typeface="Times New Roman"/>
                <a:cs typeface="Times New Roman"/>
              </a:rPr>
              <a:t>pick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input.</a:t>
            </a:r>
            <a:endParaRPr sz="2400">
              <a:latin typeface="Times New Roman"/>
              <a:cs typeface="Times New Roman"/>
            </a:endParaRPr>
          </a:p>
          <a:p>
            <a:pPr marL="469900" marR="60325" indent="-4572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Make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decision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frequent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among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K </a:t>
            </a:r>
            <a:r>
              <a:rPr sz="2400" spc="-10" dirty="0">
                <a:latin typeface="Times New Roman"/>
                <a:cs typeface="Times New Roman"/>
              </a:rPr>
              <a:t>neighbors.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76249"/>
            <a:ext cx="33553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KNN</a:t>
            </a:r>
            <a:r>
              <a:rPr sz="4000" spc="-60" dirty="0"/>
              <a:t> </a:t>
            </a:r>
            <a:r>
              <a:rPr sz="4000" dirty="0"/>
              <a:t>-</a:t>
            </a:r>
            <a:r>
              <a:rPr sz="4000" spc="-45" dirty="0"/>
              <a:t> </a:t>
            </a:r>
            <a:r>
              <a:rPr sz="4000" spc="-10" dirty="0"/>
              <a:t>Example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402537"/>
            <a:ext cx="6198870" cy="183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categories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 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classify.</a:t>
            </a:r>
            <a:endParaRPr sz="2400">
              <a:latin typeface="Times New Roman"/>
              <a:cs typeface="Times New Roman"/>
            </a:endParaRPr>
          </a:p>
          <a:p>
            <a:pPr marL="984885" lvl="1" indent="-514984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984885" algn="l"/>
              </a:tabLst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984885" marR="85725" lvl="1" indent="-515620">
              <a:lnSpc>
                <a:spcPts val="2590"/>
              </a:lnSpc>
              <a:spcBef>
                <a:spcPts val="535"/>
              </a:spcBef>
              <a:buAutoNum type="arabicPeriod"/>
              <a:tabLst>
                <a:tab pos="984885" algn="l"/>
              </a:tabLst>
            </a:pPr>
            <a:r>
              <a:rPr sz="2400" dirty="0">
                <a:latin typeface="Times New Roman"/>
                <a:cs typeface="Times New Roman"/>
              </a:rPr>
              <a:t>Calculate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(Euclidean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distance)</a:t>
            </a:r>
            <a:r>
              <a:rPr sz="2400" spc="-25" dirty="0">
                <a:latin typeface="Times New Roman"/>
                <a:cs typeface="Times New Roman"/>
              </a:rPr>
              <a:t> of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points.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68014" y="3315715"/>
            <a:ext cx="2745105" cy="316230"/>
          </a:xfrm>
          <a:custGeom>
            <a:avLst/>
            <a:gdLst/>
            <a:ahLst/>
            <a:cxnLst/>
            <a:rect l="l" t="t" r="r" b="b"/>
            <a:pathLst>
              <a:path w="2745104" h="316229">
                <a:moveTo>
                  <a:pt x="285623" y="61595"/>
                </a:moveTo>
                <a:lnTo>
                  <a:pt x="282194" y="52070"/>
                </a:lnTo>
                <a:lnTo>
                  <a:pt x="265112" y="58242"/>
                </a:lnTo>
                <a:lnTo>
                  <a:pt x="250126" y="67183"/>
                </a:lnTo>
                <a:lnTo>
                  <a:pt x="217932" y="110070"/>
                </a:lnTo>
                <a:lnTo>
                  <a:pt x="208216" y="148412"/>
                </a:lnTo>
                <a:lnTo>
                  <a:pt x="207010" y="170053"/>
                </a:lnTo>
                <a:lnTo>
                  <a:pt x="208102" y="189560"/>
                </a:lnTo>
                <a:lnTo>
                  <a:pt x="208216" y="191706"/>
                </a:lnTo>
                <a:lnTo>
                  <a:pt x="217932" y="229997"/>
                </a:lnTo>
                <a:lnTo>
                  <a:pt x="250075" y="272732"/>
                </a:lnTo>
                <a:lnTo>
                  <a:pt x="282194" y="287782"/>
                </a:lnTo>
                <a:lnTo>
                  <a:pt x="285242" y="278257"/>
                </a:lnTo>
                <a:lnTo>
                  <a:pt x="271780" y="272338"/>
                </a:lnTo>
                <a:lnTo>
                  <a:pt x="260172" y="264071"/>
                </a:lnTo>
                <a:lnTo>
                  <a:pt x="236347" y="225425"/>
                </a:lnTo>
                <a:lnTo>
                  <a:pt x="228523" y="170053"/>
                </a:lnTo>
                <a:lnTo>
                  <a:pt x="228473" y="168783"/>
                </a:lnTo>
                <a:lnTo>
                  <a:pt x="229349" y="148640"/>
                </a:lnTo>
                <a:lnTo>
                  <a:pt x="242443" y="98933"/>
                </a:lnTo>
                <a:lnTo>
                  <a:pt x="271995" y="67576"/>
                </a:lnTo>
                <a:lnTo>
                  <a:pt x="285623" y="61595"/>
                </a:lnTo>
                <a:close/>
              </a:path>
              <a:path w="2745104" h="316229">
                <a:moveTo>
                  <a:pt x="1188466" y="170053"/>
                </a:moveTo>
                <a:lnTo>
                  <a:pt x="1187259" y="148640"/>
                </a:lnTo>
                <a:lnTo>
                  <a:pt x="1187246" y="148412"/>
                </a:lnTo>
                <a:lnTo>
                  <a:pt x="1183589" y="128422"/>
                </a:lnTo>
                <a:lnTo>
                  <a:pt x="1158138" y="78905"/>
                </a:lnTo>
                <a:lnTo>
                  <a:pt x="1113282" y="52070"/>
                </a:lnTo>
                <a:lnTo>
                  <a:pt x="1109853" y="61595"/>
                </a:lnTo>
                <a:lnTo>
                  <a:pt x="1123492" y="67576"/>
                </a:lnTo>
                <a:lnTo>
                  <a:pt x="1135253" y="75793"/>
                </a:lnTo>
                <a:lnTo>
                  <a:pt x="1159103" y="113728"/>
                </a:lnTo>
                <a:lnTo>
                  <a:pt x="1165974" y="148412"/>
                </a:lnTo>
                <a:lnTo>
                  <a:pt x="1166012" y="148640"/>
                </a:lnTo>
                <a:lnTo>
                  <a:pt x="1166876" y="168783"/>
                </a:lnTo>
                <a:lnTo>
                  <a:pt x="1166012" y="189560"/>
                </a:lnTo>
                <a:lnTo>
                  <a:pt x="1163408" y="208432"/>
                </a:lnTo>
                <a:lnTo>
                  <a:pt x="1145019" y="253479"/>
                </a:lnTo>
                <a:lnTo>
                  <a:pt x="1110234" y="278257"/>
                </a:lnTo>
                <a:lnTo>
                  <a:pt x="1113282" y="287782"/>
                </a:lnTo>
                <a:lnTo>
                  <a:pt x="1158265" y="261073"/>
                </a:lnTo>
                <a:lnTo>
                  <a:pt x="1183601" y="211683"/>
                </a:lnTo>
                <a:lnTo>
                  <a:pt x="1187246" y="191706"/>
                </a:lnTo>
                <a:lnTo>
                  <a:pt x="1188466" y="170053"/>
                </a:lnTo>
                <a:close/>
              </a:path>
              <a:path w="2745104" h="316229">
                <a:moveTo>
                  <a:pt x="2744978" y="0"/>
                </a:moveTo>
                <a:lnTo>
                  <a:pt x="184658" y="127"/>
                </a:lnTo>
                <a:lnTo>
                  <a:pt x="159258" y="127"/>
                </a:lnTo>
                <a:lnTo>
                  <a:pt x="83820" y="282956"/>
                </a:lnTo>
                <a:lnTo>
                  <a:pt x="40767" y="186944"/>
                </a:lnTo>
                <a:lnTo>
                  <a:pt x="0" y="205613"/>
                </a:lnTo>
                <a:lnTo>
                  <a:pt x="3937" y="214884"/>
                </a:lnTo>
                <a:lnTo>
                  <a:pt x="24892" y="205613"/>
                </a:lnTo>
                <a:lnTo>
                  <a:pt x="76327" y="316230"/>
                </a:lnTo>
                <a:lnTo>
                  <a:pt x="88392" y="316230"/>
                </a:lnTo>
                <a:lnTo>
                  <a:pt x="169164" y="16764"/>
                </a:lnTo>
                <a:lnTo>
                  <a:pt x="2744978" y="16764"/>
                </a:lnTo>
                <a:lnTo>
                  <a:pt x="27449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40859" y="3215386"/>
            <a:ext cx="417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1300" spc="1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3000" spc="-75" baseline="-16666" dirty="0">
                <a:solidFill>
                  <a:srgbClr val="006FC0"/>
                </a:solidFill>
                <a:latin typeface="Cambria Math"/>
                <a:cs typeface="Cambria Math"/>
              </a:rPr>
              <a:t>+</a:t>
            </a:r>
            <a:endParaRPr sz="3000" baseline="-16666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98440" y="3367785"/>
            <a:ext cx="996950" cy="236220"/>
          </a:xfrm>
          <a:custGeom>
            <a:avLst/>
            <a:gdLst/>
            <a:ahLst/>
            <a:cxnLst/>
            <a:rect l="l" t="t" r="r" b="b"/>
            <a:pathLst>
              <a:path w="996950" h="236220">
                <a:moveTo>
                  <a:pt x="921512" y="0"/>
                </a:moveTo>
                <a:lnTo>
                  <a:pt x="918083" y="9525"/>
                </a:lnTo>
                <a:lnTo>
                  <a:pt x="931723" y="15501"/>
                </a:lnTo>
                <a:lnTo>
                  <a:pt x="943483" y="23717"/>
                </a:lnTo>
                <a:lnTo>
                  <a:pt x="967337" y="61652"/>
                </a:lnTo>
                <a:lnTo>
                  <a:pt x="975106" y="116712"/>
                </a:lnTo>
                <a:lnTo>
                  <a:pt x="974244" y="137479"/>
                </a:lnTo>
                <a:lnTo>
                  <a:pt x="961136" y="188467"/>
                </a:lnTo>
                <a:lnTo>
                  <a:pt x="931918" y="220257"/>
                </a:lnTo>
                <a:lnTo>
                  <a:pt x="918463" y="226187"/>
                </a:lnTo>
                <a:lnTo>
                  <a:pt x="921512" y="235712"/>
                </a:lnTo>
                <a:lnTo>
                  <a:pt x="966499" y="208994"/>
                </a:lnTo>
                <a:lnTo>
                  <a:pt x="991838" y="159607"/>
                </a:lnTo>
                <a:lnTo>
                  <a:pt x="996696" y="117983"/>
                </a:lnTo>
                <a:lnTo>
                  <a:pt x="995492" y="96565"/>
                </a:lnTo>
                <a:lnTo>
                  <a:pt x="995479" y="96335"/>
                </a:lnTo>
                <a:lnTo>
                  <a:pt x="985712" y="57993"/>
                </a:lnTo>
                <a:lnTo>
                  <a:pt x="953516" y="15112"/>
                </a:lnTo>
                <a:lnTo>
                  <a:pt x="938561" y="6163"/>
                </a:lnTo>
                <a:lnTo>
                  <a:pt x="921512" y="0"/>
                </a:lnTo>
                <a:close/>
              </a:path>
              <a:path w="996950" h="236220">
                <a:moveTo>
                  <a:pt x="75184" y="0"/>
                </a:moveTo>
                <a:lnTo>
                  <a:pt x="30214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3"/>
                </a:lnTo>
                <a:lnTo>
                  <a:pt x="1093" y="137479"/>
                </a:lnTo>
                <a:lnTo>
                  <a:pt x="1214" y="139628"/>
                </a:lnTo>
                <a:lnTo>
                  <a:pt x="4857" y="159607"/>
                </a:lnTo>
                <a:lnTo>
                  <a:pt x="30196" y="208994"/>
                </a:lnTo>
                <a:lnTo>
                  <a:pt x="75184" y="235712"/>
                </a:lnTo>
                <a:lnTo>
                  <a:pt x="78232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392" y="173345"/>
                </a:lnTo>
                <a:lnTo>
                  <a:pt x="21516" y="117983"/>
                </a:lnTo>
                <a:lnTo>
                  <a:pt x="21462" y="116712"/>
                </a:lnTo>
                <a:lnTo>
                  <a:pt x="22344" y="96565"/>
                </a:lnTo>
                <a:lnTo>
                  <a:pt x="35560" y="46862"/>
                </a:lnTo>
                <a:lnTo>
                  <a:pt x="64992" y="15501"/>
                </a:lnTo>
                <a:lnTo>
                  <a:pt x="78612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61794" y="3291585"/>
            <a:ext cx="4102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1796414" algn="l"/>
                <a:tab pos="3219450" algn="l"/>
              </a:tabLst>
            </a:pPr>
            <a:r>
              <a:rPr sz="2000" i="1" dirty="0">
                <a:solidFill>
                  <a:srgbClr val="006FC0"/>
                </a:solidFill>
                <a:latin typeface="Times New Roman"/>
                <a:cs typeface="Times New Roman"/>
              </a:rPr>
              <a:t>Dist(p</a:t>
            </a:r>
            <a:r>
              <a:rPr sz="1950" i="1" baseline="-21367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sz="2000" i="1" dirty="0">
                <a:solidFill>
                  <a:srgbClr val="006FC0"/>
                </a:solidFill>
                <a:latin typeface="Times New Roman"/>
                <a:cs typeface="Times New Roman"/>
              </a:rPr>
              <a:t>,</a:t>
            </a:r>
            <a:r>
              <a:rPr sz="2000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6FC0"/>
                </a:solidFill>
                <a:latin typeface="Times New Roman"/>
                <a:cs typeface="Times New Roman"/>
              </a:rPr>
              <a:t>p</a:t>
            </a:r>
            <a:r>
              <a:rPr sz="1950" i="1" baseline="-21367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000" i="1" dirty="0">
                <a:solidFill>
                  <a:srgbClr val="006FC0"/>
                </a:solidFill>
                <a:latin typeface="Times New Roman"/>
                <a:cs typeface="Times New Roman"/>
              </a:rPr>
              <a:t>)</a:t>
            </a:r>
            <a:r>
              <a:rPr sz="2000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000" i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baseline="-21367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1950" spc="217" baseline="-21367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− 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spc="-37" baseline="-21367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r>
              <a:rPr sz="1950" baseline="-21367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𝑦</a:t>
            </a:r>
            <a:r>
              <a:rPr sz="1950" baseline="-21367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1950" spc="225" baseline="-21367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−</a:t>
            </a:r>
            <a:r>
              <a:rPr sz="20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𝑦</a:t>
            </a:r>
            <a:r>
              <a:rPr sz="1950" spc="-37" baseline="-21367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endParaRPr sz="1950" baseline="-2136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6692" y="3300729"/>
            <a:ext cx="1193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394" y="3636009"/>
            <a:ext cx="6433185" cy="3027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27685" marR="1554480" indent="-515620">
              <a:lnSpc>
                <a:spcPts val="2590"/>
              </a:lnSpc>
              <a:spcBef>
                <a:spcPts val="425"/>
              </a:spcBef>
              <a:buAutoNum type="arabicPeriod" startAt="3"/>
              <a:tabLst>
                <a:tab pos="527685" algn="l"/>
              </a:tabLst>
            </a:pPr>
            <a:r>
              <a:rPr sz="2400" spc="-10" dirty="0">
                <a:latin typeface="Times New Roman"/>
                <a:cs typeface="Times New Roman"/>
              </a:rPr>
              <a:t>Take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nearest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neighbors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calculated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distance.</a:t>
            </a:r>
            <a:endParaRPr sz="2400">
              <a:latin typeface="Times New Roman"/>
              <a:cs typeface="Times New Roman"/>
            </a:endParaRPr>
          </a:p>
          <a:p>
            <a:pPr marL="977265">
              <a:lnSpc>
                <a:spcPct val="100000"/>
              </a:lnSpc>
              <a:spcBef>
                <a:spcPts val="200"/>
              </a:spcBef>
            </a:pP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Nearest</a:t>
            </a:r>
            <a:r>
              <a:rPr sz="2200" i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neighbors</a:t>
            </a:r>
            <a:r>
              <a:rPr sz="2200" i="1" spc="-7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2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category</a:t>
            </a:r>
            <a:r>
              <a:rPr sz="2200" i="1" spc="-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200" i="1" spc="-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3</a:t>
            </a:r>
            <a:endParaRPr sz="2200">
              <a:latin typeface="Times New Roman"/>
              <a:cs typeface="Times New Roman"/>
            </a:endParaRPr>
          </a:p>
          <a:p>
            <a:pPr marL="1028700">
              <a:lnSpc>
                <a:spcPct val="100000"/>
              </a:lnSpc>
              <a:spcBef>
                <a:spcPts val="245"/>
              </a:spcBef>
            </a:pP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Nearest</a:t>
            </a:r>
            <a:r>
              <a:rPr sz="2200" i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neighbors</a:t>
            </a:r>
            <a:r>
              <a:rPr sz="22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2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category</a:t>
            </a:r>
            <a:r>
              <a:rPr sz="22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B</a:t>
            </a:r>
            <a:r>
              <a:rPr sz="2200" i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marL="527685" marR="711835" indent="-515620">
              <a:lnSpc>
                <a:spcPts val="2590"/>
              </a:lnSpc>
              <a:spcBef>
                <a:spcPts val="535"/>
              </a:spcBef>
              <a:buAutoNum type="arabicPeriod" startAt="4"/>
              <a:tabLst>
                <a:tab pos="52768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category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4458970" marR="5080">
              <a:lnSpc>
                <a:spcPct val="100000"/>
              </a:lnSpc>
              <a:spcBef>
                <a:spcPts val="2370"/>
              </a:spcBef>
            </a:pP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nearest</a:t>
            </a:r>
            <a:r>
              <a:rPr sz="1800" i="1" spc="-2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neighbours encircled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2259" y="149352"/>
            <a:ext cx="3550019" cy="301028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290306" y="3131946"/>
            <a:ext cx="2711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Distance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new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every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calculated.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11338" y="3924973"/>
            <a:ext cx="3485853" cy="278371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137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dirty="0"/>
              <a:t>Determining</a:t>
            </a:r>
            <a:r>
              <a:rPr spc="-25" dirty="0"/>
              <a:t> </a:t>
            </a:r>
            <a:r>
              <a:rPr dirty="0"/>
              <a:t>value</a:t>
            </a:r>
            <a:r>
              <a:rPr spc="-3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25" dirty="0"/>
              <a:t>‘K’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1782"/>
            <a:ext cx="10359390" cy="18726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965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selection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optimal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‘k’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characteristics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problem,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significantly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impact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algorithm.</a:t>
            </a:r>
            <a:endParaRPr sz="24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Considerations</a:t>
            </a:r>
            <a:endParaRPr sz="240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Times New Roman"/>
                <a:cs typeface="Times New Roman"/>
              </a:rPr>
              <a:t>Odd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‘k’</a:t>
            </a:r>
            <a:r>
              <a:rPr sz="2200" spc="-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suitable.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3689730"/>
            <a:ext cx="6855459" cy="1392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1290955" algn="l"/>
                <a:tab pos="2077085" algn="l"/>
                <a:tab pos="2492375" algn="l"/>
                <a:tab pos="2980055" algn="l"/>
                <a:tab pos="3547110" algn="l"/>
                <a:tab pos="3990340" algn="l"/>
                <a:tab pos="4827270" algn="l"/>
                <a:tab pos="5628640" algn="l"/>
                <a:tab pos="6456680" algn="l"/>
              </a:tabLst>
            </a:pPr>
            <a:r>
              <a:rPr sz="2200" spc="-10" dirty="0">
                <a:latin typeface="Times New Roman"/>
                <a:cs typeface="Times New Roman"/>
              </a:rPr>
              <a:t>Smaller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value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‘k’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noisy,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while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larger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can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computationally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expensive.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Cross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validation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sqrt(N),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no.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samples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dataset.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7333" y="3689730"/>
            <a:ext cx="28867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9455" algn="l"/>
                <a:tab pos="1350645" algn="l"/>
                <a:tab pos="1934210" algn="l"/>
                <a:tab pos="2299970" algn="l"/>
              </a:tabLst>
            </a:pPr>
            <a:r>
              <a:rPr sz="2200" spc="-20" dirty="0">
                <a:latin typeface="Times New Roman"/>
                <a:cs typeface="Times New Roman"/>
              </a:rPr>
              <a:t>have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bias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more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0084"/>
            <a:ext cx="9511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latin typeface="Trebuchet MS"/>
                <a:cs typeface="Trebuchet MS"/>
              </a:rPr>
              <a:t>Example:</a:t>
            </a:r>
            <a:r>
              <a:rPr sz="3600" spc="-355" dirty="0">
                <a:latin typeface="Trebuchet MS"/>
                <a:cs typeface="Trebuchet MS"/>
              </a:rPr>
              <a:t> </a:t>
            </a:r>
            <a:r>
              <a:rPr sz="3600" spc="-195" dirty="0">
                <a:latin typeface="Trebuchet MS"/>
                <a:cs typeface="Trebuchet MS"/>
              </a:rPr>
              <a:t>Determine</a:t>
            </a:r>
            <a:r>
              <a:rPr sz="3600" spc="-350" dirty="0">
                <a:latin typeface="Trebuchet MS"/>
                <a:cs typeface="Trebuchet MS"/>
              </a:rPr>
              <a:t> </a:t>
            </a:r>
            <a:r>
              <a:rPr sz="3600" spc="-245" dirty="0">
                <a:latin typeface="Trebuchet MS"/>
                <a:cs typeface="Trebuchet MS"/>
              </a:rPr>
              <a:t>the</a:t>
            </a:r>
            <a:r>
              <a:rPr sz="3600" spc="-515" dirty="0">
                <a:latin typeface="Trebuchet MS"/>
                <a:cs typeface="Trebuchet MS"/>
              </a:rPr>
              <a:t> </a:t>
            </a:r>
            <a:r>
              <a:rPr sz="3600" spc="-254" dirty="0">
                <a:latin typeface="Trebuchet MS"/>
                <a:cs typeface="Trebuchet MS"/>
              </a:rPr>
              <a:t>‘Default’</a:t>
            </a:r>
            <a:r>
              <a:rPr sz="3600" spc="-520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status</a:t>
            </a:r>
            <a:r>
              <a:rPr sz="3600" spc="-345" dirty="0">
                <a:latin typeface="Trebuchet MS"/>
                <a:cs typeface="Trebuchet MS"/>
              </a:rPr>
              <a:t> </a:t>
            </a:r>
            <a:r>
              <a:rPr sz="3600" spc="-260" dirty="0">
                <a:latin typeface="Trebuchet MS"/>
                <a:cs typeface="Trebuchet MS"/>
              </a:rPr>
              <a:t>for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145" dirty="0">
                <a:latin typeface="Trebuchet MS"/>
                <a:cs typeface="Trebuchet MS"/>
              </a:rPr>
              <a:t>Andrew.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414" y="1800564"/>
            <a:ext cx="4035092" cy="31569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4257" y="4979289"/>
            <a:ext cx="78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Trebuchet MS"/>
                <a:cs typeface="Trebuchet MS"/>
              </a:rPr>
              <a:t>Training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2357" y="1829748"/>
            <a:ext cx="4665345" cy="30385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48119" y="5006416"/>
            <a:ext cx="40017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Step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1: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Calculate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distance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rebuchet MS"/>
                <a:cs typeface="Trebuchet MS"/>
              </a:rPr>
              <a:t>points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0084"/>
            <a:ext cx="9511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latin typeface="Trebuchet MS"/>
                <a:cs typeface="Trebuchet MS"/>
              </a:rPr>
              <a:t>Example:</a:t>
            </a:r>
            <a:r>
              <a:rPr sz="3600" spc="-355" dirty="0">
                <a:latin typeface="Trebuchet MS"/>
                <a:cs typeface="Trebuchet MS"/>
              </a:rPr>
              <a:t> </a:t>
            </a:r>
            <a:r>
              <a:rPr sz="3600" spc="-195" dirty="0">
                <a:latin typeface="Trebuchet MS"/>
                <a:cs typeface="Trebuchet MS"/>
              </a:rPr>
              <a:t>Determine</a:t>
            </a:r>
            <a:r>
              <a:rPr sz="3600" spc="-350" dirty="0">
                <a:latin typeface="Trebuchet MS"/>
                <a:cs typeface="Trebuchet MS"/>
              </a:rPr>
              <a:t> </a:t>
            </a:r>
            <a:r>
              <a:rPr sz="3600" spc="-245" dirty="0">
                <a:latin typeface="Trebuchet MS"/>
                <a:cs typeface="Trebuchet MS"/>
              </a:rPr>
              <a:t>the</a:t>
            </a:r>
            <a:r>
              <a:rPr sz="3600" spc="-515" dirty="0">
                <a:latin typeface="Trebuchet MS"/>
                <a:cs typeface="Trebuchet MS"/>
              </a:rPr>
              <a:t> </a:t>
            </a:r>
            <a:r>
              <a:rPr sz="3600" spc="-254" dirty="0">
                <a:latin typeface="Trebuchet MS"/>
                <a:cs typeface="Trebuchet MS"/>
              </a:rPr>
              <a:t>‘Default’</a:t>
            </a:r>
            <a:r>
              <a:rPr sz="3600" spc="-520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status</a:t>
            </a:r>
            <a:r>
              <a:rPr sz="3600" spc="-345" dirty="0">
                <a:latin typeface="Trebuchet MS"/>
                <a:cs typeface="Trebuchet MS"/>
              </a:rPr>
              <a:t> </a:t>
            </a:r>
            <a:r>
              <a:rPr sz="3600" spc="-260" dirty="0">
                <a:latin typeface="Trebuchet MS"/>
                <a:cs typeface="Trebuchet MS"/>
              </a:rPr>
              <a:t>for</a:t>
            </a:r>
            <a:r>
              <a:rPr sz="3600" spc="-335" dirty="0">
                <a:latin typeface="Trebuchet MS"/>
                <a:cs typeface="Trebuchet MS"/>
              </a:rPr>
              <a:t> </a:t>
            </a:r>
            <a:r>
              <a:rPr sz="3600" spc="-145" dirty="0">
                <a:latin typeface="Trebuchet MS"/>
                <a:cs typeface="Trebuchet MS"/>
              </a:rPr>
              <a:t>Andrew.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59802" y="2041652"/>
            <a:ext cx="42176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Step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2: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Assume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k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Step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3: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Find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five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minimum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distance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values.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111125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Out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5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chosen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records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there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three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Ys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two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5" dirty="0">
                <a:latin typeface="Trebuchet MS"/>
                <a:cs typeface="Trebuchet MS"/>
              </a:rPr>
              <a:t>Andrew’s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default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status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taken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as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716" y="1750441"/>
            <a:ext cx="6156960" cy="37185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4554</Words>
  <Application>Microsoft Office PowerPoint</Application>
  <PresentationFormat>Widescreen</PresentationFormat>
  <Paragraphs>1255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Aptos</vt:lpstr>
      <vt:lpstr>Arial</vt:lpstr>
      <vt:lpstr>Arial MT</vt:lpstr>
      <vt:lpstr>Cambria Math</vt:lpstr>
      <vt:lpstr>Times New Roman</vt:lpstr>
      <vt:lpstr>Trebuchet MS</vt:lpstr>
      <vt:lpstr>Office Theme</vt:lpstr>
      <vt:lpstr>Introduction to Machine Learning</vt:lpstr>
      <vt:lpstr>Introduction</vt:lpstr>
      <vt:lpstr>Machine Learning (ML)</vt:lpstr>
      <vt:lpstr>Why is ML needed?</vt:lpstr>
      <vt:lpstr>Applications</vt:lpstr>
      <vt:lpstr>Types</vt:lpstr>
      <vt:lpstr>Supervised Learning</vt:lpstr>
      <vt:lpstr>Supervised Learning: Types</vt:lpstr>
      <vt:lpstr>Unsupervised Learning</vt:lpstr>
      <vt:lpstr>Unsupervised Learning</vt:lpstr>
      <vt:lpstr>Semi-Supervised Learning</vt:lpstr>
      <vt:lpstr>Reinforcement Learning</vt:lpstr>
      <vt:lpstr>Basic ML workflow</vt:lpstr>
      <vt:lpstr>Data Preprocessing</vt:lpstr>
      <vt:lpstr>Steps in Data Preprocessing</vt:lpstr>
      <vt:lpstr>Data Cleaning</vt:lpstr>
      <vt:lpstr>Data Transformation</vt:lpstr>
      <vt:lpstr>Feature Extraction</vt:lpstr>
      <vt:lpstr>Example using a sample dataset</vt:lpstr>
      <vt:lpstr>Example using a sample dataset</vt:lpstr>
      <vt:lpstr>Example using a sample dataset</vt:lpstr>
      <vt:lpstr>Example using a sample dataset</vt:lpstr>
      <vt:lpstr>Example using a sample dataset</vt:lpstr>
      <vt:lpstr>Types of data</vt:lpstr>
      <vt:lpstr>Continuous data</vt:lpstr>
      <vt:lpstr>Linear Regression</vt:lpstr>
      <vt:lpstr>Simple Linear Regression</vt:lpstr>
      <vt:lpstr>Simple Linear Regression: How is the best fitting line found?</vt:lpstr>
      <vt:lpstr>Simple Linear Regression: Residual Sum of Squares</vt:lpstr>
      <vt:lpstr>Linear Regression: House Price Prediction</vt:lpstr>
      <vt:lpstr>Linear Regression: House Price Prediction (Training)</vt:lpstr>
      <vt:lpstr>Linear Regression: House Price Prediction (Testing)</vt:lpstr>
      <vt:lpstr>Linear Regression: House Price Prediction</vt:lpstr>
      <vt:lpstr>Decision Tree</vt:lpstr>
      <vt:lpstr>How does a Decision Tree work?</vt:lpstr>
      <vt:lpstr>Training phase: Decision Tree Induction</vt:lpstr>
      <vt:lpstr>Training on the sample dataset</vt:lpstr>
      <vt:lpstr>Training phase: Attribute selection measures</vt:lpstr>
      <vt:lpstr>Information Gain</vt:lpstr>
      <vt:lpstr>Information gain calculation</vt:lpstr>
      <vt:lpstr>Information gain calculation</vt:lpstr>
      <vt:lpstr>Flu prediction - Decision Tree</vt:lpstr>
      <vt:lpstr>Decision Tree Induction (Training)</vt:lpstr>
      <vt:lpstr>Decision Tree Induction (Training)</vt:lpstr>
      <vt:lpstr>Decision Tree Induction (Training)</vt:lpstr>
      <vt:lpstr>Decision Tree Induction (Training)</vt:lpstr>
      <vt:lpstr>Decision Tree Induction (Training)</vt:lpstr>
      <vt:lpstr>Decision Tree Induction (Training)</vt:lpstr>
      <vt:lpstr>Spam Email Classification - Demo</vt:lpstr>
      <vt:lpstr>Step1: Importing the libraries</vt:lpstr>
      <vt:lpstr>Step 1: Dataset Preparation</vt:lpstr>
      <vt:lpstr>Step 2: Data preprocessing (Label Encoding)</vt:lpstr>
      <vt:lpstr>Step 3: Text Feature Extraction (Bag of Words)</vt:lpstr>
      <vt:lpstr>Step 3: Text Feature Extraction (Bag of Words)</vt:lpstr>
      <vt:lpstr>Step 4: Feature Matrix and Target Vector Formation</vt:lpstr>
      <vt:lpstr>Steps 3 and 4</vt:lpstr>
      <vt:lpstr>Step 5: Train–Test Split</vt:lpstr>
      <vt:lpstr>PowerPoint Presentation</vt:lpstr>
      <vt:lpstr>K Nearest Neighbor (KNN)</vt:lpstr>
      <vt:lpstr>KNN</vt:lpstr>
      <vt:lpstr>KNN - Example</vt:lpstr>
      <vt:lpstr>Determining value of ‘K’</vt:lpstr>
      <vt:lpstr>Example: Determine the ‘Default’ status for Andrew.</vt:lpstr>
      <vt:lpstr>Example: Determine the ‘Default’ status for Andrew.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DIPENDRA GURUNG</dc:creator>
  <cp:lastModifiedBy>Dipendra Gurung</cp:lastModifiedBy>
  <cp:revision>9</cp:revision>
  <dcterms:created xsi:type="dcterms:W3CDTF">2026-01-12T04:03:27Z</dcterms:created>
  <dcterms:modified xsi:type="dcterms:W3CDTF">2026-08-17T04:14:42Z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2026-01-12T00:00:00Z</vt:filetime>
  </property>
  <property fmtid="{D5CDD505-2E9C-101B-9397-08002B2CF9AE}" pid="5" name="Producer">
    <vt:lpwstr>Microsoft® PowerPoint® for Microsoft 365</vt:lpwstr>
  </property>
</Properties>
</file>